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Subsistemas por estado de caminata 100%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Realizada</c:v>
                </c:pt>
              </c:strCache>
            </c:strRef>
          </c:tx>
          <c:spPr>
            <a:solidFill>
              <a:srgbClr val="1F7A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35</c:v>
                </c:pt>
                <c:pt idx="1">
                  <c:v>35</c:v>
                </c:pt>
                <c:pt idx="2">
                  <c:v>19</c:v>
                </c:pt>
                <c:pt idx="3">
                  <c:v>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Próxima a realizar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</c:v>
                </c:pt>
                <c:pt idx="1">
                  <c:v>5</c:v>
                </c:pt>
                <c:pt idx="2">
                  <c:v>3</c:v>
                </c:pt>
                <c:pt idx="3">
                  <c:v>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Por programar</c:v>
                </c:pt>
              </c:strCache>
            </c:strRef>
          </c:tx>
          <c:spPr>
            <a:solidFill>
              <a:srgbClr val="9DBDE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</c:v>
                </c:pt>
                <c:pt idx="1">
                  <c:v>36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Carpetas TOP por área y estatus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Rechazada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</c:v>
                </c:pt>
                <c:pt idx="1">
                  <c:v>6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 revisión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15</c:v>
                </c:pt>
                <c:pt idx="1">
                  <c:v>1</c:v>
                </c:pt>
                <c:pt idx="2">
                  <c:v>1</c:v>
                </c:pt>
                <c:pt idx="3">
                  <c:v>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Observada</c:v>
                </c:pt>
              </c:strCache>
            </c:strRef>
          </c:tx>
          <c:spPr>
            <a:solidFill>
              <a:srgbClr val="E0A32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</c:v>
                </c:pt>
                <c:pt idx="1">
                  <c:v>1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Sin entregar</c:v>
                </c:pt>
              </c:strCache>
            </c:strRef>
          </c:tx>
          <c:spPr>
            <a:solidFill>
              <a:srgbClr val="D9DFE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18</c:v>
                </c:pt>
                <c:pt idx="1">
                  <c:v>68</c:v>
                </c:pt>
                <c:pt idx="2">
                  <c:v>21</c:v>
                </c:pt>
                <c:pt idx="3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0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P1 abiertos por disciplina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Vencidos al corte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Piping</c:v>
                  </c:pt>
                  <c:pt idx="1">
                    <c:v>Eléctrica</c:v>
                  </c:pt>
                  <c:pt idx="2">
                    <c:v>Instrum. y Control</c:v>
                  </c:pt>
                  <c:pt idx="3">
                    <c:v>Mecánica</c:v>
                  </c:pt>
                  <c:pt idx="4">
                    <c:v>Estructura</c:v>
                  </c:pt>
                  <c:pt idx="5">
                    <c:v>Obras Civiles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74</c:v>
                </c:pt>
                <c:pt idx="1">
                  <c:v>98</c:v>
                </c:pt>
                <c:pt idx="2">
                  <c:v>128</c:v>
                </c:pt>
                <c:pt idx="3">
                  <c:v>84</c:v>
                </c:pt>
                <c:pt idx="4">
                  <c:v>17</c:v>
                </c:pt>
                <c:pt idx="5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 plazo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Piping</c:v>
                  </c:pt>
                  <c:pt idx="1">
                    <c:v>Eléctrica</c:v>
                  </c:pt>
                  <c:pt idx="2">
                    <c:v>Instrum. y Control</c:v>
                  </c:pt>
                  <c:pt idx="3">
                    <c:v>Mecánica</c:v>
                  </c:pt>
                  <c:pt idx="4">
                    <c:v>Estructura</c:v>
                  </c:pt>
                  <c:pt idx="5">
                    <c:v>Obras Civiles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177</c:v>
                </c:pt>
                <c:pt idx="1">
                  <c:v>118</c:v>
                </c:pt>
                <c:pt idx="2">
                  <c:v>53</c:v>
                </c:pt>
                <c:pt idx="3">
                  <c:v>42</c:v>
                </c:pt>
                <c:pt idx="4">
                  <c:v>19</c:v>
                </c:pt>
                <c:pt idx="5">
                  <c:v>20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0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P1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E9E5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C0392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Pt>
            <c:idx val="2"/>
            <c:bubble3D val="0"/>
            <c:spPr>
              <a:solidFill>
                <a:srgbClr val="E3A55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Cerrados</c:v>
                </c:pt>
                <c:pt idx="1">
                  <c:v>Abiertos</c:v>
                </c:pt>
                <c:pt idx="2">
                  <c:v>Listo p/ revisión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1147</c:v>
                </c:pt>
                <c:pt idx="1">
                  <c:v>830</c:v>
                </c:pt>
                <c:pt idx="2">
                  <c:v>11</c:v>
                </c:pt>
              </c:numCache>
            </c:numRef>
          </c:val>
        </c:ser>
        <c:firstSliceAng val="0"/>
        <c:holeSize val="62"/>
      </c:doughnutChart>
      <c:spPr>
        <a:noFill/>
        <a:ln>
          <a:noFill/>
        </a:ln>
        <a:effectLst/>
      </c:spPr>
    </c:plotArea>
    <c:plotVisOnly val="1"/>
    <c:dispBlanksAs val="span"/>
  </c:chart>
  <c:spPr>
    <a:solidFill>
      <a:srgbClr val="12233B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chart" Target="/ppt/charts/chart4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33B"/>
          </a:solidFill>
          <a:ln/>
        </p:spPr>
      </p:sp>
      <p:sp>
        <p:nvSpPr>
          <p:cNvPr id="3" name="Shape 1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Shape 2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5" name="Shape 3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 DE CONTROL DE AVANCE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49808" y="1600200"/>
            <a:ext cx="106070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8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Carpetas TOP, Caminatas y</a:t>
            </a:r>
            <a:endParaRPr lang="en-US" sz="4400" dirty="0"/>
          </a:p>
          <a:p>
            <a:pPr indent="0" marL="0">
              <a:lnSpc>
                <a:spcPts val="48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Detalles de Terminación P1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777240" y="3611880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5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Estatus de armado y entrega de carpetas TOP · avance de caminatas 80% / 100% · detalles de construcción en condición P1. Vista ejecutiva por área y disciplina.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77240" y="4892040"/>
            <a:ext cx="2514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777240" y="553212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Caminatas 80%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3520440" y="4892040"/>
            <a:ext cx="2514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66,7%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3520440" y="553212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Caminatas 100%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263640" y="4892040"/>
            <a:ext cx="2514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19,3%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6263640" y="553212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Carpetas TOP entregadas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9006840" y="4892040"/>
            <a:ext cx="2514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57,7%</a:t>
            </a:r>
            <a:endParaRPr lang="en-US" sz="3400" dirty="0"/>
          </a:p>
        </p:txBody>
      </p:sp>
      <p:sp>
        <p:nvSpPr>
          <p:cNvPr id="16" name="Text 14"/>
          <p:cNvSpPr/>
          <p:nvPr/>
        </p:nvSpPr>
        <p:spPr>
          <a:xfrm>
            <a:off x="9006840" y="553212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detalles P1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7772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Corte: 16 de julio de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RESUMEN EJECUTIVO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Estado global de los tres frentes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2743200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13232" y="1737360"/>
            <a:ext cx="146304" cy="146304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196596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731520" y="27432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135/135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31520" y="3072384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Caminatas 80% realizadas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3346704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Frente cerrado en las 4 áreas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319272" y="1463040"/>
            <a:ext cx="2743200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575304" y="1737360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12" name="Text 10"/>
          <p:cNvSpPr/>
          <p:nvPr/>
        </p:nvSpPr>
        <p:spPr>
          <a:xfrm>
            <a:off x="3575304" y="196596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66,7%</a:t>
            </a:r>
            <a:endParaRPr lang="en-US" sz="4000" dirty="0"/>
          </a:p>
        </p:txBody>
      </p:sp>
      <p:sp>
        <p:nvSpPr>
          <p:cNvPr id="13" name="Text 11"/>
          <p:cNvSpPr/>
          <p:nvPr/>
        </p:nvSpPr>
        <p:spPr>
          <a:xfrm>
            <a:off x="3593592" y="27432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90/135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593592" y="3072384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Caminatas 100% realizadas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593592" y="3346704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pendientes · 41 en área 3000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6181344" y="1463040"/>
            <a:ext cx="2743200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437376" y="1737360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18" name="Text 16"/>
          <p:cNvSpPr/>
          <p:nvPr/>
        </p:nvSpPr>
        <p:spPr>
          <a:xfrm>
            <a:off x="6437376" y="196596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19,3%</a:t>
            </a:r>
            <a:endParaRPr lang="en-US" sz="4000" dirty="0"/>
          </a:p>
        </p:txBody>
      </p:sp>
      <p:sp>
        <p:nvSpPr>
          <p:cNvPr id="19" name="Text 17"/>
          <p:cNvSpPr/>
          <p:nvPr/>
        </p:nvSpPr>
        <p:spPr>
          <a:xfrm>
            <a:off x="6455664" y="27432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26/135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455664" y="3072384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Carpetas TOP entregadas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455664" y="3346704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aprobadas · 8 rechazadas · 17 en revisión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9043416" y="1463040"/>
            <a:ext cx="2743200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9299448" y="1737360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4" name="Text 22"/>
          <p:cNvSpPr/>
          <p:nvPr/>
        </p:nvSpPr>
        <p:spPr>
          <a:xfrm>
            <a:off x="9299448" y="196596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57,7%</a:t>
            </a:r>
            <a:endParaRPr lang="en-US" sz="4000" dirty="0"/>
          </a:p>
        </p:txBody>
      </p:sp>
      <p:sp>
        <p:nvSpPr>
          <p:cNvPr id="25" name="Text 23"/>
          <p:cNvSpPr/>
          <p:nvPr/>
        </p:nvSpPr>
        <p:spPr>
          <a:xfrm>
            <a:off x="9317736" y="27432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1.147/1.988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9317736" y="3072384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detalles P1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9317736" y="3346704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830 abiertos · 401 vencidos al corte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57200" y="3886200"/>
            <a:ext cx="11274552" cy="2240280"/>
          </a:xfrm>
          <a:prstGeom prst="roundRect">
            <a:avLst>
              <a:gd name="adj" fmla="val 2449"/>
            </a:avLst>
          </a:prstGeom>
          <a:solidFill>
            <a:srgbClr val="12233B"/>
          </a:solidFill>
          <a:ln/>
        </p:spPr>
      </p:sp>
      <p:sp>
        <p:nvSpPr>
          <p:cNvPr id="29" name="Text 27"/>
          <p:cNvSpPr/>
          <p:nvPr/>
        </p:nvSpPr>
        <p:spPr>
          <a:xfrm>
            <a:off x="777240" y="4114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 EJECUTIVA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822960" y="4489704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1" name="Text 29"/>
          <p:cNvSpPr/>
          <p:nvPr/>
        </p:nvSpPr>
        <p:spPr>
          <a:xfrm>
            <a:off x="1051560" y="4389120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Caminatas 80% cerradas; el 100% avanza a dos velocidades.  </a:t>
            </a:r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 3000 explica 41 de los 45 subsistemas pendientes de caminata al 100%.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822960" y="5038344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3" name="Text 31"/>
          <p:cNvSpPr/>
          <p:nvPr/>
        </p:nvSpPr>
        <p:spPr>
          <a:xfrm>
            <a:off x="1051560" y="4937760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entrega de carpetas TOP es el frente más rezagado.  </a:t>
            </a:r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19,3% entregadas y ninguna aprobada aún; 8 rechazadas concentradas en áreas 2000 y 3000.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822960" y="5586984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5" name="Text 33"/>
          <p:cNvSpPr/>
          <p:nvPr/>
        </p:nvSpPr>
        <p:spPr>
          <a:xfrm>
            <a:off x="1051560" y="5486400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cierre de detalles P1 está a mitad de camino, con deuda vencida.  </a:t>
            </a:r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401 de 830 P1 abiertos ya superaron su fecha de vencimiento; el 88% del atraso está en el área 3000.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457200" y="6473952"/>
            <a:ext cx="8961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Estatus.xlsx · Corte 16-jul-2026 · Áreas 2000/3000/4000/8000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POR ÁREA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Semáforo integrado de los tres frentes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157276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3474720" y="157276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SUBSIST.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4434840" y="157276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100%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035040" y="157276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ENTREGADAS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7818120" y="157276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P1 % CIERRE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9098280" y="157276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ABIERTOS (VENC.)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10881360" y="1572768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02920" y="1883664"/>
            <a:ext cx="1124712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2920" y="201168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2000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02920" y="2340864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Chancado (Área Seca)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474720" y="2139696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434840" y="2139696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035040" y="2139696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17/35 · 48,6%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7818120" y="2139696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91,8%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9098280" y="2139696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 (15)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10863072" y="2121408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2E9E5B"/>
          </a:solidFill>
          <a:ln/>
        </p:spPr>
      </p:sp>
      <p:sp>
        <p:nvSpPr>
          <p:cNvPr id="20" name="Text 18"/>
          <p:cNvSpPr/>
          <p:nvPr/>
        </p:nvSpPr>
        <p:spPr>
          <a:xfrm>
            <a:off x="10863072" y="213055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día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02920" y="289864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57200" y="2898648"/>
            <a:ext cx="11292840" cy="9326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3" name="Text 21"/>
          <p:cNvSpPr/>
          <p:nvPr/>
        </p:nvSpPr>
        <p:spPr>
          <a:xfrm>
            <a:off x="502920" y="2944368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3000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502920" y="327355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Molienda–Flotación (Área Húmeda)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474720" y="3072384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4434840" y="3072384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46,1%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035040" y="3072384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8/76 · 10,5%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7818120" y="3072384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32,6%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9098280" y="3072384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707 (366)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10863072" y="3054096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31" name="Text 29"/>
          <p:cNvSpPr/>
          <p:nvPr/>
        </p:nvSpPr>
        <p:spPr>
          <a:xfrm>
            <a:off x="10863072" y="306324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Crítico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502920" y="3831336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02920" y="3877056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4000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502920" y="420624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Espesamiento y Relaves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3474720" y="4005072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4434840" y="4005072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86,4%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6035040" y="4005072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1/22 · 4,5%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7818120" y="4005072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75,9%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9098280" y="4005072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 (19)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10863072" y="3986784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E0A32E"/>
          </a:solidFill>
          <a:ln/>
        </p:spPr>
      </p:sp>
      <p:sp>
        <p:nvSpPr>
          <p:cNvPr id="41" name="Text 39"/>
          <p:cNvSpPr/>
          <p:nvPr/>
        </p:nvSpPr>
        <p:spPr>
          <a:xfrm>
            <a:off x="10863072" y="399592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Atención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502920" y="4764024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57200" y="4764024"/>
            <a:ext cx="11292840" cy="9326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4" name="Text 42"/>
          <p:cNvSpPr/>
          <p:nvPr/>
        </p:nvSpPr>
        <p:spPr>
          <a:xfrm>
            <a:off x="502920" y="4809744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8000</a:t>
            </a:r>
            <a:endParaRPr lang="en-US" sz="1500" dirty="0"/>
          </a:p>
        </p:txBody>
      </p:sp>
      <p:sp>
        <p:nvSpPr>
          <p:cNvPr id="45" name="Text 43"/>
          <p:cNvSpPr/>
          <p:nvPr/>
        </p:nvSpPr>
        <p:spPr>
          <a:xfrm>
            <a:off x="502920" y="513892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Salas de Control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3474720" y="493776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47" name="Text 45"/>
          <p:cNvSpPr/>
          <p:nvPr/>
        </p:nvSpPr>
        <p:spPr>
          <a:xfrm>
            <a:off x="4434840" y="493776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50%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6035040" y="493776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0/2 · 0%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7818120" y="493776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91,7%</a:t>
            </a:r>
            <a:endParaRPr lang="en-US" sz="1300" dirty="0"/>
          </a:p>
        </p:txBody>
      </p:sp>
      <p:sp>
        <p:nvSpPr>
          <p:cNvPr id="50" name="Text 48"/>
          <p:cNvSpPr/>
          <p:nvPr/>
        </p:nvSpPr>
        <p:spPr>
          <a:xfrm>
            <a:off x="9098280" y="493776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(1)</a:t>
            </a:r>
            <a:endParaRPr lang="en-US" sz="1300" dirty="0"/>
          </a:p>
        </p:txBody>
      </p:sp>
      <p:sp>
        <p:nvSpPr>
          <p:cNvPr id="51" name="Shape 49"/>
          <p:cNvSpPr/>
          <p:nvPr/>
        </p:nvSpPr>
        <p:spPr>
          <a:xfrm>
            <a:off x="10863072" y="4919472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E0A32E"/>
          </a:solidFill>
          <a:ln/>
        </p:spPr>
      </p:sp>
      <p:sp>
        <p:nvSpPr>
          <p:cNvPr id="52" name="Text 50"/>
          <p:cNvSpPr/>
          <p:nvPr/>
        </p:nvSpPr>
        <p:spPr>
          <a:xfrm>
            <a:off x="10863072" y="4928616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Atención</a:t>
            </a:r>
            <a:endParaRPr lang="en-US" sz="1050" dirty="0"/>
          </a:p>
        </p:txBody>
      </p:sp>
      <p:sp>
        <p:nvSpPr>
          <p:cNvPr id="53" name="Shape 51"/>
          <p:cNvSpPr/>
          <p:nvPr/>
        </p:nvSpPr>
        <p:spPr>
          <a:xfrm>
            <a:off x="502920" y="5696712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57200" y="594360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Criterio · Crítico: caminata 100% &lt; 60% o cierre P1 &lt; 50%   ·   Atención: algún frente 60–90% o carpetas TOP sin entregar   ·   Al día: caminatas completas y P1 ≥ 90%</a:t>
            </a:r>
            <a:endParaRPr lang="en-US" sz="950" dirty="0"/>
          </a:p>
        </p:txBody>
      </p:sp>
      <p:sp>
        <p:nvSpPr>
          <p:cNvPr id="55" name="Text 53"/>
          <p:cNvSpPr/>
          <p:nvPr/>
        </p:nvSpPr>
        <p:spPr>
          <a:xfrm>
            <a:off x="457200" y="6473952"/>
            <a:ext cx="8961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Estatus.xlsx · Corte 16-jul-2026 · Áreas 2000/3000/4000/8000</a:t>
            </a:r>
            <a:endParaRPr lang="en-US" sz="850" dirty="0"/>
          </a:p>
        </p:txBody>
      </p:sp>
      <p:sp>
        <p:nvSpPr>
          <p:cNvPr id="56" name="Text 54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FRENTE 1 · CAMINATAS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Avance de caminatas 80% y 100%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caminatas al 80% están cerradas en todas las áreas (135/135). El detalle está en el hito 100%, donde el área 3000 arrastra el atraso.</a:t>
            </a:r>
            <a:endParaRPr lang="en-US" sz="135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874520"/>
          <a:ext cx="694944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7635240" y="1874520"/>
            <a:ext cx="4096512" cy="4114800"/>
          </a:xfrm>
          <a:prstGeom prst="roundRect">
            <a:avLst>
              <a:gd name="adj" fmla="val 1339"/>
            </a:avLst>
          </a:prstGeom>
          <a:solidFill>
            <a:srgbClr val="12233B"/>
          </a:solidFill>
          <a:ln/>
        </p:spPr>
      </p:sp>
      <p:sp>
        <p:nvSpPr>
          <p:cNvPr id="7" name="Text 4"/>
          <p:cNvSpPr/>
          <p:nvPr/>
        </p:nvSpPr>
        <p:spPr>
          <a:xfrm>
            <a:off x="7909560" y="21031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HITO 80%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7909560" y="2331720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4000" dirty="0"/>
          </a:p>
        </p:txBody>
      </p:sp>
      <p:sp>
        <p:nvSpPr>
          <p:cNvPr id="9" name="Text 6"/>
          <p:cNvSpPr/>
          <p:nvPr/>
        </p:nvSpPr>
        <p:spPr>
          <a:xfrm>
            <a:off x="7909560" y="303580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135 de 135 subsistemas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909560" y="3520440"/>
            <a:ext cx="356616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909560" y="36758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HITO 100%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7909560" y="3904488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66,7%</a:t>
            </a:r>
            <a:endParaRPr lang="en-US" sz="4000" dirty="0"/>
          </a:p>
        </p:txBody>
      </p:sp>
      <p:sp>
        <p:nvSpPr>
          <p:cNvPr id="13" name="Text 10"/>
          <p:cNvSpPr/>
          <p:nvPr/>
        </p:nvSpPr>
        <p:spPr>
          <a:xfrm>
            <a:off x="7909560" y="460857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 realizadas · 45 pendientes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7909560" y="5074920"/>
            <a:ext cx="3611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Foco: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subsistemas próximos a realizar y 36 por programar — 41 de ellos en el área 3000 (molienda–flotación).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457200" y="6473952"/>
            <a:ext cx="8961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Estatus.xlsx · Corte 16-jul-2026 · Áreas 2000/3000/4000/8000</a:t>
            </a:r>
            <a:endParaRPr lang="en-US" sz="850" dirty="0"/>
          </a:p>
        </p:txBody>
      </p:sp>
      <p:sp>
        <p:nvSpPr>
          <p:cNvPr id="16" name="Text 13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FRENTE 2 · CARPETAS TOP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Estatus de armado y entrega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 carpetas entregadas de 135 (19,3%). Ninguna aprobada aún: el flujo se acumula en revisión y hay 8 rechazos que requieren rearmado.</a:t>
            </a:r>
            <a:endParaRPr lang="en-US" sz="135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874520"/>
          <a:ext cx="694944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7635240" y="1874520"/>
            <a:ext cx="4096512" cy="4114800"/>
          </a:xfrm>
          <a:prstGeom prst="roundRect">
            <a:avLst>
              <a:gd name="adj" fmla="val 1339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863840" y="20848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EMBUDO DE ENTREGA (135)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7863840" y="2450592"/>
            <a:ext cx="36393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9" name="Shape 6"/>
          <p:cNvSpPr/>
          <p:nvPr/>
        </p:nvSpPr>
        <p:spPr>
          <a:xfrm>
            <a:off x="7973568" y="2624328"/>
            <a:ext cx="219456" cy="219456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10" name="Text 7"/>
          <p:cNvSpPr/>
          <p:nvPr/>
        </p:nvSpPr>
        <p:spPr>
          <a:xfrm>
            <a:off x="8302752" y="2450592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Entregadas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10058400" y="2450592"/>
            <a:ext cx="1280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</a:t>
            </a:r>
            <a:endParaRPr lang="en-US" sz="2200" dirty="0"/>
          </a:p>
        </p:txBody>
      </p:sp>
      <p:sp>
        <p:nvSpPr>
          <p:cNvPr id="12" name="Shape 9"/>
          <p:cNvSpPr/>
          <p:nvPr/>
        </p:nvSpPr>
        <p:spPr>
          <a:xfrm>
            <a:off x="7863840" y="3108960"/>
            <a:ext cx="36393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13" name="Shape 10"/>
          <p:cNvSpPr/>
          <p:nvPr/>
        </p:nvSpPr>
        <p:spPr>
          <a:xfrm>
            <a:off x="7973568" y="3282696"/>
            <a:ext cx="219456" cy="219456"/>
          </a:xfrm>
          <a:prstGeom prst="ellipse">
            <a:avLst/>
          </a:prstGeom>
          <a:solidFill>
            <a:srgbClr val="6E8CA8"/>
          </a:solidFill>
          <a:ln/>
        </p:spPr>
      </p:sp>
      <p:sp>
        <p:nvSpPr>
          <p:cNvPr id="14" name="Text 11"/>
          <p:cNvSpPr/>
          <p:nvPr/>
        </p:nvSpPr>
        <p:spPr>
          <a:xfrm>
            <a:off x="8302752" y="3108960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revisión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0058400" y="3108960"/>
            <a:ext cx="1280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6E8C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</a:t>
            </a:r>
            <a:endParaRPr lang="en-US" sz="2200" dirty="0"/>
          </a:p>
        </p:txBody>
      </p:sp>
      <p:sp>
        <p:nvSpPr>
          <p:cNvPr id="16" name="Shape 13"/>
          <p:cNvSpPr/>
          <p:nvPr/>
        </p:nvSpPr>
        <p:spPr>
          <a:xfrm>
            <a:off x="7863840" y="3767328"/>
            <a:ext cx="36393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17" name="Shape 14"/>
          <p:cNvSpPr/>
          <p:nvPr/>
        </p:nvSpPr>
        <p:spPr>
          <a:xfrm>
            <a:off x="7973568" y="3941064"/>
            <a:ext cx="219456" cy="219456"/>
          </a:xfrm>
          <a:prstGeom prst="ellipse">
            <a:avLst/>
          </a:prstGeom>
          <a:solidFill>
            <a:srgbClr val="E0A32E"/>
          </a:solidFill>
          <a:ln/>
        </p:spPr>
      </p:sp>
      <p:sp>
        <p:nvSpPr>
          <p:cNvPr id="18" name="Text 15"/>
          <p:cNvSpPr/>
          <p:nvPr/>
        </p:nvSpPr>
        <p:spPr>
          <a:xfrm>
            <a:off x="8302752" y="3767328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Observadas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0058400" y="3767328"/>
            <a:ext cx="1280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7863840" y="4425696"/>
            <a:ext cx="36393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21" name="Shape 18"/>
          <p:cNvSpPr/>
          <p:nvPr/>
        </p:nvSpPr>
        <p:spPr>
          <a:xfrm>
            <a:off x="7973568" y="4599432"/>
            <a:ext cx="219456" cy="219456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2" name="Text 19"/>
          <p:cNvSpPr/>
          <p:nvPr/>
        </p:nvSpPr>
        <p:spPr>
          <a:xfrm>
            <a:off x="8302752" y="4425696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Rechazadas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10058400" y="4425696"/>
            <a:ext cx="1280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2200" dirty="0"/>
          </a:p>
        </p:txBody>
      </p:sp>
      <p:sp>
        <p:nvSpPr>
          <p:cNvPr id="24" name="Shape 21"/>
          <p:cNvSpPr/>
          <p:nvPr/>
        </p:nvSpPr>
        <p:spPr>
          <a:xfrm>
            <a:off x="7863840" y="5084064"/>
            <a:ext cx="36393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25" name="Shape 22"/>
          <p:cNvSpPr/>
          <p:nvPr/>
        </p:nvSpPr>
        <p:spPr>
          <a:xfrm>
            <a:off x="7973568" y="5257800"/>
            <a:ext cx="219456" cy="219456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26" name="Text 23"/>
          <p:cNvSpPr/>
          <p:nvPr/>
        </p:nvSpPr>
        <p:spPr>
          <a:xfrm>
            <a:off x="8302752" y="5084064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Aprobadas</a:t>
            </a:r>
            <a:endParaRPr lang="en-US" sz="1300" dirty="0"/>
          </a:p>
        </p:txBody>
      </p:sp>
      <p:sp>
        <p:nvSpPr>
          <p:cNvPr id="27" name="Text 24"/>
          <p:cNvSpPr/>
          <p:nvPr/>
        </p:nvSpPr>
        <p:spPr>
          <a:xfrm>
            <a:off x="10058400" y="5084064"/>
            <a:ext cx="1280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2200" dirty="0"/>
          </a:p>
        </p:txBody>
      </p:sp>
      <p:sp>
        <p:nvSpPr>
          <p:cNvPr id="28" name="Text 25"/>
          <p:cNvSpPr/>
          <p:nvPr/>
        </p:nvSpPr>
        <p:spPr>
          <a:xfrm>
            <a:off x="7863840" y="5779008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Cuello de botella: revisión del cliente y rechazos por rearmar. La aprobación efectiva es el próximo hito a destrabar.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457200" y="6473952"/>
            <a:ext cx="8961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Estatus.xlsx · Corte 16-jul-2026 · Áreas 2000/3000/4000/8000</a:t>
            </a:r>
            <a:endParaRPr lang="en-US" sz="850" dirty="0"/>
          </a:p>
        </p:txBody>
      </p:sp>
      <p:sp>
        <p:nvSpPr>
          <p:cNvPr id="30" name="Text 2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FRENTE 3 · DETALLES P1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Detalles de terminación en condición P1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1.988 P1 levantados; 57,7% cerrados. El pendiente se concentra en Piping, Eléctrica e Instrumentación, y físicamente en el área 3000.</a:t>
            </a:r>
            <a:endParaRPr lang="en-US" sz="135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874520"/>
          <a:ext cx="704088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7680960" y="1874520"/>
            <a:ext cx="4050792" cy="4114800"/>
          </a:xfrm>
          <a:prstGeom prst="roundRect">
            <a:avLst>
              <a:gd name="adj" fmla="val 1354"/>
            </a:avLst>
          </a:prstGeom>
          <a:solidFill>
            <a:srgbClr val="12233B"/>
          </a:solidFill>
          <a:ln/>
        </p:spPr>
      </p:sp>
      <p:sp>
        <p:nvSpPr>
          <p:cNvPr id="7" name="Text 4"/>
          <p:cNvSpPr/>
          <p:nvPr/>
        </p:nvSpPr>
        <p:spPr>
          <a:xfrm>
            <a:off x="7936992" y="20848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GLOBAL P1</a:t>
            </a:r>
            <a:endParaRPr lang="en-US" sz="1100" dirty="0"/>
          </a:p>
        </p:txBody>
      </p:sp>
      <p:graphicFrame>
        <p:nvGraphicFramePr>
          <p:cNvPr id="8" name="Chart 1" descr=""/>
          <p:cNvGraphicFramePr/>
          <p:nvPr/>
        </p:nvGraphicFramePr>
        <p:xfrm>
          <a:off x="7772400" y="2331720"/>
          <a:ext cx="2011680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 5"/>
          <p:cNvSpPr/>
          <p:nvPr/>
        </p:nvSpPr>
        <p:spPr>
          <a:xfrm>
            <a:off x="7772400" y="2999232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57,7%</a:t>
            </a:r>
            <a:endParaRPr lang="en-US" sz="19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DCE6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cerrado</a:t>
            </a:r>
            <a:endParaRPr lang="en-US" sz="1900" dirty="0"/>
          </a:p>
        </p:txBody>
      </p:sp>
      <p:sp>
        <p:nvSpPr>
          <p:cNvPr id="10" name="Shape 6"/>
          <p:cNvSpPr/>
          <p:nvPr/>
        </p:nvSpPr>
        <p:spPr>
          <a:xfrm>
            <a:off x="10012680" y="2505456"/>
            <a:ext cx="182880" cy="182880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11" name="Text 7"/>
          <p:cNvSpPr/>
          <p:nvPr/>
        </p:nvSpPr>
        <p:spPr>
          <a:xfrm>
            <a:off x="10241280" y="242316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Cerrados</a:t>
            </a:r>
            <a:endParaRPr lang="en-US" sz="1100" dirty="0"/>
          </a:p>
        </p:txBody>
      </p:sp>
      <p:sp>
        <p:nvSpPr>
          <p:cNvPr id="12" name="Text 8"/>
          <p:cNvSpPr/>
          <p:nvPr/>
        </p:nvSpPr>
        <p:spPr>
          <a:xfrm>
            <a:off x="10241280" y="265176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1.147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10012680" y="3072384"/>
            <a:ext cx="182880" cy="182880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4" name="Text 10"/>
          <p:cNvSpPr/>
          <p:nvPr/>
        </p:nvSpPr>
        <p:spPr>
          <a:xfrm>
            <a:off x="10241280" y="2990088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Abiertos</a:t>
            </a:r>
            <a:endParaRPr lang="en-US" sz="1100" dirty="0"/>
          </a:p>
        </p:txBody>
      </p:sp>
      <p:sp>
        <p:nvSpPr>
          <p:cNvPr id="15" name="Text 11"/>
          <p:cNvSpPr/>
          <p:nvPr/>
        </p:nvSpPr>
        <p:spPr>
          <a:xfrm>
            <a:off x="10241280" y="321868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830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10012680" y="3639312"/>
            <a:ext cx="182880" cy="182880"/>
          </a:xfrm>
          <a:prstGeom prst="ellipse">
            <a:avLst/>
          </a:prstGeom>
          <a:solidFill>
            <a:srgbClr val="E3A55B"/>
          </a:solidFill>
          <a:ln/>
        </p:spPr>
      </p:sp>
      <p:sp>
        <p:nvSpPr>
          <p:cNvPr id="17" name="Text 13"/>
          <p:cNvSpPr/>
          <p:nvPr/>
        </p:nvSpPr>
        <p:spPr>
          <a:xfrm>
            <a:off x="10241280" y="3557016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p/ revisión</a:t>
            </a:r>
            <a:endParaRPr lang="en-US" sz="1100" dirty="0"/>
          </a:p>
        </p:txBody>
      </p:sp>
      <p:sp>
        <p:nvSpPr>
          <p:cNvPr id="18" name="Text 14"/>
          <p:cNvSpPr/>
          <p:nvPr/>
        </p:nvSpPr>
        <p:spPr>
          <a:xfrm>
            <a:off x="10241280" y="378561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7936992" y="4526280"/>
            <a:ext cx="356616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7936992" y="4663440"/>
            <a:ext cx="3611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Concentración por área
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707 de 830 P1 abiertos (85%) están en el área 3000. Áreas 2000 (91,8%) y 8000 (91,7%) ya casi cerradas.</a:t>
            </a:r>
            <a:endParaRPr lang="en-US" sz="1150" dirty="0"/>
          </a:p>
        </p:txBody>
      </p:sp>
      <p:sp>
        <p:nvSpPr>
          <p:cNvPr id="21" name="Text 17"/>
          <p:cNvSpPr/>
          <p:nvPr/>
        </p:nvSpPr>
        <p:spPr>
          <a:xfrm>
            <a:off x="457200" y="6473952"/>
            <a:ext cx="8961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Estatus.xlsx · Corte 16-jul-2026 · Áreas 2000/3000/4000/8000</a:t>
            </a:r>
            <a:endParaRPr lang="en-US" sz="850" dirty="0"/>
          </a:p>
        </p:txBody>
      </p:sp>
      <p:sp>
        <p:nvSpPr>
          <p:cNvPr id="22" name="Text 18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875520" y="-1645920"/>
            <a:ext cx="4206240" cy="420624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FOCO DE GESTIÓN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Dónde poner el esfuerzo al 31-jul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1691640" y="1856232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Destrabar carpetas TOP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691640" y="2377440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aprobadas de 135. Priorizar cierre de las 17 en revisión y rearmado de las 8 rechazadas (áreas 2000 y 3000) para convertir entregas en aprobaciones.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245352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0" name="Text 8"/>
          <p:cNvSpPr/>
          <p:nvPr/>
        </p:nvSpPr>
        <p:spPr>
          <a:xfrm>
            <a:off x="6519672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7479792" y="1856232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Atacar el atraso del área 3000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7479792" y="2377440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707 P1 abiertos (85% del total) y 41 caminatas 100% pendientes. Es la ruta crítica: sin 3000 no mejora ningún indicador global.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4" name="Text 12"/>
          <p:cNvSpPr/>
          <p:nvPr/>
        </p:nvSpPr>
        <p:spPr>
          <a:xfrm>
            <a:off x="731520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1691640" y="4005072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Recuperar los 401 P1 vencidos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1691640" y="4526280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Casi la mitad de los P1 abiertos superó su fecha de vencimiento. Foco en Instrumentación (128), Eléctrica (98) y Mecánica (84).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245352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8" name="Text 16"/>
          <p:cNvSpPr/>
          <p:nvPr/>
        </p:nvSpPr>
        <p:spPr>
          <a:xfrm>
            <a:off x="6519672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3400" dirty="0"/>
          </a:p>
        </p:txBody>
      </p:sp>
      <p:sp>
        <p:nvSpPr>
          <p:cNvPr id="19" name="Text 17"/>
          <p:cNvSpPr/>
          <p:nvPr/>
        </p:nvSpPr>
        <p:spPr>
          <a:xfrm>
            <a:off x="7479792" y="4005072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Cerrar caminatas 100% restantes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7479792" y="4526280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subsistemas pendientes (9 próximos, 36 por programar). Programarlas habilita el levantamiento final de detalles y la entrega de carpetas.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57200" y="6473952"/>
            <a:ext cx="8961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Estatus.xlsx · Corte 16-jul-2026 · Áreas 2000/3000/4000/8000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Panel de Control — Carpetas TOP · Caminatas · Detalles P1</dc:title>
  <dc:subject>PptxGenJS Presentation</dc:subject>
  <dc:creator>Control de Proyecto</dc:creator>
  <cp:lastModifiedBy>Control de Proyecto</cp:lastModifiedBy>
  <cp:revision>1</cp:revision>
  <dcterms:created xsi:type="dcterms:W3CDTF">2026-07-17T16:54:06Z</dcterms:created>
  <dcterms:modified xsi:type="dcterms:W3CDTF">2026-07-17T16:54:06Z</dcterms:modified>
</cp:coreProperties>
</file>