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31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160</c:v>
                </c:pt>
                <c:pt idx="1">
                  <c:v>91</c:v>
                </c:pt>
                <c:pt idx="2">
                  <c:v>20</c:v>
                </c:pt>
                <c:pt idx="3">
                  <c:v>18</c:v>
                </c:pt>
                <c:pt idx="4">
                  <c:v>15</c:v>
                </c:pt>
                <c:pt idx="5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714</c:v>
                </c:pt>
                <c:pt idx="1">
                  <c:v>8</c:v>
                </c:pt>
                <c:pt idx="2">
                  <c:v>316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10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>6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/>
                </c:pt>
                <c:pt idx="5">
                  <c:v>6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10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2</c:v>
                </c:pt>
                <c:pt idx="2">
                  <c:v>9</c:v>
                </c:pt>
                <c:pt idx="3">
                  <c:v/>
                </c:pt>
                <c:pt idx="4">
                  <c:v>3</c:v>
                </c:pt>
                <c:pt idx="5">
                  <c:v>11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61</c:v>
                </c:pt>
                <c:pt idx="2">
                  <c:v>39</c:v>
                </c:pt>
                <c:pt idx="3">
                  <c:v>12</c:v>
                </c:pt>
                <c:pt idx="4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140</c:v>
                </c:pt>
                <c:pt idx="1">
                  <c:v>60</c:v>
                </c:pt>
                <c:pt idx="2">
                  <c:v>11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219</c:v>
                </c:pt>
                <c:pt idx="1">
                  <c:v>173</c:v>
                </c:pt>
                <c:pt idx="2">
                  <c:v>153</c:v>
                </c:pt>
                <c:pt idx="3">
                  <c:v>110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42</c:v>
                </c:pt>
                <c:pt idx="2">
                  <c:v>28</c:v>
                </c:pt>
                <c:pt idx="3">
                  <c:v>14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1156</c:v>
                </c:pt>
                <c:pt idx="1">
                  <c:v>825</c:v>
                </c:pt>
                <c:pt idx="2">
                  <c:v>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25-08-2026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25-08-2026 · Atrasos al 31-08-2026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aprobadas · 13 en revisión · 2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714/1.038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abiertos · 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1.169 de 1.722 ítems cerrados (67,9%); de los 553 abiertos, 14 ya pasaron su fecha requerida de cierre (2,5%).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49/80 por Caminata 2 (61,3%);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45,3%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entregadas de 95: 28 aprobadas, 13 en revisión y 2 rechazadas. Quedan 18 en preparación y 34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 de los 324 P1 abiertos (51,2%), con 6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25-08-2026 · Atrasos al 31-08-2026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35,8%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carpetas ya están en manos del cliente (45,3%) y 0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25-08-2026 · Atrasos al 31-08-2026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1.038 P1 levantados; 68,8% cerrados. Atrasado = ítem abierto cuya fecha requerida de cierre ya venció al 31-08-2026.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11 días vencidos; el más antiguo lleva 11. 14 entre 1-30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25-08-2026 · Atrasos al 31-08-2026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14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2,5% de los 553 abiertos ya venció su fecha requerida. Foco en Eléctrica (6), Piping (2), Obras Civiles (0).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31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61,3% (49/80).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52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están en preparación y 34 sin iniciar. Solo 43 de 95 (45,3%) llegaron al cliente; 2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P1 abiertos y 8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25-08-2026 · Atrasos al 31-08-2026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2.078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94,3%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31-08-2026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2.078 DT · Atrasos al 31-08-2026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99,1%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215/217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1 programadas en plazo · 2 con agenda vencida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94,3%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198/210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90,8% del universo · 8 programadas en plazo · 12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93,2%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354/380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abiertos · 22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93,2% de cierre en P1 (26 abiertos), pero 326 DT abiertos entre P2, P3 y P4 sobre un total de 352.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DT con la fecha de compromiso vencida; mediana de 28 días y el más antiguo lleva 165.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99,1% y 94,3%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215/217 exigibles, 2 con agenda vencida. Caminata 2: 198/210, con 8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94%: 185 subsistemas sobre 95% y solo 4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2.078 DT · Atrasos al 31-08-2026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94,3% de lo exigible (198/210) — se descuentan 8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2.078 DT · Atrasos al 31-08-2026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2.078 DT levantados; 83,1% cerrados. Atrasado = DT abierto cuya fecha de compromiso de cierre ya venció al 31-08-2026.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354/380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93,2%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23661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1.288/1.400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28086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28 días vencidos; el más antiguo lleva 165. 69 entre 1-30 días, 46 entre 31-90 días, 10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2.078 DT · Atrasos al 31-08-2026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125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son P2 y 22 son P1. La mediana de atraso es de 28 días y 10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10/22 (45,5%). A nivel proyecto la caminata 2 va 90,8% con 8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110 de los 352 DT abiertos (31,3%), con 4 atrasados. Además hay 4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2.078 DT · Atrasos al 31-08-2026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24-08-2026   ·   Corte anterior: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24-08-2026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58,1%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1.156/1.988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 abiertos · 672 vencidos · 7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de 135 realizadas (66,7%); 44 próximas y 1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entregadas de 135 (20,7%) y 0 aprobadas; 12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P1 cerrado desde el corte anterior; 825 abiertos, de los cuales 672 superaron su fecha de vencimiento. El área 3000 concentra 702 (85,1%).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24-08-2026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93,2%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(27)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702 (603)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76,2%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(41)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24-08-2026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24-08-2026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carpetas entregadas de 135 (20,7%).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8" name="Shape 14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19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6" name="Shape 22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7" name="Text 23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24-08-2026 · Áreas 2000/3000/4000/8000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58,1%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58,1%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1.156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702 de 825 P1 abiertos (85,1%)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24-08-2026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15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702 P1 abiertos (85,1%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672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81,5% de los P1 abiertos superó su fecha de vencimiento. Foco en Piping (219), Eléctrica (173), Instrumentación y Control (153).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24-08-2026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2026-08-31T14:39:47Z</dcterms:created>
  <dcterms:modified xsi:type="dcterms:W3CDTF">2026-08-31T14:39:47Z</dcterms:modified>
</cp:coreProperties>
</file>