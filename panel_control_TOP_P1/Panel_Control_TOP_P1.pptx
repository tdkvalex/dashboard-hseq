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7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8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Subsistemas por estado de su caminata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Operable (C2)</c:v>
                  </c:pt>
                  <c:pt idx="1">
                    <c:v>Facility (C1)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72</c:v>
                </c:pt>
                <c:pt idx="1">
                  <c:v>12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Pendiente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Operable (C2)</c:v>
                  </c:pt>
                  <c:pt idx="1">
                    <c:v>Facility (C1)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8</c:v>
                </c:pt>
                <c:pt idx="1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P1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Atrasados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Mecánica</c:v>
                  </c:pt>
                  <c:pt idx="3">
                    <c:v>Obras Civiles</c:v>
                  </c:pt>
                  <c:pt idx="4">
                    <c:v>Instr. y Control</c:v>
                  </c:pt>
                  <c:pt idx="5">
                    <c:v>Estructura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104</c:v>
                </c:pt>
                <c:pt idx="1">
                  <c:v>70</c:v>
                </c:pt>
                <c:pt idx="2">
                  <c:v>19</c:v>
                </c:pt>
                <c:pt idx="3">
                  <c:v>15</c:v>
                </c:pt>
                <c:pt idx="4">
                  <c:v>6</c:v>
                </c:pt>
                <c:pt idx="5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 o sin fecha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Mecánica</c:v>
                  </c:pt>
                  <c:pt idx="3">
                    <c:v>Obras Civiles</c:v>
                  </c:pt>
                  <c:pt idx="4">
                    <c:v>Instr. y Control</c:v>
                  </c:pt>
                  <c:pt idx="5">
                    <c:v>Estructura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70</c:v>
                </c:pt>
                <c:pt idx="1">
                  <c:v>33</c:v>
                </c:pt>
                <c:pt idx="2">
                  <c:v>20</c:v>
                </c:pt>
                <c:pt idx="3">
                  <c:v>3</c:v>
                </c:pt>
                <c:pt idx="4">
                  <c:v>3</c:v>
                </c:pt>
                <c:pt idx="5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P1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9E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0392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E3A5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Cerrados</c:v>
                </c:pt>
                <c:pt idx="1">
                  <c:v>Atrasados</c:v>
                </c:pt>
                <c:pt idx="2">
                  <c:v>Abiertos en plazo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1341</c:v>
                </c:pt>
                <c:pt idx="1">
                  <c:v>222</c:v>
                </c:pt>
                <c:pt idx="2">
                  <c:v>129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12233B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Caminata 2 por área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</c:v>
                </c:pt>
                <c:pt idx="1">
                  <c:v>20</c:v>
                </c:pt>
                <c:pt idx="2">
                  <c:v>25</c:v>
                </c:pt>
                <c:pt idx="3">
                  <c:v>3</c:v>
                </c:pt>
                <c:pt idx="4">
                  <c:v>14</c:v>
                </c:pt>
                <c:pt idx="5">
                  <c:v>22</c:v>
                </c:pt>
                <c:pt idx="6">
                  <c:v>110</c:v>
                </c:pt>
                <c:pt idx="7">
                  <c:v>12</c:v>
                </c:pt>
                <c:pt idx="8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Agendada en plazo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Agenda vencida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2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>1</c:v>
                </c:pt>
                <c:pt idx="8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Sin programar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Avance PEC de carpetas por área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95% o más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</c:v>
                </c:pt>
                <c:pt idx="1">
                  <c:v>20</c:v>
                </c:pt>
                <c:pt idx="2">
                  <c:v>17</c:v>
                </c:pt>
                <c:pt idx="3">
                  <c:v>3</c:v>
                </c:pt>
                <c:pt idx="4">
                  <c:v>10</c:v>
                </c:pt>
                <c:pt idx="5">
                  <c:v>15</c:v>
                </c:pt>
                <c:pt idx="6">
                  <c:v>110</c:v>
                </c:pt>
                <c:pt idx="7">
                  <c:v>8</c:v>
                </c:pt>
                <c:pt idx="8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80% a 95%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>8</c:v>
                </c:pt>
                <c:pt idx="3">
                  <c:v/>
                </c:pt>
                <c:pt idx="4">
                  <c:v>3</c:v>
                </c:pt>
                <c:pt idx="5">
                  <c:v>7</c:v>
                </c:pt>
                <c:pt idx="6">
                  <c:v/>
                </c:pt>
                <c:pt idx="7">
                  <c:v>4</c:v>
                </c:pt>
                <c:pt idx="8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Bajo 80%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1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1</c:v>
                </c:pt>
                <c:pt idx="5">
                  <c:v/>
                </c:pt>
                <c:pt idx="6">
                  <c:v/>
                </c:pt>
                <c:pt idx="7">
                  <c:v>1</c:v>
                </c:pt>
                <c:pt idx="8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DT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Atrasados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Piping</c:v>
                  </c:pt>
                  <c:pt idx="1">
                    <c:v>Obras Civiles</c:v>
                  </c:pt>
                  <c:pt idx="2">
                    <c:v>Estructura</c:v>
                  </c:pt>
                  <c:pt idx="3">
                    <c:v>Eléctrica</c:v>
                  </c:pt>
                  <c:pt idx="4">
                    <c:v>Instr. y Control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</c:v>
                </c:pt>
                <c:pt idx="1">
                  <c:v>12</c:v>
                </c:pt>
                <c:pt idx="2">
                  <c:v>4</c:v>
                </c:pt>
                <c:pt idx="3">
                  <c:v>2</c:v>
                </c:pt>
                <c:pt idx="4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 o sin compromiso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Piping</c:v>
                  </c:pt>
                  <c:pt idx="1">
                    <c:v>Obras Civiles</c:v>
                  </c:pt>
                  <c:pt idx="2">
                    <c:v>Estructura</c:v>
                  </c:pt>
                  <c:pt idx="3">
                    <c:v>Eléctrica</c:v>
                  </c:pt>
                  <c:pt idx="4">
                    <c:v>Instr. y Control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130</c:v>
                </c:pt>
                <c:pt idx="1">
                  <c:v>57</c:v>
                </c:pt>
                <c:pt idx="2">
                  <c:v>13</c:v>
                </c:pt>
                <c:pt idx="3">
                  <c:v>10</c:v>
                </c:pt>
                <c:pt idx="4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Subsistemas por estado de caminata 100%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35</c:v>
                </c:pt>
                <c:pt idx="1">
                  <c:v>77</c:v>
                </c:pt>
                <c:pt idx="2">
                  <c:v>22</c:v>
                </c:pt>
                <c:pt idx="3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Próxima a realizar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Por programar</c:v>
                </c:pt>
              </c:strCache>
            </c:strRef>
          </c:tx>
          <c:spPr>
            <a:solidFill>
              <a:srgbClr val="3A6F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Carpetas TOP por área y estatus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En revisión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/>
                </c:pt>
                <c:pt idx="2">
                  <c:v>5</c:v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Observada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1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Rechazada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21</c:v>
                </c:pt>
                <c:pt idx="1">
                  <c:v>7</c:v>
                </c:pt>
                <c:pt idx="2">
                  <c:v>2</c:v>
                </c:pt>
                <c:pt idx="3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Sin entregar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4</c:v>
                </c:pt>
                <c:pt idx="1">
                  <c:v>69</c:v>
                </c:pt>
                <c:pt idx="2">
                  <c:v>15</c:v>
                </c:pt>
                <c:pt idx="3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P1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Vencidos al corte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Instrum. y Control</c:v>
                  </c:pt>
                  <c:pt idx="1">
                    <c:v>Eléctrica</c:v>
                  </c:pt>
                  <c:pt idx="2">
                    <c:v>Piping</c:v>
                  </c:pt>
                  <c:pt idx="3">
                    <c:v>Mecánica</c:v>
                  </c:pt>
                  <c:pt idx="4">
                    <c:v>Estructura</c:v>
                  </c:pt>
                  <c:pt idx="5">
                    <c:v>Obras Civiles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64</c:v>
                </c:pt>
                <c:pt idx="1">
                  <c:v>54</c:v>
                </c:pt>
                <c:pt idx="2">
                  <c:v>26</c:v>
                </c:pt>
                <c:pt idx="3">
                  <c:v>2</c:v>
                </c:pt>
                <c:pt idx="4">
                  <c:v/>
                </c:pt>
                <c:pt idx="5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Instrum. y Control</c:v>
                  </c:pt>
                  <c:pt idx="1">
                    <c:v>Eléctrica</c:v>
                  </c:pt>
                  <c:pt idx="2">
                    <c:v>Piping</c:v>
                  </c:pt>
                  <c:pt idx="3">
                    <c:v>Mecánica</c:v>
                  </c:pt>
                  <c:pt idx="4">
                    <c:v>Estructura</c:v>
                  </c:pt>
                  <c:pt idx="5">
                    <c:v>Obras Civiles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36</c:v>
                </c:pt>
                <c:pt idx="1">
                  <c:v>44</c:v>
                </c:pt>
                <c:pt idx="2">
                  <c:v>28</c:v>
                </c:pt>
                <c:pt idx="3">
                  <c:v>5</c:v>
                </c:pt>
                <c:pt idx="4">
                  <c:v>6</c:v>
                </c:pt>
                <c:pt idx="5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P1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9E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0392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E3A5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Cerrados</c:v>
                </c:pt>
                <c:pt idx="1">
                  <c:v>Abiertos</c:v>
                </c:pt>
                <c:pt idx="2">
                  <c:v>En trámite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1914</c:v>
                </c:pt>
                <c:pt idx="1">
                  <c:v>268</c:v>
                </c:pt>
                <c:pt idx="2">
                  <c:v>0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12233B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1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3" Type="http://schemas.openxmlformats.org/officeDocument/2006/relationships/chart" Target="/ppt/charts/chart5.xml"/><Relationship Id="rId1" Type="http://schemas.openxmlformats.org/officeDocument/2006/relationships/image" Target="../media/image-8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image-1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8.xml"/><Relationship Id="rId1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9.xml"/><Relationship Id="rId3" Type="http://schemas.openxmlformats.org/officeDocument/2006/relationships/chart" Target="/ppt/charts/chart10.xml"/><Relationship Id="rId1" Type="http://schemas.openxmlformats.org/officeDocument/2006/relationships/image" Target="../media/image-16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01 · P2416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Desaladora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PV3 Montaje Electromecánico — Ampliación Desaladora · ANTOFAGASTA MINERALS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VPP-1001-03-CC-088 · 95 subsistemas (80 Operable · 15 Facility) en Desaladora y EB-2.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suman al universo 3 componentes ya entregados: son entregas parciales de un subsistema que ya está contado.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Operables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Facility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71,6%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entregadas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79,3%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punch P1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13-10-2026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13-10-2026 · Atrasos al 19-10-2026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90%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72/80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Operables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subsistemas por caminar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80%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12/15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Facility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facilities por caminar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71,6%</a:t>
            </a:r>
            <a:endParaRPr lang="en-US" sz="38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68/95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entregadas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 aprobadas · 10 en revisión · 7 rechazadas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79,3%</a:t>
            </a:r>
            <a:endParaRPr lang="en-US" sz="38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1.341/1.692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punch P1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351 abiertos · 222 atrasados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50208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114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punch cierra a buen ritmo, pero la deuda vencida es la mitad de lo abierto.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2.114 de 2.715 ítems cerrados (77,9%); de los 601 abiertos, 385 ya pasaron su fecha requerida de cierre (64,1%).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822960" y="491947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8188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avanzan a distinta velocidad según el tipo de subsistema.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Operables 72/80 por Caminata 2 (90%); Facility 12/15 por Caminata 1 (80%).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822960" y="534009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23951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están a 71,6% de entrega y el cuello está en el armado interno.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 entregadas de 95: 51 aprobadas, 10 en revisión y 7 rechazadas. Quedan 16 en preparación y 11 sin iniciar.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822960" y="5760720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8" name="Text 35"/>
          <p:cNvSpPr/>
          <p:nvPr/>
        </p:nvSpPr>
        <p:spPr>
          <a:xfrm>
            <a:off x="1051560" y="566013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Piping concentra el pendiente de P1.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174 de los 351 P1 abiertos (49,6%), con 104 atrasados.</a:t>
            </a:r>
            <a:endParaRPr lang="en-US" sz="1150" dirty="0"/>
          </a:p>
        </p:txBody>
      </p:sp>
      <p:sp>
        <p:nvSpPr>
          <p:cNvPr id="39" name="Text 3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13-10-2026 · Atrasos al 19-10-2026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FRENTES 1 Y 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Caminatas y certificados de entrega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tipo de subsistema se mide con su propia caminata: los Operables por la Caminata 2 y los Facility por la Caminata 1, tal como lo declara el propio reporte gerencial.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55778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263640" y="1874520"/>
            <a:ext cx="5468112" cy="41148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492240" y="208483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CERTIFICADO DE ENTREGA (95 SUBSISTEMAS)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6492240" y="2468880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0" name="Shape 6"/>
          <p:cNvSpPr/>
          <p:nvPr/>
        </p:nvSpPr>
        <p:spPr>
          <a:xfrm>
            <a:off x="6601968" y="2642616"/>
            <a:ext cx="219456" cy="219456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1" name="Text 7"/>
          <p:cNvSpPr/>
          <p:nvPr/>
        </p:nvSpPr>
        <p:spPr>
          <a:xfrm>
            <a:off x="6931152" y="24688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Aprobada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9509760" y="246888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53,7%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10561320" y="246888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6492240" y="3090672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5" name="Shape 11"/>
          <p:cNvSpPr/>
          <p:nvPr/>
        </p:nvSpPr>
        <p:spPr>
          <a:xfrm>
            <a:off x="6601968" y="3264408"/>
            <a:ext cx="219456" cy="219456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6" name="Text 12"/>
          <p:cNvSpPr/>
          <p:nvPr/>
        </p:nvSpPr>
        <p:spPr>
          <a:xfrm>
            <a:off x="6931152" y="309067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revisión del cliente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9509760" y="309067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10,5%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10561320" y="3090672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6492240" y="3712464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0" name="Shape 16"/>
          <p:cNvSpPr/>
          <p:nvPr/>
        </p:nvSpPr>
        <p:spPr>
          <a:xfrm>
            <a:off x="6601968" y="3886200"/>
            <a:ext cx="219456" cy="21945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1" name="Text 17"/>
          <p:cNvSpPr/>
          <p:nvPr/>
        </p:nvSpPr>
        <p:spPr>
          <a:xfrm>
            <a:off x="6931152" y="371246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Rechazada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9509760" y="371246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7,4%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10561320" y="3712464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200" dirty="0"/>
          </a:p>
        </p:txBody>
      </p:sp>
      <p:sp>
        <p:nvSpPr>
          <p:cNvPr id="24" name="Shape 20"/>
          <p:cNvSpPr/>
          <p:nvPr/>
        </p:nvSpPr>
        <p:spPr>
          <a:xfrm>
            <a:off x="6492240" y="4334256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5" name="Shape 21"/>
          <p:cNvSpPr/>
          <p:nvPr/>
        </p:nvSpPr>
        <p:spPr>
          <a:xfrm>
            <a:off x="6601968" y="4507992"/>
            <a:ext cx="219456" cy="219456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26" name="Text 22"/>
          <p:cNvSpPr/>
          <p:nvPr/>
        </p:nvSpPr>
        <p:spPr>
          <a:xfrm>
            <a:off x="6931152" y="43342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preparación (interna)</a:t>
            </a:r>
            <a:endParaRPr lang="en-US" sz="1250" dirty="0"/>
          </a:p>
        </p:txBody>
      </p:sp>
      <p:sp>
        <p:nvSpPr>
          <p:cNvPr id="27" name="Text 23"/>
          <p:cNvSpPr/>
          <p:nvPr/>
        </p:nvSpPr>
        <p:spPr>
          <a:xfrm>
            <a:off x="9509760" y="433425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16,8%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10561320" y="4334256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2200" dirty="0"/>
          </a:p>
        </p:txBody>
      </p:sp>
      <p:sp>
        <p:nvSpPr>
          <p:cNvPr id="29" name="Shape 25"/>
          <p:cNvSpPr/>
          <p:nvPr/>
        </p:nvSpPr>
        <p:spPr>
          <a:xfrm>
            <a:off x="6492240" y="4956048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30" name="Shape 26"/>
          <p:cNvSpPr/>
          <p:nvPr/>
        </p:nvSpPr>
        <p:spPr>
          <a:xfrm>
            <a:off x="6601968" y="5129784"/>
            <a:ext cx="219456" cy="219456"/>
          </a:xfrm>
          <a:prstGeom prst="ellipse">
            <a:avLst/>
          </a:prstGeom>
          <a:solidFill>
            <a:srgbClr val="6E8CA8"/>
          </a:solidFill>
          <a:ln/>
        </p:spPr>
      </p:sp>
      <p:sp>
        <p:nvSpPr>
          <p:cNvPr id="31" name="Text 27"/>
          <p:cNvSpPr/>
          <p:nvPr/>
        </p:nvSpPr>
        <p:spPr>
          <a:xfrm>
            <a:off x="6931152" y="495604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entregar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9509760" y="495604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11,6%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10561320" y="4956048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6E8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2200" dirty="0"/>
          </a:p>
        </p:txBody>
      </p:sp>
      <p:sp>
        <p:nvSpPr>
          <p:cNvPr id="34" name="Text 30"/>
          <p:cNvSpPr/>
          <p:nvPr/>
        </p:nvSpPr>
        <p:spPr>
          <a:xfrm>
            <a:off x="6492240" y="559612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 carpetas ya están en manos del cliente (71,6%) y 52 subsistemas tienen tarjeta verde. El grueso del pendiente todavía no sale de Besalco.</a:t>
            </a:r>
            <a:endParaRPr lang="en-US" sz="1000" dirty="0"/>
          </a:p>
        </p:txBody>
      </p:sp>
      <p:sp>
        <p:nvSpPr>
          <p:cNvPr id="35" name="Text 3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13-10-2026 · Atrasos al 19-10-2026</a:t>
            </a:r>
            <a:endParaRPr lang="en-US" sz="850" dirty="0"/>
          </a:p>
        </p:txBody>
      </p:sp>
      <p:sp>
        <p:nvSpPr>
          <p:cNvPr id="36" name="Text 3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37" name="Text 3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FRENTE 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Punch list en condición P1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1.692 P1 levantados; 79,3% cerrados. Atrasado = ítem abierto cuya fecha requerida de cierre ya venció al 19-10-2026.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GLOBAL P1</a:t>
            </a:r>
            <a:endParaRPr lang="en-US" sz="11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7772400" y="2331720"/>
          <a:ext cx="20116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 5"/>
          <p:cNvSpPr/>
          <p:nvPr/>
        </p:nvSpPr>
        <p:spPr>
          <a:xfrm>
            <a:off x="7772400" y="299923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79,3%</a:t>
            </a:r>
            <a:endParaRPr lang="en-US" sz="1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CE6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cerrado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10012680" y="2505456"/>
            <a:ext cx="182880" cy="182880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2" name="Text 7"/>
          <p:cNvSpPr/>
          <p:nvPr/>
        </p:nvSpPr>
        <p:spPr>
          <a:xfrm>
            <a:off x="10241280" y="242316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1050" dirty="0"/>
          </a:p>
        </p:txBody>
      </p:sp>
      <p:sp>
        <p:nvSpPr>
          <p:cNvPr id="13" name="Text 8"/>
          <p:cNvSpPr/>
          <p:nvPr/>
        </p:nvSpPr>
        <p:spPr>
          <a:xfrm>
            <a:off x="10241280" y="26700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1.341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10012680" y="3072384"/>
            <a:ext cx="182880" cy="1828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0"/>
          <p:cNvSpPr/>
          <p:nvPr/>
        </p:nvSpPr>
        <p:spPr>
          <a:xfrm>
            <a:off x="10241280" y="2990088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Atrasados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10241280" y="323697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222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10012680" y="3639312"/>
            <a:ext cx="182880" cy="182880"/>
          </a:xfrm>
          <a:prstGeom prst="ellipse">
            <a:avLst/>
          </a:prstGeom>
          <a:solidFill>
            <a:srgbClr val="E3A55B"/>
          </a:solidFill>
          <a:ln/>
        </p:spPr>
      </p:sp>
      <p:sp>
        <p:nvSpPr>
          <p:cNvPr id="18" name="Text 13"/>
          <p:cNvSpPr/>
          <p:nvPr/>
        </p:nvSpPr>
        <p:spPr>
          <a:xfrm>
            <a:off x="10241280" y="3557016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 en plazo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10241280" y="380390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129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936992" y="452628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7936992" y="466344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Antigüedad del atraso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19 días vencidos; el más antiguo lleva 162. 212 entre 1-30 días, 96 entre 31-90 días, 77 entre 91-180 días.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13-10-2026 · Atrasos al 19-10-2026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24" name="Text 1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385 ítems atrasados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64,1% de los 601 abiertos ya venció su fecha requerida. Foco en Piping (104), Eléctrica (70), Mecánica (19).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las 8 caminatas de Operables pendientes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Caminata 2 va en 90% (72/80). Sin caminata no se levanta el punch final ni se habilita la entrega de la carpeta.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Sacar del armado interno las 27 carpetas retenidas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están en preparación y 11 sin iniciar. Solo 68 de 95 (71,6%) llegaron al cliente; 7 volvieron rechazadas y hay que rearmarlas.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Atender la zona Desaladora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 302 P1 abiertos y 173 atrasados sobre 74 subsistemas. Es la ruta crítica del proyecto.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13-10-2026 · Atrasos al 19-10-2026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02 · P2407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Talabre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Captación de agua, pozos y estaciones de bombeo · CODELCO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4600029355 · 218 subsistemas en 9 áreas · 2.181 detalles de terminación levantados.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exigible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98,6%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exigible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95,3%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PEC promedio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98,9%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DT P1+P2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Atrasos calculados al 19-10-2026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2.181 DT · Atrasos al 19-10-2026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218/218 exigibles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31520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realizada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del universo · 0 programadas en plazo · 0 sin programar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98,6%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215/218 exigibles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3593592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realizada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98,6% del universo · 0 programadas en plazo · 3 con agenda vencida · 0 sin programar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95,3%</a:t>
            </a:r>
            <a:endParaRPr lang="en-US" sz="38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193/218 sobre 95%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455664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PEC de carpetas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subsistemas bajo 80% de avance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97,5%</a:t>
            </a:r>
            <a:endParaRPr lang="en-US" sz="38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433/444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9317736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DT P1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abiertos · 8 atrasados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50208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114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está prácticamente cerrado; el volumen pendiente está en las prioridades menores.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97,5% de cierre en P1 (11 abiertos), pero 227 DT abiertos entre P2, P3 y P4 sobre un total de 238.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822960" y="491947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8188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atraso es más antiguo que el de los otros proyectos.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DT con la fecha de compromiso vencida; mediana de 75 días y el más antiguo lleva 214. Los 210 abiertos sin fecha de compromiso no se cuentan como atrasados.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822960" y="534009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23951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Caminatas: 100% y 98,6% de lo exigible (C1 y C2).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1: 218/218 exigibles. Caminata 2: 215/218, con 0 agendadas en plazo y 0 sin programar.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822960" y="5760720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8" name="Text 35"/>
          <p:cNvSpPr/>
          <p:nvPr/>
        </p:nvSpPr>
        <p:spPr>
          <a:xfrm>
            <a:off x="1051560" y="566013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avanzan bien salvo un grupo acotado.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promedio 95,3%: 193 subsistemas sobre 95% y solo 3 bajo 80%.</a:t>
            </a:r>
            <a:endParaRPr lang="en-US" sz="1150" dirty="0"/>
          </a:p>
        </p:txBody>
      </p:sp>
      <p:sp>
        <p:nvSpPr>
          <p:cNvPr id="39" name="Text 3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2.181 DT · Atrasos al 19-10-2026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FRENTES 1 Y 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Caminatas y avance de carpetas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2: 98,6% de lo exigible (215/218) — se descuentan 0 agendadas a fecha futura, que no son incumplimiento al corte. Talabre mide la carpeta como % de avance (PEC), no como estado de aprobación.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585216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6446520" y="1874520"/>
          <a:ext cx="5285232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2.181 DT · Atrasos al 19-10-2026</a:t>
            </a:r>
            <a:endParaRPr lang="en-US" sz="850" dirty="0"/>
          </a:p>
        </p:txBody>
      </p:sp>
      <p:sp>
        <p:nvSpPr>
          <p:cNvPr id="9" name="Text 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10" name="Text 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FRENTE 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Detalles de terminación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2.181 DT levantados; 89,1% cerrados. Atrasado = DT abierto cuya fecha de compromiso de cierre ya venció al 19-10-2026.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POR PRIORIDAD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7936992" y="243230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8778240" y="243230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433/444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10287000" y="2432304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97,5%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7936992" y="2688336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13" name="Shape 9"/>
          <p:cNvSpPr/>
          <p:nvPr/>
        </p:nvSpPr>
        <p:spPr>
          <a:xfrm>
            <a:off x="7936992" y="2688336"/>
            <a:ext cx="3477006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14" name="Text 10"/>
          <p:cNvSpPr/>
          <p:nvPr/>
        </p:nvSpPr>
        <p:spPr>
          <a:xfrm>
            <a:off x="7936992" y="294436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8778240" y="2944368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1.425/1.435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10287000" y="2944368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99,3%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7936992" y="3200400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18" name="Shape 14"/>
          <p:cNvSpPr/>
          <p:nvPr/>
        </p:nvSpPr>
        <p:spPr>
          <a:xfrm>
            <a:off x="7936992" y="3200400"/>
            <a:ext cx="3541197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19" name="Text 15"/>
          <p:cNvSpPr/>
          <p:nvPr/>
        </p:nvSpPr>
        <p:spPr>
          <a:xfrm>
            <a:off x="7936992" y="345643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8778240" y="3456432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74/243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10287000" y="3456432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30,5%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7936992" y="3712464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23" name="Shape 19"/>
          <p:cNvSpPr/>
          <p:nvPr/>
        </p:nvSpPr>
        <p:spPr>
          <a:xfrm>
            <a:off x="7936992" y="3712464"/>
            <a:ext cx="1087679" cy="11887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4" name="Text 20"/>
          <p:cNvSpPr/>
          <p:nvPr/>
        </p:nvSpPr>
        <p:spPr>
          <a:xfrm>
            <a:off x="7936992" y="396849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</a:t>
            </a:r>
            <a:endParaRPr lang="en-US" sz="1150" dirty="0"/>
          </a:p>
        </p:txBody>
      </p:sp>
      <p:sp>
        <p:nvSpPr>
          <p:cNvPr id="25" name="Text 21"/>
          <p:cNvSpPr/>
          <p:nvPr/>
        </p:nvSpPr>
        <p:spPr>
          <a:xfrm>
            <a:off x="8778240" y="396849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2/50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10287000" y="3968496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4%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7936992" y="4224528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28" name="Shape 24"/>
          <p:cNvSpPr/>
          <p:nvPr/>
        </p:nvSpPr>
        <p:spPr>
          <a:xfrm>
            <a:off x="7936992" y="4224528"/>
            <a:ext cx="142646" cy="11887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9" name="Text 25"/>
          <p:cNvSpPr/>
          <p:nvPr/>
        </p:nvSpPr>
        <p:spPr>
          <a:xfrm>
            <a:off x="7936992" y="448056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150" dirty="0"/>
          </a:p>
        </p:txBody>
      </p:sp>
      <p:sp>
        <p:nvSpPr>
          <p:cNvPr id="30" name="Text 26"/>
          <p:cNvSpPr/>
          <p:nvPr/>
        </p:nvSpPr>
        <p:spPr>
          <a:xfrm>
            <a:off x="8778240" y="448056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9/9</a:t>
            </a:r>
            <a:endParaRPr lang="en-US" sz="1050" dirty="0"/>
          </a:p>
        </p:txBody>
      </p:sp>
      <p:sp>
        <p:nvSpPr>
          <p:cNvPr id="31" name="Text 27"/>
          <p:cNvSpPr/>
          <p:nvPr/>
        </p:nvSpPr>
        <p:spPr>
          <a:xfrm>
            <a:off x="10287000" y="448056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32" name="Shape 28"/>
          <p:cNvSpPr/>
          <p:nvPr/>
        </p:nvSpPr>
        <p:spPr>
          <a:xfrm>
            <a:off x="7936992" y="4736592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33" name="Shape 29"/>
          <p:cNvSpPr/>
          <p:nvPr/>
        </p:nvSpPr>
        <p:spPr>
          <a:xfrm>
            <a:off x="7936992" y="4736592"/>
            <a:ext cx="3566160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34" name="Shape 30"/>
          <p:cNvSpPr/>
          <p:nvPr/>
        </p:nvSpPr>
        <p:spPr>
          <a:xfrm>
            <a:off x="7936992" y="502920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7936992" y="5138928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Antigüedad del atraso
</a:t>
            </a:r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75 días vencidos; el más antiguo lleva 214. 12 entre 1-30 días, 7 entre 31-90 días, 5 entre 91-180 días, 1 entre &gt;180 días.</a:t>
            </a:r>
            <a:endParaRPr lang="en-US" sz="1150" dirty="0"/>
          </a:p>
        </p:txBody>
      </p:sp>
      <p:sp>
        <p:nvSpPr>
          <p:cNvPr id="36" name="Text 32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2.181 DT · Atrasos al 19-10-2026</a:t>
            </a:r>
            <a:endParaRPr lang="en-US" sz="850" dirty="0"/>
          </a:p>
        </p:txBody>
      </p:sp>
      <p:sp>
        <p:nvSpPr>
          <p:cNvPr id="37" name="Text 33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38" name="Text 34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25 DT atrasados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son P2 y 8 son P1. La mediana de atraso es de 75 días y 6 superan los 90 días.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 caminata 2 en CERRO VERDE/PS2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CERRO VERDE/PS2: 1/3 (33,3%). A nivel proyecto la caminata 2 va 98,6% con 0 ya agendadas.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Destrabar P4: 48 abiertos y ninguno cerrado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50 DT levantados en P4 no se ha cerrado ninguno (4%). P3 tampoco despega: 30,5% de cierre.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Atender POZOS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 106 de los 238 DT abiertos (44,5%), con 0 atrasados. Además hay 3 carpetas bajo 80% de avance que conviene cerrar en paralelo.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2.181 DT · Atrasos al 19-10-2026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03 · P2342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Arqueros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Electromecánico Planta Concentradora y de Espesado · MASA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200400"/>
            <a:ext cx="8778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 subsistemas en 4 áreas (2000 · 3000 · 4000 · 8000) · 3.314 detalles de terminación levantados.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 de armado y entrega de carpetas TOP · avance de caminatas 80% / 100% · detalles de construcción en condición P1.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80%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100%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33,8%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TOP entregadas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87,7%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detalles P1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19-10-2026   ·   Corte anterior: 13-10-2026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19-10-2026 · Áreas 2000/3000/4000/8000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136/136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80% realizadas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cerrado en las 4 áreas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136/136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100% realizadas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próximas · 0 por programar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3593592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sin cambio vs. corte anterior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6181344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0" name="Text 17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33,8%</a:t>
            </a:r>
            <a:endParaRPr lang="en-US" sz="4000" dirty="0"/>
          </a:p>
        </p:txBody>
      </p:sp>
      <p:sp>
        <p:nvSpPr>
          <p:cNvPr id="21" name="Text 18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46/136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TOP entregadas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455664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aprobadas · 30 rechazadas · 15 en revisión · 1 observadas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6455664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sin cambio vs. corte anterior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9043416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7" name="Text 24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87,7%</a:t>
            </a:r>
            <a:endParaRPr lang="en-US" sz="4000" dirty="0"/>
          </a:p>
        </p:txBody>
      </p:sp>
      <p:sp>
        <p:nvSpPr>
          <p:cNvPr id="28" name="Text 25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1.914/2.182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detalles P1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9317736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268 abiertos · 146 vencidos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9317736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+303 vs. corte anterior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457200" y="4041648"/>
            <a:ext cx="11274552" cy="2103120"/>
          </a:xfrm>
          <a:prstGeom prst="roundRect">
            <a:avLst>
              <a:gd name="adj" fmla="val 2609"/>
            </a:avLst>
          </a:prstGeom>
          <a:solidFill>
            <a:srgbClr val="12233B"/>
          </a:solidFill>
          <a:ln/>
        </p:spPr>
      </p:sp>
      <p:sp>
        <p:nvSpPr>
          <p:cNvPr id="33" name="Text 30"/>
          <p:cNvSpPr/>
          <p:nvPr/>
        </p:nvSpPr>
        <p:spPr>
          <a:xfrm>
            <a:off x="777240" y="4206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822960" y="459028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5" name="Text 32"/>
          <p:cNvSpPr/>
          <p:nvPr/>
        </p:nvSpPr>
        <p:spPr>
          <a:xfrm>
            <a:off x="1051560" y="4489704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de caminatas al 100%.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 de 136 realizadas (100%); 0 próximas y 0 por programar.</a:t>
            </a:r>
            <a:endParaRPr lang="en-US" sz="1250" dirty="0"/>
          </a:p>
        </p:txBody>
      </p:sp>
      <p:sp>
        <p:nvSpPr>
          <p:cNvPr id="36" name="Shape 33"/>
          <p:cNvSpPr/>
          <p:nvPr/>
        </p:nvSpPr>
        <p:spPr>
          <a:xfrm>
            <a:off x="822960" y="510235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7" name="Text 34"/>
          <p:cNvSpPr/>
          <p:nvPr/>
        </p:nvSpPr>
        <p:spPr>
          <a:xfrm>
            <a:off x="1051560" y="500176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TOP siguen sin aprobaciones y suben los rechazos.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 entregadas de 136 (33,8%) y 0 aprobadas; las rechazadas pasaron de 24 a 30.</a:t>
            </a:r>
            <a:endParaRPr lang="en-US" sz="1250" dirty="0"/>
          </a:p>
        </p:txBody>
      </p:sp>
      <p:sp>
        <p:nvSpPr>
          <p:cNvPr id="38" name="Shape 35"/>
          <p:cNvSpPr/>
          <p:nvPr/>
        </p:nvSpPr>
        <p:spPr>
          <a:xfrm>
            <a:off x="822960" y="561441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9" name="Text 36"/>
          <p:cNvSpPr/>
          <p:nvPr/>
        </p:nvSpPr>
        <p:spPr>
          <a:xfrm>
            <a:off x="1051560" y="5513832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cierre de detalles P1 está prácticamente detenido y crece la deuda vencida.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+303 P1 cerrado desde el corte anterior; 268 abiertos, de los cuales 146 superaron su fecha de vencimiento. El área 3000 concentra 260 (97%).</a:t>
            </a:r>
            <a:endParaRPr lang="en-US" sz="1250" dirty="0"/>
          </a:p>
        </p:txBody>
      </p:sp>
      <p:sp>
        <p:nvSpPr>
          <p:cNvPr id="40" name="Text 3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19-10-2026 · Áreas 2000/3000/4000/8000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42" name="Text 3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ESTADO POR ÁREA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Semáforo integrado de los tres frentes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02920" y="157276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3474720" y="15727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SUBSIST.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4434840" y="157276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100%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035040" y="1572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ENTREGADAS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7818120" y="15727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P1 % CIERRE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9098280" y="1572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ABIERTOS (VENC.)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10881360" y="157276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02920" y="1883664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02920" y="20116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2000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502920" y="234086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Chancado (Área Seca)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3474720" y="2139696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4434840" y="2139696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35/35 · 100%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035040" y="21396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31/35 · 88,6%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7818120" y="213969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9098280" y="21396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(0)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10863072" y="2121408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21" name="Text 18"/>
          <p:cNvSpPr/>
          <p:nvPr/>
        </p:nvSpPr>
        <p:spPr>
          <a:xfrm>
            <a:off x="10863072" y="213055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02920" y="28986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57200" y="2898648"/>
            <a:ext cx="11292840" cy="9326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1"/>
          <p:cNvSpPr/>
          <p:nvPr/>
        </p:nvSpPr>
        <p:spPr>
          <a:xfrm>
            <a:off x="502920" y="294436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3000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502920" y="327355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Molienda–Flotación (Área Húmeda)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3474720" y="3072384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4434840" y="3072384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77/77 · 100%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6035040" y="307238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8/77 · 10,4%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7818120" y="307238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78,8%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9098280" y="307238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260 (140)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10863072" y="305409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E0A32E"/>
          </a:solidFill>
          <a:ln/>
        </p:spPr>
      </p:sp>
      <p:sp>
        <p:nvSpPr>
          <p:cNvPr id="32" name="Text 29"/>
          <p:cNvSpPr/>
          <p:nvPr/>
        </p:nvSpPr>
        <p:spPr>
          <a:xfrm>
            <a:off x="10863072" y="30632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02920" y="383133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877056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</a:t>
            </a:r>
            <a:endParaRPr lang="en-US" sz="1500" dirty="0"/>
          </a:p>
        </p:txBody>
      </p:sp>
      <p:sp>
        <p:nvSpPr>
          <p:cNvPr id="35" name="Text 32"/>
          <p:cNvSpPr/>
          <p:nvPr/>
        </p:nvSpPr>
        <p:spPr>
          <a:xfrm>
            <a:off x="502920" y="42062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Espesamiento y Relaves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3474720" y="400507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4434840" y="400507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22/22 · 100%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6035040" y="40050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7/22 · 31,8%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7818120" y="400507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97,8%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9098280" y="40050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(6)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10863072" y="3986784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42" name="Text 39"/>
          <p:cNvSpPr/>
          <p:nvPr/>
        </p:nvSpPr>
        <p:spPr>
          <a:xfrm>
            <a:off x="10863072" y="39959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502920" y="476402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57200" y="4764024"/>
            <a:ext cx="11292840" cy="9326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Text 42"/>
          <p:cNvSpPr/>
          <p:nvPr/>
        </p:nvSpPr>
        <p:spPr>
          <a:xfrm>
            <a:off x="502920" y="4809744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8000</a:t>
            </a:r>
            <a:endParaRPr lang="en-US" sz="1500" dirty="0"/>
          </a:p>
        </p:txBody>
      </p:sp>
      <p:sp>
        <p:nvSpPr>
          <p:cNvPr id="46" name="Text 43"/>
          <p:cNvSpPr/>
          <p:nvPr/>
        </p:nvSpPr>
        <p:spPr>
          <a:xfrm>
            <a:off x="502920" y="51389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Salas de Control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3474720" y="49377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48" name="Text 45"/>
          <p:cNvSpPr/>
          <p:nvPr/>
        </p:nvSpPr>
        <p:spPr>
          <a:xfrm>
            <a:off x="4434840" y="49377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2/2 · 100%</a:t>
            </a:r>
            <a:endParaRPr lang="en-US" sz="1300" dirty="0"/>
          </a:p>
        </p:txBody>
      </p:sp>
      <p:sp>
        <p:nvSpPr>
          <p:cNvPr id="49" name="Text 46"/>
          <p:cNvSpPr/>
          <p:nvPr/>
        </p:nvSpPr>
        <p:spPr>
          <a:xfrm>
            <a:off x="6035040" y="4937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0/2 · 0%</a:t>
            </a:r>
            <a:endParaRPr lang="en-US" sz="1300" dirty="0"/>
          </a:p>
        </p:txBody>
      </p:sp>
      <p:sp>
        <p:nvSpPr>
          <p:cNvPr id="50" name="Text 47"/>
          <p:cNvSpPr/>
          <p:nvPr/>
        </p:nvSpPr>
        <p:spPr>
          <a:xfrm>
            <a:off x="7818120" y="49377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300" dirty="0"/>
          </a:p>
        </p:txBody>
      </p:sp>
      <p:sp>
        <p:nvSpPr>
          <p:cNvPr id="51" name="Text 48"/>
          <p:cNvSpPr/>
          <p:nvPr/>
        </p:nvSpPr>
        <p:spPr>
          <a:xfrm>
            <a:off x="9098280" y="4937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(0)</a:t>
            </a:r>
            <a:endParaRPr lang="en-US" sz="1300" dirty="0"/>
          </a:p>
        </p:txBody>
      </p:sp>
      <p:sp>
        <p:nvSpPr>
          <p:cNvPr id="52" name="Shape 49"/>
          <p:cNvSpPr/>
          <p:nvPr/>
        </p:nvSpPr>
        <p:spPr>
          <a:xfrm>
            <a:off x="10863072" y="4919472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53" name="Text 50"/>
          <p:cNvSpPr/>
          <p:nvPr/>
        </p:nvSpPr>
        <p:spPr>
          <a:xfrm>
            <a:off x="10863072" y="492861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54" name="Shape 51"/>
          <p:cNvSpPr/>
          <p:nvPr/>
        </p:nvSpPr>
        <p:spPr>
          <a:xfrm>
            <a:off x="502920" y="56967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457200" y="59436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 · Crítico: caminata 100% &lt; 60% o cierre P1 &lt; 50%   ·   Atención: algún frente entre 60–90% o carpetas TOP por entregar   ·   Al día: caminatas ≥ 90% y P1 ≥ 90%</a:t>
            </a:r>
            <a:endParaRPr lang="en-US" sz="950" dirty="0"/>
          </a:p>
        </p:txBody>
      </p:sp>
      <p:sp>
        <p:nvSpPr>
          <p:cNvPr id="56" name="Text 5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19-10-2026 · Áreas 2000/3000/4000/8000</a:t>
            </a:r>
            <a:endParaRPr lang="en-US" sz="850" dirty="0"/>
          </a:p>
        </p:txBody>
      </p:sp>
      <p:sp>
        <p:nvSpPr>
          <p:cNvPr id="57" name="Text 5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58" name="Text 5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1 · CAMINATAS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Avance de caminatas 80% y 100%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al 80% están cerradas en todas las áreas (136/136). El hito 100% avanza a 100%.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35240" y="1874520"/>
            <a:ext cx="4096512" cy="4114800"/>
          </a:xfrm>
          <a:prstGeom prst="roundRect">
            <a:avLst>
              <a:gd name="adj" fmla="val 1339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09560" y="2103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80%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7909560" y="23317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10" name="Text 6"/>
          <p:cNvSpPr/>
          <p:nvPr/>
        </p:nvSpPr>
        <p:spPr>
          <a:xfrm>
            <a:off x="7909560" y="30358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 de 136 subsistemas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7909560" y="352044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909560" y="36758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100%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7909560" y="390448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14" name="Text 10"/>
          <p:cNvSpPr/>
          <p:nvPr/>
        </p:nvSpPr>
        <p:spPr>
          <a:xfrm>
            <a:off x="7909560" y="460857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 realizadas · 0 pendientes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7909560" y="507492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Foco: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próximas a realizar y 0 por programar.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19-10-2026 · Áreas 2000/3000/4000/8000</a:t>
            </a:r>
            <a:endParaRPr lang="en-US" sz="850" dirty="0"/>
          </a:p>
        </p:txBody>
      </p:sp>
      <p:sp>
        <p:nvSpPr>
          <p:cNvPr id="17" name="Text 13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18" name="Text 14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2 · CARPETAS TOP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Estatus de armado y entrega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 carpetas entregadas de 136 (33,8%). Ninguna aprobada aún: el flujo se acumula en revisión y hay 30 rechazos que requieren rearmado.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35240" y="1874520"/>
            <a:ext cx="4096512" cy="4114800"/>
          </a:xfrm>
          <a:prstGeom prst="roundRect">
            <a:avLst>
              <a:gd name="adj" fmla="val 1339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7863840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EMBUDO DE ENTREGA (136)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7863840" y="2450592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0" name="Shape 6"/>
          <p:cNvSpPr/>
          <p:nvPr/>
        </p:nvSpPr>
        <p:spPr>
          <a:xfrm>
            <a:off x="7973568" y="2624328"/>
            <a:ext cx="219456" cy="219456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1" name="Text 7"/>
          <p:cNvSpPr/>
          <p:nvPr/>
        </p:nvSpPr>
        <p:spPr>
          <a:xfrm>
            <a:off x="8302752" y="2450592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Entregadas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10469880" y="2450592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</a:t>
            </a:r>
            <a:endParaRPr lang="en-US" sz="2200" dirty="0"/>
          </a:p>
        </p:txBody>
      </p:sp>
      <p:sp>
        <p:nvSpPr>
          <p:cNvPr id="13" name="Shape 9"/>
          <p:cNvSpPr/>
          <p:nvPr/>
        </p:nvSpPr>
        <p:spPr>
          <a:xfrm>
            <a:off x="7863840" y="3072384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4" name="Shape 10"/>
          <p:cNvSpPr/>
          <p:nvPr/>
        </p:nvSpPr>
        <p:spPr>
          <a:xfrm>
            <a:off x="7973568" y="3246120"/>
            <a:ext cx="219456" cy="219456"/>
          </a:xfrm>
          <a:prstGeom prst="ellipse">
            <a:avLst/>
          </a:prstGeom>
          <a:solidFill>
            <a:srgbClr val="6E8CA8"/>
          </a:solidFill>
          <a:ln/>
        </p:spPr>
      </p:sp>
      <p:sp>
        <p:nvSpPr>
          <p:cNvPr id="15" name="Text 11"/>
          <p:cNvSpPr/>
          <p:nvPr/>
        </p:nvSpPr>
        <p:spPr>
          <a:xfrm>
            <a:off x="8302752" y="3072384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revisión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9509760" y="3072384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-6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10469880" y="3072384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6E8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2200" dirty="0"/>
          </a:p>
        </p:txBody>
      </p:sp>
      <p:sp>
        <p:nvSpPr>
          <p:cNvPr id="18" name="Shape 14"/>
          <p:cNvSpPr/>
          <p:nvPr/>
        </p:nvSpPr>
        <p:spPr>
          <a:xfrm>
            <a:off x="7863840" y="3694176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9" name="Shape 15"/>
          <p:cNvSpPr/>
          <p:nvPr/>
        </p:nvSpPr>
        <p:spPr>
          <a:xfrm>
            <a:off x="7973568" y="3867912"/>
            <a:ext cx="219456" cy="219456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20" name="Text 16"/>
          <p:cNvSpPr/>
          <p:nvPr/>
        </p:nvSpPr>
        <p:spPr>
          <a:xfrm>
            <a:off x="8302752" y="3694176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Observadas</a:t>
            </a:r>
            <a:endParaRPr lang="en-US" sz="1250" dirty="0"/>
          </a:p>
        </p:txBody>
      </p:sp>
      <p:sp>
        <p:nvSpPr>
          <p:cNvPr id="21" name="Text 17"/>
          <p:cNvSpPr/>
          <p:nvPr/>
        </p:nvSpPr>
        <p:spPr>
          <a:xfrm>
            <a:off x="10469880" y="3694176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22" name="Shape 18"/>
          <p:cNvSpPr/>
          <p:nvPr/>
        </p:nvSpPr>
        <p:spPr>
          <a:xfrm>
            <a:off x="7863840" y="4315968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3" name="Shape 19"/>
          <p:cNvSpPr/>
          <p:nvPr/>
        </p:nvSpPr>
        <p:spPr>
          <a:xfrm>
            <a:off x="7973568" y="4489704"/>
            <a:ext cx="219456" cy="21945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4" name="Text 20"/>
          <p:cNvSpPr/>
          <p:nvPr/>
        </p:nvSpPr>
        <p:spPr>
          <a:xfrm>
            <a:off x="8302752" y="4315968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Rechazadas</a:t>
            </a:r>
            <a:endParaRPr lang="en-US" sz="1250" dirty="0"/>
          </a:p>
        </p:txBody>
      </p:sp>
      <p:sp>
        <p:nvSpPr>
          <p:cNvPr id="25" name="Text 21"/>
          <p:cNvSpPr/>
          <p:nvPr/>
        </p:nvSpPr>
        <p:spPr>
          <a:xfrm>
            <a:off x="9509760" y="4315968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+6</a:t>
            </a:r>
            <a:endParaRPr lang="en-US" sz="950" dirty="0"/>
          </a:p>
        </p:txBody>
      </p:sp>
      <p:sp>
        <p:nvSpPr>
          <p:cNvPr id="26" name="Text 22"/>
          <p:cNvSpPr/>
          <p:nvPr/>
        </p:nvSpPr>
        <p:spPr>
          <a:xfrm>
            <a:off x="10469880" y="4315968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2200" dirty="0"/>
          </a:p>
        </p:txBody>
      </p:sp>
      <p:sp>
        <p:nvSpPr>
          <p:cNvPr id="27" name="Shape 23"/>
          <p:cNvSpPr/>
          <p:nvPr/>
        </p:nvSpPr>
        <p:spPr>
          <a:xfrm>
            <a:off x="7863840" y="4937760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8" name="Shape 24"/>
          <p:cNvSpPr/>
          <p:nvPr/>
        </p:nvSpPr>
        <p:spPr>
          <a:xfrm>
            <a:off x="7973568" y="5111496"/>
            <a:ext cx="219456" cy="219456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29" name="Text 25"/>
          <p:cNvSpPr/>
          <p:nvPr/>
        </p:nvSpPr>
        <p:spPr>
          <a:xfrm>
            <a:off x="8302752" y="493776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Aprobadas</a:t>
            </a:r>
            <a:endParaRPr lang="en-US" sz="1250" dirty="0"/>
          </a:p>
        </p:txBody>
      </p:sp>
      <p:sp>
        <p:nvSpPr>
          <p:cNvPr id="30" name="Text 26"/>
          <p:cNvSpPr/>
          <p:nvPr/>
        </p:nvSpPr>
        <p:spPr>
          <a:xfrm>
            <a:off x="10469880" y="4937760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200" dirty="0"/>
          </a:p>
        </p:txBody>
      </p:sp>
      <p:sp>
        <p:nvSpPr>
          <p:cNvPr id="31" name="Text 27"/>
          <p:cNvSpPr/>
          <p:nvPr/>
        </p:nvSpPr>
        <p:spPr>
          <a:xfrm>
            <a:off x="7863840" y="5559552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Cuello de botella: la revisión del cliente devuelve más carpetas de las que aprueba. Convertir entregas en aprobaciones es el próximo hito.</a:t>
            </a:r>
            <a:endParaRPr lang="en-US" sz="1000" dirty="0"/>
          </a:p>
        </p:txBody>
      </p:sp>
      <p:sp>
        <p:nvSpPr>
          <p:cNvPr id="32" name="Text 28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19-10-2026 · Áreas 2000/3000/4000/8000</a:t>
            </a:r>
            <a:endParaRPr lang="en-US" sz="850" dirty="0"/>
          </a:p>
        </p:txBody>
      </p:sp>
      <p:sp>
        <p:nvSpPr>
          <p:cNvPr id="33" name="Text 29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34" name="Text 30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3 · DETALLES P1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Detalles de terminación en condición P1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2.182 P1 levantados; 87,7% cerrados. El pendiente se concentra en Instrumentación y Control, Eléctrica, Piping, y físicamente en el área 3000.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GLOBAL P1</a:t>
            </a:r>
            <a:endParaRPr lang="en-US" sz="11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7772400" y="2331720"/>
          <a:ext cx="20116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 5"/>
          <p:cNvSpPr/>
          <p:nvPr/>
        </p:nvSpPr>
        <p:spPr>
          <a:xfrm>
            <a:off x="7772400" y="299923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87,7%</a:t>
            </a:r>
            <a:endParaRPr lang="en-US" sz="1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CE6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cerrado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10012680" y="2505456"/>
            <a:ext cx="182880" cy="182880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2" name="Text 7"/>
          <p:cNvSpPr/>
          <p:nvPr/>
        </p:nvSpPr>
        <p:spPr>
          <a:xfrm>
            <a:off x="10241280" y="24231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10241280" y="26517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1.914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10012680" y="3072384"/>
            <a:ext cx="182880" cy="1828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0"/>
          <p:cNvSpPr/>
          <p:nvPr/>
        </p:nvSpPr>
        <p:spPr>
          <a:xfrm>
            <a:off x="10241280" y="299008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10241280" y="321868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268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10012680" y="3639312"/>
            <a:ext cx="182880" cy="182880"/>
          </a:xfrm>
          <a:prstGeom prst="ellipse">
            <a:avLst/>
          </a:prstGeom>
          <a:solidFill>
            <a:srgbClr val="E3A55B"/>
          </a:solidFill>
          <a:ln/>
        </p:spPr>
      </p:sp>
      <p:sp>
        <p:nvSpPr>
          <p:cNvPr id="18" name="Text 13"/>
          <p:cNvSpPr/>
          <p:nvPr/>
        </p:nvSpPr>
        <p:spPr>
          <a:xfrm>
            <a:off x="10241280" y="355701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trámite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10241280" y="378561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936992" y="452628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7936992" y="466344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Concentración por área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260 de 268 P1 abiertos (97%) están en el área 3000. Áreas 2000 y 4000 y 8000 sobre 90% de cierre.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19-10-2026 · Áreas 2000/3000/4000/8000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24" name="Text 1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Destrabar aprobaciones de carpetas TOP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aprobadas de 136. Priorizar el cierre de las 15 en revisión y el rearmado de las 30 rechazadas para convertir entregas en aprobaciones.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Atacar el atraso del área 3000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260 P1 abiertos (97% del total) y 0 caminatas 100% pendientes. Es la ruta crítica: sin esta área no mejora ningún indicador global.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6849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146 P1 vencidos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54,5% de los P1 abiertos superó su fecha de vencimiento. Foco en Instrumentación y Control (64), Eléctrica (54), Piping (26).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6849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las caminatas ya programadas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subsistemas pendientes: 0 próximos a realizar y 0 por programar. La programación ya está hecha; falta ejecutarla para habilitar la entrega de carpetas.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19-10-2026 · Áreas 2000/3000/4000/8000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Panel de Control — Carpetas TOP · Caminatas · Detalles P1</dc:title>
  <dc:subject>PptxGenJS Presentation</dc:subject>
  <dc:creator>Control de Proyecto</dc:creator>
  <cp:lastModifiedBy>Control de Proyecto</cp:lastModifiedBy>
  <cp:revision>1</cp:revision>
  <dcterms:created xsi:type="dcterms:W3CDTF">2026-10-19T13:39:26Z</dcterms:created>
  <dcterms:modified xsi:type="dcterms:W3CDTF">2026-10-19T13:39:26Z</dcterms:modified>
</cp:coreProperties>
</file>