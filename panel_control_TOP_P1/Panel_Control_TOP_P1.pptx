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63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16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</c:v>
                </c:pt>
                <c:pt idx="1">
                  <c:v>88</c:v>
                </c:pt>
                <c:pt idx="2">
                  <c:v>11</c:v>
                </c:pt>
                <c:pt idx="3">
                  <c:v>9</c:v>
                </c:pt>
                <c:pt idx="4">
                  <c:v/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195</c:v>
                </c:pt>
                <c:pt idx="1">
                  <c:v>45</c:v>
                </c:pt>
                <c:pt idx="2">
                  <c:v>50</c:v>
                </c:pt>
                <c:pt idx="3">
                  <c:v>9</c:v>
                </c:pt>
                <c:pt idx="4">
                  <c:v>15</c:v>
                </c:pt>
                <c:pt idx="5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1080</c:v>
                </c:pt>
                <c:pt idx="1">
                  <c:v>139</c:v>
                </c:pt>
                <c:pt idx="2">
                  <c:v>317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20</c:v>
                </c:pt>
                <c:pt idx="2">
                  <c:v>25</c:v>
                </c:pt>
                <c:pt idx="3">
                  <c:v>3</c:v>
                </c:pt>
                <c:pt idx="4">
                  <c:v>14</c:v>
                </c:pt>
                <c:pt idx="5">
                  <c:v>21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20</c:v>
                </c:pt>
                <c:pt idx="2">
                  <c:v>17</c:v>
                </c:pt>
                <c:pt idx="3">
                  <c:v>3</c:v>
                </c:pt>
                <c:pt idx="4">
                  <c:v>10</c:v>
                </c:pt>
                <c:pt idx="5">
                  <c:v>15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8</c:v>
                </c:pt>
                <c:pt idx="3">
                  <c:v/>
                </c:pt>
                <c:pt idx="4">
                  <c:v>3</c:v>
                </c:pt>
                <c:pt idx="5">
                  <c:v>7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24</c:v>
                </c:pt>
                <c:pt idx="2">
                  <c:v>21</c:v>
                </c:pt>
                <c:pt idx="3">
                  <c:v>8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138</c:v>
                </c:pt>
                <c:pt idx="1">
                  <c:v>68</c:v>
                </c:pt>
                <c:pt idx="2">
                  <c:v>15</c:v>
                </c:pt>
                <c:pt idx="3">
                  <c:v>13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51</c:v>
                </c:pt>
                <c:pt idx="2">
                  <c:v>19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24</c:v>
                </c:pt>
                <c:pt idx="2">
                  <c:v>3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2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13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6</c:v>
                </c:pt>
                <c:pt idx="1">
                  <c:v>69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141</c:v>
                </c:pt>
                <c:pt idx="1">
                  <c:v>126</c:v>
                </c:pt>
                <c:pt idx="2">
                  <c:v>133</c:v>
                </c:pt>
                <c:pt idx="3">
                  <c:v>70</c:v>
                </c:pt>
                <c:pt idx="4">
                  <c:v>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43</c:v>
                </c:pt>
                <c:pt idx="1">
                  <c:v>28</c:v>
                </c:pt>
                <c:pt idx="2">
                  <c:v>21</c:v>
                </c:pt>
                <c:pt idx="3">
                  <c:v>20</c:v>
                </c:pt>
                <c:pt idx="4">
                  <c:v>13</c:v>
                </c:pt>
                <c:pt idx="5">
                  <c:v>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1437</c:v>
                </c:pt>
                <c:pt idx="1">
                  <c:v>619</c:v>
                </c:pt>
                <c:pt idx="2">
                  <c:v>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79,7%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61,1%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22-09-2026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79,7%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63/79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61,1%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aprobadas · 8 en revisión · 6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70,3%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1.080/1.536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456 abiertos · 139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1.721 de 2.419 ítems cerrados (71,1%); de los 698 abiertos, 240 ya pasaron su fecha requerida de cierre (34,4%).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63/79 por Caminata 2 (79,7%);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61,1%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entregadas de 95: 44 aprobadas, 8 en revisión y 6 rechazadas. Quedan 17 en preparación y 20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219 de los 456 P1 abiertos (48%), con 24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46,3%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8,4%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17,9%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21,1%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carpetas ya están en manos del cliente (61,1%) y 45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1.536 P1 levantados; 70,3% cerrados. Atrasado = ítem abierto cuya fecha requerida de cierre ya venció al 28-09-2026.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70,3%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1.080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317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28 días vencidos; el más antiguo lleva 141. 151 entre 1-30 días, 77 entre 31-90 días, 12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240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34,4% de los 698 abiertos ya venció su fecha requerida. Foco en Piping (24), Eléctrica (88), Mecánica (11).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16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79,7% (63/79).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37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están en preparación y 20 sin iniciar. Solo 58 de 95 (61,1%) llegaron al cliente; 6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403 P1 abiertos y 96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22-09-2026 · Atrasos al 28-09-2026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2.141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28-09-2026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2.141 DT · Atrasos al 28-09-2026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218/218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del universo · 0 programadas en plazo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214/214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98,2% del universo · 4 programadas en plazo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92,9%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393/423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abiertos · 16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92,9% de cierre en P1 (30 abiertos), pero 264 DT abiertos entre P2, P3 y P4 sobre un total de 294.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DT con la fecha de compromiso vencida; mediana de 53 días y el más antiguo lleva 193. Los 211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100% y 100%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218/218 exigibles. Caminata 2: 214/214, con 4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95%: 193 subsistemas sobre 95% y solo 3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2.141 DT · Atrasos al 28-09-2026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100% de lo exigible (214/214) — se descuentan 4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2.141 DT · Atrasos al 28-09-2026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2.141 DT levantados; 86,3% cerrados. Atrasado = DT abierto cuya fecha de compromiso de cierre ya venció al 28-09-2026.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393/423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92,9%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312963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1.370/1.420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96,5%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441344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31,4%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119774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53 días vencidos; el más antiguo lleva 193. 18 entre 1-30 días, 31 entre 31-90 días, 7 entre 91-180 días, 1 entre &gt;180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2.141 DT · Atrasos al 28-09-2026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57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son P2 y 16 son P1. La mediana de atraso es de 53 días y 8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1/3 (33,3%). A nivel proyecto la caminata 2 va 98,2% con 4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31,4%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108 de los 294 DT abiertos (36,7%), con 2 atrasados. Además hay 3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2.141 DT · Atrasos al 28-09-2026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subsistemas en 4 áreas (2000 · 3000 · 4000 · 8000) · 3.106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28,7%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28-09-2026   ·   Corte anterior: 21-09-2026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28-09-2026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107/136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próximas · 2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+7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28,7%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39/136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21 rechazadas · 17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1.437/2.056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619 abiertos · 477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+75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3 a 2, mientras las realizadas al 100% se mantienen en 107 (78,7%).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entregadas de 136 (28,7%) y 0 aprobadas; las rechazadas pasaron de 19 a 21.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+75 P1 cerrado desde el corte anterior; 619 abiertos, de los cuales 477 superaron su fecha de vencimiento. El área 3000 concentra 543 (87,7%).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28-09-2026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29/35 · 82,9%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51/77 · 66,2%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8/77 · 10,4%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49,3%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543 (450)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2/22 · 9,1%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87,7%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(25)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 · 100%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(2)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28-09-2026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(136/136). El hito 100% avanza a 78,7%, y el área 3000 concentra 26 de los 29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realizadas · 29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próximas a realizar y 2 por programar. Las «por programar» bajaron 1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28-09-2026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carpetas entregadas de 136 (28,7%). Ninguna aprobada aún: el flujo se acumula en revisión y hay 21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(136)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9" name="Shape 15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0" name="Text 16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3" name="Shape 19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8" name="Shape 24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9" name="Text 25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1" name="Text 27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28-09-2026 · Áreas 2000/3000/4000/8000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2.056 P1 levantados; 69,9% cerrados. El pendiente se concentra en Eléctrica, Piping,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1.437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619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543 de 619 P1 abiertos (87,7%) están en el área 3000. Áreas 2000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28-09-2026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136. Priorizar el cierre de las 17 en revisión y el rearmado de las 21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543 P1 abiertos (87,7% del total) y 26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477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77,1% de los P1 abiertos superó su fecha de vencimiento. Foco en Eléctrica (141), Instrumentación y Control (133), Piping (126).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subsistemas pendientes: 27 próximos a realizar y 2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28-09-2026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2026-09-28T14:51:14Z</dcterms:created>
  <dcterms:modified xsi:type="dcterms:W3CDTF">2026-09-28T14:51:14Z</dcterms:modified>
</cp:coreProperties>
</file>