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5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0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caminata 100%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35</c:v>
                </c:pt>
                <c:pt idx="1">
                  <c:v>35</c:v>
                </c:pt>
                <c:pt idx="2">
                  <c:v>19</c:v>
                </c:pt>
                <c:pt idx="3">
                  <c:v>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Próxima a realizar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40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Por programar</c:v>
                </c:pt>
              </c:strCache>
            </c:strRef>
          </c:tx>
          <c:spPr>
            <a:solidFill>
              <a:srgbClr val="3A6F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Carpetas TOP por área y estatus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En revisión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14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Observada</c:v>
                </c:pt>
              </c:strCache>
            </c:strRef>
          </c:tx>
          <c:spPr>
            <a:solidFill>
              <a:srgbClr val="9A6B0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/>
                </c:pt>
                <c:pt idx="1">
                  <c:v>1</c:v>
                </c:pt>
                <c:pt idx="2">
                  <c:v/>
                </c:pt>
                <c:pt idx="3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Rechazada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4</c:v>
                </c:pt>
                <c:pt idx="1">
                  <c:v>7</c:v>
                </c:pt>
                <c:pt idx="2">
                  <c:v>1</c:v>
                </c:pt>
                <c:pt idx="3">
                  <c:v/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Sin entregar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2000</c:v>
                  </c:pt>
                  <c:pt idx="1">
                    <c:v>3000</c:v>
                  </c:pt>
                  <c:pt idx="2">
                    <c:v>4000</c:v>
                  </c:pt>
                  <c:pt idx="3">
                    <c:v>8000</c:v>
                  </c:pt>
                </c:lvl>
              </c:multiLvlStrCache>
            </c:multiLvl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17</c:v>
                </c:pt>
                <c:pt idx="1">
                  <c:v>68</c:v>
                </c:pt>
                <c:pt idx="2">
                  <c:v>21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Vencidos al corte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74</c:v>
                </c:pt>
                <c:pt idx="1">
                  <c:v>98</c:v>
                </c:pt>
                <c:pt idx="2">
                  <c:v>128</c:v>
                </c:pt>
                <c:pt idx="3">
                  <c:v>88</c:v>
                </c:pt>
                <c:pt idx="4">
                  <c:v>17</c:v>
                </c:pt>
                <c:pt idx="5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Instrum. y Control</c:v>
                  </c:pt>
                  <c:pt idx="3">
                    <c:v>Mecánica</c:v>
                  </c:pt>
                  <c:pt idx="4">
                    <c:v>Estructura</c:v>
                  </c:pt>
                  <c:pt idx="5">
                    <c:v>Obras Civiles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177</c:v>
                </c:pt>
                <c:pt idx="1">
                  <c:v>118</c:v>
                </c:pt>
                <c:pt idx="2">
                  <c:v>53</c:v>
                </c:pt>
                <c:pt idx="3">
                  <c:v>38</c:v>
                </c:pt>
                <c:pt idx="4">
                  <c:v>19</c:v>
                </c:pt>
                <c:pt idx="5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Abiertos</c:v>
                </c:pt>
                <c:pt idx="2">
                  <c:v>En trámite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1148</c:v>
                </c:pt>
                <c:pt idx="1">
                  <c:v>830</c:v>
                </c:pt>
                <c:pt idx="2">
                  <c:v>10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Subsistemas por estado de su caminata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</c:v>
                </c:pt>
                <c:pt idx="1">
                  <c:v>2</c:v>
                </c:pt>
                <c:pt idx="2">
                  <c:v>10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Pendiente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Operable (C2)</c:v>
                  </c:pt>
                  <c:pt idx="1">
                    <c:v>Componente (C2)</c:v>
                  </c:pt>
                  <c:pt idx="2">
                    <c:v>Facility (C1)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39</c:v>
                </c:pt>
                <c:pt idx="1">
                  <c:v/>
                </c:pt>
                <c:pt idx="2">
                  <c:v>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P1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72</c:v>
                </c:pt>
                <c:pt idx="1">
                  <c:v>58</c:v>
                </c:pt>
                <c:pt idx="2">
                  <c:v>29</c:v>
                </c:pt>
                <c:pt idx="3">
                  <c:v>13</c:v>
                </c:pt>
                <c:pt idx="4">
                  <c:v>6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fecha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Piping</c:v>
                  </c:pt>
                  <c:pt idx="1">
                    <c:v>Eléctrica</c:v>
                  </c:pt>
                  <c:pt idx="2">
                    <c:v>Obras Civiles</c:v>
                  </c:pt>
                  <c:pt idx="3">
                    <c:v>Mecánica</c:v>
                  </c:pt>
                  <c:pt idx="4">
                    <c:v>Estructura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25</c:v>
                </c:pt>
                <c:pt idx="1">
                  <c:v>23</c:v>
                </c:pt>
                <c:pt idx="2">
                  <c:v>5</c:v>
                </c:pt>
                <c:pt idx="3">
                  <c:v>3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P1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2E9E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C0392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Pt>
            <c:idx val="2"/>
            <c:bubble3D val="0"/>
            <c:spPr>
              <a:solidFill>
                <a:srgbClr val="E3A55B"/>
              </a:solidFill>
              <a:ln w="9525" cap="flat">
                <a:solidFill>
                  <a:srgbClr val="12233B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Cerrados</c:v>
                </c:pt>
                <c:pt idx="1">
                  <c:v>Atrasados</c:v>
                </c:pt>
                <c:pt idx="2">
                  <c:v>Abiertos en plazo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592</c:v>
                </c:pt>
                <c:pt idx="1">
                  <c:v>178</c:v>
                </c:pt>
                <c:pt idx="2">
                  <c:v>59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plotVisOnly val="1"/>
    <c:dispBlanksAs val="span"/>
  </c:chart>
  <c:spPr>
    <a:solidFill>
      <a:srgbClr val="12233B"/>
    </a:solidFill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Caminata 2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Realizada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/>
                </c:pt>
                <c:pt idx="1">
                  <c:v>18</c:v>
                </c:pt>
                <c:pt idx="2">
                  <c:v>22</c:v>
                </c:pt>
                <c:pt idx="3">
                  <c:v>3</c:v>
                </c:pt>
                <c:pt idx="4">
                  <c:v>14</c:v>
                </c:pt>
                <c:pt idx="5">
                  <c:v>5</c:v>
                </c:pt>
                <c:pt idx="6">
                  <c:v>88</c:v>
                </c:pt>
                <c:pt idx="7">
                  <c:v>12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Agendada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>2</c:v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>16</c:v>
                </c:pt>
                <c:pt idx="6">
                  <c:v>22</c:v>
                </c:pt>
                <c:pt idx="7">
                  <c:v/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Sin programar</c:v>
                </c:pt>
              </c:strCache>
            </c:strRef>
          </c:tx>
          <c:spPr>
            <a:solidFill>
              <a:srgbClr val="5B6B7C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/>
                </c:pt>
                <c:pt idx="4">
                  <c:v/>
                </c:pt>
                <c:pt idx="5">
                  <c:v>1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Avance PEC de carpetas por área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95% o más</c:v>
                </c:pt>
              </c:strCache>
            </c:strRef>
          </c:tx>
          <c:spPr>
            <a:solidFill>
              <a:srgbClr val="1F7A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2</c:v>
                </c:pt>
                <c:pt idx="1">
                  <c:v>18</c:v>
                </c:pt>
                <c:pt idx="2">
                  <c:v>16</c:v>
                </c:pt>
                <c:pt idx="3">
                  <c:v>3</c:v>
                </c:pt>
                <c:pt idx="4">
                  <c:v>10</c:v>
                </c:pt>
                <c:pt idx="5">
                  <c:v>6</c:v>
                </c:pt>
                <c:pt idx="6">
                  <c:v>88</c:v>
                </c:pt>
                <c:pt idx="7">
                  <c:v>8</c:v>
                </c:pt>
                <c:pt idx="8">
                  <c:v>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80% a 95%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Sheet1!$C$2:$C$10</c:f>
              <c:numCache>
                <c:formatCode>General</c:formatCode>
                <c:ptCount val="9"/>
                <c:pt idx="0">
                  <c:v/>
                </c:pt>
                <c:pt idx="1">
                  <c:v>1</c:v>
                </c:pt>
                <c:pt idx="2">
                  <c:v>7</c:v>
                </c:pt>
                <c:pt idx="3">
                  <c:v/>
                </c:pt>
                <c:pt idx="4">
                  <c:v>3</c:v>
                </c:pt>
                <c:pt idx="5">
                  <c:v>13</c:v>
                </c:pt>
                <c:pt idx="6">
                  <c:v>22</c:v>
                </c:pt>
                <c:pt idx="7">
                  <c:v>4</c:v>
                </c:pt>
                <c:pt idx="8">
                  <c:v/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Bajo 80%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CERRO VERDE/PS2</c:v>
                  </c:pt>
                  <c:pt idx="1">
                    <c:v>EBMP</c:v>
                  </c:pt>
                  <c:pt idx="2">
                    <c:v>EBMS</c:v>
                  </c:pt>
                  <c:pt idx="3">
                    <c:v>IMPULSIÓN ADUCCIÓN</c:v>
                  </c:pt>
                  <c:pt idx="4">
                    <c:v>LÍNEAS IMPULSIÓN</c:v>
                  </c:pt>
                  <c:pt idx="5">
                    <c:v>PISCINAS Y SEDIMENTADOR</c:v>
                  </c:pt>
                  <c:pt idx="6">
                    <c:v>POZOS</c:v>
                  </c:pt>
                  <c:pt idx="7">
                    <c:v>PQS</c:v>
                  </c:pt>
                  <c:pt idx="8">
                    <c:v>SALA GAR</c:v>
                  </c:pt>
                </c:lvl>
              </c:multiLvlStrCache>
            </c:multiLvlStrRef>
          </c:cat>
          <c:val>
            <c:numRef>
              <c:f>Sheet1!$D$2:$D$10</c:f>
              <c:numCache>
                <c:formatCode>General</c:formatCode>
                <c:ptCount val="9"/>
                <c:pt idx="0">
                  <c:v>1</c:v>
                </c:pt>
                <c:pt idx="1">
                  <c:v>1</c:v>
                </c:pt>
                <c:pt idx="2">
                  <c:v>3</c:v>
                </c:pt>
                <c:pt idx="3">
                  <c:v/>
                </c:pt>
                <c:pt idx="4">
                  <c:v>1</c:v>
                </c:pt>
                <c:pt idx="5">
                  <c:v>3</c:v>
                </c:pt>
                <c:pt idx="6">
                  <c:v/>
                </c:pt>
                <c:pt idx="7">
                  <c:v>1</c:v>
                </c:pt>
                <c:pt idx="8">
                  <c:v/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5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A2433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A2433"/>
                </a:solidFill>
                <a:latin typeface="Calibri"/>
              </a:rPr>
              <a:t>DT abiertos por disciplina</a:t>
            </a:r>
          </a:p>
        </c:rich>
      </c:tx>
      <c:layout/>
      <c:overlay val="0"/>
    </c:title>
    <c:autoTitleDeleted val="0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Atrasados</c:v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63</c:v>
                </c:pt>
                <c:pt idx="2">
                  <c:v>34</c:v>
                </c:pt>
                <c:pt idx="3">
                  <c:v>6</c:v>
                </c:pt>
                <c:pt idx="4">
                  <c:v>18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En plazo o sin compromiso</c:v>
                </c:pt>
              </c:strCache>
            </c:strRef>
          </c:tx>
          <c:spPr>
            <a:solidFill>
              <a:srgbClr val="2E6FB5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Obras Civiles</c:v>
                  </c:pt>
                  <c:pt idx="1">
                    <c:v>Piping</c:v>
                  </c:pt>
                  <c:pt idx="2">
                    <c:v>Eléctrica</c:v>
                  </c:pt>
                  <c:pt idx="3">
                    <c:v>Estructura</c:v>
                  </c:pt>
                  <c:pt idx="4">
                    <c:v>Instr. y Control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119</c:v>
                </c:pt>
                <c:pt idx="1">
                  <c:v>141</c:v>
                </c:pt>
                <c:pt idx="2">
                  <c:v>5</c:v>
                </c:pt>
                <c:pt idx="3">
                  <c:v>31</c:v>
                </c:pt>
                <c:pt idx="4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50" b="1" i="0" u="none" strike="noStrike">
                <a:solidFill>
                  <a:srgbClr val="1A24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6606E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4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2.xml"/><Relationship Id="rId1" Type="http://schemas.openxmlformats.org/officeDocument/2006/relationships/image" Target="../media/image-5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3.xml"/><Relationship Id="rId3" Type="http://schemas.openxmlformats.org/officeDocument/2006/relationships/chart" Target="/ppt/charts/chart4.xml"/><Relationship Id="rId1" Type="http://schemas.openxmlformats.org/officeDocument/2006/relationships/image" Target="../media/image-6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5.xm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6.xml"/><Relationship Id="rId3" Type="http://schemas.openxmlformats.org/officeDocument/2006/relationships/chart" Target="/ppt/charts/chart7.xml"/><Relationship Id="rId1" Type="http://schemas.openxmlformats.org/officeDocument/2006/relationships/image" Target="../media/image-11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8.xml"/><Relationship Id="rId3" Type="http://schemas.openxmlformats.org/officeDocument/2006/relationships/chart" Target="/ppt/charts/chart9.xml"/><Relationship Id="rId1" Type="http://schemas.openxmlformats.org/officeDocument/2006/relationships/image" Target="../media/image-15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0.xml"/><Relationship Id="rId1" Type="http://schemas.openxmlformats.org/officeDocument/2006/relationships/image" Target="../media/image-16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3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pic>
        <p:nvPicPr>
          <p:cNvPr id="4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01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Arqueros — Contrato Electromecánico Planta Concentradora y de Espesado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200400"/>
            <a:ext cx="8778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subsistemas en 4 áreas (2000 · 3000 · 4000 · 8000) · 2.963 detalles de terminación levantados.</a:t>
            </a:r>
            <a:endParaRPr lang="en-US" sz="135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Estatus de armado y entrega de carpetas TOP · avance de caminatas 80% / 100% · detalles de construcción en condición P1.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detalles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26-07-2026   ·   Corte anterior: 16-07-2026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135/135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80% realizadas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cerrado en las 4 áreas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90/135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Caminatas 100% realizadas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· 1 por programar</a:t>
            </a:r>
            <a:endParaRPr lang="en-US" sz="950" dirty="0"/>
          </a:p>
        </p:txBody>
      </p:sp>
      <p:sp>
        <p:nvSpPr>
          <p:cNvPr id="17" name="Text 14"/>
          <p:cNvSpPr/>
          <p:nvPr/>
        </p:nvSpPr>
        <p:spPr>
          <a:xfrm>
            <a:off x="3593592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sin cambio vs. corte anterior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181344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20" name="Text 17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20%</a:t>
            </a:r>
            <a:endParaRPr lang="en-US" sz="4000" dirty="0"/>
          </a:p>
        </p:txBody>
      </p:sp>
      <p:sp>
        <p:nvSpPr>
          <p:cNvPr id="21" name="Text 18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27/135</a:t>
            </a:r>
            <a:endParaRPr lang="en-US" sz="1400" dirty="0"/>
          </a:p>
        </p:txBody>
      </p:sp>
      <p:sp>
        <p:nvSpPr>
          <p:cNvPr id="22" name="Text 19"/>
          <p:cNvSpPr/>
          <p:nvPr/>
        </p:nvSpPr>
        <p:spPr>
          <a:xfrm>
            <a:off x="6455664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TOP entregadas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6455664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· 12 rechazadas · 14 en revisión</a:t>
            </a:r>
            <a:endParaRPr lang="en-US" sz="950" dirty="0"/>
          </a:p>
        </p:txBody>
      </p:sp>
      <p:sp>
        <p:nvSpPr>
          <p:cNvPr id="24" name="Text 21"/>
          <p:cNvSpPr/>
          <p:nvPr/>
        </p:nvSpPr>
        <p:spPr>
          <a:xfrm>
            <a:off x="6455664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9043416" y="1463040"/>
            <a:ext cx="2743200" cy="2395728"/>
          </a:xfrm>
          <a:prstGeom prst="roundRect">
            <a:avLst>
              <a:gd name="adj" fmla="val 305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7" name="Text 24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4000" dirty="0"/>
          </a:p>
        </p:txBody>
      </p:sp>
      <p:sp>
        <p:nvSpPr>
          <p:cNvPr id="28" name="Text 25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1.148/1.988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9317736" y="2999232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detalles P1</a:t>
            </a:r>
            <a:endParaRPr lang="en-US" sz="1200" dirty="0"/>
          </a:p>
        </p:txBody>
      </p:sp>
      <p:sp>
        <p:nvSpPr>
          <p:cNvPr id="30" name="Text 27"/>
          <p:cNvSpPr/>
          <p:nvPr/>
        </p:nvSpPr>
        <p:spPr>
          <a:xfrm>
            <a:off x="9317736" y="3291840"/>
            <a:ext cx="2240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 abiertos · 405 vencidos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9317736" y="3557016"/>
            <a:ext cx="22402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 vs. corte anterior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457200" y="4041648"/>
            <a:ext cx="11274552" cy="2103120"/>
          </a:xfrm>
          <a:prstGeom prst="roundRect">
            <a:avLst>
              <a:gd name="adj" fmla="val 2609"/>
            </a:avLst>
          </a:prstGeom>
          <a:solidFill>
            <a:srgbClr val="12233B"/>
          </a:solidFill>
          <a:ln/>
        </p:spPr>
      </p:sp>
      <p:sp>
        <p:nvSpPr>
          <p:cNvPr id="33" name="Text 30"/>
          <p:cNvSpPr/>
          <p:nvPr/>
        </p:nvSpPr>
        <p:spPr>
          <a:xfrm>
            <a:off x="777240" y="42062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4" name="Shape 31"/>
          <p:cNvSpPr/>
          <p:nvPr/>
        </p:nvSpPr>
        <p:spPr>
          <a:xfrm>
            <a:off x="822960" y="459028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5" name="Text 32"/>
          <p:cNvSpPr/>
          <p:nvPr/>
        </p:nvSpPr>
        <p:spPr>
          <a:xfrm>
            <a:off x="1051560" y="4489704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destrabó la programación de caminatas, pero no la ejecución.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subsistemas «por programar» bajaron de 36 a 1, mientras las realizadas al 100% se mantienen en 90 (66,7%).</a:t>
            </a:r>
            <a:endParaRPr lang="en-US" sz="1250" dirty="0"/>
          </a:p>
        </p:txBody>
      </p:sp>
      <p:sp>
        <p:nvSpPr>
          <p:cNvPr id="36" name="Shape 33"/>
          <p:cNvSpPr/>
          <p:nvPr/>
        </p:nvSpPr>
        <p:spPr>
          <a:xfrm>
            <a:off x="822960" y="510235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7" name="Text 34"/>
          <p:cNvSpPr/>
          <p:nvPr/>
        </p:nvSpPr>
        <p:spPr>
          <a:xfrm>
            <a:off x="1051560" y="5001768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TOP siguen sin aprobaciones y suben los rechazos.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entregadas de 135 (20%) y 0 aprobadas; las rechazadas pasaron de 8 a 12.</a:t>
            </a:r>
            <a:endParaRPr lang="en-US" sz="1250" dirty="0"/>
          </a:p>
        </p:txBody>
      </p:sp>
      <p:sp>
        <p:nvSpPr>
          <p:cNvPr id="38" name="Shape 35"/>
          <p:cNvSpPr/>
          <p:nvPr/>
        </p:nvSpPr>
        <p:spPr>
          <a:xfrm>
            <a:off x="822960" y="561441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9" name="Text 36"/>
          <p:cNvSpPr/>
          <p:nvPr/>
        </p:nvSpPr>
        <p:spPr>
          <a:xfrm>
            <a:off x="1051560" y="5513832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cierre de detalles P1 está prácticamente detenido y crece la deuda vencida.  </a:t>
            </a:r>
            <a:pPr indent="0" marL="0">
              <a:lnSpc>
                <a:spcPts val="1600"/>
              </a:lnSpc>
              <a:buNone/>
            </a:pPr>
            <a:r>
              <a:rPr lang="en-US" sz="12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 P1 cerrado desde el corte anterior; 830 abiertos, de los cuales 405 superaron su fecha de vencimiento (+4 en el período). El área 3000 concentra 707 (85,2%).</a:t>
            </a:r>
            <a:endParaRPr lang="en-US" sz="1250" dirty="0"/>
          </a:p>
        </p:txBody>
      </p:sp>
      <p:sp>
        <p:nvSpPr>
          <p:cNvPr id="40" name="Text 3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42" name="Text 3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POR ÁREA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Semáforo integrado de los tres frentes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502920" y="157276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</a:t>
            </a:r>
            <a:endParaRPr lang="en-US" sz="950" dirty="0"/>
          </a:p>
        </p:txBody>
      </p:sp>
      <p:sp>
        <p:nvSpPr>
          <p:cNvPr id="6" name="Text 3"/>
          <p:cNvSpPr/>
          <p:nvPr/>
        </p:nvSpPr>
        <p:spPr>
          <a:xfrm>
            <a:off x="3474720" y="157276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SUBSIST.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4434840" y="157276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100%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603504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ENTREGADAS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818120" y="157276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P1 % CIERRE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9098280" y="1572768"/>
            <a:ext cx="1737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ABIERTOS (VENC.)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10881360" y="1572768"/>
            <a:ext cx="868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50" kern="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02920" y="1883664"/>
            <a:ext cx="11247120" cy="0"/>
          </a:xfrm>
          <a:prstGeom prst="line">
            <a:avLst/>
          </a:prstGeom>
          <a:noFill/>
          <a:ln w="12700">
            <a:solidFill>
              <a:srgbClr val="6E8CA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2011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2000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502920" y="2340864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Chancado (Área Seca)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3474720" y="2139696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4434840" y="2139696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35/35 · 100%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603504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18/35 · 51,4%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7818120" y="213969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91,9%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9098280" y="2139696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 (19)</a:t>
            </a:r>
            <a:endParaRPr lang="en-US" sz="1300" dirty="0"/>
          </a:p>
        </p:txBody>
      </p:sp>
      <p:sp>
        <p:nvSpPr>
          <p:cNvPr id="20" name="Shape 17"/>
          <p:cNvSpPr/>
          <p:nvPr/>
        </p:nvSpPr>
        <p:spPr>
          <a:xfrm>
            <a:off x="10863072" y="2121408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2E9E5B"/>
          </a:solidFill>
          <a:ln/>
        </p:spPr>
      </p:sp>
      <p:sp>
        <p:nvSpPr>
          <p:cNvPr id="21" name="Text 18"/>
          <p:cNvSpPr/>
          <p:nvPr/>
        </p:nvSpPr>
        <p:spPr>
          <a:xfrm>
            <a:off x="10863072" y="2130552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 día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502920" y="2898648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457200" y="2898648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2944368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3000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02920" y="3273552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Molienda–Flotación (Área Húmeda)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474720" y="3072384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4434840" y="3072384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35/76 · 46,1%</a:t>
            </a:r>
            <a:endParaRPr lang="en-US" sz="1300" dirty="0"/>
          </a:p>
        </p:txBody>
      </p:sp>
      <p:sp>
        <p:nvSpPr>
          <p:cNvPr id="28" name="Text 25"/>
          <p:cNvSpPr/>
          <p:nvPr/>
        </p:nvSpPr>
        <p:spPr>
          <a:xfrm>
            <a:off x="603504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8/76 · 10,5%</a:t>
            </a:r>
            <a:endParaRPr lang="en-US" sz="1300" dirty="0"/>
          </a:p>
        </p:txBody>
      </p:sp>
      <p:sp>
        <p:nvSpPr>
          <p:cNvPr id="29" name="Text 26"/>
          <p:cNvSpPr/>
          <p:nvPr/>
        </p:nvSpPr>
        <p:spPr>
          <a:xfrm>
            <a:off x="7818120" y="3072384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32,6%</a:t>
            </a:r>
            <a:endParaRPr lang="en-US" sz="1300" dirty="0"/>
          </a:p>
        </p:txBody>
      </p:sp>
      <p:sp>
        <p:nvSpPr>
          <p:cNvPr id="30" name="Text 27"/>
          <p:cNvSpPr/>
          <p:nvPr/>
        </p:nvSpPr>
        <p:spPr>
          <a:xfrm>
            <a:off x="9098280" y="3072384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(366)</a:t>
            </a:r>
            <a:endParaRPr lang="en-US" sz="1300" dirty="0"/>
          </a:p>
        </p:txBody>
      </p:sp>
      <p:sp>
        <p:nvSpPr>
          <p:cNvPr id="31" name="Shape 28"/>
          <p:cNvSpPr/>
          <p:nvPr/>
        </p:nvSpPr>
        <p:spPr>
          <a:xfrm>
            <a:off x="10863072" y="3054096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32" name="Text 29"/>
          <p:cNvSpPr/>
          <p:nvPr/>
        </p:nvSpPr>
        <p:spPr>
          <a:xfrm>
            <a:off x="10863072" y="30632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3831336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02920" y="3877056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4000</a:t>
            </a:r>
            <a:endParaRPr lang="en-US" sz="1500" dirty="0"/>
          </a:p>
        </p:txBody>
      </p:sp>
      <p:sp>
        <p:nvSpPr>
          <p:cNvPr id="35" name="Text 32"/>
          <p:cNvSpPr/>
          <p:nvPr/>
        </p:nvSpPr>
        <p:spPr>
          <a:xfrm>
            <a:off x="502920" y="42062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Espesamiento y Relaves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3474720" y="400507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300" dirty="0"/>
          </a:p>
        </p:txBody>
      </p:sp>
      <p:sp>
        <p:nvSpPr>
          <p:cNvPr id="37" name="Text 34"/>
          <p:cNvSpPr/>
          <p:nvPr/>
        </p:nvSpPr>
        <p:spPr>
          <a:xfrm>
            <a:off x="4434840" y="4005072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19/22 · 86,4%</a:t>
            </a:r>
            <a:endParaRPr lang="en-US" sz="1300" dirty="0"/>
          </a:p>
        </p:txBody>
      </p:sp>
      <p:sp>
        <p:nvSpPr>
          <p:cNvPr id="38" name="Text 35"/>
          <p:cNvSpPr/>
          <p:nvPr/>
        </p:nvSpPr>
        <p:spPr>
          <a:xfrm>
            <a:off x="603504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1/22 · 4,5%</a:t>
            </a:r>
            <a:endParaRPr lang="en-US" sz="1300" dirty="0"/>
          </a:p>
        </p:txBody>
      </p:sp>
      <p:sp>
        <p:nvSpPr>
          <p:cNvPr id="39" name="Text 36"/>
          <p:cNvSpPr/>
          <p:nvPr/>
        </p:nvSpPr>
        <p:spPr>
          <a:xfrm>
            <a:off x="7818120" y="4005072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75,9%</a:t>
            </a:r>
            <a:endParaRPr lang="en-US" sz="1300" dirty="0"/>
          </a:p>
        </p:txBody>
      </p:sp>
      <p:sp>
        <p:nvSpPr>
          <p:cNvPr id="40" name="Text 37"/>
          <p:cNvSpPr/>
          <p:nvPr/>
        </p:nvSpPr>
        <p:spPr>
          <a:xfrm>
            <a:off x="9098280" y="400507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84 (19)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863072" y="3986784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E0A32E"/>
          </a:solidFill>
          <a:ln/>
        </p:spPr>
      </p:sp>
      <p:sp>
        <p:nvSpPr>
          <p:cNvPr id="42" name="Text 39"/>
          <p:cNvSpPr/>
          <p:nvPr/>
        </p:nvSpPr>
        <p:spPr>
          <a:xfrm>
            <a:off x="10863072" y="399592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Atención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502920" y="4764024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457200" y="4764024"/>
            <a:ext cx="11292840" cy="932688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Text 42"/>
          <p:cNvSpPr/>
          <p:nvPr/>
        </p:nvSpPr>
        <p:spPr>
          <a:xfrm>
            <a:off x="502920" y="480974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8000</a:t>
            </a:r>
            <a:endParaRPr lang="en-US" sz="1500" dirty="0"/>
          </a:p>
        </p:txBody>
      </p:sp>
      <p:sp>
        <p:nvSpPr>
          <p:cNvPr id="46" name="Text 43"/>
          <p:cNvSpPr/>
          <p:nvPr/>
        </p:nvSpPr>
        <p:spPr>
          <a:xfrm>
            <a:off x="502920" y="51389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Salas de Control</a:t>
            </a:r>
            <a:endParaRPr lang="en-US" sz="1000" dirty="0"/>
          </a:p>
        </p:txBody>
      </p:sp>
      <p:sp>
        <p:nvSpPr>
          <p:cNvPr id="47" name="Text 44"/>
          <p:cNvSpPr/>
          <p:nvPr/>
        </p:nvSpPr>
        <p:spPr>
          <a:xfrm>
            <a:off x="3474720" y="4937760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48" name="Text 45"/>
          <p:cNvSpPr/>
          <p:nvPr/>
        </p:nvSpPr>
        <p:spPr>
          <a:xfrm>
            <a:off x="4434840" y="4937760"/>
            <a:ext cx="1554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1/2 · 50%</a:t>
            </a:r>
            <a:endParaRPr lang="en-US" sz="1300" dirty="0"/>
          </a:p>
        </p:txBody>
      </p:sp>
      <p:sp>
        <p:nvSpPr>
          <p:cNvPr id="49" name="Text 46"/>
          <p:cNvSpPr/>
          <p:nvPr/>
        </p:nvSpPr>
        <p:spPr>
          <a:xfrm>
            <a:off x="603504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0/2 · 0%</a:t>
            </a:r>
            <a:endParaRPr lang="en-US" sz="1300" dirty="0"/>
          </a:p>
        </p:txBody>
      </p:sp>
      <p:sp>
        <p:nvSpPr>
          <p:cNvPr id="50" name="Text 47"/>
          <p:cNvSpPr/>
          <p:nvPr/>
        </p:nvSpPr>
        <p:spPr>
          <a:xfrm>
            <a:off x="7818120" y="49377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91,7%</a:t>
            </a:r>
            <a:endParaRPr lang="en-US" sz="1300" dirty="0"/>
          </a:p>
        </p:txBody>
      </p:sp>
      <p:sp>
        <p:nvSpPr>
          <p:cNvPr id="51" name="Text 48"/>
          <p:cNvSpPr/>
          <p:nvPr/>
        </p:nvSpPr>
        <p:spPr>
          <a:xfrm>
            <a:off x="9098280" y="493776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(1)</a:t>
            </a:r>
            <a:endParaRPr lang="en-US" sz="1300" dirty="0"/>
          </a:p>
        </p:txBody>
      </p:sp>
      <p:sp>
        <p:nvSpPr>
          <p:cNvPr id="52" name="Shape 49"/>
          <p:cNvSpPr/>
          <p:nvPr/>
        </p:nvSpPr>
        <p:spPr>
          <a:xfrm>
            <a:off x="10863072" y="4919472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/>
        </p:spPr>
      </p:sp>
      <p:sp>
        <p:nvSpPr>
          <p:cNvPr id="53" name="Text 50"/>
          <p:cNvSpPr/>
          <p:nvPr/>
        </p:nvSpPr>
        <p:spPr>
          <a:xfrm>
            <a:off x="10863072" y="492861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Crítico</a:t>
            </a:r>
            <a:endParaRPr lang="en-US" sz="1050" dirty="0"/>
          </a:p>
        </p:txBody>
      </p:sp>
      <p:sp>
        <p:nvSpPr>
          <p:cNvPr id="54" name="Shape 51"/>
          <p:cNvSpPr/>
          <p:nvPr/>
        </p:nvSpPr>
        <p:spPr>
          <a:xfrm>
            <a:off x="502920" y="5696712"/>
            <a:ext cx="11247120" cy="0"/>
          </a:xfrm>
          <a:prstGeom prst="line">
            <a:avLst/>
          </a:prstGeom>
          <a:noFill/>
          <a:ln w="9525">
            <a:solidFill>
              <a:srgbClr val="D9DFE6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7200" y="594360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Criterio · Crítico: caminata 100% &lt; 60% o cierre P1 &lt; 50%   ·   Atención: algún frente entre 60–90% o carpetas TOP por entregar   ·   Al día: caminatas ≥ 90% y P1 ≥ 90%</a:t>
            </a:r>
            <a:endParaRPr lang="en-US" sz="950" dirty="0"/>
          </a:p>
        </p:txBody>
      </p:sp>
      <p:sp>
        <p:nvSpPr>
          <p:cNvPr id="56" name="Text 5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57" name="Text 5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58" name="Text 5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1 · CAMINATAS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Avance de caminatas 80% y 100%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al 80% están cerradas en todas las áreas (135/135). El hito 100% avanza a 66,7%, y el área 3000 concentra 41 de los 45 subsistemas pendientes.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09560" y="210312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80%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09560" y="2331720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000" dirty="0"/>
          </a:p>
        </p:txBody>
      </p:sp>
      <p:sp>
        <p:nvSpPr>
          <p:cNvPr id="10" name="Text 6"/>
          <p:cNvSpPr/>
          <p:nvPr/>
        </p:nvSpPr>
        <p:spPr>
          <a:xfrm>
            <a:off x="7909560" y="303580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135 de 135 subsistemas</a:t>
            </a:r>
            <a:endParaRPr lang="en-US" sz="1200" dirty="0"/>
          </a:p>
        </p:txBody>
      </p:sp>
      <p:sp>
        <p:nvSpPr>
          <p:cNvPr id="11" name="Shape 7"/>
          <p:cNvSpPr/>
          <p:nvPr/>
        </p:nvSpPr>
        <p:spPr>
          <a:xfrm>
            <a:off x="7909560" y="352044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09560" y="3675888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HITO 100%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7909560" y="3904488"/>
            <a:ext cx="23774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4000" dirty="0"/>
          </a:p>
        </p:txBody>
      </p:sp>
      <p:sp>
        <p:nvSpPr>
          <p:cNvPr id="14" name="Text 10"/>
          <p:cNvSpPr/>
          <p:nvPr/>
        </p:nvSpPr>
        <p:spPr>
          <a:xfrm>
            <a:off x="7909560" y="460857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realizadas · 45 pendientes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7909560" y="5074920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 próximas a realizar y 1 por programar. Las «por programar» bajaron 35 en el período.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17" name="Text 13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18" name="Text 14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2 · CARPETAS TOP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Estatus de armado y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carpetas entregadas de 135 (20%). Ninguna aprobada aún: el flujo se acumula en revisión y hay 12 rechazos que requieren rearmado.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35240" y="1874520"/>
            <a:ext cx="4096512" cy="4114800"/>
          </a:xfrm>
          <a:prstGeom prst="roundRect">
            <a:avLst>
              <a:gd name="adj" fmla="val 1339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863840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EMBUDO DE ENTREGA (135)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863840" y="2450592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7973568" y="262432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1" name="Text 7"/>
          <p:cNvSpPr/>
          <p:nvPr/>
        </p:nvSpPr>
        <p:spPr>
          <a:xfrm>
            <a:off x="8302752" y="2450592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Entregadas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50592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F7A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+1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0469880" y="2450592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7863840" y="3072384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7973568" y="3246120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16" name="Text 12"/>
          <p:cNvSpPr/>
          <p:nvPr/>
        </p:nvSpPr>
        <p:spPr>
          <a:xfrm>
            <a:off x="8302752" y="3072384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72384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 -3</a:t>
            </a:r>
            <a:endParaRPr lang="en-US" sz="950" dirty="0"/>
          </a:p>
        </p:txBody>
      </p:sp>
      <p:sp>
        <p:nvSpPr>
          <p:cNvPr id="18" name="Text 14"/>
          <p:cNvSpPr/>
          <p:nvPr/>
        </p:nvSpPr>
        <p:spPr>
          <a:xfrm>
            <a:off x="10469880" y="3072384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7863840" y="3694176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7973568" y="386791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1" name="Text 17"/>
          <p:cNvSpPr/>
          <p:nvPr/>
        </p:nvSpPr>
        <p:spPr>
          <a:xfrm>
            <a:off x="8302752" y="3694176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Observadas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10469880" y="3694176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23" name="Shape 19"/>
          <p:cNvSpPr/>
          <p:nvPr/>
        </p:nvSpPr>
        <p:spPr>
          <a:xfrm>
            <a:off x="7863840" y="4315968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4" name="Shape 20"/>
          <p:cNvSpPr/>
          <p:nvPr/>
        </p:nvSpPr>
        <p:spPr>
          <a:xfrm>
            <a:off x="7973568" y="4489704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1"/>
          <p:cNvSpPr/>
          <p:nvPr/>
        </p:nvSpPr>
        <p:spPr>
          <a:xfrm>
            <a:off x="8302752" y="4315968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Rechazadas</a:t>
            </a:r>
            <a:endParaRPr lang="en-US" sz="1250" dirty="0"/>
          </a:p>
        </p:txBody>
      </p:sp>
      <p:sp>
        <p:nvSpPr>
          <p:cNvPr id="26" name="Text 22"/>
          <p:cNvSpPr/>
          <p:nvPr/>
        </p:nvSpPr>
        <p:spPr>
          <a:xfrm>
            <a:off x="9509760" y="4315968"/>
            <a:ext cx="914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▲ +4</a:t>
            </a:r>
            <a:endParaRPr lang="en-US" sz="950" dirty="0"/>
          </a:p>
        </p:txBody>
      </p:sp>
      <p:sp>
        <p:nvSpPr>
          <p:cNvPr id="27" name="Text 23"/>
          <p:cNvSpPr/>
          <p:nvPr/>
        </p:nvSpPr>
        <p:spPr>
          <a:xfrm>
            <a:off x="10469880" y="4315968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200" dirty="0"/>
          </a:p>
        </p:txBody>
      </p:sp>
      <p:sp>
        <p:nvSpPr>
          <p:cNvPr id="28" name="Shape 24"/>
          <p:cNvSpPr/>
          <p:nvPr/>
        </p:nvSpPr>
        <p:spPr>
          <a:xfrm>
            <a:off x="7863840" y="4937760"/>
            <a:ext cx="36393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9" name="Shape 25"/>
          <p:cNvSpPr/>
          <p:nvPr/>
        </p:nvSpPr>
        <p:spPr>
          <a:xfrm>
            <a:off x="7973568" y="511149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30" name="Text 26"/>
          <p:cNvSpPr/>
          <p:nvPr/>
        </p:nvSpPr>
        <p:spPr>
          <a:xfrm>
            <a:off x="8302752" y="4937760"/>
            <a:ext cx="1600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Aprobadas</a:t>
            </a:r>
            <a:endParaRPr lang="en-US" sz="1250" dirty="0"/>
          </a:p>
        </p:txBody>
      </p:sp>
      <p:sp>
        <p:nvSpPr>
          <p:cNvPr id="31" name="Text 27"/>
          <p:cNvSpPr/>
          <p:nvPr/>
        </p:nvSpPr>
        <p:spPr>
          <a:xfrm>
            <a:off x="10469880" y="4937760"/>
            <a:ext cx="8686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2200" dirty="0"/>
          </a:p>
        </p:txBody>
      </p:sp>
      <p:sp>
        <p:nvSpPr>
          <p:cNvPr id="32" name="Text 28"/>
          <p:cNvSpPr/>
          <p:nvPr/>
        </p:nvSpPr>
        <p:spPr>
          <a:xfrm>
            <a:off x="7863840" y="5559552"/>
            <a:ext cx="36576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Cuello de botella: la revisión del cliente devuelve más carpetas de las que aprueba. Convertir entregas en aprobaciones es el próximo hito.</a:t>
            </a:r>
            <a:endParaRPr lang="en-US" sz="1000" dirty="0"/>
          </a:p>
        </p:txBody>
      </p:sp>
      <p:sp>
        <p:nvSpPr>
          <p:cNvPr id="33" name="Text 2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34" name="Text 3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35" name="Text 3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FRENTE 3 · DETALLES P1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1.988 P1 levantados; 57,7% cerrados. El pendiente se concentra en Piping, Eléctrica, Instrumentación y Control, y físicamente en el área 3000.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57,7%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100" dirty="0"/>
          </a:p>
        </p:txBody>
      </p:sp>
      <p:sp>
        <p:nvSpPr>
          <p:cNvPr id="13" name="Text 8"/>
          <p:cNvSpPr/>
          <p:nvPr/>
        </p:nvSpPr>
        <p:spPr>
          <a:xfrm>
            <a:off x="10241280" y="2651760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1.148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</a:t>
            </a:r>
            <a:endParaRPr lang="en-US" sz="1100" dirty="0"/>
          </a:p>
        </p:txBody>
      </p:sp>
      <p:sp>
        <p:nvSpPr>
          <p:cNvPr id="16" name="Text 11"/>
          <p:cNvSpPr/>
          <p:nvPr/>
        </p:nvSpPr>
        <p:spPr>
          <a:xfrm>
            <a:off x="10241280" y="3218688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830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280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trámite</a:t>
            </a:r>
            <a:endParaRPr lang="en-US" sz="1100" dirty="0"/>
          </a:p>
        </p:txBody>
      </p:sp>
      <p:sp>
        <p:nvSpPr>
          <p:cNvPr id="19" name="Text 14"/>
          <p:cNvSpPr/>
          <p:nvPr/>
        </p:nvSpPr>
        <p:spPr>
          <a:xfrm>
            <a:off x="10241280" y="3785616"/>
            <a:ext cx="1280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Concentración por área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de 830 P1 abiertos (85,2%) están en el área 3000. Áreas 2000 y 8000 sobre 90% de cierre.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aprobaciones de carpetas TOP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aprobadas de 135. Priorizar el cierre de las 14 en revisión y el rearmado de las 12 rechazadas para convertir entregas en aprobaciones.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81965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Atacar el atraso del área 3000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707 P1 abiertos (85,2% del total) y 41 caminatas 100% pendientes. Es la ruta crítica: sin esta área no mejora ningún indicador global.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405 P1 vencidos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48,8% de los P1 abiertos superó su fecha de vencimiento. Foco en Instrumentación y Control (128), Eléctrica (98), Mecánica (88).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68496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caminatas ya programadas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subsistemas pendientes: 44 próximos a realizar y 1 por programar. La programación ya está hecha; falta ejecutarla para habilitar la entrega de carpetas.</a:t>
            </a:r>
            <a:endParaRPr lang="en-US" sz="115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Estatus_Resumen_General_QAQC.xlsx · Corte 26-07-2026 · Áreas 2000/3000/4000/8000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MASA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02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Desaladora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PV3 Montaje Electromecánico — Ampliación Desaladora · Minera Los Pelambres (AMSA)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VPP-1001-03-CC-088 · 97 subsistemas (80 Operable · 2 Componente · 15 Facility) en Desaladora y EB-2.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Corte: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51,3%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41/80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· Operables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subsistemas por caminar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66,7%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10/15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· Facility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facilities por caminar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40,2%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39/97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Carpetas entregadas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aprobadas · 9 rechazadas · 14 en preparación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592/829</a:t>
            </a:r>
            <a:endParaRPr lang="en-US" sz="14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punch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237 abiertos · 178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punch cierra a buen ritmo, pero la deuda vencida es la mitad de lo abierto.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960 de 1.386 ítems cerrados (69,3%); de los 426 abiertos, 332 ya pasaron su fecha requerida de cierre (77,9%).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avanzan a distinta velocidad según el tipo de subsistema.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Operables 41/80 por Caminata 2 (51,3%); Facility 10/15 por Caminata 1 (66,7%).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están a 40,2% de entrega y el cuello está en el armado interno.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entregadas de 97: 22 aprobadas, 8 en revisión y 9 rechazadas. Quedan 14 en preparación y 44 sin iniciar.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Piping concentra el pendiente de P1.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 de los 237 P1 abiertos (40,9%), con 72 atrasados.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certificados de entrega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tipo de subsistema se mide con su propia caminata: los Operables por la Caminata 2 y los Facility por la Caminata 1, tal como lo declara el propio reporte gerencial.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5778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6263640" y="1874520"/>
            <a:ext cx="5468112" cy="4114800"/>
          </a:xfrm>
          <a:prstGeom prst="roundRect">
            <a:avLst>
              <a:gd name="adj" fmla="val 1333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6492240" y="2084832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CERTIFICADO DE ENTREGA (97 SUBSISTEMAS)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6492240" y="2468880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0" name="Shape 6"/>
          <p:cNvSpPr/>
          <p:nvPr/>
        </p:nvSpPr>
        <p:spPr>
          <a:xfrm>
            <a:off x="6601968" y="2642616"/>
            <a:ext cx="219456" cy="219456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1" name="Text 7"/>
          <p:cNvSpPr/>
          <p:nvPr/>
        </p:nvSpPr>
        <p:spPr>
          <a:xfrm>
            <a:off x="6931152" y="2468880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Aprobada</a:t>
            </a:r>
            <a:endParaRPr lang="en-US" sz="1250" dirty="0"/>
          </a:p>
        </p:txBody>
      </p:sp>
      <p:sp>
        <p:nvSpPr>
          <p:cNvPr id="12" name="Text 8"/>
          <p:cNvSpPr/>
          <p:nvPr/>
        </p:nvSpPr>
        <p:spPr>
          <a:xfrm>
            <a:off x="9509760" y="246888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22,7%</a:t>
            </a:r>
            <a:endParaRPr lang="en-US" sz="1100" dirty="0"/>
          </a:p>
        </p:txBody>
      </p:sp>
      <p:sp>
        <p:nvSpPr>
          <p:cNvPr id="13" name="Text 9"/>
          <p:cNvSpPr/>
          <p:nvPr/>
        </p:nvSpPr>
        <p:spPr>
          <a:xfrm>
            <a:off x="10561320" y="2468880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2200" dirty="0"/>
          </a:p>
        </p:txBody>
      </p:sp>
      <p:sp>
        <p:nvSpPr>
          <p:cNvPr id="14" name="Shape 10"/>
          <p:cNvSpPr/>
          <p:nvPr/>
        </p:nvSpPr>
        <p:spPr>
          <a:xfrm>
            <a:off x="6492240" y="3090672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15" name="Shape 11"/>
          <p:cNvSpPr/>
          <p:nvPr/>
        </p:nvSpPr>
        <p:spPr>
          <a:xfrm>
            <a:off x="6601968" y="3264408"/>
            <a:ext cx="219456" cy="219456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6" name="Text 12"/>
          <p:cNvSpPr/>
          <p:nvPr/>
        </p:nvSpPr>
        <p:spPr>
          <a:xfrm>
            <a:off x="6931152" y="309067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revisión del cliente</a:t>
            </a:r>
            <a:endParaRPr lang="en-US" sz="1250" dirty="0"/>
          </a:p>
        </p:txBody>
      </p:sp>
      <p:sp>
        <p:nvSpPr>
          <p:cNvPr id="17" name="Text 13"/>
          <p:cNvSpPr/>
          <p:nvPr/>
        </p:nvSpPr>
        <p:spPr>
          <a:xfrm>
            <a:off x="9509760" y="309067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8,2%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10561320" y="3090672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92240" y="3712464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0" name="Shape 16"/>
          <p:cNvSpPr/>
          <p:nvPr/>
        </p:nvSpPr>
        <p:spPr>
          <a:xfrm>
            <a:off x="6601968" y="3886200"/>
            <a:ext cx="219456" cy="219456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1" name="Text 17"/>
          <p:cNvSpPr/>
          <p:nvPr/>
        </p:nvSpPr>
        <p:spPr>
          <a:xfrm>
            <a:off x="6931152" y="371246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Rechazada</a:t>
            </a:r>
            <a:endParaRPr lang="en-US" sz="1250" dirty="0"/>
          </a:p>
        </p:txBody>
      </p:sp>
      <p:sp>
        <p:nvSpPr>
          <p:cNvPr id="22" name="Text 18"/>
          <p:cNvSpPr/>
          <p:nvPr/>
        </p:nvSpPr>
        <p:spPr>
          <a:xfrm>
            <a:off x="9509760" y="371246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9,3%</a:t>
            </a:r>
            <a:endParaRPr lang="en-US" sz="1100" dirty="0"/>
          </a:p>
        </p:txBody>
      </p:sp>
      <p:sp>
        <p:nvSpPr>
          <p:cNvPr id="23" name="Text 19"/>
          <p:cNvSpPr/>
          <p:nvPr/>
        </p:nvSpPr>
        <p:spPr>
          <a:xfrm>
            <a:off x="10561320" y="3712464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200" dirty="0"/>
          </a:p>
        </p:txBody>
      </p:sp>
      <p:sp>
        <p:nvSpPr>
          <p:cNvPr id="24" name="Shape 20"/>
          <p:cNvSpPr/>
          <p:nvPr/>
        </p:nvSpPr>
        <p:spPr>
          <a:xfrm>
            <a:off x="6492240" y="4334256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25" name="Shape 21"/>
          <p:cNvSpPr/>
          <p:nvPr/>
        </p:nvSpPr>
        <p:spPr>
          <a:xfrm>
            <a:off x="6601968" y="4507992"/>
            <a:ext cx="219456" cy="219456"/>
          </a:xfrm>
          <a:prstGeom prst="ellipse">
            <a:avLst/>
          </a:prstGeom>
          <a:solidFill>
            <a:srgbClr val="E0A32E"/>
          </a:solidFill>
          <a:ln/>
        </p:spPr>
      </p:sp>
      <p:sp>
        <p:nvSpPr>
          <p:cNvPr id="26" name="Text 22"/>
          <p:cNvSpPr/>
          <p:nvPr/>
        </p:nvSpPr>
        <p:spPr>
          <a:xfrm>
            <a:off x="6931152" y="4334256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preparación (interna)</a:t>
            </a:r>
            <a:endParaRPr lang="en-US" sz="1250" dirty="0"/>
          </a:p>
        </p:txBody>
      </p:sp>
      <p:sp>
        <p:nvSpPr>
          <p:cNvPr id="27" name="Text 23"/>
          <p:cNvSpPr/>
          <p:nvPr/>
        </p:nvSpPr>
        <p:spPr>
          <a:xfrm>
            <a:off x="9509760" y="433425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14,4%</a:t>
            </a:r>
            <a:endParaRPr lang="en-US" sz="1100" dirty="0"/>
          </a:p>
        </p:txBody>
      </p:sp>
      <p:sp>
        <p:nvSpPr>
          <p:cNvPr id="28" name="Text 24"/>
          <p:cNvSpPr/>
          <p:nvPr/>
        </p:nvSpPr>
        <p:spPr>
          <a:xfrm>
            <a:off x="10561320" y="4334256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2200" dirty="0"/>
          </a:p>
        </p:txBody>
      </p:sp>
      <p:sp>
        <p:nvSpPr>
          <p:cNvPr id="29" name="Shape 25"/>
          <p:cNvSpPr/>
          <p:nvPr/>
        </p:nvSpPr>
        <p:spPr>
          <a:xfrm>
            <a:off x="6492240" y="4956048"/>
            <a:ext cx="5010912" cy="566928"/>
          </a:xfrm>
          <a:prstGeom prst="roundRect">
            <a:avLst>
              <a:gd name="adj" fmla="val 8065"/>
            </a:avLst>
          </a:prstGeom>
          <a:solidFill>
            <a:srgbClr val="F4F6F9"/>
          </a:solidFill>
          <a:ln/>
        </p:spPr>
      </p:sp>
      <p:sp>
        <p:nvSpPr>
          <p:cNvPr id="30" name="Shape 26"/>
          <p:cNvSpPr/>
          <p:nvPr/>
        </p:nvSpPr>
        <p:spPr>
          <a:xfrm>
            <a:off x="6601968" y="5129784"/>
            <a:ext cx="219456" cy="219456"/>
          </a:xfrm>
          <a:prstGeom prst="ellipse">
            <a:avLst/>
          </a:prstGeom>
          <a:solidFill>
            <a:srgbClr val="6E8CA8"/>
          </a:solidFill>
          <a:ln/>
        </p:spPr>
      </p:sp>
      <p:sp>
        <p:nvSpPr>
          <p:cNvPr id="31" name="Text 27"/>
          <p:cNvSpPr/>
          <p:nvPr/>
        </p:nvSpPr>
        <p:spPr>
          <a:xfrm>
            <a:off x="6931152" y="4956048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entregar</a:t>
            </a:r>
            <a:endParaRPr lang="en-US" sz="1250" dirty="0"/>
          </a:p>
        </p:txBody>
      </p:sp>
      <p:sp>
        <p:nvSpPr>
          <p:cNvPr id="32" name="Text 28"/>
          <p:cNvSpPr/>
          <p:nvPr/>
        </p:nvSpPr>
        <p:spPr>
          <a:xfrm>
            <a:off x="9509760" y="495604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45,4%</a:t>
            </a:r>
            <a:endParaRPr lang="en-US" sz="1100" dirty="0"/>
          </a:p>
        </p:txBody>
      </p:sp>
      <p:sp>
        <p:nvSpPr>
          <p:cNvPr id="33" name="Text 29"/>
          <p:cNvSpPr/>
          <p:nvPr/>
        </p:nvSpPr>
        <p:spPr>
          <a:xfrm>
            <a:off x="10561320" y="4956048"/>
            <a:ext cx="822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6E8C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2200" dirty="0"/>
          </a:p>
        </p:txBody>
      </p:sp>
      <p:sp>
        <p:nvSpPr>
          <p:cNvPr id="34" name="Text 30"/>
          <p:cNvSpPr/>
          <p:nvPr/>
        </p:nvSpPr>
        <p:spPr>
          <a:xfrm>
            <a:off x="6492240" y="5596128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1000" i="1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 carpetas ya están en manos del cliente (40,2%) y 27 subsistemas tienen tarjeta verde. El grueso del pendiente todavía no sale de Besalco.</a:t>
            </a:r>
            <a:endParaRPr lang="en-US" sz="100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Punch list en condición P1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829 P1 levantados; 71,4% cerrados. Atrasado = ítem abierto cuya fecha requerida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 GLOBAL P1</a:t>
            </a:r>
            <a:endParaRPr lang="en-US" sz="1100" dirty="0"/>
          </a:p>
        </p:txBody>
      </p:sp>
      <p:graphicFrame>
        <p:nvGraphicFramePr>
          <p:cNvPr id="9" name="Chart 1" descr=""/>
          <p:cNvGraphicFramePr/>
          <p:nvPr/>
        </p:nvGraphicFramePr>
        <p:xfrm>
          <a:off x="7772400" y="2331720"/>
          <a:ext cx="2011680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 5"/>
          <p:cNvSpPr/>
          <p:nvPr/>
        </p:nvSpPr>
        <p:spPr>
          <a:xfrm>
            <a:off x="7772400" y="2999232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71,4%</a:t>
            </a:r>
            <a:endParaRPr lang="en-US" sz="19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DCE6F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cerrado</a:t>
            </a:r>
            <a:endParaRPr lang="en-US" sz="1900" dirty="0"/>
          </a:p>
        </p:txBody>
      </p:sp>
      <p:sp>
        <p:nvSpPr>
          <p:cNvPr id="11" name="Shape 6"/>
          <p:cNvSpPr/>
          <p:nvPr/>
        </p:nvSpPr>
        <p:spPr>
          <a:xfrm>
            <a:off x="10012680" y="2505456"/>
            <a:ext cx="182880" cy="182880"/>
          </a:xfrm>
          <a:prstGeom prst="ellipse">
            <a:avLst/>
          </a:prstGeom>
          <a:solidFill>
            <a:srgbClr val="2E9E5B"/>
          </a:solidFill>
          <a:ln/>
        </p:spPr>
      </p:sp>
      <p:sp>
        <p:nvSpPr>
          <p:cNvPr id="12" name="Text 7"/>
          <p:cNvSpPr/>
          <p:nvPr/>
        </p:nvSpPr>
        <p:spPr>
          <a:xfrm>
            <a:off x="10241280" y="2423160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Cerrados</a:t>
            </a:r>
            <a:endParaRPr lang="en-US" sz="1050" dirty="0"/>
          </a:p>
        </p:txBody>
      </p:sp>
      <p:sp>
        <p:nvSpPr>
          <p:cNvPr id="13" name="Text 8"/>
          <p:cNvSpPr/>
          <p:nvPr/>
        </p:nvSpPr>
        <p:spPr>
          <a:xfrm>
            <a:off x="10241280" y="26700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592</a:t>
            </a:r>
            <a:endParaRPr lang="en-US" sz="1100" dirty="0"/>
          </a:p>
        </p:txBody>
      </p:sp>
      <p:sp>
        <p:nvSpPr>
          <p:cNvPr id="14" name="Shape 9"/>
          <p:cNvSpPr/>
          <p:nvPr/>
        </p:nvSpPr>
        <p:spPr>
          <a:xfrm>
            <a:off x="10012680" y="3072384"/>
            <a:ext cx="182880" cy="182880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15" name="Text 10"/>
          <p:cNvSpPr/>
          <p:nvPr/>
        </p:nvSpPr>
        <p:spPr>
          <a:xfrm>
            <a:off x="10241280" y="2990088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Atrasados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10241280" y="3236976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178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10012680" y="3639312"/>
            <a:ext cx="182880" cy="182880"/>
          </a:xfrm>
          <a:prstGeom prst="ellipse">
            <a:avLst/>
          </a:prstGeom>
          <a:solidFill>
            <a:srgbClr val="E3A55B"/>
          </a:solidFill>
          <a:ln/>
        </p:spPr>
      </p:sp>
      <p:sp>
        <p:nvSpPr>
          <p:cNvPr id="18" name="Text 13"/>
          <p:cNvSpPr/>
          <p:nvPr/>
        </p:nvSpPr>
        <p:spPr>
          <a:xfrm>
            <a:off x="10241280" y="3557016"/>
            <a:ext cx="1417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Abiertos en plazo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10241280" y="3803904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100" dirty="0"/>
          </a:p>
        </p:txBody>
      </p:sp>
      <p:sp>
        <p:nvSpPr>
          <p:cNvPr id="20" name="Shape 15"/>
          <p:cNvSpPr/>
          <p:nvPr/>
        </p:nvSpPr>
        <p:spPr>
          <a:xfrm>
            <a:off x="7936992" y="4526280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7936992" y="4663440"/>
            <a:ext cx="3611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22 días vencidos; el más antiguo lleva 78. 281 entre 1-30 días, 51 entre 31-90 días.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18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19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DESALADORA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332 ítems atrasados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77,9% de los 426 abiertos ya venció su fecha requerida. Foco en Piping (72), Eléctrica (58), Obras Civiles (29).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las 39 caminatas de Operables pendientes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Caminata 2 va en 51,3% (41/80). Sin caminata no se levanta el punch final ni se habilita la entrega de la carpeta.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Sacar del armado interno las 58 carpetas retenidas</a:t>
            </a:r>
            <a:endParaRPr lang="en-US" sz="140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están en preparación y 44 sin iniciar. Solo 39 de 97 (40,2%) llegaron al cliente; 9 volvieron rechazadas y hay que rearmarlas.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la zona Desaladora</a:t>
            </a:r>
            <a:endParaRPr lang="en-US" sz="140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181 P1 abiertos y 144 atrasados sobre 75 subsistemas. Es la ruta crítica del proyecto.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REPORTE_GERENCIAL + Listado de Puntos Punch Consolidado · Corte 27-07-2026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DESALADORA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10058400" y="-1463040"/>
            <a:ext cx="3840480" cy="384048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Shape 1"/>
          <p:cNvSpPr/>
          <p:nvPr/>
        </p:nvSpPr>
        <p:spPr>
          <a:xfrm>
            <a:off x="11064240" y="4572000"/>
            <a:ext cx="2743200" cy="274320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5" name="Shape 2"/>
          <p:cNvSpPr/>
          <p:nvPr/>
        </p:nvSpPr>
        <p:spPr>
          <a:xfrm>
            <a:off x="502920" y="1234440"/>
            <a:ext cx="201168" cy="20116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6" name="Text 3"/>
          <p:cNvSpPr/>
          <p:nvPr/>
        </p:nvSpPr>
        <p:spPr>
          <a:xfrm>
            <a:off x="777240" y="1097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03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49808" y="1572768"/>
            <a:ext cx="10607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Talabre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777240" y="265176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Captación de agua, pozos y estaciones de bombeo · Codelco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3154680"/>
            <a:ext cx="8778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4600029355 · 219 subsistemas en 9 áreas · 1.951 detalles de terminación levantados.</a:t>
            </a:r>
            <a:endParaRPr lang="en-US" sz="1350" dirty="0"/>
          </a:p>
        </p:txBody>
      </p:sp>
      <p:sp>
        <p:nvSpPr>
          <p:cNvPr id="10" name="Text 7"/>
          <p:cNvSpPr/>
          <p:nvPr/>
        </p:nvSpPr>
        <p:spPr>
          <a:xfrm>
            <a:off x="7772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400" dirty="0"/>
          </a:p>
        </p:txBody>
      </p:sp>
      <p:sp>
        <p:nvSpPr>
          <p:cNvPr id="11" name="Text 8"/>
          <p:cNvSpPr/>
          <p:nvPr/>
        </p:nvSpPr>
        <p:spPr>
          <a:xfrm>
            <a:off x="7772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35204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400" dirty="0"/>
          </a:p>
        </p:txBody>
      </p:sp>
      <p:sp>
        <p:nvSpPr>
          <p:cNvPr id="13" name="Text 10"/>
          <p:cNvSpPr/>
          <p:nvPr/>
        </p:nvSpPr>
        <p:spPr>
          <a:xfrm>
            <a:off x="35204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150" dirty="0"/>
          </a:p>
        </p:txBody>
      </p:sp>
      <p:sp>
        <p:nvSpPr>
          <p:cNvPr id="14" name="Text 11"/>
          <p:cNvSpPr/>
          <p:nvPr/>
        </p:nvSpPr>
        <p:spPr>
          <a:xfrm>
            <a:off x="62636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400" dirty="0"/>
          </a:p>
        </p:txBody>
      </p:sp>
      <p:sp>
        <p:nvSpPr>
          <p:cNvPr id="15" name="Text 12"/>
          <p:cNvSpPr/>
          <p:nvPr/>
        </p:nvSpPr>
        <p:spPr>
          <a:xfrm>
            <a:off x="62636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promedio</a:t>
            </a:r>
            <a:endParaRPr lang="en-US" sz="1150" dirty="0"/>
          </a:p>
        </p:txBody>
      </p:sp>
      <p:sp>
        <p:nvSpPr>
          <p:cNvPr id="16" name="Text 13"/>
          <p:cNvSpPr/>
          <p:nvPr/>
        </p:nvSpPr>
        <p:spPr>
          <a:xfrm>
            <a:off x="9006840" y="4846320"/>
            <a:ext cx="2651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3A5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74,1%</a:t>
            </a:r>
            <a:endParaRPr lang="en-US" sz="3400" dirty="0"/>
          </a:p>
        </p:txBody>
      </p:sp>
      <p:sp>
        <p:nvSpPr>
          <p:cNvPr id="17" name="Text 14"/>
          <p:cNvSpPr/>
          <p:nvPr/>
        </p:nvSpPr>
        <p:spPr>
          <a:xfrm>
            <a:off x="9006840" y="548640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777240" y="6172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Atrasos calculados al 27-07-2026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RESUMEN EJECUTIVO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Estado global de los tres frentes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457200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713232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7" name="Text 4"/>
          <p:cNvSpPr/>
          <p:nvPr/>
        </p:nvSpPr>
        <p:spPr>
          <a:xfrm>
            <a:off x="713232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90,9%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199/219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731520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 realizada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731520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agendadas · 7 sin programar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19272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75304" y="1719072"/>
            <a:ext cx="146304" cy="146304"/>
          </a:xfrm>
          <a:prstGeom prst="ellipse">
            <a:avLst/>
          </a:prstGeom>
          <a:solidFill>
            <a:srgbClr val="2E6FB5"/>
          </a:solidFill>
          <a:ln/>
        </p:spPr>
      </p:sp>
      <p:sp>
        <p:nvSpPr>
          <p:cNvPr id="13" name="Text 10"/>
          <p:cNvSpPr/>
          <p:nvPr/>
        </p:nvSpPr>
        <p:spPr>
          <a:xfrm>
            <a:off x="3575304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2E6FB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77,6%</a:t>
            </a:r>
            <a:endParaRPr lang="en-US" sz="3800" dirty="0"/>
          </a:p>
        </p:txBody>
      </p:sp>
      <p:sp>
        <p:nvSpPr>
          <p:cNvPr id="14" name="Text 11"/>
          <p:cNvSpPr/>
          <p:nvPr/>
        </p:nvSpPr>
        <p:spPr>
          <a:xfrm>
            <a:off x="3593592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170/219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3593592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3593592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agendadas · 9 sin programar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81344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437376" y="1719072"/>
            <a:ext cx="146304" cy="146304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19" name="Text 16"/>
          <p:cNvSpPr/>
          <p:nvPr/>
        </p:nvSpPr>
        <p:spPr>
          <a:xfrm>
            <a:off x="6437376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91,1%</a:t>
            </a:r>
            <a:endParaRPr lang="en-US" sz="3800" dirty="0"/>
          </a:p>
        </p:txBody>
      </p:sp>
      <p:sp>
        <p:nvSpPr>
          <p:cNvPr id="20" name="Text 17"/>
          <p:cNvSpPr/>
          <p:nvPr/>
        </p:nvSpPr>
        <p:spPr>
          <a:xfrm>
            <a:off x="6455664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159/219 sobre 95%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455664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PEC de carpetas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6455664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subsistemas bajo 80% de avance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9043416" y="1463040"/>
            <a:ext cx="2743200" cy="2286000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4E9EF"/>
            </a:solidFill>
            <a:prstDash val="solid"/>
          </a:ln>
          <a:effectLst>
            <a:outerShdw sx="100000" sy="100000" kx="0" ky="0" algn="bl" rotWithShape="0" blurRad="88900" dist="25400" dir="5400000">
              <a:srgbClr val="9AA7B5">
                <a:alpha val="2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9299448" y="1719072"/>
            <a:ext cx="146304" cy="146304"/>
          </a:xfrm>
          <a:prstGeom prst="ellipse">
            <a:avLst/>
          </a:prstGeom>
          <a:solidFill>
            <a:srgbClr val="C0392B"/>
          </a:solidFill>
          <a:ln/>
        </p:spPr>
      </p:sp>
      <p:sp>
        <p:nvSpPr>
          <p:cNvPr id="25" name="Text 22"/>
          <p:cNvSpPr/>
          <p:nvPr/>
        </p:nvSpPr>
        <p:spPr>
          <a:xfrm>
            <a:off x="9299448" y="1938528"/>
            <a:ext cx="22860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93,4%</a:t>
            </a:r>
            <a:endParaRPr lang="en-US" sz="3800" dirty="0"/>
          </a:p>
        </p:txBody>
      </p:sp>
      <p:sp>
        <p:nvSpPr>
          <p:cNvPr id="26" name="Text 23"/>
          <p:cNvSpPr/>
          <p:nvPr/>
        </p:nvSpPr>
        <p:spPr>
          <a:xfrm>
            <a:off x="9317736" y="2697480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4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300" dirty="0"/>
          </a:p>
        </p:txBody>
      </p:sp>
      <p:sp>
        <p:nvSpPr>
          <p:cNvPr id="27" name="Text 24"/>
          <p:cNvSpPr/>
          <p:nvPr/>
        </p:nvSpPr>
        <p:spPr>
          <a:xfrm>
            <a:off x="9317736" y="2990088"/>
            <a:ext cx="2240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DT P1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9317736" y="3273552"/>
            <a:ext cx="2240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abiertos · 13 atrasados</a:t>
            </a:r>
            <a:endParaRPr lang="en-US" sz="950" dirty="0"/>
          </a:p>
        </p:txBody>
      </p:sp>
      <p:sp>
        <p:nvSpPr>
          <p:cNvPr id="29" name="Shape 26"/>
          <p:cNvSpPr/>
          <p:nvPr/>
        </p:nvSpPr>
        <p:spPr>
          <a:xfrm>
            <a:off x="457200" y="3950208"/>
            <a:ext cx="11274552" cy="2212848"/>
          </a:xfrm>
          <a:prstGeom prst="roundRect">
            <a:avLst>
              <a:gd name="adj" fmla="val 2479"/>
            </a:avLst>
          </a:prstGeom>
          <a:solidFill>
            <a:srgbClr val="12233B"/>
          </a:solidFill>
          <a:ln/>
        </p:spPr>
      </p:sp>
      <p:sp>
        <p:nvSpPr>
          <p:cNvPr id="30" name="Text 27"/>
          <p:cNvSpPr/>
          <p:nvPr/>
        </p:nvSpPr>
        <p:spPr>
          <a:xfrm>
            <a:off x="777240" y="41148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DEL PERÍODO</a:t>
            </a:r>
            <a:endParaRPr lang="en-US" sz="1100" dirty="0"/>
          </a:p>
        </p:txBody>
      </p:sp>
      <p:sp>
        <p:nvSpPr>
          <p:cNvPr id="31" name="Shape 28"/>
          <p:cNvSpPr/>
          <p:nvPr/>
        </p:nvSpPr>
        <p:spPr>
          <a:xfrm>
            <a:off x="822960" y="4498848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2" name="Text 29"/>
          <p:cNvSpPr/>
          <p:nvPr/>
        </p:nvSpPr>
        <p:spPr>
          <a:xfrm>
            <a:off x="1051560" y="4398264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 está prácticamente cerrado; el volumen pendiente está en las prioridades menores.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 de cierre en P1 (22 abiertos), pero 483 DT abiertos entre P2, P3 y P4 sobre un total de 505.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822960" y="4919472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4" name="Text 31"/>
          <p:cNvSpPr/>
          <p:nvPr/>
        </p:nvSpPr>
        <p:spPr>
          <a:xfrm>
            <a:off x="1051560" y="4818888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atraso es más antiguo que el de los otros proyectos.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206 DT con la fecha de compromiso vencida; mediana de 36 días y el más antiguo lleva 189. Los 215 abiertos sin fecha de compromiso no se cuentan como atrasados.</a:t>
            </a:r>
            <a:endParaRPr lang="en-US" sz="1150" dirty="0"/>
          </a:p>
        </p:txBody>
      </p:sp>
      <p:sp>
        <p:nvSpPr>
          <p:cNvPr id="35" name="Shape 32"/>
          <p:cNvSpPr/>
          <p:nvPr/>
        </p:nvSpPr>
        <p:spPr>
          <a:xfrm>
            <a:off x="822960" y="5340096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6" name="Text 33"/>
          <p:cNvSpPr/>
          <p:nvPr/>
        </p:nvSpPr>
        <p:spPr>
          <a:xfrm>
            <a:off x="1051560" y="5239512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caminatas 1 están casi completas, pero la 2 va 77,6%.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1: 199/219. Caminata 2: 170/219, con 40 ya agendadas y 9 sin programar.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822960" y="5760720"/>
            <a:ext cx="109728" cy="109728"/>
          </a:xfrm>
          <a:prstGeom prst="ellipse">
            <a:avLst/>
          </a:prstGeom>
          <a:solidFill>
            <a:srgbClr val="C87A32"/>
          </a:solidFill>
          <a:ln/>
        </p:spPr>
      </p:sp>
      <p:sp>
        <p:nvSpPr>
          <p:cNvPr id="38" name="Text 35"/>
          <p:cNvSpPr/>
          <p:nvPr/>
        </p:nvSpPr>
        <p:spPr>
          <a:xfrm>
            <a:off x="1051560" y="5660136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carpetas avanzan bien salvo un grupo acotado. 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Avance promedio 91,1%: 159 subsistemas sobre 95% y solo 10 bajo 80%. El archivo declara 0 carpetas en revisión del cliente.</a:t>
            </a:r>
            <a:endParaRPr lang="en-US" sz="1150" dirty="0"/>
          </a:p>
        </p:txBody>
      </p:sp>
      <p:sp>
        <p:nvSpPr>
          <p:cNvPr id="39" name="Text 36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40" name="Text 37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41" name="Text 38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FRENTES 1 Y 2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Caminatas y avance de carpetas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Caminata 2 realizada en 170 de 219 subsistemas (77,6%). Talabre mide la carpeta como % de avance (PEC), no como estado de aprobación.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7" name="Chart 1" descr=""/>
          <p:cNvGraphicFramePr/>
          <p:nvPr/>
        </p:nvGraphicFramePr>
        <p:xfrm>
          <a:off x="6446520" y="1874520"/>
          <a:ext cx="5285232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8" name="Text 3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9" name="Text 4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10" name="Text 5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16568" y="219456"/>
            <a:ext cx="2770632" cy="59436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57200" y="4114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C87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FRENTE 3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57200" y="658368"/>
            <a:ext cx="11247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24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Detalles de terminación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457200" y="1234440"/>
            <a:ext cx="11247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5660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1.951 DT levantados; 74,1% cerrados. Atrasado = DT abierto cuya fecha de compromiso de cierre ya venció al 27-07-2026.</a:t>
            </a:r>
            <a:endParaRPr lang="en-US" sz="13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457200" y="1874520"/>
          <a:ext cx="704088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7680960" y="1874520"/>
            <a:ext cx="4050792" cy="4114800"/>
          </a:xfrm>
          <a:prstGeom prst="roundRect">
            <a:avLst>
              <a:gd name="adj" fmla="val 1354"/>
            </a:avLst>
          </a:prstGeom>
          <a:solidFill>
            <a:srgbClr val="12233B"/>
          </a:solidFill>
          <a:ln/>
        </p:spPr>
      </p:sp>
      <p:sp>
        <p:nvSpPr>
          <p:cNvPr id="8" name="Text 4"/>
          <p:cNvSpPr/>
          <p:nvPr/>
        </p:nvSpPr>
        <p:spPr>
          <a:xfrm>
            <a:off x="7936992" y="20848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POR PRIORIDAD</a:t>
            </a:r>
            <a:endParaRPr lang="en-US" sz="1100" dirty="0"/>
          </a:p>
        </p:txBody>
      </p:sp>
      <p:sp>
        <p:nvSpPr>
          <p:cNvPr id="9" name="Text 5"/>
          <p:cNvSpPr/>
          <p:nvPr/>
        </p:nvSpPr>
        <p:spPr>
          <a:xfrm>
            <a:off x="7936992" y="2487168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P1</a:t>
            </a:r>
            <a:endParaRPr lang="en-US" sz="1150" dirty="0"/>
          </a:p>
        </p:txBody>
      </p:sp>
      <p:sp>
        <p:nvSpPr>
          <p:cNvPr id="10" name="Text 6"/>
          <p:cNvSpPr/>
          <p:nvPr/>
        </p:nvSpPr>
        <p:spPr>
          <a:xfrm>
            <a:off x="8778240" y="2487168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313/335</a:t>
            </a:r>
            <a:endParaRPr lang="en-US" sz="1050" dirty="0"/>
          </a:p>
        </p:txBody>
      </p:sp>
      <p:sp>
        <p:nvSpPr>
          <p:cNvPr id="11" name="Text 7"/>
          <p:cNvSpPr/>
          <p:nvPr/>
        </p:nvSpPr>
        <p:spPr>
          <a:xfrm>
            <a:off x="10287000" y="2487168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93,4%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7936992" y="2761488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3" name="Shape 9"/>
          <p:cNvSpPr/>
          <p:nvPr/>
        </p:nvSpPr>
        <p:spPr>
          <a:xfrm>
            <a:off x="7936992" y="2761488"/>
            <a:ext cx="3330793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14" name="Text 10"/>
          <p:cNvSpPr/>
          <p:nvPr/>
        </p:nvSpPr>
        <p:spPr>
          <a:xfrm>
            <a:off x="7936992" y="3054096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P2</a:t>
            </a:r>
            <a:endParaRPr lang="en-US" sz="1150" dirty="0"/>
          </a:p>
        </p:txBody>
      </p:sp>
      <p:sp>
        <p:nvSpPr>
          <p:cNvPr id="15" name="Text 11"/>
          <p:cNvSpPr/>
          <p:nvPr/>
        </p:nvSpPr>
        <p:spPr>
          <a:xfrm>
            <a:off x="8778240" y="3054096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1.053/1.318</a:t>
            </a:r>
            <a:endParaRPr lang="en-US" sz="1050" dirty="0"/>
          </a:p>
        </p:txBody>
      </p:sp>
      <p:sp>
        <p:nvSpPr>
          <p:cNvPr id="16" name="Text 12"/>
          <p:cNvSpPr/>
          <p:nvPr/>
        </p:nvSpPr>
        <p:spPr>
          <a:xfrm>
            <a:off x="10287000" y="3054096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79,9%</a:t>
            </a:r>
            <a:endParaRPr lang="en-US" sz="1100" dirty="0"/>
          </a:p>
        </p:txBody>
      </p:sp>
      <p:sp>
        <p:nvSpPr>
          <p:cNvPr id="17" name="Shape 13"/>
          <p:cNvSpPr/>
          <p:nvPr/>
        </p:nvSpPr>
        <p:spPr>
          <a:xfrm>
            <a:off x="7936992" y="3328416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18" name="Shape 14"/>
          <p:cNvSpPr/>
          <p:nvPr/>
        </p:nvSpPr>
        <p:spPr>
          <a:xfrm>
            <a:off x="7936992" y="3328416"/>
            <a:ext cx="2849362" cy="118872"/>
          </a:xfrm>
          <a:prstGeom prst="rect">
            <a:avLst/>
          </a:prstGeom>
          <a:solidFill>
            <a:srgbClr val="E3A55B"/>
          </a:solidFill>
          <a:ln/>
        </p:spPr>
      </p:sp>
      <p:sp>
        <p:nvSpPr>
          <p:cNvPr id="19" name="Text 15"/>
          <p:cNvSpPr/>
          <p:nvPr/>
        </p:nvSpPr>
        <p:spPr>
          <a:xfrm>
            <a:off x="7936992" y="3621024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P3</a:t>
            </a:r>
            <a:endParaRPr lang="en-US" sz="1150" dirty="0"/>
          </a:p>
        </p:txBody>
      </p:sp>
      <p:sp>
        <p:nvSpPr>
          <p:cNvPr id="20" name="Text 16"/>
          <p:cNvSpPr/>
          <p:nvPr/>
        </p:nvSpPr>
        <p:spPr>
          <a:xfrm>
            <a:off x="8778240" y="3621024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71/239</a:t>
            </a:r>
            <a:endParaRPr lang="en-US" sz="1050" dirty="0"/>
          </a:p>
        </p:txBody>
      </p:sp>
      <p:sp>
        <p:nvSpPr>
          <p:cNvPr id="21" name="Text 17"/>
          <p:cNvSpPr/>
          <p:nvPr/>
        </p:nvSpPr>
        <p:spPr>
          <a:xfrm>
            <a:off x="10287000" y="3621024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29,7%</a:t>
            </a:r>
            <a:endParaRPr lang="en-US" sz="1100" dirty="0"/>
          </a:p>
        </p:txBody>
      </p:sp>
      <p:sp>
        <p:nvSpPr>
          <p:cNvPr id="22" name="Shape 18"/>
          <p:cNvSpPr/>
          <p:nvPr/>
        </p:nvSpPr>
        <p:spPr>
          <a:xfrm>
            <a:off x="7936992" y="3895344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3" name="Shape 19"/>
          <p:cNvSpPr/>
          <p:nvPr/>
        </p:nvSpPr>
        <p:spPr>
          <a:xfrm>
            <a:off x="7936992" y="3895344"/>
            <a:ext cx="1059150" cy="118872"/>
          </a:xfrm>
          <a:prstGeom prst="rect">
            <a:avLst/>
          </a:prstGeom>
          <a:solidFill>
            <a:srgbClr val="C0392B"/>
          </a:solidFill>
          <a:ln/>
        </p:spPr>
      </p:sp>
      <p:sp>
        <p:nvSpPr>
          <p:cNvPr id="24" name="Text 20"/>
          <p:cNvSpPr/>
          <p:nvPr/>
        </p:nvSpPr>
        <p:spPr>
          <a:xfrm>
            <a:off x="7936992" y="4187952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P4</a:t>
            </a:r>
            <a:endParaRPr lang="en-US" sz="1150" dirty="0"/>
          </a:p>
        </p:txBody>
      </p:sp>
      <p:sp>
        <p:nvSpPr>
          <p:cNvPr id="25" name="Text 21"/>
          <p:cNvSpPr/>
          <p:nvPr/>
        </p:nvSpPr>
        <p:spPr>
          <a:xfrm>
            <a:off x="8778240" y="4187952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0/50</a:t>
            </a:r>
            <a:endParaRPr lang="en-US" sz="1050" dirty="0"/>
          </a:p>
        </p:txBody>
      </p:sp>
      <p:sp>
        <p:nvSpPr>
          <p:cNvPr id="26" name="Text 22"/>
          <p:cNvSpPr/>
          <p:nvPr/>
        </p:nvSpPr>
        <p:spPr>
          <a:xfrm>
            <a:off x="10287000" y="4187952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0%</a:t>
            </a:r>
            <a:endParaRPr lang="en-US" sz="1100" dirty="0"/>
          </a:p>
        </p:txBody>
      </p:sp>
      <p:sp>
        <p:nvSpPr>
          <p:cNvPr id="27" name="Shape 23"/>
          <p:cNvSpPr/>
          <p:nvPr/>
        </p:nvSpPr>
        <p:spPr>
          <a:xfrm>
            <a:off x="7936992" y="4462272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28" name="Text 24"/>
          <p:cNvSpPr/>
          <p:nvPr/>
        </p:nvSpPr>
        <p:spPr>
          <a:xfrm>
            <a:off x="7936992" y="47548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asignar</a:t>
            </a:r>
            <a:endParaRPr lang="en-US" sz="1150" dirty="0"/>
          </a:p>
        </p:txBody>
      </p:sp>
      <p:sp>
        <p:nvSpPr>
          <p:cNvPr id="29" name="Text 25"/>
          <p:cNvSpPr/>
          <p:nvPr/>
        </p:nvSpPr>
        <p:spPr>
          <a:xfrm>
            <a:off x="8778240" y="4754880"/>
            <a:ext cx="1463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9/9</a:t>
            </a:r>
            <a:endParaRPr lang="en-US" sz="1050" dirty="0"/>
          </a:p>
        </p:txBody>
      </p:sp>
      <p:sp>
        <p:nvSpPr>
          <p:cNvPr id="30" name="Text 26"/>
          <p:cNvSpPr/>
          <p:nvPr/>
        </p:nvSpPr>
        <p:spPr>
          <a:xfrm>
            <a:off x="10287000" y="4754880"/>
            <a:ext cx="1234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100" dirty="0"/>
          </a:p>
        </p:txBody>
      </p:sp>
      <p:sp>
        <p:nvSpPr>
          <p:cNvPr id="31" name="Shape 27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1B3252"/>
          </a:solidFill>
          <a:ln/>
        </p:spPr>
      </p:sp>
      <p:sp>
        <p:nvSpPr>
          <p:cNvPr id="32" name="Shape 28"/>
          <p:cNvSpPr/>
          <p:nvPr/>
        </p:nvSpPr>
        <p:spPr>
          <a:xfrm>
            <a:off x="7936992" y="5029200"/>
            <a:ext cx="3566160" cy="118872"/>
          </a:xfrm>
          <a:prstGeom prst="rect">
            <a:avLst/>
          </a:prstGeom>
          <a:solidFill>
            <a:srgbClr val="2E9E5B"/>
          </a:solidFill>
          <a:ln/>
        </p:spPr>
      </p:sp>
      <p:sp>
        <p:nvSpPr>
          <p:cNvPr id="33" name="Shape 29"/>
          <p:cNvSpPr/>
          <p:nvPr/>
        </p:nvSpPr>
        <p:spPr>
          <a:xfrm>
            <a:off x="7936992" y="5376672"/>
            <a:ext cx="3566160" cy="0"/>
          </a:xfrm>
          <a:prstGeom prst="line">
            <a:avLst/>
          </a:prstGeom>
          <a:noFill/>
          <a:ln w="12700">
            <a:solidFill>
              <a:srgbClr val="1B3252"/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7936992" y="5504688"/>
            <a:ext cx="36118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50" b="1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Antigüedad del atraso
</a:t>
            </a:r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 de 36 días vencidos; el más antiguo lleva 189. 91 entre 1-30 días, 86 entre 31-90 días, 28 entre 91-180 días, 1 entre &gt;180 días.</a:t>
            </a:r>
            <a:endParaRPr lang="en-US" sz="1150" dirty="0"/>
          </a:p>
        </p:txBody>
      </p:sp>
      <p:sp>
        <p:nvSpPr>
          <p:cNvPr id="35" name="Text 31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36" name="Text 32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37" name="Text 33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223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Inversiones/panel_control_TOP_P1/besalco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57616" y="420624"/>
            <a:ext cx="3547872" cy="76809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9875520" y="-1645920"/>
            <a:ext cx="4206240" cy="4206240"/>
          </a:xfrm>
          <a:prstGeom prst="ellipse">
            <a:avLst/>
          </a:prstGeom>
          <a:solidFill>
            <a:srgbClr val="1B3252"/>
          </a:solidFill>
          <a:ln/>
        </p:spPr>
      </p:sp>
      <p:sp>
        <p:nvSpPr>
          <p:cNvPr id="4" name="Text 1"/>
          <p:cNvSpPr/>
          <p:nvPr/>
        </p:nvSpPr>
        <p:spPr>
          <a:xfrm>
            <a:off x="457200" y="45720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E3A5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TALABRE · FOCO DE GESTIÓN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713232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Dónde poner el esfuerzo esta semana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457200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7" name="Text 4"/>
          <p:cNvSpPr/>
          <p:nvPr/>
        </p:nvSpPr>
        <p:spPr>
          <a:xfrm>
            <a:off x="731520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0392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400" dirty="0"/>
          </a:p>
        </p:txBody>
      </p:sp>
      <p:sp>
        <p:nvSpPr>
          <p:cNvPr id="8" name="Text 5"/>
          <p:cNvSpPr/>
          <p:nvPr/>
        </p:nvSpPr>
        <p:spPr>
          <a:xfrm>
            <a:off x="1691640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Recuperar los 206 DT atrasados</a:t>
            </a:r>
            <a:endParaRPr lang="en-US" sz="1350" dirty="0"/>
          </a:p>
        </p:txBody>
      </p:sp>
      <p:sp>
        <p:nvSpPr>
          <p:cNvPr id="9" name="Text 6"/>
          <p:cNvSpPr/>
          <p:nvPr/>
        </p:nvSpPr>
        <p:spPr>
          <a:xfrm>
            <a:off x="1691640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192 son P2 y 13 son P1. La mediana de atraso es de 36 días y 29 superan los 90 días.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245352" y="160020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1" name="Text 8"/>
          <p:cNvSpPr/>
          <p:nvPr/>
        </p:nvSpPr>
        <p:spPr>
          <a:xfrm>
            <a:off x="6519672" y="180136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C87A3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479792" y="178308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Ejecutar la caminata 2 en CERRO VERDE/PS2 y PISCINAS Y SEDIMENTADOR</a:t>
            </a:r>
            <a:endParaRPr lang="en-US" sz="1350" dirty="0"/>
          </a:p>
        </p:txBody>
      </p:sp>
      <p:sp>
        <p:nvSpPr>
          <p:cNvPr id="13" name="Text 10"/>
          <p:cNvSpPr/>
          <p:nvPr/>
        </p:nvSpPr>
        <p:spPr>
          <a:xfrm>
            <a:off x="7479792" y="240487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CERRO VERDE/PS2: 0/3 (0%) · PISCINAS Y SEDIMENTADOR: 5/22 (22,7%). A nivel proyecto la caminata 2 va 77,6% con 40 ya agendadas.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457200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E0A3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1691640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Destrabar P4: 50 abiertos y ninguno cerrado</a:t>
            </a:r>
            <a:endParaRPr lang="en-US" sz="1350" dirty="0"/>
          </a:p>
        </p:txBody>
      </p:sp>
      <p:sp>
        <p:nvSpPr>
          <p:cNvPr id="17" name="Text 14"/>
          <p:cNvSpPr/>
          <p:nvPr/>
        </p:nvSpPr>
        <p:spPr>
          <a:xfrm>
            <a:off x="1691640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50 DT levantados en P4 no se ha cerrado ninguno (0%). P3 tampoco despega: 29,7% de cierre.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245352" y="3749040"/>
            <a:ext cx="5486400" cy="1920240"/>
          </a:xfrm>
          <a:prstGeom prst="roundRect">
            <a:avLst>
              <a:gd name="adj" fmla="val 3333"/>
            </a:avLst>
          </a:prstGeom>
          <a:solidFill>
            <a:srgbClr val="1B3252"/>
          </a:solidFill>
          <a:ln/>
        </p:spPr>
      </p:sp>
      <p:sp>
        <p:nvSpPr>
          <p:cNvPr id="19" name="Text 16"/>
          <p:cNvSpPr/>
          <p:nvPr/>
        </p:nvSpPr>
        <p:spPr>
          <a:xfrm>
            <a:off x="6519672" y="39502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9E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7479792" y="3931920"/>
            <a:ext cx="40233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Atender POZOS</a:t>
            </a:r>
            <a:endParaRPr lang="en-US" sz="1350" dirty="0"/>
          </a:p>
        </p:txBody>
      </p:sp>
      <p:sp>
        <p:nvSpPr>
          <p:cNvPr id="21" name="Text 18"/>
          <p:cNvSpPr/>
          <p:nvPr/>
        </p:nvSpPr>
        <p:spPr>
          <a:xfrm>
            <a:off x="7479792" y="4553712"/>
            <a:ext cx="3977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DCE6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Concentra 256 de los 505 DT abiertos (50,7%), con 98 atrasados. Además hay 10 carpetas bajo 80% de avance que conviene cerrar en paralelo.</a:t>
            </a:r>
            <a:endParaRPr lang="en-US" sz="1100" dirty="0"/>
          </a:p>
        </p:txBody>
      </p:sp>
      <p:sp>
        <p:nvSpPr>
          <p:cNvPr id="22" name="Text 19"/>
          <p:cNvSpPr/>
          <p:nvPr/>
        </p:nvSpPr>
        <p:spPr>
          <a:xfrm>
            <a:off x="457200" y="6473952"/>
            <a:ext cx="9692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TalabreSTATUS_PEC + TalabreCuadro_DT · 219 subsistemas · 1.951 DT · Atrasos al 27-07-2026</a:t>
            </a:r>
            <a:endParaRPr lang="en-US" sz="850" dirty="0"/>
          </a:p>
        </p:txBody>
      </p:sp>
      <p:sp>
        <p:nvSpPr>
          <p:cNvPr id="23" name="Text 20"/>
          <p:cNvSpPr/>
          <p:nvPr/>
        </p:nvSpPr>
        <p:spPr>
          <a:xfrm>
            <a:off x="1828800" y="6483096"/>
            <a:ext cx="975664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TALABRE</a:t>
            </a:r>
            <a:endParaRPr lang="en-US" sz="850" dirty="0"/>
          </a:p>
        </p:txBody>
      </p:sp>
      <p:sp>
        <p:nvSpPr>
          <p:cNvPr id="24" name="Text 21"/>
          <p:cNvSpPr/>
          <p:nvPr/>
        </p:nvSpPr>
        <p:spPr>
          <a:xfrm>
            <a:off x="11430000" y="647395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8C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Panel de Control — Carpetas TOP · Caminatas · Detalles P1</dc:title>
  <dc:subject>PptxGenJS Presentation</dc:subject>
  <dc:creator>Control de Proyecto</dc:creator>
  <cp:lastModifiedBy>Control de Proyecto</cp:lastModifiedBy>
  <cp:revision>1</cp:revision>
  <dcterms:created xsi:type="dcterms:W3CDTF">2026-07-27T18:09:45Z</dcterms:created>
  <dcterms:modified xsi:type="dcterms:W3CDTF">2026-07-27T18:09:45Z</dcterms:modified>
</cp:coreProperties>
</file>