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7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8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Subsistemas por estado de su caminata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Realizada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Operable (C2)</c:v>
                  </c:pt>
                  <c:pt idx="1">
                    <c:v>Facility (C1)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43</c:v>
                </c:pt>
                <c:pt idx="1">
                  <c:v>10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Pendiente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Operable (C2)</c:v>
                  </c:pt>
                  <c:pt idx="1">
                    <c:v>Facility (C1)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37</c:v>
                </c:pt>
                <c:pt idx="1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P1 abiertos por disciplina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Atrasados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Eléctrica</c:v>
                  </c:pt>
                  <c:pt idx="1">
                    <c:v>Piping</c:v>
                  </c:pt>
                  <c:pt idx="2">
                    <c:v>Obras Civiles</c:v>
                  </c:pt>
                  <c:pt idx="3">
                    <c:v>Mecánica</c:v>
                  </c:pt>
                  <c:pt idx="4">
                    <c:v>Estructura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52</c:v>
                </c:pt>
                <c:pt idx="1">
                  <c:v>5</c:v>
                </c:pt>
                <c:pt idx="2">
                  <c:v>7</c:v>
                </c:pt>
                <c:pt idx="3">
                  <c:v>8</c:v>
                </c:pt>
                <c:pt idx="4">
                  <c:v>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 plazo o sin fecha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Eléctrica</c:v>
                  </c:pt>
                  <c:pt idx="1">
                    <c:v>Piping</c:v>
                  </c:pt>
                  <c:pt idx="2">
                    <c:v>Obras Civiles</c:v>
                  </c:pt>
                  <c:pt idx="3">
                    <c:v>Mecánica</c:v>
                  </c:pt>
                  <c:pt idx="4">
                    <c:v>Estructura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70</c:v>
                </c:pt>
                <c:pt idx="1">
                  <c:v>60</c:v>
                </c:pt>
                <c:pt idx="2">
                  <c:v>13</c:v>
                </c:pt>
                <c:pt idx="3">
                  <c:v>10</c:v>
                </c:pt>
                <c:pt idx="4">
                  <c:v>10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P1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E9E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C0392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E3A5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Cerrados</c:v>
                </c:pt>
                <c:pt idx="1">
                  <c:v>Atrasados</c:v>
                </c:pt>
                <c:pt idx="2">
                  <c:v>Abiertos en plazo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667</c:v>
                </c:pt>
                <c:pt idx="1">
                  <c:v>74</c:v>
                </c:pt>
                <c:pt idx="2">
                  <c:v>163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plotVisOnly val="1"/>
    <c:dispBlanksAs val="span"/>
  </c:chart>
  <c:spPr>
    <a:solidFill>
      <a:srgbClr val="12233B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Caminata 2 por área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Realizada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/>
                </c:pt>
                <c:pt idx="1">
                  <c:v>19</c:v>
                </c:pt>
                <c:pt idx="2">
                  <c:v>22</c:v>
                </c:pt>
                <c:pt idx="3">
                  <c:v>3</c:v>
                </c:pt>
                <c:pt idx="4">
                  <c:v>14</c:v>
                </c:pt>
                <c:pt idx="5">
                  <c:v>6</c:v>
                </c:pt>
                <c:pt idx="6">
                  <c:v>110</c:v>
                </c:pt>
                <c:pt idx="7">
                  <c:v>12</c:v>
                </c:pt>
                <c:pt idx="8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Agendada en plazo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3</c:v>
                </c:pt>
                <c:pt idx="1">
                  <c:v>1</c:v>
                </c:pt>
                <c:pt idx="2">
                  <c:v>3</c:v>
                </c:pt>
                <c:pt idx="3">
                  <c:v/>
                </c:pt>
                <c:pt idx="4">
                  <c:v/>
                </c:pt>
                <c:pt idx="5">
                  <c:v>16</c:v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Sin programar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>1</c:v>
                </c:pt>
                <c:pt idx="8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5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Avance PEC de carpetas por área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95% o más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</c:v>
                </c:pt>
                <c:pt idx="1">
                  <c:v>18</c:v>
                </c:pt>
                <c:pt idx="2">
                  <c:v>16</c:v>
                </c:pt>
                <c:pt idx="3">
                  <c:v>3</c:v>
                </c:pt>
                <c:pt idx="4">
                  <c:v>10</c:v>
                </c:pt>
                <c:pt idx="5">
                  <c:v>6</c:v>
                </c:pt>
                <c:pt idx="6">
                  <c:v>110</c:v>
                </c:pt>
                <c:pt idx="7">
                  <c:v>8</c:v>
                </c:pt>
                <c:pt idx="8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80% a 95%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/>
                </c:pt>
                <c:pt idx="1">
                  <c:v>1</c:v>
                </c:pt>
                <c:pt idx="2">
                  <c:v>7</c:v>
                </c:pt>
                <c:pt idx="3">
                  <c:v/>
                </c:pt>
                <c:pt idx="4">
                  <c:v>3</c:v>
                </c:pt>
                <c:pt idx="5">
                  <c:v>14</c:v>
                </c:pt>
                <c:pt idx="6">
                  <c:v/>
                </c:pt>
                <c:pt idx="7">
                  <c:v>4</c:v>
                </c:pt>
                <c:pt idx="8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Bajo 80%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1</c:v>
                </c:pt>
                <c:pt idx="1">
                  <c:v>1</c:v>
                </c:pt>
                <c:pt idx="2">
                  <c:v>2</c:v>
                </c:pt>
                <c:pt idx="3">
                  <c:v/>
                </c:pt>
                <c:pt idx="4">
                  <c:v>1</c:v>
                </c:pt>
                <c:pt idx="5">
                  <c:v>2</c:v>
                </c:pt>
                <c:pt idx="6">
                  <c:v/>
                </c:pt>
                <c:pt idx="7">
                  <c:v>1</c:v>
                </c:pt>
                <c:pt idx="8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5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DT abiertos por disciplina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Atrasados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Piping</c:v>
                  </c:pt>
                  <c:pt idx="1">
                    <c:v>Obras Civiles</c:v>
                  </c:pt>
                  <c:pt idx="2">
                    <c:v>Eléctrica</c:v>
                  </c:pt>
                  <c:pt idx="3">
                    <c:v>Estructura</c:v>
                  </c:pt>
                  <c:pt idx="4">
                    <c:v>Instr. y Control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57</c:v>
                </c:pt>
                <c:pt idx="1">
                  <c:v>89</c:v>
                </c:pt>
                <c:pt idx="2">
                  <c:v>64</c:v>
                </c:pt>
                <c:pt idx="3">
                  <c:v>20</c:v>
                </c:pt>
                <c:pt idx="4">
                  <c:v>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 plazo o sin compromiso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Piping</c:v>
                  </c:pt>
                  <c:pt idx="1">
                    <c:v>Obras Civiles</c:v>
                  </c:pt>
                  <c:pt idx="2">
                    <c:v>Eléctrica</c:v>
                  </c:pt>
                  <c:pt idx="3">
                    <c:v>Estructura</c:v>
                  </c:pt>
                  <c:pt idx="4">
                    <c:v>Instr. y Control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140</c:v>
                </c:pt>
                <c:pt idx="1">
                  <c:v>61</c:v>
                </c:pt>
                <c:pt idx="2">
                  <c:v>42</c:v>
                </c:pt>
                <c:pt idx="3">
                  <c:v>13</c:v>
                </c:pt>
                <c:pt idx="4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Subsistemas por estado de caminata 100%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Realizada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35</c:v>
                </c:pt>
                <c:pt idx="1">
                  <c:v>35</c:v>
                </c:pt>
                <c:pt idx="2">
                  <c:v>19</c:v>
                </c:pt>
                <c:pt idx="3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Próxima a realizar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/>
                </c:pt>
                <c:pt idx="1">
                  <c:v>40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Por programar</c:v>
                </c:pt>
              </c:strCache>
            </c:strRef>
          </c:tx>
          <c:spPr>
            <a:solidFill>
              <a:srgbClr val="3A6F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/>
                </c:pt>
                <c:pt idx="1">
                  <c:v>1</c:v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Carpetas TOP por área y estatus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En revisión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14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Observada</c:v>
                </c:pt>
              </c:strCache>
            </c:strRef>
          </c:tx>
          <c:spPr>
            <a:solidFill>
              <a:srgbClr val="9A6B0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/>
                </c:pt>
                <c:pt idx="1">
                  <c:v>1</c:v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Rechazada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4</c:v>
                </c:pt>
                <c:pt idx="1">
                  <c:v>7</c:v>
                </c:pt>
                <c:pt idx="2">
                  <c:v>1</c:v>
                </c:pt>
                <c:pt idx="3">
                  <c:v/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Sin entregar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17</c:v>
                </c:pt>
                <c:pt idx="1">
                  <c:v>68</c:v>
                </c:pt>
                <c:pt idx="2">
                  <c:v>21</c:v>
                </c:pt>
                <c:pt idx="3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P1 abiertos por disciplina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Vencidos al corte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Piping</c:v>
                  </c:pt>
                  <c:pt idx="1">
                    <c:v>Eléctrica</c:v>
                  </c:pt>
                  <c:pt idx="2">
                    <c:v>Instrum. y Control</c:v>
                  </c:pt>
                  <c:pt idx="3">
                    <c:v>Mecánica</c:v>
                  </c:pt>
                  <c:pt idx="4">
                    <c:v>Estructura</c:v>
                  </c:pt>
                  <c:pt idx="5">
                    <c:v>Obras Civiles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217</c:v>
                </c:pt>
                <c:pt idx="1">
                  <c:v>173</c:v>
                </c:pt>
                <c:pt idx="2">
                  <c:v>153</c:v>
                </c:pt>
                <c:pt idx="3">
                  <c:v>107</c:v>
                </c:pt>
                <c:pt idx="4">
                  <c:v>17</c:v>
                </c:pt>
                <c:pt idx="5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 plazo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Piping</c:v>
                  </c:pt>
                  <c:pt idx="1">
                    <c:v>Eléctrica</c:v>
                  </c:pt>
                  <c:pt idx="2">
                    <c:v>Instrum. y Control</c:v>
                  </c:pt>
                  <c:pt idx="3">
                    <c:v>Mecánica</c:v>
                  </c:pt>
                  <c:pt idx="4">
                    <c:v>Estructura</c:v>
                  </c:pt>
                  <c:pt idx="5">
                    <c:v>Obras Civiles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32</c:v>
                </c:pt>
                <c:pt idx="1">
                  <c:v>43</c:v>
                </c:pt>
                <c:pt idx="2">
                  <c:v>28</c:v>
                </c:pt>
                <c:pt idx="3">
                  <c:v>19</c:v>
                </c:pt>
                <c:pt idx="4">
                  <c:v>19</c:v>
                </c:pt>
                <c:pt idx="5">
                  <c:v>20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P1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E9E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C0392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E3A5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Cerrados</c:v>
                </c:pt>
                <c:pt idx="1">
                  <c:v>Abiertos</c:v>
                </c:pt>
                <c:pt idx="2">
                  <c:v>En trámite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1154</c:v>
                </c:pt>
                <c:pt idx="1">
                  <c:v>828</c:v>
                </c:pt>
                <c:pt idx="2">
                  <c:v>6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plotVisOnly val="1"/>
    <c:dispBlanksAs val="span"/>
  </c:chart>
  <c:spPr>
    <a:solidFill>
      <a:srgbClr val="12233B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1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3" Type="http://schemas.openxmlformats.org/officeDocument/2006/relationships/chart" Target="/ppt/charts/chart5.xml"/><Relationship Id="rId1" Type="http://schemas.openxmlformats.org/officeDocument/2006/relationships/image" Target="../media/image-8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6.xml"/><Relationship Id="rId1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7.xml"/><Relationship Id="rId1" Type="http://schemas.openxmlformats.org/officeDocument/2006/relationships/image" Target="../media/image-1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8.xml"/><Relationship Id="rId1" Type="http://schemas.openxmlformats.org/officeDocument/2006/relationships/image" Target="../media/image-1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9.xml"/><Relationship Id="rId3" Type="http://schemas.openxmlformats.org/officeDocument/2006/relationships/chart" Target="/ppt/charts/chart10.xml"/><Relationship Id="rId1" Type="http://schemas.openxmlformats.org/officeDocument/2006/relationships/image" Target="../media/image-16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01 · P2416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Desaladora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PV3 Montaje Electromecánico — Ampliación Desaladora · ANTOFAGASTA MINERALS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VPP-1001-03-CC-088 · 95 subsistemas (80 Operable · 15 Facility) en Desaladora y EB-2.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suman al universo 3 componentes ya entregados: son entregas parciales de un subsistema que ya está contado.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53,8%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· Operables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· Facility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43,2%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entregadas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73,8%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punch P1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11-08-2026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11-08-2026 · Atrasos al 17-08-2026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tres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53,8%</a:t>
            </a:r>
            <a:endParaRPr lang="en-US" sz="38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43/80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· Operables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 subsistemas por caminar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38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10/15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· Facility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facilities por caminar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43,2%</a:t>
            </a:r>
            <a:endParaRPr lang="en-US" sz="38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41/95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entregadas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aprobadas · 11 en revisión · 5 rechazadas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73,8%</a:t>
            </a:r>
            <a:endParaRPr lang="en-US" sz="38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667/904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punch P1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237 abiertos · 74 atrasados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457200" y="3950208"/>
            <a:ext cx="11274552" cy="2212848"/>
          </a:xfrm>
          <a:prstGeom prst="roundRect">
            <a:avLst>
              <a:gd name="adj" fmla="val 2479"/>
            </a:avLst>
          </a:prstGeom>
          <a:solidFill>
            <a:srgbClr val="12233B"/>
          </a:solidFill>
          <a:ln/>
        </p:spPr>
      </p:sp>
      <p:sp>
        <p:nvSpPr>
          <p:cNvPr id="30" name="Text 27"/>
          <p:cNvSpPr/>
          <p:nvPr/>
        </p:nvSpPr>
        <p:spPr>
          <a:xfrm>
            <a:off x="777240" y="4114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22960" y="449884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2" name="Text 29"/>
          <p:cNvSpPr/>
          <p:nvPr/>
        </p:nvSpPr>
        <p:spPr>
          <a:xfrm>
            <a:off x="1051560" y="439826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punch cierra a buen ritmo, pero la deuda vencida es la mitad de lo abierto.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1.078 de 1.501 ítems cerrados (71,8%); de los 423 abiertos, 160 ya pasaron su fecha requerida de cierre (37,8%).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822960" y="4919472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4" name="Text 31"/>
          <p:cNvSpPr/>
          <p:nvPr/>
        </p:nvSpPr>
        <p:spPr>
          <a:xfrm>
            <a:off x="1051560" y="481888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caminatas avanzan a distinta velocidad según el tipo de subsistema.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Operables 43/80 por Caminata 2 (53,8%); Facility 10/15 por Caminata 1 (66,7%).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822960" y="5340096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6" name="Text 33"/>
          <p:cNvSpPr/>
          <p:nvPr/>
        </p:nvSpPr>
        <p:spPr>
          <a:xfrm>
            <a:off x="1051560" y="523951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carpetas están a 43,2% de entrega y el cuello está en el armado interno.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 entregadas de 95: 25 aprobadas, 11 en revisión y 5 rechazadas. Quedan 12 en preparación y 42 sin iniciar.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822960" y="5760720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8" name="Text 35"/>
          <p:cNvSpPr/>
          <p:nvPr/>
        </p:nvSpPr>
        <p:spPr>
          <a:xfrm>
            <a:off x="1051560" y="566013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Eléctrica concentra el pendiente de P1.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122 de los 237 P1 abiertos (51,5%), con 52 atrasados.</a:t>
            </a:r>
            <a:endParaRPr lang="en-US" sz="1150" dirty="0"/>
          </a:p>
        </p:txBody>
      </p:sp>
      <p:sp>
        <p:nvSpPr>
          <p:cNvPr id="39" name="Text 3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11-08-2026 · Atrasos al 17-08-2026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FRENTES 1 Y 2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Caminatas y certificados de entrega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tipo de subsistema se mide con su propia caminata: los Operables por la Caminata 2 y los Facility por la Caminata 1, tal como lo declara el propio reporte gerencial.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55778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6263640" y="1874520"/>
            <a:ext cx="5468112" cy="4114800"/>
          </a:xfrm>
          <a:prstGeom prst="roundRect">
            <a:avLst>
              <a:gd name="adj" fmla="val 133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6492240" y="208483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CERTIFICADO DE ENTREGA (95 SUBSISTEMAS)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6492240" y="2468880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0" name="Shape 6"/>
          <p:cNvSpPr/>
          <p:nvPr/>
        </p:nvSpPr>
        <p:spPr>
          <a:xfrm>
            <a:off x="6601968" y="2642616"/>
            <a:ext cx="219456" cy="219456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11" name="Text 7"/>
          <p:cNvSpPr/>
          <p:nvPr/>
        </p:nvSpPr>
        <p:spPr>
          <a:xfrm>
            <a:off x="6931152" y="24688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Aprobada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9509760" y="246888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26,3%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10561320" y="246888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</a:t>
            </a:r>
            <a:endParaRPr lang="en-US" sz="2200" dirty="0"/>
          </a:p>
        </p:txBody>
      </p:sp>
      <p:sp>
        <p:nvSpPr>
          <p:cNvPr id="14" name="Shape 10"/>
          <p:cNvSpPr/>
          <p:nvPr/>
        </p:nvSpPr>
        <p:spPr>
          <a:xfrm>
            <a:off x="6492240" y="3090672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5" name="Shape 11"/>
          <p:cNvSpPr/>
          <p:nvPr/>
        </p:nvSpPr>
        <p:spPr>
          <a:xfrm>
            <a:off x="6601968" y="3264408"/>
            <a:ext cx="219456" cy="219456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6" name="Text 12"/>
          <p:cNvSpPr/>
          <p:nvPr/>
        </p:nvSpPr>
        <p:spPr>
          <a:xfrm>
            <a:off x="6931152" y="309067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revisión del cliente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9509760" y="309067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11,6%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10561320" y="3090672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2200" dirty="0"/>
          </a:p>
        </p:txBody>
      </p:sp>
      <p:sp>
        <p:nvSpPr>
          <p:cNvPr id="19" name="Shape 15"/>
          <p:cNvSpPr/>
          <p:nvPr/>
        </p:nvSpPr>
        <p:spPr>
          <a:xfrm>
            <a:off x="6492240" y="3712464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0" name="Shape 16"/>
          <p:cNvSpPr/>
          <p:nvPr/>
        </p:nvSpPr>
        <p:spPr>
          <a:xfrm>
            <a:off x="6601968" y="3886200"/>
            <a:ext cx="219456" cy="219456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1" name="Text 17"/>
          <p:cNvSpPr/>
          <p:nvPr/>
        </p:nvSpPr>
        <p:spPr>
          <a:xfrm>
            <a:off x="6931152" y="371246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Rechazada</a:t>
            </a:r>
            <a:endParaRPr lang="en-US" sz="1250" dirty="0"/>
          </a:p>
        </p:txBody>
      </p:sp>
      <p:sp>
        <p:nvSpPr>
          <p:cNvPr id="22" name="Text 18"/>
          <p:cNvSpPr/>
          <p:nvPr/>
        </p:nvSpPr>
        <p:spPr>
          <a:xfrm>
            <a:off x="9509760" y="371246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5,3%</a:t>
            </a:r>
            <a:endParaRPr lang="en-US" sz="1100" dirty="0"/>
          </a:p>
        </p:txBody>
      </p:sp>
      <p:sp>
        <p:nvSpPr>
          <p:cNvPr id="23" name="Text 19"/>
          <p:cNvSpPr/>
          <p:nvPr/>
        </p:nvSpPr>
        <p:spPr>
          <a:xfrm>
            <a:off x="10561320" y="3712464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200" dirty="0"/>
          </a:p>
        </p:txBody>
      </p:sp>
      <p:sp>
        <p:nvSpPr>
          <p:cNvPr id="24" name="Shape 20"/>
          <p:cNvSpPr/>
          <p:nvPr/>
        </p:nvSpPr>
        <p:spPr>
          <a:xfrm>
            <a:off x="6492240" y="4334256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5" name="Shape 21"/>
          <p:cNvSpPr/>
          <p:nvPr/>
        </p:nvSpPr>
        <p:spPr>
          <a:xfrm>
            <a:off x="6601968" y="4507992"/>
            <a:ext cx="219456" cy="219456"/>
          </a:xfrm>
          <a:prstGeom prst="ellipse">
            <a:avLst/>
          </a:prstGeom>
          <a:solidFill>
            <a:srgbClr val="E0A32E"/>
          </a:solidFill>
          <a:ln/>
        </p:spPr>
      </p:sp>
      <p:sp>
        <p:nvSpPr>
          <p:cNvPr id="26" name="Text 22"/>
          <p:cNvSpPr/>
          <p:nvPr/>
        </p:nvSpPr>
        <p:spPr>
          <a:xfrm>
            <a:off x="6931152" y="433425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preparación (interna)</a:t>
            </a:r>
            <a:endParaRPr lang="en-US" sz="1250" dirty="0"/>
          </a:p>
        </p:txBody>
      </p:sp>
      <p:sp>
        <p:nvSpPr>
          <p:cNvPr id="27" name="Text 23"/>
          <p:cNvSpPr/>
          <p:nvPr/>
        </p:nvSpPr>
        <p:spPr>
          <a:xfrm>
            <a:off x="9509760" y="433425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12,6%</a:t>
            </a:r>
            <a:endParaRPr lang="en-US" sz="1100" dirty="0"/>
          </a:p>
        </p:txBody>
      </p:sp>
      <p:sp>
        <p:nvSpPr>
          <p:cNvPr id="28" name="Text 24"/>
          <p:cNvSpPr/>
          <p:nvPr/>
        </p:nvSpPr>
        <p:spPr>
          <a:xfrm>
            <a:off x="10561320" y="4334256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2200" dirty="0"/>
          </a:p>
        </p:txBody>
      </p:sp>
      <p:sp>
        <p:nvSpPr>
          <p:cNvPr id="29" name="Shape 25"/>
          <p:cNvSpPr/>
          <p:nvPr/>
        </p:nvSpPr>
        <p:spPr>
          <a:xfrm>
            <a:off x="6492240" y="4956048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30" name="Shape 26"/>
          <p:cNvSpPr/>
          <p:nvPr/>
        </p:nvSpPr>
        <p:spPr>
          <a:xfrm>
            <a:off x="6601968" y="5129784"/>
            <a:ext cx="219456" cy="219456"/>
          </a:xfrm>
          <a:prstGeom prst="ellipse">
            <a:avLst/>
          </a:prstGeom>
          <a:solidFill>
            <a:srgbClr val="6E8CA8"/>
          </a:solidFill>
          <a:ln/>
        </p:spPr>
      </p:sp>
      <p:sp>
        <p:nvSpPr>
          <p:cNvPr id="31" name="Text 27"/>
          <p:cNvSpPr/>
          <p:nvPr/>
        </p:nvSpPr>
        <p:spPr>
          <a:xfrm>
            <a:off x="6931152" y="495604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entregar</a:t>
            </a:r>
            <a:endParaRPr lang="en-US" sz="1250" dirty="0"/>
          </a:p>
        </p:txBody>
      </p:sp>
      <p:sp>
        <p:nvSpPr>
          <p:cNvPr id="32" name="Text 28"/>
          <p:cNvSpPr/>
          <p:nvPr/>
        </p:nvSpPr>
        <p:spPr>
          <a:xfrm>
            <a:off x="9509760" y="495604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44,2%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10561320" y="4956048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6E8C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</a:t>
            </a:r>
            <a:endParaRPr lang="en-US" sz="2200" dirty="0"/>
          </a:p>
        </p:txBody>
      </p:sp>
      <p:sp>
        <p:nvSpPr>
          <p:cNvPr id="34" name="Text 30"/>
          <p:cNvSpPr/>
          <p:nvPr/>
        </p:nvSpPr>
        <p:spPr>
          <a:xfrm>
            <a:off x="6492240" y="559612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 carpetas ya están en manos del cliente (43,2%) y 29 subsistemas tienen tarjeta verde. El grueso del pendiente todavía no sale de Besalco.</a:t>
            </a:r>
            <a:endParaRPr lang="en-US" sz="1000" dirty="0"/>
          </a:p>
        </p:txBody>
      </p:sp>
      <p:sp>
        <p:nvSpPr>
          <p:cNvPr id="35" name="Text 31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11-08-2026 · Atrasos al 17-08-2026</a:t>
            </a:r>
            <a:endParaRPr lang="en-US" sz="850" dirty="0"/>
          </a:p>
        </p:txBody>
      </p:sp>
      <p:sp>
        <p:nvSpPr>
          <p:cNvPr id="36" name="Text 32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37" name="Text 33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FRENTE 3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Punch list en condición P1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904 P1 levantados; 73,8% cerrados. Atrasado = ítem abierto cuya fecha requerida de cierre ya venció al 17-08-2026.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70408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80960" y="1874520"/>
            <a:ext cx="4050792" cy="4114800"/>
          </a:xfrm>
          <a:prstGeom prst="roundRect">
            <a:avLst>
              <a:gd name="adj" fmla="val 1354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36992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GLOBAL P1</a:t>
            </a:r>
            <a:endParaRPr lang="en-US" sz="1100" dirty="0"/>
          </a:p>
        </p:txBody>
      </p:sp>
      <p:graphicFrame>
        <p:nvGraphicFramePr>
          <p:cNvPr id="9" name="Chart 1" descr=""/>
          <p:cNvGraphicFramePr/>
          <p:nvPr/>
        </p:nvGraphicFramePr>
        <p:xfrm>
          <a:off x="7772400" y="2331720"/>
          <a:ext cx="201168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 5"/>
          <p:cNvSpPr/>
          <p:nvPr/>
        </p:nvSpPr>
        <p:spPr>
          <a:xfrm>
            <a:off x="7772400" y="2999232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73,8%</a:t>
            </a:r>
            <a:endParaRPr lang="en-US" sz="19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DCE6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cerrado</a:t>
            </a:r>
            <a:endParaRPr lang="en-US" sz="1900" dirty="0"/>
          </a:p>
        </p:txBody>
      </p:sp>
      <p:sp>
        <p:nvSpPr>
          <p:cNvPr id="11" name="Shape 6"/>
          <p:cNvSpPr/>
          <p:nvPr/>
        </p:nvSpPr>
        <p:spPr>
          <a:xfrm>
            <a:off x="10012680" y="2505456"/>
            <a:ext cx="182880" cy="182880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12" name="Text 7"/>
          <p:cNvSpPr/>
          <p:nvPr/>
        </p:nvSpPr>
        <p:spPr>
          <a:xfrm>
            <a:off x="10241280" y="242316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1050" dirty="0"/>
          </a:p>
        </p:txBody>
      </p:sp>
      <p:sp>
        <p:nvSpPr>
          <p:cNvPr id="13" name="Text 8"/>
          <p:cNvSpPr/>
          <p:nvPr/>
        </p:nvSpPr>
        <p:spPr>
          <a:xfrm>
            <a:off x="10241280" y="267004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667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10012680" y="3072384"/>
            <a:ext cx="182880" cy="18288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5" name="Text 10"/>
          <p:cNvSpPr/>
          <p:nvPr/>
        </p:nvSpPr>
        <p:spPr>
          <a:xfrm>
            <a:off x="10241280" y="2990088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Atrasados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10241280" y="323697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10012680" y="3639312"/>
            <a:ext cx="182880" cy="182880"/>
          </a:xfrm>
          <a:prstGeom prst="ellipse">
            <a:avLst/>
          </a:prstGeom>
          <a:solidFill>
            <a:srgbClr val="E3A55B"/>
          </a:solidFill>
          <a:ln/>
        </p:spPr>
      </p:sp>
      <p:sp>
        <p:nvSpPr>
          <p:cNvPr id="18" name="Text 13"/>
          <p:cNvSpPr/>
          <p:nvPr/>
        </p:nvSpPr>
        <p:spPr>
          <a:xfrm>
            <a:off x="10241280" y="3557016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 en plazo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10241280" y="380390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163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7936992" y="452628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7936992" y="4663440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Antigüedad del atraso
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43 días vencidos; el más antiguo lleva 99. 145 entre 31-90 días, 15 entre 91-180 días.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11-08-2026 · Atrasos al 17-08-2026</a:t>
            </a:r>
            <a:endParaRPr lang="en-US" sz="850" dirty="0"/>
          </a:p>
        </p:txBody>
      </p:sp>
      <p:sp>
        <p:nvSpPr>
          <p:cNvPr id="23" name="Text 1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24" name="Text 1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Recuperar los 160 ítems atrasados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37,8% de los 423 abiertos ya venció su fecha requerida. Foco en Eléctrica (52), Piping (5), Obras Civiles (7).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las 37 caminatas de Operables pendientes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Caminata 2 va en 53,8% (43/80). Sin caminata no se levanta el punch final ni se habilita la entrega de la carpeta.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Sacar del armado interno las 54 carpetas retenidas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están en preparación y 42 sin iniciar. Solo 41 de 95 (43,2%) llegaron al cliente; 5 volvieron rechazadas y hay que rearmarlas.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Atender la zona Desaladora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 181 P1 abiertos y 42 atrasados sobre 74 subsistemas. Es la ruta crítica del proyecto.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11-08-2026 · Atrasos al 17-08-2026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02 · P2407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Talabre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Captación de agua, pozos y estaciones de bombeo · CODELCO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4600029355 · 218 subsistemas en 9 áreas · 2.057 detalles de terminación levantados.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99,5%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· exigible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99,5%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· exigible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92,8%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PEC promedio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84,3%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DT P1+P2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Atrasos calculados al 10-08-2026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2.057 DT · Atrasos al 10-08-2026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tres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99,5%</a:t>
            </a:r>
            <a:endParaRPr lang="en-US" sz="38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207/208 exigibles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31520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realizada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95% del universo · 10 programadas en plazo · 1 sin programar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99,5%</a:t>
            </a:r>
            <a:endParaRPr lang="en-US" sz="38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194/195 exigibles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3593592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realizada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89% del universo · 23 programadas en plazo · 1 sin programar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92,8%</a:t>
            </a:r>
            <a:endParaRPr lang="en-US" sz="38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181/218 sobre 95%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6455664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PEC de carpetas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subsistemas bajo 80% de avance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87,5%</a:t>
            </a:r>
            <a:endParaRPr lang="en-US" sz="38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329/376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9317736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DT P1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 abiertos · 22 atrasados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457200" y="3950208"/>
            <a:ext cx="11274552" cy="2212848"/>
          </a:xfrm>
          <a:prstGeom prst="roundRect">
            <a:avLst>
              <a:gd name="adj" fmla="val 2479"/>
            </a:avLst>
          </a:prstGeom>
          <a:solidFill>
            <a:srgbClr val="12233B"/>
          </a:solidFill>
          <a:ln/>
        </p:spPr>
      </p:sp>
      <p:sp>
        <p:nvSpPr>
          <p:cNvPr id="30" name="Text 27"/>
          <p:cNvSpPr/>
          <p:nvPr/>
        </p:nvSpPr>
        <p:spPr>
          <a:xfrm>
            <a:off x="777240" y="4114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22960" y="449884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2" name="Text 29"/>
          <p:cNvSpPr/>
          <p:nvPr/>
        </p:nvSpPr>
        <p:spPr>
          <a:xfrm>
            <a:off x="1051560" y="439826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está prácticamente cerrado; el volumen pendiente está en las prioridades menores.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87,5% de cierre en P1 (47 abiertos), pero 451 DT abiertos entre P2, P3 y P4 sobre un total de 498.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822960" y="4919472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4" name="Text 31"/>
          <p:cNvSpPr/>
          <p:nvPr/>
        </p:nvSpPr>
        <p:spPr>
          <a:xfrm>
            <a:off x="1051560" y="481888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atraso es más antiguo que el de los otros proyectos.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239 DT con la fecha de compromiso vencida; mediana de 13 días y el más antiguo lleva 144. Los 218 abiertos sin fecha de compromiso no se cuentan como atrasados.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822960" y="5340096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6" name="Text 33"/>
          <p:cNvSpPr/>
          <p:nvPr/>
        </p:nvSpPr>
        <p:spPr>
          <a:xfrm>
            <a:off x="1051560" y="523951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Caminatas: 99,5% y 99,5% de lo exigible (C1 y C2).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1: 207/208 exigibles. Caminata 2: 194/195, con 23 agendadas en plazo y 1 sin programar.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822960" y="5760720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8" name="Text 35"/>
          <p:cNvSpPr/>
          <p:nvPr/>
        </p:nvSpPr>
        <p:spPr>
          <a:xfrm>
            <a:off x="1051560" y="566013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carpetas avanzan bien salvo un grupo acotado.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promedio 92,8%: 181 subsistemas sobre 95% y solo 8 bajo 80%.</a:t>
            </a:r>
            <a:endParaRPr lang="en-US" sz="1150" dirty="0"/>
          </a:p>
        </p:txBody>
      </p:sp>
      <p:sp>
        <p:nvSpPr>
          <p:cNvPr id="39" name="Text 3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2.057 DT · Atrasos al 10-08-2026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FRENTES 1 Y 2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Caminatas y avance de carpetas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2: 99,5% de lo exigible (194/195) — se descuentan 23 agendadas a fecha futura, que no son incumplimiento al corte. Talabre mide la carpeta como % de avance (PEC), no como estado de aprobación.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585216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7" name="Chart 1" descr=""/>
          <p:cNvGraphicFramePr/>
          <p:nvPr/>
        </p:nvGraphicFramePr>
        <p:xfrm>
          <a:off x="6446520" y="1874520"/>
          <a:ext cx="5285232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2.057 DT · Atrasos al 10-08-2026</a:t>
            </a:r>
            <a:endParaRPr lang="en-US" sz="850" dirty="0"/>
          </a:p>
        </p:txBody>
      </p:sp>
      <p:sp>
        <p:nvSpPr>
          <p:cNvPr id="9" name="Text 4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10" name="Text 5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FRENTE 3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Detalles de terminación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2.057 DT levantados; 75,8% cerrados. Atrasado = DT abierto cuya fecha de compromiso de cierre ya venció al 10-08-2026.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70408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80960" y="1874520"/>
            <a:ext cx="4050792" cy="4114800"/>
          </a:xfrm>
          <a:prstGeom prst="roundRect">
            <a:avLst>
              <a:gd name="adj" fmla="val 1354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36992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POR PRIORIDAD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7936992" y="243230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1150" dirty="0"/>
          </a:p>
        </p:txBody>
      </p:sp>
      <p:sp>
        <p:nvSpPr>
          <p:cNvPr id="10" name="Text 6"/>
          <p:cNvSpPr/>
          <p:nvPr/>
        </p:nvSpPr>
        <p:spPr>
          <a:xfrm>
            <a:off x="8778240" y="2432304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329/376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10287000" y="2432304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87,5%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7936992" y="2688336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13" name="Shape 9"/>
          <p:cNvSpPr/>
          <p:nvPr/>
        </p:nvSpPr>
        <p:spPr>
          <a:xfrm>
            <a:off x="7936992" y="2688336"/>
            <a:ext cx="3120390" cy="118872"/>
          </a:xfrm>
          <a:prstGeom prst="rect">
            <a:avLst/>
          </a:prstGeom>
          <a:solidFill>
            <a:srgbClr val="E3A55B"/>
          </a:solidFill>
          <a:ln/>
        </p:spPr>
      </p:sp>
      <p:sp>
        <p:nvSpPr>
          <p:cNvPr id="14" name="Text 10"/>
          <p:cNvSpPr/>
          <p:nvPr/>
        </p:nvSpPr>
        <p:spPr>
          <a:xfrm>
            <a:off x="7936992" y="294436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</a:t>
            </a:r>
            <a:endParaRPr lang="en-US" sz="1150" dirty="0"/>
          </a:p>
        </p:txBody>
      </p:sp>
      <p:sp>
        <p:nvSpPr>
          <p:cNvPr id="15" name="Text 11"/>
          <p:cNvSpPr/>
          <p:nvPr/>
        </p:nvSpPr>
        <p:spPr>
          <a:xfrm>
            <a:off x="8778240" y="2944368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1.153/1.383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10287000" y="2944368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83,4%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7936992" y="3200400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18" name="Shape 14"/>
          <p:cNvSpPr/>
          <p:nvPr/>
        </p:nvSpPr>
        <p:spPr>
          <a:xfrm>
            <a:off x="7936992" y="3200400"/>
            <a:ext cx="2974177" cy="118872"/>
          </a:xfrm>
          <a:prstGeom prst="rect">
            <a:avLst/>
          </a:prstGeom>
          <a:solidFill>
            <a:srgbClr val="E3A55B"/>
          </a:solidFill>
          <a:ln/>
        </p:spPr>
      </p:sp>
      <p:sp>
        <p:nvSpPr>
          <p:cNvPr id="19" name="Text 15"/>
          <p:cNvSpPr/>
          <p:nvPr/>
        </p:nvSpPr>
        <p:spPr>
          <a:xfrm>
            <a:off x="7936992" y="345643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</a:t>
            </a:r>
            <a:endParaRPr lang="en-US" sz="1150" dirty="0"/>
          </a:p>
        </p:txBody>
      </p:sp>
      <p:sp>
        <p:nvSpPr>
          <p:cNvPr id="20" name="Text 16"/>
          <p:cNvSpPr/>
          <p:nvPr/>
        </p:nvSpPr>
        <p:spPr>
          <a:xfrm>
            <a:off x="8778240" y="3456432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68/239</a:t>
            </a:r>
            <a:endParaRPr lang="en-US" sz="1050" dirty="0"/>
          </a:p>
        </p:txBody>
      </p:sp>
      <p:sp>
        <p:nvSpPr>
          <p:cNvPr id="21" name="Text 17"/>
          <p:cNvSpPr/>
          <p:nvPr/>
        </p:nvSpPr>
        <p:spPr>
          <a:xfrm>
            <a:off x="10287000" y="3456432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28,5%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7936992" y="3712464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23" name="Shape 19"/>
          <p:cNvSpPr/>
          <p:nvPr/>
        </p:nvSpPr>
        <p:spPr>
          <a:xfrm>
            <a:off x="7936992" y="3712464"/>
            <a:ext cx="1016356" cy="11887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4" name="Text 20"/>
          <p:cNvSpPr/>
          <p:nvPr/>
        </p:nvSpPr>
        <p:spPr>
          <a:xfrm>
            <a:off x="7936992" y="396849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P4</a:t>
            </a:r>
            <a:endParaRPr lang="en-US" sz="1150" dirty="0"/>
          </a:p>
        </p:txBody>
      </p:sp>
      <p:sp>
        <p:nvSpPr>
          <p:cNvPr id="25" name="Text 21"/>
          <p:cNvSpPr/>
          <p:nvPr/>
        </p:nvSpPr>
        <p:spPr>
          <a:xfrm>
            <a:off x="8778240" y="396849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0/50</a:t>
            </a:r>
            <a:endParaRPr lang="en-US" sz="1050" dirty="0"/>
          </a:p>
        </p:txBody>
      </p:sp>
      <p:sp>
        <p:nvSpPr>
          <p:cNvPr id="26" name="Text 22"/>
          <p:cNvSpPr/>
          <p:nvPr/>
        </p:nvSpPr>
        <p:spPr>
          <a:xfrm>
            <a:off x="10287000" y="3968496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7936992" y="4224528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28" name="Text 24"/>
          <p:cNvSpPr/>
          <p:nvPr/>
        </p:nvSpPr>
        <p:spPr>
          <a:xfrm>
            <a:off x="7936992" y="448056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150" dirty="0"/>
          </a:p>
        </p:txBody>
      </p:sp>
      <p:sp>
        <p:nvSpPr>
          <p:cNvPr id="29" name="Text 25"/>
          <p:cNvSpPr/>
          <p:nvPr/>
        </p:nvSpPr>
        <p:spPr>
          <a:xfrm>
            <a:off x="8778240" y="4480560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9/9</a:t>
            </a:r>
            <a:endParaRPr lang="en-US" sz="1050" dirty="0"/>
          </a:p>
        </p:txBody>
      </p:sp>
      <p:sp>
        <p:nvSpPr>
          <p:cNvPr id="30" name="Text 26"/>
          <p:cNvSpPr/>
          <p:nvPr/>
        </p:nvSpPr>
        <p:spPr>
          <a:xfrm>
            <a:off x="10287000" y="4480560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100" dirty="0"/>
          </a:p>
        </p:txBody>
      </p:sp>
      <p:sp>
        <p:nvSpPr>
          <p:cNvPr id="31" name="Shape 27"/>
          <p:cNvSpPr/>
          <p:nvPr/>
        </p:nvSpPr>
        <p:spPr>
          <a:xfrm>
            <a:off x="7936992" y="4736592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32" name="Shape 28"/>
          <p:cNvSpPr/>
          <p:nvPr/>
        </p:nvSpPr>
        <p:spPr>
          <a:xfrm>
            <a:off x="7936992" y="4736592"/>
            <a:ext cx="3566160" cy="118872"/>
          </a:xfrm>
          <a:prstGeom prst="rect">
            <a:avLst/>
          </a:prstGeom>
          <a:solidFill>
            <a:srgbClr val="2E9E5B"/>
          </a:solidFill>
          <a:ln/>
        </p:spPr>
      </p:sp>
      <p:sp>
        <p:nvSpPr>
          <p:cNvPr id="33" name="Shape 29"/>
          <p:cNvSpPr/>
          <p:nvPr/>
        </p:nvSpPr>
        <p:spPr>
          <a:xfrm>
            <a:off x="7936992" y="502920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7936992" y="5138928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Antigüedad del atraso
</a:t>
            </a:r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13 días vencidos; el más antiguo lleva 144. 157 entre 1-30 días, 61 entre 31-90 días, 21 entre 91-180 días.</a:t>
            </a:r>
            <a:endParaRPr lang="en-US" sz="1150" dirty="0"/>
          </a:p>
        </p:txBody>
      </p:sp>
      <p:sp>
        <p:nvSpPr>
          <p:cNvPr id="35" name="Text 31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2.057 DT · Atrasos al 10-08-2026</a:t>
            </a:r>
            <a:endParaRPr lang="en-US" sz="850" dirty="0"/>
          </a:p>
        </p:txBody>
      </p:sp>
      <p:sp>
        <p:nvSpPr>
          <p:cNvPr id="36" name="Text 32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37" name="Text 33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Recuperar los 239 DT atrasados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214 son P2 y 22 son P1. La mediana de atraso es de 13 días y 21 superan los 90 días.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la caminata 2 en CERRO VERDE/PS2 y PISCINAS Y SEDIMENTADOR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CERRO VERDE/PS2: 0/3 (0%) · PISCINAS Y SEDIMENTADOR: 6/22 (27,3%). A nivel proyecto la caminata 2 va 89% con 23 ya agendadas.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Destrabar P4: 50 abiertos y ninguno cerrado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50 DT levantados en P4 no se ha cerrado ninguno (0%). P3 tampoco despega: 28,5% de cierre.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Atender POZOS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 161 de los 498 DT abiertos (32,3%), con 55 atrasados. Además hay 8 carpetas bajo 80% de avance que conviene cerrar en paralelo.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2.057 DT · Atrasos al 10-08-2026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03 · P2342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Arqueros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Electromecánico Planta Concentradora y de Espesado · MASA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200400"/>
            <a:ext cx="8778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135 subsistemas en 4 áreas (2000 · 3000 · 4000 · 8000) · 2.963 detalles de terminación levantados.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Estatus de armado y entrega de carpetas TOP · avance de caminatas 80% / 100% · detalles de construcción en condición P1.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80%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100%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20%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TOP entregadas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58%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detalles P1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10-08-2026   ·   Corte anterior: 26-07-2026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10-08-2026 · Áreas 2000/3000/4000/8000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tres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135/135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80% realizadas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 cerrado en las 4 áreas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90/135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100% realizadas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 próximas · 1 por programar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3593592" y="355701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sin cambio vs. corte anterior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6181344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20" name="Text 17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20%</a:t>
            </a:r>
            <a:endParaRPr lang="en-US" sz="4000" dirty="0"/>
          </a:p>
        </p:txBody>
      </p:sp>
      <p:sp>
        <p:nvSpPr>
          <p:cNvPr id="21" name="Text 18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27/135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TOP entregadas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6455664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aprobadas · 12 rechazadas · 14 en revisión · 1 observadas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6455664" y="355701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sin cambio vs. corte anterior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9043416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7" name="Text 24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58%</a:t>
            </a:r>
            <a:endParaRPr lang="en-US" sz="4000" dirty="0"/>
          </a:p>
        </p:txBody>
      </p:sp>
      <p:sp>
        <p:nvSpPr>
          <p:cNvPr id="28" name="Text 25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1.154/1.988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detalles P1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9317736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828 abiertos · 667 vencidos · 6 en trámite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9317736" y="355701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+6 vs. corte anterior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457200" y="4041648"/>
            <a:ext cx="11274552" cy="2103120"/>
          </a:xfrm>
          <a:prstGeom prst="roundRect">
            <a:avLst>
              <a:gd name="adj" fmla="val 2609"/>
            </a:avLst>
          </a:prstGeom>
          <a:solidFill>
            <a:srgbClr val="12233B"/>
          </a:solidFill>
          <a:ln/>
        </p:spPr>
      </p:sp>
      <p:sp>
        <p:nvSpPr>
          <p:cNvPr id="33" name="Text 30"/>
          <p:cNvSpPr/>
          <p:nvPr/>
        </p:nvSpPr>
        <p:spPr>
          <a:xfrm>
            <a:off x="777240" y="4206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822960" y="459028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5" name="Text 32"/>
          <p:cNvSpPr/>
          <p:nvPr/>
        </p:nvSpPr>
        <p:spPr>
          <a:xfrm>
            <a:off x="1051560" y="4489704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de caminatas al 100%.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de 135 realizadas (66,7%); 44 próximas y 1 por programar.</a:t>
            </a:r>
            <a:endParaRPr lang="en-US" sz="1250" dirty="0"/>
          </a:p>
        </p:txBody>
      </p:sp>
      <p:sp>
        <p:nvSpPr>
          <p:cNvPr id="36" name="Shape 33"/>
          <p:cNvSpPr/>
          <p:nvPr/>
        </p:nvSpPr>
        <p:spPr>
          <a:xfrm>
            <a:off x="822960" y="5102352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7" name="Text 34"/>
          <p:cNvSpPr/>
          <p:nvPr/>
        </p:nvSpPr>
        <p:spPr>
          <a:xfrm>
            <a:off x="1051560" y="5001768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carpetas TOP siguen sin aprobaciones.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entregadas de 135 (20%) y 0 aprobadas; 12 rechazadas.</a:t>
            </a:r>
            <a:endParaRPr lang="en-US" sz="1250" dirty="0"/>
          </a:p>
        </p:txBody>
      </p:sp>
      <p:sp>
        <p:nvSpPr>
          <p:cNvPr id="38" name="Shape 35"/>
          <p:cNvSpPr/>
          <p:nvPr/>
        </p:nvSpPr>
        <p:spPr>
          <a:xfrm>
            <a:off x="822960" y="5614416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9" name="Text 36"/>
          <p:cNvSpPr/>
          <p:nvPr/>
        </p:nvSpPr>
        <p:spPr>
          <a:xfrm>
            <a:off x="1051560" y="5513832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cierre de detalles P1 está prácticamente detenido y crece la deuda vencida.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 P1 cerrado desde el corte anterior; 828 abiertos, de los cuales 667 superaron su fecha de vencimiento (+262 en el período). El área 3000 concentra 705 (85,1%).</a:t>
            </a:r>
            <a:endParaRPr lang="en-US" sz="1250" dirty="0"/>
          </a:p>
        </p:txBody>
      </p:sp>
      <p:sp>
        <p:nvSpPr>
          <p:cNvPr id="40" name="Text 3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10-08-2026 · Áreas 2000/3000/4000/8000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42" name="Text 3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ESTADO POR ÁREA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Semáforo integrado de los tres frentes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02920" y="157276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3474720" y="157276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SUBSIST.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4434840" y="157276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100%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6035040" y="157276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ENTREGADAS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7818120" y="157276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P1 % CIERRE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9098280" y="157276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ABIERTOS (VENC.)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10881360" y="157276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502920" y="1883664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02920" y="20116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2000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502920" y="234086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Chancado (Área Seca)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3474720" y="2139696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4434840" y="2139696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35/35 · 100%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035040" y="213969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18/35 · 51,4%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7818120" y="2139696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92,8%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9098280" y="213969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 (27)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10863072" y="2121408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/>
        </p:spPr>
      </p:sp>
      <p:sp>
        <p:nvSpPr>
          <p:cNvPr id="21" name="Text 18"/>
          <p:cNvSpPr/>
          <p:nvPr/>
        </p:nvSpPr>
        <p:spPr>
          <a:xfrm>
            <a:off x="10863072" y="213055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día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502920" y="289864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57200" y="2898648"/>
            <a:ext cx="11292840" cy="9326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1"/>
          <p:cNvSpPr/>
          <p:nvPr/>
        </p:nvSpPr>
        <p:spPr>
          <a:xfrm>
            <a:off x="502920" y="294436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3000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502920" y="327355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Molienda–Flotación (Área Húmeda)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3474720" y="3072384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4434840" y="3072384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35/76 · 46,1%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6035040" y="307238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8/76 · 10,5%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7818120" y="3072384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32,6%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9098280" y="307238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705 (598)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10863072" y="3054096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32" name="Text 29"/>
          <p:cNvSpPr/>
          <p:nvPr/>
        </p:nvSpPr>
        <p:spPr>
          <a:xfrm>
            <a:off x="10863072" y="30632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502920" y="383133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02920" y="3877056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4000</a:t>
            </a:r>
            <a:endParaRPr lang="en-US" sz="1500" dirty="0"/>
          </a:p>
        </p:txBody>
      </p:sp>
      <p:sp>
        <p:nvSpPr>
          <p:cNvPr id="35" name="Text 32"/>
          <p:cNvSpPr/>
          <p:nvPr/>
        </p:nvSpPr>
        <p:spPr>
          <a:xfrm>
            <a:off x="502920" y="42062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Espesamiento y Relaves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3474720" y="400507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4434840" y="4005072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19/22 · 86,4%</a:t>
            </a:r>
            <a:endParaRPr lang="en-US" sz="1300" dirty="0"/>
          </a:p>
        </p:txBody>
      </p:sp>
      <p:sp>
        <p:nvSpPr>
          <p:cNvPr id="38" name="Text 35"/>
          <p:cNvSpPr/>
          <p:nvPr/>
        </p:nvSpPr>
        <p:spPr>
          <a:xfrm>
            <a:off x="6035040" y="400507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1/22 · 4,5%</a:t>
            </a:r>
            <a:endParaRPr lang="en-US" sz="1300" dirty="0"/>
          </a:p>
        </p:txBody>
      </p:sp>
      <p:sp>
        <p:nvSpPr>
          <p:cNvPr id="39" name="Text 36"/>
          <p:cNvSpPr/>
          <p:nvPr/>
        </p:nvSpPr>
        <p:spPr>
          <a:xfrm>
            <a:off x="7818120" y="4005072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76,2%</a:t>
            </a:r>
            <a:endParaRPr lang="en-US" sz="1300" dirty="0"/>
          </a:p>
        </p:txBody>
      </p:sp>
      <p:sp>
        <p:nvSpPr>
          <p:cNvPr id="40" name="Text 37"/>
          <p:cNvSpPr/>
          <p:nvPr/>
        </p:nvSpPr>
        <p:spPr>
          <a:xfrm>
            <a:off x="9098280" y="400507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 (41)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10863072" y="3986784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E0A32E"/>
          </a:solidFill>
          <a:ln/>
        </p:spPr>
      </p:sp>
      <p:sp>
        <p:nvSpPr>
          <p:cNvPr id="42" name="Text 39"/>
          <p:cNvSpPr/>
          <p:nvPr/>
        </p:nvSpPr>
        <p:spPr>
          <a:xfrm>
            <a:off x="10863072" y="39959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Atención</a:t>
            </a:r>
            <a:endParaRPr lang="en-US" sz="1050" dirty="0"/>
          </a:p>
        </p:txBody>
      </p:sp>
      <p:sp>
        <p:nvSpPr>
          <p:cNvPr id="43" name="Shape 40"/>
          <p:cNvSpPr/>
          <p:nvPr/>
        </p:nvSpPr>
        <p:spPr>
          <a:xfrm>
            <a:off x="502920" y="476402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457200" y="4764024"/>
            <a:ext cx="11292840" cy="9326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5" name="Text 42"/>
          <p:cNvSpPr/>
          <p:nvPr/>
        </p:nvSpPr>
        <p:spPr>
          <a:xfrm>
            <a:off x="502920" y="4809744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8000</a:t>
            </a:r>
            <a:endParaRPr lang="en-US" sz="1500" dirty="0"/>
          </a:p>
        </p:txBody>
      </p:sp>
      <p:sp>
        <p:nvSpPr>
          <p:cNvPr id="46" name="Text 43"/>
          <p:cNvSpPr/>
          <p:nvPr/>
        </p:nvSpPr>
        <p:spPr>
          <a:xfrm>
            <a:off x="502920" y="513892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Salas de Control</a:t>
            </a:r>
            <a:endParaRPr lang="en-US" sz="1000" dirty="0"/>
          </a:p>
        </p:txBody>
      </p:sp>
      <p:sp>
        <p:nvSpPr>
          <p:cNvPr id="47" name="Text 44"/>
          <p:cNvSpPr/>
          <p:nvPr/>
        </p:nvSpPr>
        <p:spPr>
          <a:xfrm>
            <a:off x="3474720" y="493776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48" name="Text 45"/>
          <p:cNvSpPr/>
          <p:nvPr/>
        </p:nvSpPr>
        <p:spPr>
          <a:xfrm>
            <a:off x="4434840" y="493776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1/2 · 50%</a:t>
            </a:r>
            <a:endParaRPr lang="en-US" sz="1300" dirty="0"/>
          </a:p>
        </p:txBody>
      </p:sp>
      <p:sp>
        <p:nvSpPr>
          <p:cNvPr id="49" name="Text 46"/>
          <p:cNvSpPr/>
          <p:nvPr/>
        </p:nvSpPr>
        <p:spPr>
          <a:xfrm>
            <a:off x="6035040" y="49377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0/2 · 0%</a:t>
            </a:r>
            <a:endParaRPr lang="en-US" sz="1300" dirty="0"/>
          </a:p>
        </p:txBody>
      </p:sp>
      <p:sp>
        <p:nvSpPr>
          <p:cNvPr id="50" name="Text 47"/>
          <p:cNvSpPr/>
          <p:nvPr/>
        </p:nvSpPr>
        <p:spPr>
          <a:xfrm>
            <a:off x="7818120" y="49377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91,7%</a:t>
            </a:r>
            <a:endParaRPr lang="en-US" sz="1300" dirty="0"/>
          </a:p>
        </p:txBody>
      </p:sp>
      <p:sp>
        <p:nvSpPr>
          <p:cNvPr id="51" name="Text 48"/>
          <p:cNvSpPr/>
          <p:nvPr/>
        </p:nvSpPr>
        <p:spPr>
          <a:xfrm>
            <a:off x="9098280" y="49377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(1)</a:t>
            </a:r>
            <a:endParaRPr lang="en-US" sz="1300" dirty="0"/>
          </a:p>
        </p:txBody>
      </p:sp>
      <p:sp>
        <p:nvSpPr>
          <p:cNvPr id="52" name="Shape 49"/>
          <p:cNvSpPr/>
          <p:nvPr/>
        </p:nvSpPr>
        <p:spPr>
          <a:xfrm>
            <a:off x="10863072" y="4919472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53" name="Text 50"/>
          <p:cNvSpPr/>
          <p:nvPr/>
        </p:nvSpPr>
        <p:spPr>
          <a:xfrm>
            <a:off x="10863072" y="4928616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</a:t>
            </a:r>
            <a:endParaRPr lang="en-US" sz="1050" dirty="0"/>
          </a:p>
        </p:txBody>
      </p:sp>
      <p:sp>
        <p:nvSpPr>
          <p:cNvPr id="54" name="Shape 51"/>
          <p:cNvSpPr/>
          <p:nvPr/>
        </p:nvSpPr>
        <p:spPr>
          <a:xfrm>
            <a:off x="502920" y="569671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457200" y="594360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 · Crítico: caminata 100% &lt; 60% o cierre P1 &lt; 50%   ·   Atención: algún frente entre 60–90% o carpetas TOP por entregar   ·   Al día: caminatas ≥ 90% y P1 ≥ 90%</a:t>
            </a:r>
            <a:endParaRPr lang="en-US" sz="950" dirty="0"/>
          </a:p>
        </p:txBody>
      </p:sp>
      <p:sp>
        <p:nvSpPr>
          <p:cNvPr id="56" name="Text 53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10-08-2026 · Áreas 2000/3000/4000/8000</a:t>
            </a:r>
            <a:endParaRPr lang="en-US" sz="850" dirty="0"/>
          </a:p>
        </p:txBody>
      </p:sp>
      <p:sp>
        <p:nvSpPr>
          <p:cNvPr id="57" name="Text 54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58" name="Text 55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FRENTE 1 · CAMINATAS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Avance de caminatas 80% y 100%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caminatas al 80% están cerradas en todas las áreas (135/135). El hito 100% avanza a 66,7%, y el área 3000 concentra 41 de los 45 subsistemas pendientes.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69494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35240" y="1874520"/>
            <a:ext cx="4096512" cy="4114800"/>
          </a:xfrm>
          <a:prstGeom prst="roundRect">
            <a:avLst>
              <a:gd name="adj" fmla="val 1339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09560" y="21031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HITO 80%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7909560" y="233172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4000" dirty="0"/>
          </a:p>
        </p:txBody>
      </p:sp>
      <p:sp>
        <p:nvSpPr>
          <p:cNvPr id="10" name="Text 6"/>
          <p:cNvSpPr/>
          <p:nvPr/>
        </p:nvSpPr>
        <p:spPr>
          <a:xfrm>
            <a:off x="7909560" y="30358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135 de 135 subsistemas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7909560" y="352044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909560" y="36758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HITO 100%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7909560" y="3904488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4000" dirty="0"/>
          </a:p>
        </p:txBody>
      </p:sp>
      <p:sp>
        <p:nvSpPr>
          <p:cNvPr id="14" name="Text 10"/>
          <p:cNvSpPr/>
          <p:nvPr/>
        </p:nvSpPr>
        <p:spPr>
          <a:xfrm>
            <a:off x="7909560" y="460857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realizadas · 45 pendientes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7909560" y="5074920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Foco: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 próximas a realizar y 1 por programar.</a:t>
            </a:r>
            <a:endParaRPr lang="en-US" sz="1150" dirty="0"/>
          </a:p>
        </p:txBody>
      </p:sp>
      <p:sp>
        <p:nvSpPr>
          <p:cNvPr id="16" name="Text 12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10-08-2026 · Áreas 2000/3000/4000/8000</a:t>
            </a:r>
            <a:endParaRPr lang="en-US" sz="850" dirty="0"/>
          </a:p>
        </p:txBody>
      </p:sp>
      <p:sp>
        <p:nvSpPr>
          <p:cNvPr id="17" name="Text 13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18" name="Text 14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FRENTE 2 · CARPETAS TOP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Estatus de armado y entrega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carpetas entregadas de 135 (20%). Ninguna aprobada aún: el flujo se acumula en revisión y hay 12 rechazos que requieren rearmado.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69494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35240" y="1874520"/>
            <a:ext cx="4096512" cy="4114800"/>
          </a:xfrm>
          <a:prstGeom prst="roundRect">
            <a:avLst>
              <a:gd name="adj" fmla="val 1339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7863840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EMBUDO DE ENTREGA (135)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7863840" y="2450592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0" name="Shape 6"/>
          <p:cNvSpPr/>
          <p:nvPr/>
        </p:nvSpPr>
        <p:spPr>
          <a:xfrm>
            <a:off x="7973568" y="2624328"/>
            <a:ext cx="219456" cy="219456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1" name="Text 7"/>
          <p:cNvSpPr/>
          <p:nvPr/>
        </p:nvSpPr>
        <p:spPr>
          <a:xfrm>
            <a:off x="8302752" y="2450592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Entregadas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10469880" y="2450592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</a:t>
            </a:r>
            <a:endParaRPr lang="en-US" sz="2200" dirty="0"/>
          </a:p>
        </p:txBody>
      </p:sp>
      <p:sp>
        <p:nvSpPr>
          <p:cNvPr id="13" name="Shape 9"/>
          <p:cNvSpPr/>
          <p:nvPr/>
        </p:nvSpPr>
        <p:spPr>
          <a:xfrm>
            <a:off x="7863840" y="3072384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4" name="Shape 10"/>
          <p:cNvSpPr/>
          <p:nvPr/>
        </p:nvSpPr>
        <p:spPr>
          <a:xfrm>
            <a:off x="7973568" y="3246120"/>
            <a:ext cx="219456" cy="219456"/>
          </a:xfrm>
          <a:prstGeom prst="ellipse">
            <a:avLst/>
          </a:prstGeom>
          <a:solidFill>
            <a:srgbClr val="6E8CA8"/>
          </a:solidFill>
          <a:ln/>
        </p:spPr>
      </p:sp>
      <p:sp>
        <p:nvSpPr>
          <p:cNvPr id="15" name="Text 11"/>
          <p:cNvSpPr/>
          <p:nvPr/>
        </p:nvSpPr>
        <p:spPr>
          <a:xfrm>
            <a:off x="8302752" y="3072384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revisión</a:t>
            </a:r>
            <a:endParaRPr lang="en-US" sz="1250" dirty="0"/>
          </a:p>
        </p:txBody>
      </p:sp>
      <p:sp>
        <p:nvSpPr>
          <p:cNvPr id="16" name="Text 12"/>
          <p:cNvSpPr/>
          <p:nvPr/>
        </p:nvSpPr>
        <p:spPr>
          <a:xfrm>
            <a:off x="10469880" y="3072384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6E8C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2200" dirty="0"/>
          </a:p>
        </p:txBody>
      </p:sp>
      <p:sp>
        <p:nvSpPr>
          <p:cNvPr id="17" name="Shape 13"/>
          <p:cNvSpPr/>
          <p:nvPr/>
        </p:nvSpPr>
        <p:spPr>
          <a:xfrm>
            <a:off x="7863840" y="3694176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8" name="Shape 14"/>
          <p:cNvSpPr/>
          <p:nvPr/>
        </p:nvSpPr>
        <p:spPr>
          <a:xfrm>
            <a:off x="7973568" y="3867912"/>
            <a:ext cx="219456" cy="219456"/>
          </a:xfrm>
          <a:prstGeom prst="ellipse">
            <a:avLst/>
          </a:prstGeom>
          <a:solidFill>
            <a:srgbClr val="E0A32E"/>
          </a:solidFill>
          <a:ln/>
        </p:spPr>
      </p:sp>
      <p:sp>
        <p:nvSpPr>
          <p:cNvPr id="19" name="Text 15"/>
          <p:cNvSpPr/>
          <p:nvPr/>
        </p:nvSpPr>
        <p:spPr>
          <a:xfrm>
            <a:off x="8302752" y="3694176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Observadas</a:t>
            </a:r>
            <a:endParaRPr lang="en-US" sz="1250" dirty="0"/>
          </a:p>
        </p:txBody>
      </p:sp>
      <p:sp>
        <p:nvSpPr>
          <p:cNvPr id="20" name="Text 16"/>
          <p:cNvSpPr/>
          <p:nvPr/>
        </p:nvSpPr>
        <p:spPr>
          <a:xfrm>
            <a:off x="10469880" y="3694176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21" name="Shape 17"/>
          <p:cNvSpPr/>
          <p:nvPr/>
        </p:nvSpPr>
        <p:spPr>
          <a:xfrm>
            <a:off x="7863840" y="4315968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2" name="Shape 18"/>
          <p:cNvSpPr/>
          <p:nvPr/>
        </p:nvSpPr>
        <p:spPr>
          <a:xfrm>
            <a:off x="7973568" y="4489704"/>
            <a:ext cx="219456" cy="219456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3" name="Text 19"/>
          <p:cNvSpPr/>
          <p:nvPr/>
        </p:nvSpPr>
        <p:spPr>
          <a:xfrm>
            <a:off x="8302752" y="4315968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Rechazadas</a:t>
            </a:r>
            <a:endParaRPr lang="en-US" sz="1250" dirty="0"/>
          </a:p>
        </p:txBody>
      </p:sp>
      <p:sp>
        <p:nvSpPr>
          <p:cNvPr id="24" name="Text 20"/>
          <p:cNvSpPr/>
          <p:nvPr/>
        </p:nvSpPr>
        <p:spPr>
          <a:xfrm>
            <a:off x="10469880" y="4315968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2200" dirty="0"/>
          </a:p>
        </p:txBody>
      </p:sp>
      <p:sp>
        <p:nvSpPr>
          <p:cNvPr id="25" name="Shape 21"/>
          <p:cNvSpPr/>
          <p:nvPr/>
        </p:nvSpPr>
        <p:spPr>
          <a:xfrm>
            <a:off x="7863840" y="4937760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6" name="Shape 22"/>
          <p:cNvSpPr/>
          <p:nvPr/>
        </p:nvSpPr>
        <p:spPr>
          <a:xfrm>
            <a:off x="7973568" y="5111496"/>
            <a:ext cx="219456" cy="219456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27" name="Text 23"/>
          <p:cNvSpPr/>
          <p:nvPr/>
        </p:nvSpPr>
        <p:spPr>
          <a:xfrm>
            <a:off x="8302752" y="4937760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Aprobadas</a:t>
            </a:r>
            <a:endParaRPr lang="en-US" sz="1250" dirty="0"/>
          </a:p>
        </p:txBody>
      </p:sp>
      <p:sp>
        <p:nvSpPr>
          <p:cNvPr id="28" name="Text 24"/>
          <p:cNvSpPr/>
          <p:nvPr/>
        </p:nvSpPr>
        <p:spPr>
          <a:xfrm>
            <a:off x="10469880" y="4937760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2200" dirty="0"/>
          </a:p>
        </p:txBody>
      </p:sp>
      <p:sp>
        <p:nvSpPr>
          <p:cNvPr id="29" name="Text 25"/>
          <p:cNvSpPr/>
          <p:nvPr/>
        </p:nvSpPr>
        <p:spPr>
          <a:xfrm>
            <a:off x="7863840" y="5559552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Cuello de botella: la revisión del cliente devuelve más carpetas de las que aprueba. Convertir entregas en aprobaciones es el próximo hito.</a:t>
            </a:r>
            <a:endParaRPr lang="en-US" sz="1000" dirty="0"/>
          </a:p>
        </p:txBody>
      </p:sp>
      <p:sp>
        <p:nvSpPr>
          <p:cNvPr id="30" name="Text 2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10-08-2026 · Áreas 2000/3000/4000/8000</a:t>
            </a:r>
            <a:endParaRPr lang="en-US" sz="850" dirty="0"/>
          </a:p>
        </p:txBody>
      </p:sp>
      <p:sp>
        <p:nvSpPr>
          <p:cNvPr id="31" name="Text 27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32" name="Text 28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FRENTE 3 · DETALLES P1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Detalles de terminación en condición P1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1.988 P1 levantados; 58% cerrados. El pendiente se concentra en Piping, Eléctrica, Instrumentación y Control, y físicamente en el área 3000.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70408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80960" y="1874520"/>
            <a:ext cx="4050792" cy="4114800"/>
          </a:xfrm>
          <a:prstGeom prst="roundRect">
            <a:avLst>
              <a:gd name="adj" fmla="val 1354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36992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GLOBAL P1</a:t>
            </a:r>
            <a:endParaRPr lang="en-US" sz="1100" dirty="0"/>
          </a:p>
        </p:txBody>
      </p:sp>
      <p:graphicFrame>
        <p:nvGraphicFramePr>
          <p:cNvPr id="9" name="Chart 1" descr=""/>
          <p:cNvGraphicFramePr/>
          <p:nvPr/>
        </p:nvGraphicFramePr>
        <p:xfrm>
          <a:off x="7772400" y="2331720"/>
          <a:ext cx="201168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 5"/>
          <p:cNvSpPr/>
          <p:nvPr/>
        </p:nvSpPr>
        <p:spPr>
          <a:xfrm>
            <a:off x="7772400" y="2999232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58%</a:t>
            </a:r>
            <a:endParaRPr lang="en-US" sz="19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DCE6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cerrado</a:t>
            </a:r>
            <a:endParaRPr lang="en-US" sz="1900" dirty="0"/>
          </a:p>
        </p:txBody>
      </p:sp>
      <p:sp>
        <p:nvSpPr>
          <p:cNvPr id="11" name="Shape 6"/>
          <p:cNvSpPr/>
          <p:nvPr/>
        </p:nvSpPr>
        <p:spPr>
          <a:xfrm>
            <a:off x="10012680" y="2505456"/>
            <a:ext cx="182880" cy="182880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12" name="Text 7"/>
          <p:cNvSpPr/>
          <p:nvPr/>
        </p:nvSpPr>
        <p:spPr>
          <a:xfrm>
            <a:off x="10241280" y="24231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1100" dirty="0"/>
          </a:p>
        </p:txBody>
      </p:sp>
      <p:sp>
        <p:nvSpPr>
          <p:cNvPr id="13" name="Text 8"/>
          <p:cNvSpPr/>
          <p:nvPr/>
        </p:nvSpPr>
        <p:spPr>
          <a:xfrm>
            <a:off x="10241280" y="26517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1.154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10012680" y="3072384"/>
            <a:ext cx="182880" cy="18288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5" name="Text 10"/>
          <p:cNvSpPr/>
          <p:nvPr/>
        </p:nvSpPr>
        <p:spPr>
          <a:xfrm>
            <a:off x="10241280" y="2990088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</a:t>
            </a:r>
            <a:endParaRPr lang="en-US" sz="1100" dirty="0"/>
          </a:p>
        </p:txBody>
      </p:sp>
      <p:sp>
        <p:nvSpPr>
          <p:cNvPr id="16" name="Text 11"/>
          <p:cNvSpPr/>
          <p:nvPr/>
        </p:nvSpPr>
        <p:spPr>
          <a:xfrm>
            <a:off x="10241280" y="321868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828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10012680" y="3639312"/>
            <a:ext cx="182880" cy="182880"/>
          </a:xfrm>
          <a:prstGeom prst="ellipse">
            <a:avLst/>
          </a:prstGeom>
          <a:solidFill>
            <a:srgbClr val="E3A55B"/>
          </a:solidFill>
          <a:ln/>
        </p:spPr>
      </p:sp>
      <p:sp>
        <p:nvSpPr>
          <p:cNvPr id="18" name="Text 13"/>
          <p:cNvSpPr/>
          <p:nvPr/>
        </p:nvSpPr>
        <p:spPr>
          <a:xfrm>
            <a:off x="10241280" y="3557016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trámite</a:t>
            </a:r>
            <a:endParaRPr lang="en-US" sz="1100" dirty="0"/>
          </a:p>
        </p:txBody>
      </p:sp>
      <p:sp>
        <p:nvSpPr>
          <p:cNvPr id="19" name="Text 14"/>
          <p:cNvSpPr/>
          <p:nvPr/>
        </p:nvSpPr>
        <p:spPr>
          <a:xfrm>
            <a:off x="10241280" y="378561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7936992" y="452628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7936992" y="4663440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Concentración por área
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705 de 828 P1 abiertos (85,1%) están en el área 3000. Áreas 2000 y 8000 sobre 90% de cierre.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10-08-2026 · Áreas 2000/3000/4000/8000</a:t>
            </a:r>
            <a:endParaRPr lang="en-US" sz="850" dirty="0"/>
          </a:p>
        </p:txBody>
      </p:sp>
      <p:sp>
        <p:nvSpPr>
          <p:cNvPr id="23" name="Text 1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24" name="Text 1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81965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Destrabar aprobaciones de carpetas TOP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aprobadas de 135. Priorizar el cierre de las 14 en revisión y el rearmado de las 12 rechazadas para convertir entregas en aprobaciones.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81965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Atacar el atraso del área 3000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705 P1 abiertos (85,1% del total) y 41 caminatas 100% pendientes. Es la ruta crítica: sin esta área no mejora ningún indicador global.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6849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Recuperar los 667 P1 vencidos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80,6% de los P1 abiertos superó su fecha de vencimiento. Foco en Piping (217), Eléctrica (173), Instrumentación y Control (153).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6849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las caminatas ya programadas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subsistemas pendientes: 44 próximos a realizar y 1 por programar. La programación ya está hecha; falta ejecutarla para habilitar la entrega de carpetas.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10-08-2026 · Áreas 2000/3000/4000/8000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Panel de Control — Carpetas TOP · Caminatas · Detalles P1</dc:title>
  <dc:subject>PptxGenJS Presentation</dc:subject>
  <dc:creator>Control de Proyecto</dc:creator>
  <cp:lastModifiedBy>Control de Proyecto</cp:lastModifiedBy>
  <cp:revision>1</cp:revision>
  <dcterms:created xsi:type="dcterms:W3CDTF">2026-08-17T13:54:17Z</dcterms:created>
  <dcterms:modified xsi:type="dcterms:W3CDTF">2026-08-17T13:54:17Z</dcterms:modified>
</cp:coreProperties>
</file>