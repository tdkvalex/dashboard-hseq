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42</c:v>
                </c:pt>
                <c:pt idx="1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38</c:v>
                </c:pt>
                <c:pt idx="1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52</c:v>
                </c:pt>
                <c:pt idx="1">
                  <c:v>7</c:v>
                </c:pt>
                <c:pt idx="2">
                  <c:v>7</c:v>
                </c:pt>
                <c:pt idx="3">
                  <c:v>8</c:v>
                </c:pt>
                <c:pt idx="4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</c:v>
                </c:pt>
                <c:pt idx="1">
                  <c:v>67</c:v>
                </c:pt>
                <c:pt idx="2">
                  <c:v>10</c:v>
                </c:pt>
                <c:pt idx="3">
                  <c:v>5</c:v>
                </c:pt>
                <c:pt idx="4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637</c:v>
                </c:pt>
                <c:pt idx="1">
                  <c:v>76</c:v>
                </c:pt>
                <c:pt idx="2">
                  <c:v>149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>19</c:v>
                </c:pt>
                <c:pt idx="2">
                  <c:v>22</c:v>
                </c:pt>
                <c:pt idx="3">
                  <c:v>3</c:v>
                </c:pt>
                <c:pt idx="4">
                  <c:v>14</c:v>
                </c:pt>
                <c:pt idx="5">
                  <c:v>10</c:v>
                </c:pt>
                <c:pt idx="6">
                  <c:v>104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 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</c:v>
                </c:pt>
                <c:pt idx="1">
                  <c:v>1</c:v>
                </c:pt>
                <c:pt idx="2">
                  <c:v>3</c:v>
                </c:pt>
                <c:pt idx="3">
                  <c:v/>
                </c:pt>
                <c:pt idx="4">
                  <c:v/>
                </c:pt>
                <c:pt idx="5">
                  <c:v>12</c:v>
                </c:pt>
                <c:pt idx="6">
                  <c:v>6</c:v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18</c:v>
                </c:pt>
                <c:pt idx="2">
                  <c:v>16</c:v>
                </c:pt>
                <c:pt idx="3">
                  <c:v>3</c:v>
                </c:pt>
                <c:pt idx="4">
                  <c:v>10</c:v>
                </c:pt>
                <c:pt idx="5">
                  <c:v>6</c:v>
                </c:pt>
                <c:pt idx="6">
                  <c:v>110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>1</c:v>
                </c:pt>
                <c:pt idx="2">
                  <c:v>7</c:v>
                </c:pt>
                <c:pt idx="3">
                  <c:v/>
                </c:pt>
                <c:pt idx="4">
                  <c:v>3</c:v>
                </c:pt>
                <c:pt idx="5">
                  <c:v>13</c:v>
                </c:pt>
                <c:pt idx="6">
                  <c:v/>
                </c:pt>
                <c:pt idx="7">
                  <c:v>4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>1</c:v>
                </c:pt>
                <c:pt idx="2">
                  <c:v>2</c:v>
                </c:pt>
                <c:pt idx="3">
                  <c:v/>
                </c:pt>
                <c:pt idx="4">
                  <c:v>1</c:v>
                </c:pt>
                <c:pt idx="5">
                  <c:v>3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38</c:v>
                </c:pt>
                <c:pt idx="1">
                  <c:v>59</c:v>
                </c:pt>
                <c:pt idx="2">
                  <c:v>45</c:v>
                </c:pt>
                <c:pt idx="3">
                  <c:v>9</c:v>
                </c:pt>
                <c:pt idx="4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170</c:v>
                </c:pt>
                <c:pt idx="1">
                  <c:v>91</c:v>
                </c:pt>
                <c:pt idx="2">
                  <c:v>34</c:v>
                </c:pt>
                <c:pt idx="3">
                  <c:v>24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35</c:v>
                </c:pt>
                <c:pt idx="2">
                  <c:v>19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40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3A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</c:v>
                </c:pt>
                <c:pt idx="1">
                  <c:v>7</c:v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17</c:v>
                </c:pt>
                <c:pt idx="1">
                  <c:v>68</c:v>
                </c:pt>
                <c:pt idx="2">
                  <c:v>21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217</c:v>
                </c:pt>
                <c:pt idx="1">
                  <c:v>173</c:v>
                </c:pt>
                <c:pt idx="2">
                  <c:v>153</c:v>
                </c:pt>
                <c:pt idx="3">
                  <c:v>107</c:v>
                </c:pt>
                <c:pt idx="4">
                  <c:v>17</c:v>
                </c:pt>
                <c:pt idx="5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</c:v>
                </c:pt>
                <c:pt idx="1">
                  <c:v>43</c:v>
                </c:pt>
                <c:pt idx="2">
                  <c:v>28</c:v>
                </c:pt>
                <c:pt idx="3">
                  <c:v>19</c:v>
                </c:pt>
                <c:pt idx="4">
                  <c:v>19</c:v>
                </c:pt>
                <c:pt idx="5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1154</c:v>
                </c:pt>
                <c:pt idx="1">
                  <c:v>828</c:v>
                </c:pt>
                <c:pt idx="2">
                  <c:v>6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1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ANTOFAGASTA MINERALS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95 subsistemas (80 Operable · 15 Facility) en Desaladora y EB-2.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suman al universo 2 componentes ya entregados: son entregas parciales de un subsistema que ya está contado.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52,5%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43,2%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73,9%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05-08-2026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05-08-2026 · Atrasos al 05-08-2026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52,5%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42/80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subsistemas por caminar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facilities por caminar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43,2%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41/95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aprobadas · 14 en revisión · 5 rechazadas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73,9%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637/862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225 abiertos · 76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1.022 de 1.437 ítems cerrados (71,1%); de los 415 abiertos, 166 ya pasaron su fecha requerida de cierre (40%).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42/80 por Caminata 2 (52,5%); Facility 10/15 por Caminata 1 (66,7%).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43,2%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entregadas de 95: 22 aprobadas, 14 en revisión y 5 rechazadas. Quedan 11 en preparación y 43 sin iniciar.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Eléctrica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 de los 225 P1 abiertos (49,8%), con 52 atrasados.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05-08-2026 · Atrasos al 05-08-2026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(95 SUBSISTEMAS)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23,2%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6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14,7%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5,3%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11,6%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30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1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45,3%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2200" dirty="0"/>
          </a:p>
        </p:txBody>
      </p:sp>
      <p:sp>
        <p:nvSpPr>
          <p:cNvPr id="34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carpetas ya están en manos del cliente (43,2%) y 28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05-08-2026 · Atrasos al 05-08-2026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862 P1 levantados; 73,9% cerrados. Atrasado = ítem abierto cuya fecha requerida de cierre ya venció al 05-08-2026.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73,9%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637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31 días vencidos; el más antiguo lleva 87. 21 entre 1-30 días, 145 entre 31-90 días.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05-08-2026 · Atrasos al 05-08-2026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166 ítems atrasados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de los 415 abiertos ya venció su fecha requerida. Foco en Eléctrica (52), Piping (7), Obras Civiles (7).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38 caminatas de Operables pendientes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52,5% (42/80). Sin caminata no se levanta el punch final ni se habilita la entrega de la carpeta.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54 carpetas retenidas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están en preparación y 43 sin iniciar. Solo 41 de 95 (43,2%) llegaron al cliente; 5 volvieron rechazadas y hay que rearmarlas.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169 P1 abiertos y 44 atrasados sobre 74 subsistemas. Es la ruta crítica del proyecto.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05-08-2026 · Atrasos al 05-08-2026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218 subsistemas en 9 áreas · 2.024 detalles de terminación levantados.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98,6%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exigible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99,5%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exigible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92,7%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P1+P2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2.024 DT · Atrasos al 03-08-2026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98,6%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205/208 exigibles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 del universo · 10 programadas en plazo · 2 con agenda vencida · 1 sin programar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99,5%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192/193 exigibles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88,1% del universo · 25 programadas en plazo · 1 sin programar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92,7%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181/218 sobre 95%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subsistemas bajo 80% de avance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91,8%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323/352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abiertos · 11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91,8% de cierre en P1 (29 abiertos), pero 451 DT abiertos entre P2, P3 y P4 sobre un total de 480.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158 DT con la fecha de compromiso vencida; mediana de 31 días y el más antiguo lleva 137. Los 218 abiertos sin fecha de compromiso no se cuentan como atrasados.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Caminatas: 98,6% y 99,5% de lo exigible (C1 y C2).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205/208 exigibles, 2 con agenda vencida. Caminata 2: 192/193, con 25 agendadas en plazo y 1 sin programar.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92,7%: 181 subsistemas sobre 95% y solo 9 bajo 80%.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2.024 DT · Atrasos al 03-08-2026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2: 99,5% de lo exigible (192/193) — se descuentan 25 agendadas a fecha futura, que no son incumplimiento al corte.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2.024 DT · Atrasos al 03-08-2026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2.024 DT levantados; 76,3% cerrados. Atrasado = DT abierto cuya fecha de compromiso de cierre ya venció al 03-08-2026.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36992" y="243230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778240" y="243230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323/352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287000" y="243230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91,8%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36992" y="268833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3" name="Shape 9"/>
          <p:cNvSpPr/>
          <p:nvPr/>
        </p:nvSpPr>
        <p:spPr>
          <a:xfrm>
            <a:off x="7936992" y="2688336"/>
            <a:ext cx="3273735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4" name="Text 10"/>
          <p:cNvSpPr/>
          <p:nvPr/>
        </p:nvSpPr>
        <p:spPr>
          <a:xfrm>
            <a:off x="7936992" y="29443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0" y="29443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1.144/1.374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287000" y="29443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83,3%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36992" y="32004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8" name="Shape 14"/>
          <p:cNvSpPr/>
          <p:nvPr/>
        </p:nvSpPr>
        <p:spPr>
          <a:xfrm>
            <a:off x="7936992" y="3200400"/>
            <a:ext cx="2970611" cy="118872"/>
          </a:xfrm>
          <a:prstGeom prst="rect">
            <a:avLst/>
          </a:prstGeom>
          <a:solidFill>
            <a:srgbClr val="E3A55B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345643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778240" y="34564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68/239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287000" y="34564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28,5%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36992" y="371246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3" name="Shape 19"/>
          <p:cNvSpPr/>
          <p:nvPr/>
        </p:nvSpPr>
        <p:spPr>
          <a:xfrm>
            <a:off x="7936992" y="3712464"/>
            <a:ext cx="1016356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7936992" y="39684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8240" y="39684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0/50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0287000" y="39684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36992" y="422452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8" name="Text 24"/>
          <p:cNvSpPr/>
          <p:nvPr/>
        </p:nvSpPr>
        <p:spPr>
          <a:xfrm>
            <a:off x="7936992" y="44805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8778240" y="44805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10287000" y="44805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2" name="Shape 28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3" name="Shape 29"/>
          <p:cNvSpPr/>
          <p:nvPr/>
        </p:nvSpPr>
        <p:spPr>
          <a:xfrm>
            <a:off x="7936992" y="502920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936992" y="5138928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31 días vencidos; el más antiguo lleva 137. 78 entre 1-30 días, 59 entre 31-90 días, 21 entre 91-180 días.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2.024 DT · Atrasos al 03-08-2026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158 DT atrasados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 son P2 y 11 son P1. La mediana de atraso es de 31 días y 21 superan los 90 días.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 y PISCINAS Y SEDIMENTADOR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0/3 (0%) · PISCINAS Y SEDIMENTADOR: 10/22 (45,5%). A nivel proyecto la caminata 2 va 88,1% con 25 ya agendadas.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50 abiertos y ninguno cerrado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(0%). P3 tampoco despega: 28,5% de cierre.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154 de los 480 DT abiertos (32,1%), con 31 atrasados. Además hay 9 carpetas bajo 80% de avance que conviene cerrar en paralelo.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2.024 DT · Atrasos al 03-08-2026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Electromecánico Planta Concentradora y de Espesado · MASA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subsistemas en 4 áreas (2000 · 3000 · 4000 · 8000) · 2.963 detalles de terminación levantados.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10-08-2026   ·   Corte anterior: 26-07-2026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10-08-2026 · Áreas 2000/3000/4000/8000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135/135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90/135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· 1 por programar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 cambio vs. corte anterior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0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27/135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12 rechazadas · 14 en revisión · 1 observadas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 cambio vs. corte anterior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1.154/1.988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828 abiertos · 667 vencidos · 6 en trámite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+6 vs. corte anterior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3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de caminatas al 100%.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de 135 realizadas (66,7%); 44 próximas y 1 por programar.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entregadas de 135 (20%) y 0 aprobadas; 12 rechazadas.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9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 P1 cerrado desde el corte anterior; 828 abiertos, de los cuales 667 superaron su fecha de vencimiento (+262 en el período). El área 3000 concentra 705 (85,1%).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10-08-2026 · Áreas 2000/3000/4000/8000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POR ÁREA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18/35 · 51,4%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92,8%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(27)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1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35/76 · 46,1%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8/76 · 10,5%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32,6%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705 (598)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2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19/22 · 86,4%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1/22 · 4,5%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76,2%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(41)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 · 50%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91,7%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(1)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3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10-08-2026 · Áreas 2000/3000/4000/8000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1 · CAMINATAS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(135/135). El hito 100% avanza a 66,7%, y el área 3000 concentra 41 de los 45 subsistemas pendientes.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de 135 subsistemas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realizadas · 45 pendientes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a realizar y 1 por programar.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10-08-2026 · Áreas 2000/3000/4000/8000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2 · CARPETAS TOP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carpetas entregadas de 135 (20%). Ninguna aprobada aún: el flujo se acumula en revisión y hay 12 rechazos que requieren rearmado.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(135)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1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4" name="Shape 10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5" name="Text 11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8" name="Shape 14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19" name="Text 15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1" name="Shape 17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2" name="Shape 18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3" name="Text 19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200" dirty="0"/>
          </a:p>
        </p:txBody>
      </p:sp>
      <p:sp>
        <p:nvSpPr>
          <p:cNvPr id="25" name="Shape 21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6" name="Shape 22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27" name="Text 23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29" name="Text 25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10-08-2026 · Áreas 2000/3000/4000/8000</a:t>
            </a:r>
            <a:endParaRPr lang="en-US" sz="850" dirty="0"/>
          </a:p>
        </p:txBody>
      </p:sp>
      <p:sp>
        <p:nvSpPr>
          <p:cNvPr id="31" name="Text 2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32" name="Text 2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3 · DETALLES P1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1.988 P1 levantados; 58% cerrados. El pendiente se concentra en Piping, Eléctrica, Instrumentación y Control, y físicamente en el área 3000.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1.154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828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705 de 828 P1 abiertos (85,1%) están en el área 3000. Áreas 2000 y 8000 sobre 90% de cierre.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10-08-2026 · Áreas 2000/3000/4000/8000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135. Priorizar el cierre de las 14 en revisión y el rearmado de las 12 rechazadas para convertir entregas en aprobaciones.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705 P1 abiertos (85,1% del total) y 41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667 P1 vencidos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80,6% de los P1 abiertos superó su fecha de vencimiento. Foco en Piping (217), Eléctrica (173), Instrumentación y Control (153).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subsistemas pendientes: 44 próximos a realizar y 1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10-08-2026 · Áreas 2000/3000/4000/8000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2026-08-10T15:11:46Z</dcterms:created>
  <dcterms:modified xsi:type="dcterms:W3CDTF">2026-08-10T15:11:46Z</dcterms:modified>
</cp:coreProperties>
</file>