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63</c:v>
                </c:pt>
                <c:pt idx="1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16</c:v>
                </c:pt>
                <c:pt idx="1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Mecánica</c:v>
                  </c:pt>
                  <c:pt idx="3">
                    <c:v>Obras Civiles</c:v>
                  </c:pt>
                  <c:pt idx="4">
                    <c:v>Instr. y Control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24</c:v>
                </c:pt>
                <c:pt idx="1">
                  <c:v>88</c:v>
                </c:pt>
                <c:pt idx="2">
                  <c:v>11</c:v>
                </c:pt>
                <c:pt idx="3">
                  <c:v>9</c:v>
                </c:pt>
                <c:pt idx="4">
                  <c:v/>
                </c:pt>
                <c:pt idx="5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Mecánica</c:v>
                  </c:pt>
                  <c:pt idx="3">
                    <c:v>Obras Civiles</c:v>
                  </c:pt>
                  <c:pt idx="4">
                    <c:v>Instr. y Control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195</c:v>
                </c:pt>
                <c:pt idx="1">
                  <c:v>45</c:v>
                </c:pt>
                <c:pt idx="2">
                  <c:v>50</c:v>
                </c:pt>
                <c:pt idx="3">
                  <c:v>9</c:v>
                </c:pt>
                <c:pt idx="4">
                  <c:v>15</c:v>
                </c:pt>
                <c:pt idx="5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1080</c:v>
                </c:pt>
                <c:pt idx="1">
                  <c:v>139</c:v>
                </c:pt>
                <c:pt idx="2">
                  <c:v>317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Caminata 2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>20</c:v>
                </c:pt>
                <c:pt idx="2">
                  <c:v>25</c:v>
                </c:pt>
                <c:pt idx="3">
                  <c:v>3</c:v>
                </c:pt>
                <c:pt idx="4">
                  <c:v>14</c:v>
                </c:pt>
                <c:pt idx="5">
                  <c:v>15</c:v>
                </c:pt>
                <c:pt idx="6">
                  <c:v>110</c:v>
                </c:pt>
                <c:pt idx="7">
                  <c:v>12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Agendada 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7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Sin programar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Avance PEC de carpetas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95% o más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20</c:v>
                </c:pt>
                <c:pt idx="2">
                  <c:v>17</c:v>
                </c:pt>
                <c:pt idx="3">
                  <c:v>3</c:v>
                </c:pt>
                <c:pt idx="4">
                  <c:v>10</c:v>
                </c:pt>
                <c:pt idx="5">
                  <c:v>15</c:v>
                </c:pt>
                <c:pt idx="6">
                  <c:v>110</c:v>
                </c:pt>
                <c:pt idx="7">
                  <c:v>8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80% a 95%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>8</c:v>
                </c:pt>
                <c:pt idx="3">
                  <c:v/>
                </c:pt>
                <c:pt idx="4">
                  <c:v>3</c:v>
                </c:pt>
                <c:pt idx="5">
                  <c:v>7</c:v>
                </c:pt>
                <c:pt idx="6">
                  <c:v/>
                </c:pt>
                <c:pt idx="7">
                  <c:v>4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Bajo 80%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</c:v>
                </c:pt>
                <c:pt idx="5">
                  <c:v/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DT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33</c:v>
                </c:pt>
                <c:pt idx="2">
                  <c:v>25</c:v>
                </c:pt>
                <c:pt idx="3">
                  <c:v>10</c:v>
                </c:pt>
                <c:pt idx="4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compromiso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132</c:v>
                </c:pt>
                <c:pt idx="1">
                  <c:v>56</c:v>
                </c:pt>
                <c:pt idx="2">
                  <c:v>8</c:v>
                </c:pt>
                <c:pt idx="3">
                  <c:v>13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33</c:v>
                </c:pt>
                <c:pt idx="1">
                  <c:v>51</c:v>
                </c:pt>
                <c:pt idx="2">
                  <c:v>19</c:v>
                </c:pt>
                <c:pt idx="3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24</c:v>
                </c:pt>
                <c:pt idx="2">
                  <c:v>3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3A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>2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</c:v>
                </c:pt>
                <c:pt idx="1">
                  <c:v/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13</c:v>
                </c:pt>
                <c:pt idx="1">
                  <c:v>7</c:v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6</c:v>
                </c:pt>
                <c:pt idx="1">
                  <c:v>69</c:v>
                </c:pt>
                <c:pt idx="2">
                  <c:v>20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141</c:v>
                </c:pt>
                <c:pt idx="1">
                  <c:v>126</c:v>
                </c:pt>
                <c:pt idx="2">
                  <c:v>133</c:v>
                </c:pt>
                <c:pt idx="3">
                  <c:v>70</c:v>
                </c:pt>
                <c:pt idx="4">
                  <c:v>7</c:v>
                </c:pt>
                <c:pt idx="5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43</c:v>
                </c:pt>
                <c:pt idx="1">
                  <c:v>28</c:v>
                </c:pt>
                <c:pt idx="2">
                  <c:v>21</c:v>
                </c:pt>
                <c:pt idx="3">
                  <c:v>20</c:v>
                </c:pt>
                <c:pt idx="4">
                  <c:v>13</c:v>
                </c:pt>
                <c:pt idx="5">
                  <c:v>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1437</c:v>
                </c:pt>
                <c:pt idx="1">
                  <c:v>619</c:v>
                </c:pt>
                <c:pt idx="2">
                  <c:v>0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1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ANTOFAGASTA MINERALS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95 subsistemas (80 Operable · 15 Facility) en Desaladora y EB-2.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suman al universo 3 componentes ya entregados: son entregas parciales de un subsistema que ya está contado.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79,7%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61,1%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70,3%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22-09-2026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22-09-2026 · Atrasos al 28-09-2026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79,7%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63/79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subsistemas por caminar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facilities por caminar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61,1%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58/95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aprobadas · 8 en revisión · 6 rechazadas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70,3%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1.080/1.536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456 abiertos · 139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1.721 de 2.419 ítems cerrados (71,1%); de los 698 abiertos, 240 ya pasaron su fecha requerida de cierre (34,4%).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63/79 por Caminata 2 (79,7%); Facility 12/15 por Caminata 1 (80%).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61,1%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 entregadas de 95: 44 aprobadas, 8 en revisión y 6 rechazadas. Quedan 17 en preparación y 20 sin iniciar.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219 de los 456 P1 abiertos (48%), con 24 atrasados.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22-09-2026 · Atrasos al 28-09-2026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(95 SUBSISTEMAS)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46,3%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6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8,4%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6,3%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5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6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17,9%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30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1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21,1%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200" dirty="0"/>
          </a:p>
        </p:txBody>
      </p:sp>
      <p:sp>
        <p:nvSpPr>
          <p:cNvPr id="34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 carpetas ya están en manos del cliente (61,1%) y 45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22-09-2026 · Atrasos al 28-09-2026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1.536 P1 levantados; 70,3% cerrados. Atrasado = ítem abierto cuya fecha requerida de cierre ya venció al 28-09-2026.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70,3%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1.080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317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28 días vencidos; el más antiguo lleva 141. 151 entre 1-30 días, 77 entre 31-90 días, 12 entre 91-180 días.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22-09-2026 · Atrasos al 28-09-2026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240 ítems atrasados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34,4% de los 698 abiertos ya venció su fecha requerida. Foco en Piping (24), Eléctrica (88), Mecánica (11).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16 caminatas de Operables pendientes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79,7% (63/79). Sin caminata no se levanta el punch final ni se habilita la entrega de la carpeta.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37 carpetas retenidas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están en preparación y 20 sin iniciar. Solo 58 de 95 (61,1%) llegaron al cliente; 6 volvieron rechazadas y hay que rearmarlas.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403 P1 abiertos y 96 atrasados sobre 74 subsistemas. Es la ruta crítica del proyecto.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22-09-2026 · Atrasos al 28-09-2026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agua, pozos y estaciones de bombeo · CODELCO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4600029355 · 218 subsistemas en 9 áreas · 2.115 detalles de terminación levantados.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exigible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exigible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promedio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96,1%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P1+P2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Atrasos calculados al 21-09-2026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2.115 DT · Atrasos al 21-09-2026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216/216 exigibles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99,1% del universo · 2 programadas en plazo · 0 sin programar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207/207 exigibles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del universo · 11 programadas en plazo · 0 sin programar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193/218 sobre 95%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de carpetas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subsistemas bajo 80% de avance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94,1%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385/409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abiertos · 23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está prácticamente cerrado; el volumen pendiente está en las prioridades menores.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94,1% de cierre en P1 (24 abiertos), pero 261 DT abiertos entre P2, P3 y P4 sobre un total de 285.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es más antiguo que el de los otros proyectos.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 DT con la fecha de compromiso vencida; mediana de 45 días y el más antiguo lleva 186. Los 211 abiertos sin fecha de compromiso no se cuentan como atrasados.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Caminatas: 100% y 100% de lo exigible (C1 y C2).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1: 216/216 exigibles. Caminata 2: 207/207, con 11 agendadas en plazo y 0 sin programar.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avanzan bien salvo un grupo acotado.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promedio 95%: 193 subsistemas sobre 95% y solo 3 bajo 80%.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2.115 DT · Atrasos al 21-09-2026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avance de carpetas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2: 100% de lo exigible (207/207) — se descuentan 11 agendadas a fecha futura, que no son incumplimiento al corte. Talabre mide la carpeta como % de avance (PEC), no como estado de aprobación.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46520" y="1874520"/>
          <a:ext cx="528523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2.115 DT · Atrasos al 21-09-2026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2.115 DT levantados; 86,5% cerrados. Atrasado = DT abierto cuya fecha de compromiso de cierre ya venció al 21-09-2026.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POR PRIORIDAD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36992" y="243230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778240" y="243230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385/409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10287000" y="243230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94,1%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36992" y="2688336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3" name="Shape 9"/>
          <p:cNvSpPr/>
          <p:nvPr/>
        </p:nvSpPr>
        <p:spPr>
          <a:xfrm>
            <a:off x="7936992" y="2688336"/>
            <a:ext cx="3355757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4" name="Text 10"/>
          <p:cNvSpPr/>
          <p:nvPr/>
        </p:nvSpPr>
        <p:spPr>
          <a:xfrm>
            <a:off x="7936992" y="29443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778240" y="29443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1.361/1.408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287000" y="29443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96,7%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36992" y="3200400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8" name="Shape 14"/>
          <p:cNvSpPr/>
          <p:nvPr/>
        </p:nvSpPr>
        <p:spPr>
          <a:xfrm>
            <a:off x="7936992" y="3200400"/>
            <a:ext cx="3448477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9" name="Text 15"/>
          <p:cNvSpPr/>
          <p:nvPr/>
        </p:nvSpPr>
        <p:spPr>
          <a:xfrm>
            <a:off x="7936992" y="345643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778240" y="34564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75/239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0287000" y="34564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31,4%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936992" y="3712464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3" name="Shape 19"/>
          <p:cNvSpPr/>
          <p:nvPr/>
        </p:nvSpPr>
        <p:spPr>
          <a:xfrm>
            <a:off x="7936992" y="3712464"/>
            <a:ext cx="1119774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7936992" y="39684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8240" y="39684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0/50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0287000" y="39684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36992" y="4224528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8" name="Text 24"/>
          <p:cNvSpPr/>
          <p:nvPr/>
        </p:nvSpPr>
        <p:spPr>
          <a:xfrm>
            <a:off x="7936992" y="44805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8778240" y="44805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10287000" y="44805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32" name="Shape 28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3" name="Shape 29"/>
          <p:cNvSpPr/>
          <p:nvPr/>
        </p:nvSpPr>
        <p:spPr>
          <a:xfrm>
            <a:off x="7936992" y="502920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936992" y="5138928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45 días vencidos; el más antiguo lleva 186. 25 entre 1-30 días, 40 entre 31-90 días, 7 entre 91-180 días, 1 entre &gt;180 días.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2.115 DT · Atrasos al 21-09-2026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73 DT atrasados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son P2 y 23 son P1. La mediana de atraso es de 45 días y 8 superan los 90 días.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caminata 2 en CERRO VERDE/PS2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CERRO VERDE/PS2: 0/3 (0%). A nivel proyecto la caminata 2 va 95% con 11 ya agendadas.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P4: 50 abiertos y ninguno cerrado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 DT levantados en P4 no se ha cerrado ninguno (0%). P3 tampoco despega: 31,4% de cierre.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POZOS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109 de los 285 DT abiertos (38,2%), con 3 atrasados. Además hay 3 carpetas bajo 80% de avance que conviene cerrar en paralelo.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2.115 DT · Atrasos al 21-09-2026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Electromecánico Planta Concentradora y de Espesado · MASA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subsistemas en 4 áreas (2000 · 3000 · 4000 · 8000) · 3.106 detalles de terminación levantados.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77,2%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28,7%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69,9%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28-09-2026   ·   Corte anterior: 21-09-2026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28-09-2026 · Áreas 2000/3000/4000/8000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136/136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77,2%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105/136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próximas · 2 por programar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+5 vs. corte anterior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0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28,7%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39/136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21 rechazadas · 17 en revisión · 1 observadas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+2 vs. corte anterior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69,9%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1.437/2.056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619 abiertos · 477 vencidos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+75 vs. corte anterior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3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destrabó la programación de caminatas, pero no la ejecución.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subsistemas «por programar» bajaron de 3 a 2, mientras las realizadas al 100% se mantienen en 105 (77,2%).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 y suben los rechazos.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entregadas de 136 (28,7%) y 0 aprobadas; las rechazadas pasaron de 19 a 21.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9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+75 P1 cerrado desde el corte anterior; 619 abiertos, de los cuales 477 superaron su fecha de vencimiento. El área 3000 concentra 543 (87,7%).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28-09-2026 · Áreas 2000/3000/4000/8000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POR ÁREA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33/35 · 94,3%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29/35 · 82,9%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(0)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1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51/77 · 66,2%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8/77 · 10,4%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49,3%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543 (450)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2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19/22 · 86,4%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2/22 · 9,1%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87,7%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(25)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 · 100%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85,7%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(2)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53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28-09-2026 · Áreas 2000/3000/4000/8000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1 · CAMINATAS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(136/136). El hito 100% avanza a 77,2%, y el área 3000 concentra 26 de los 31 subsistemas pendientes.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de 136 subsistemas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77,2%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 realizadas · 31 pendientes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próximas a realizar y 2 por programar. Las «por programar» bajaron 1 en el período.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28-09-2026 · Áreas 2000/3000/4000/8000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2 · CARPETAS TOP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carpetas entregadas de 136 (28,7%). Ninguna aprobada aún: el flujo se acumula en revisión y hay 21 rechazos que requieren rearmado.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(136)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1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5059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+2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6" name="Text 12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9" name="Shape 15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0" name="Text 16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1" name="Text 17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Shape 18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3" name="Shape 19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9509760" y="431596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+2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8" name="Shape 24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29" name="Text 25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30" name="Text 26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31" name="Text 27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2" name="Text 28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28-09-2026 · Áreas 2000/3000/4000/8000</a:t>
            </a:r>
            <a:endParaRPr lang="en-US" sz="850" dirty="0"/>
          </a:p>
        </p:txBody>
      </p:sp>
      <p:sp>
        <p:nvSpPr>
          <p:cNvPr id="33" name="Text 29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3 · DETALLES P1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2.056 P1 levantados; 69,9% cerrados. El pendiente se concentra en Eléctrica, Piping, Instrumentación y Control, y físicamente en el área 3000.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69,9%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1.437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619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543 de 619 P1 abiertos (87,7%) están en el área 3000. Áreas 2000 sobre 90% de cierre.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28-09-2026 · Áreas 2000/3000/4000/8000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136. Priorizar el cierre de las 17 en revisión y el rearmado de las 21 rechazadas para convertir entregas en aprobaciones.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543 P1 abiertos (87,7% del total) y 26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477 P1 vencidos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77,1% de los P1 abiertos superó su fecha de vencimiento. Foco en Eléctrica (141), Instrumentación y Control (133), Piping (126).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subsistemas pendientes: 29 próximos a realizar y 2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28-09-2026 · Áreas 2000/3000/4000/8000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2026-09-28T14:03:09Z</dcterms:created>
  <dcterms:modified xsi:type="dcterms:W3CDTF">2026-09-28T14:03:09Z</dcterms:modified>
</cp:coreProperties>
</file>