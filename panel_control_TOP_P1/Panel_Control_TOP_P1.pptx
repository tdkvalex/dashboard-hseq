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110</c:v>
                </c:pt>
                <c:pt idx="1">
                  <c:v>89</c:v>
                </c:pt>
                <c:pt idx="2">
                  <c:v>27</c:v>
                </c:pt>
                <c:pt idx="3">
                  <c:v>15</c:v>
                </c:pt>
                <c:pt idx="4">
                  <c:v>10</c:v>
                </c:pt>
                <c:pt idx="5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93</c:v>
                </c:pt>
                <c:pt idx="1">
                  <c:v>27</c:v>
                </c:pt>
                <c:pt idx="2">
                  <c:v>30</c:v>
                </c:pt>
                <c:pt idx="3">
                  <c:v>3</c:v>
                </c:pt>
                <c:pt idx="4">
                  <c:v>3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1224</c:v>
                </c:pt>
                <c:pt idx="1">
                  <c:v>260</c:v>
                </c:pt>
                <c:pt idx="2">
                  <c:v>156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22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Agenda vencida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Estructura</c:v>
                  </c:pt>
                  <c:pt idx="3">
                    <c:v>Eléctrica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15</c:v>
                </c:pt>
                <c:pt idx="2">
                  <c:v>4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Estructura</c:v>
                  </c:pt>
                  <c:pt idx="3">
                    <c:v>Eléctrica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130</c:v>
                </c:pt>
                <c:pt idx="1">
                  <c:v>56</c:v>
                </c:pt>
                <c:pt idx="2">
                  <c:v>13</c:v>
                </c:pt>
                <c:pt idx="3">
                  <c:v>12</c:v>
                </c:pt>
                <c:pt idx="4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50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132</c:v>
                </c:pt>
                <c:pt idx="1">
                  <c:v>124</c:v>
                </c:pt>
                <c:pt idx="2">
                  <c:v>129</c:v>
                </c:pt>
                <c:pt idx="3">
                  <c:v>62</c:v>
                </c:pt>
                <c:pt idx="4">
                  <c:v/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</c:v>
                </c:pt>
                <c:pt idx="1">
                  <c:v>26</c:v>
                </c:pt>
                <c:pt idx="2">
                  <c:v>20</c:v>
                </c:pt>
                <c:pt idx="3">
                  <c:v>16</c:v>
                </c:pt>
                <c:pt idx="4">
                  <c:v>16</c:v>
                </c:pt>
                <c:pt idx="5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1474</c:v>
                </c:pt>
                <c:pt idx="1">
                  <c:v>582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29-09-2026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12-10-2026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aprobadas · 11 en revisión · 6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74,6%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1.224/1.640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abiertos · 260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1.925 de 2.605 ítems cerrados (73,9%); de los 680 abiertos, 440 ya pasaron su fecha requerida de cierre (64,7%).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66/79 por Caminata 2 (83,5%);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66,3%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entregadas de 95: 46 aprobadas, 11 en revisión y 6 rechazadas. Quedan 15 en preparación y 17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 de los 416 P1 abiertos (48,8%), con 110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12-10-2026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48,4%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15,8%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17,9%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carpetas ya están en manos del cliente (66,3%) y 46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12-10-2026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1.640 P1 levantados; 74,6% cerrados. Atrasado = ítem abierto cuya fecha requerida de cierre ya venció al 12-10-2026.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74,6%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12 días vencidos; el más antiguo lleva 155. 266 entre 1-30 días, 92 entre 31-90 días, 82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12-10-2026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440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64,7% de los 680 abiertos ya venció su fecha requerida. Foco en Piping (110), Eléctrica (89), Mecánica (27).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13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83,5% (66/79).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32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están en preparación y 17 sin iniciar. Solo 63 de 95 (66,3%) llegaron al cliente; 6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367 P1 abiertos y 211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12-10-2026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2.175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12-10-2026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218/218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universo · 0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215/218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98,6% del universo · 0 programadas en plazo · 3 con agenda vencida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97,5%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429/440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abiertos · 6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 de cierre en P1 (11 abiertos), pero 241 DT abiertos entre P2, P3 y P4 sobre un total de 252.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DT con la fecha de compromiso vencida; mediana de 38 días y el más antiguo lleva 207. Los 209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98,6%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218/218 exigibles. Caminata 2: 215/218, con 0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95,3%: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98,6% de lo exigible (215/218) — se descuentan 0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2.175 DT levantados; 88,4% cerrados. Atrasado = DT abierto cuya fecha de compromiso de cierre ya venció al 12-10-2026.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429/440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477006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1.408/1.437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9483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Shape 24"/>
          <p:cNvSpPr/>
          <p:nvPr/>
        </p:nvSpPr>
        <p:spPr>
          <a:xfrm>
            <a:off x="7936992" y="4224528"/>
            <a:ext cx="14264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5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4" name="Shape 30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38 días vencidos; el más antiguo lleva 207. 17 entre 1-30 días, 10 entre 31-90 días, 5 entre 91-180 días, 2 entre &gt;180 días.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34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son P2 y 6 son P1. La mediana de atraso es de 38 días y 7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1/3 (33,3%). A nivel proyecto la caminata 2 va 98,6% con 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48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(4%).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106 de los 252 DT abiertos (42,1%), con 0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3.114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29,4%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01-10-2026   ·   Corte anterior: 28-09-2026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29,4%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24 rechazadas · 15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1.474/2.056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abiertos · 448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+37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2 a 0, mientras las realizadas al 100% se mantienen en 107 (78,7%).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entregadas de 136 (29,4%) y 0 aprobadas; las rechazadas pasaron de 21 a 24.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 P1 cerrado desde el corte anterior; 582 abiertos, de los cuales 448 superaron su fecha de vencimiento. El área 3000 concentra 536 (92,1%).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30/35 · 85,7%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50/77 · 64,9%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51,3%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(421)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20/22 · 90,9%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(25)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(2)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78,7%, y el área 3000 concentra 27 de los 29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realizadas · 29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a realizar y 0 por programar. Las «por programar» bajaron 2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carpetas entregadas de 136 (29,4%). Ninguna aprobada aún: el flujo se acumula en revisión y hay 24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2.056 P1 levantados; 71,7% cerrados. El pendiente se concentra en Eléctrica, Piping,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1.474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de 582 P1 abiertos (92,1%) están en el área 3000. Áreas 2000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15 en revisión y el rearmado de las 24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P1 abiertos (92,1% del total) y 27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448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de los P1 abiertos superó su fecha de vencimiento. Foco en Eléctrica (132), Instrumentación y Control (129), Piping (124).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subsistemas pendientes: 29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2026-10-13T15:04:06Z</dcterms:created>
  <dcterms:modified xsi:type="dcterms:W3CDTF">2026-10-13T15:04:06Z</dcterms:modified>
</cp:coreProperties>
</file>