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7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8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su caminata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52</c:v>
                </c:pt>
                <c:pt idx="1">
                  <c:v>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Pendiente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28</c:v>
                </c:pt>
                <c:pt idx="1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Eléctrica</c:v>
                  </c:pt>
                  <c:pt idx="1">
                    <c:v>Piping</c:v>
                  </c:pt>
                  <c:pt idx="2">
                    <c:v>Mecánica</c:v>
                  </c:pt>
                  <c:pt idx="3">
                    <c:v>Obras Civiles</c:v>
                  </c:pt>
                  <c:pt idx="4">
                    <c:v>Instr. y Control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109</c:v>
                </c:pt>
                <c:pt idx="1">
                  <c:v>31</c:v>
                </c:pt>
                <c:pt idx="2">
                  <c:v>10</c:v>
                </c:pt>
                <c:pt idx="3">
                  <c:v>12</c:v>
                </c:pt>
                <c:pt idx="4">
                  <c:v/>
                </c:pt>
                <c:pt idx="5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fecha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Eléctrica</c:v>
                  </c:pt>
                  <c:pt idx="1">
                    <c:v>Piping</c:v>
                  </c:pt>
                  <c:pt idx="2">
                    <c:v>Mecánica</c:v>
                  </c:pt>
                  <c:pt idx="3">
                    <c:v>Obras Civiles</c:v>
                  </c:pt>
                  <c:pt idx="4">
                    <c:v>Instr. y Control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81</c:v>
                </c:pt>
                <c:pt idx="1">
                  <c:v>120</c:v>
                </c:pt>
                <c:pt idx="2">
                  <c:v>20</c:v>
                </c:pt>
                <c:pt idx="3">
                  <c:v>9</c:v>
                </c:pt>
                <c:pt idx="4">
                  <c:v>17</c:v>
                </c:pt>
                <c:pt idx="5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Atrasados</c:v>
                </c:pt>
                <c:pt idx="2">
                  <c:v>Abiertos en plazo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881</c:v>
                </c:pt>
                <c:pt idx="1">
                  <c:v>168</c:v>
                </c:pt>
                <c:pt idx="2">
                  <c:v>255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Caminata 2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/>
                </c:pt>
                <c:pt idx="1">
                  <c:v>20</c:v>
                </c:pt>
                <c:pt idx="2">
                  <c:v>23</c:v>
                </c:pt>
                <c:pt idx="3">
                  <c:v>3</c:v>
                </c:pt>
                <c:pt idx="4">
                  <c:v>14</c:v>
                </c:pt>
                <c:pt idx="5">
                  <c:v>15</c:v>
                </c:pt>
                <c:pt idx="6">
                  <c:v>110</c:v>
                </c:pt>
                <c:pt idx="7">
                  <c:v>12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Agendada 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3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4</c:v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Agenda vencida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>2</c:v>
                </c:pt>
                <c:pt idx="3">
                  <c:v/>
                </c:pt>
                <c:pt idx="4">
                  <c:v/>
                </c:pt>
                <c:pt idx="5">
                  <c:v>3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programar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Avance PEC de carpetas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95% o más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20</c:v>
                </c:pt>
                <c:pt idx="2">
                  <c:v>17</c:v>
                </c:pt>
                <c:pt idx="3">
                  <c:v>3</c:v>
                </c:pt>
                <c:pt idx="4">
                  <c:v>10</c:v>
                </c:pt>
                <c:pt idx="5">
                  <c:v>15</c:v>
                </c:pt>
                <c:pt idx="6">
                  <c:v>110</c:v>
                </c:pt>
                <c:pt idx="7">
                  <c:v>8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80% a 95%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>8</c:v>
                </c:pt>
                <c:pt idx="3">
                  <c:v/>
                </c:pt>
                <c:pt idx="4">
                  <c:v>3</c:v>
                </c:pt>
                <c:pt idx="5">
                  <c:v>6</c:v>
                </c:pt>
                <c:pt idx="6">
                  <c:v/>
                </c:pt>
                <c:pt idx="7">
                  <c:v>4</c:v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Bajo 80%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</c:v>
                </c:pt>
                <c:pt idx="5">
                  <c:v>1</c:v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DT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61</c:v>
                </c:pt>
                <c:pt idx="2">
                  <c:v>32</c:v>
                </c:pt>
                <c:pt idx="3">
                  <c:v>12</c:v>
                </c:pt>
                <c:pt idx="4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compromiso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133</c:v>
                </c:pt>
                <c:pt idx="1">
                  <c:v>71</c:v>
                </c:pt>
                <c:pt idx="2">
                  <c:v>9</c:v>
                </c:pt>
                <c:pt idx="3">
                  <c:v>13</c:v>
                </c:pt>
                <c:pt idx="4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caminata 100%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37</c:v>
                </c:pt>
                <c:pt idx="2">
                  <c:v>19</c:v>
                </c:pt>
                <c:pt idx="3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Próxima a realizar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40</c:v>
                </c:pt>
                <c:pt idx="2">
                  <c:v>3</c:v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Por programar</c:v>
                </c:pt>
              </c:strCache>
            </c:strRef>
          </c:tx>
          <c:spPr>
            <a:solidFill>
              <a:srgbClr val="3A6F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Carpetas TOP por área y estatus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 revisión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/>
                </c:pt>
                <c:pt idx="2">
                  <c:v>1</c:v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Observada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Rechazada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</c:v>
                </c:pt>
                <c:pt idx="1">
                  <c:v>7</c:v>
                </c:pt>
                <c:pt idx="2">
                  <c:v>1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entregar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14</c:v>
                </c:pt>
                <c:pt idx="1">
                  <c:v>69</c:v>
                </c:pt>
                <c:pt idx="2">
                  <c:v>20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Vencidos al corte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203</c:v>
                </c:pt>
                <c:pt idx="1">
                  <c:v>170</c:v>
                </c:pt>
                <c:pt idx="2">
                  <c:v>147</c:v>
                </c:pt>
                <c:pt idx="3">
                  <c:v>97</c:v>
                </c:pt>
                <c:pt idx="4">
                  <c:v>13</c:v>
                </c:pt>
                <c:pt idx="5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24</c:v>
                </c:pt>
                <c:pt idx="1">
                  <c:v>34</c:v>
                </c:pt>
                <c:pt idx="2">
                  <c:v>23</c:v>
                </c:pt>
                <c:pt idx="3">
                  <c:v>12</c:v>
                </c:pt>
                <c:pt idx="4">
                  <c:v>12</c:v>
                </c:pt>
                <c:pt idx="5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Abiertos</c:v>
                </c:pt>
                <c:pt idx="2">
                  <c:v>En trámite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1222</c:v>
                </c:pt>
                <c:pt idx="1">
                  <c:v>755</c:v>
                </c:pt>
                <c:pt idx="2">
                  <c:v>13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1" Type="http://schemas.openxmlformats.org/officeDocument/2006/relationships/image" Target="../media/image-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9.xml"/><Relationship Id="rId3" Type="http://schemas.openxmlformats.org/officeDocument/2006/relationships/chart" Target="/ppt/charts/chart10.xml"/><Relationship Id="rId1" Type="http://schemas.openxmlformats.org/officeDocument/2006/relationships/image" Target="../media/image-1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PV3 Montaje Electromecánico — Ampliación Desaladora · ANTOFAGASTA MINERALS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VPP-1001-03-CC-088 · 95 subsistemas (80 Operable · 15 Facility) en Desaladora y EB-2.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suman al universo 3 componentes ya entregados: son entregas parciales de un subsistema que ya está contado.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49,5%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67,6%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01-09-2026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01-09-2026 · Atrasos al 13-09-2026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52/80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subsistemas por caminar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facilities por caminar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49,5%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47/95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aprobadas · 9 en revisión · 2 rechazadas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67,6%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881/1.304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423 abiertos · 168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punch cierra a buen ritmo, pero la deuda vencida es la mitad de lo abierto.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1.408 de 2.186 ítems cerrados (64,4%); de los 778 abiertos, 293 ya pasaron su fecha requerida de cierre (37,7%).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avanzan a distinta velocidad según el tipo de subsistema.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Operables 52/80 por Caminata 2 (65%); Facility 12/15 por Caminata 1 (80%).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están a 49,5% de entrega y el cuello está en el armado interno.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entregadas de 95: 36 aprobadas, 9 en revisión y 2 rechazadas. Quedan 17 en preparación y 31 sin iniciar.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Eléctrica concentra el pendiente de P1.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190 de los 423 P1 abiertos (44,9%), con 109 atrasados.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01-09-2026 · Atrasos al 13-09-2026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certificados de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tipo de subsistema se mide con su propia caminata: los Operables por la Caminata 2 y los Facility por la Caminata 1, tal como lo declara el propio reporte gerencial.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5778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263640" y="1874520"/>
            <a:ext cx="5468112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92240" y="20848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DE ENTREGA (95 SUBSISTEMAS)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92240" y="2468880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6601968" y="264261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1" name="Text 7"/>
          <p:cNvSpPr/>
          <p:nvPr/>
        </p:nvSpPr>
        <p:spPr>
          <a:xfrm>
            <a:off x="6931152" y="24688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6888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37,9%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0561320" y="24688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6492240" y="3090672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6601968" y="326440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6" name="Text 12"/>
          <p:cNvSpPr/>
          <p:nvPr/>
        </p:nvSpPr>
        <p:spPr>
          <a:xfrm>
            <a:off x="6931152" y="309067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 del cliente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9067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9,5%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10561320" y="309067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6492240" y="3712464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6601968" y="3886200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1" name="Text 17"/>
          <p:cNvSpPr/>
          <p:nvPr/>
        </p:nvSpPr>
        <p:spPr>
          <a:xfrm>
            <a:off x="6931152" y="371246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9509760" y="371246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2,1%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10561320" y="3712464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6492240" y="4334256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5" name="Shape 21"/>
          <p:cNvSpPr/>
          <p:nvPr/>
        </p:nvSpPr>
        <p:spPr>
          <a:xfrm>
            <a:off x="6601968" y="450799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6" name="Text 22"/>
          <p:cNvSpPr/>
          <p:nvPr/>
        </p:nvSpPr>
        <p:spPr>
          <a:xfrm>
            <a:off x="6931152" y="43342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preparación (interna)</a:t>
            </a:r>
            <a:endParaRPr lang="en-US" sz="1250" dirty="0"/>
          </a:p>
        </p:txBody>
      </p:sp>
      <p:sp>
        <p:nvSpPr>
          <p:cNvPr id="27" name="Text 23"/>
          <p:cNvSpPr/>
          <p:nvPr/>
        </p:nvSpPr>
        <p:spPr>
          <a:xfrm>
            <a:off x="9509760" y="433425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17,9%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10561320" y="433425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2200" dirty="0"/>
          </a:p>
        </p:txBody>
      </p:sp>
      <p:sp>
        <p:nvSpPr>
          <p:cNvPr id="29" name="Shape 25"/>
          <p:cNvSpPr/>
          <p:nvPr/>
        </p:nvSpPr>
        <p:spPr>
          <a:xfrm>
            <a:off x="6492240" y="4956048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30" name="Shape 26"/>
          <p:cNvSpPr/>
          <p:nvPr/>
        </p:nvSpPr>
        <p:spPr>
          <a:xfrm>
            <a:off x="6601968" y="5129784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31" name="Text 27"/>
          <p:cNvSpPr/>
          <p:nvPr/>
        </p:nvSpPr>
        <p:spPr>
          <a:xfrm>
            <a:off x="6931152" y="495604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entregar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9509760" y="495604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32,6%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10561320" y="495604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2200" dirty="0"/>
          </a:p>
        </p:txBody>
      </p:sp>
      <p:sp>
        <p:nvSpPr>
          <p:cNvPr id="34" name="Text 30"/>
          <p:cNvSpPr/>
          <p:nvPr/>
        </p:nvSpPr>
        <p:spPr>
          <a:xfrm>
            <a:off x="6492240" y="55961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carpetas ya están en manos del cliente (49,5%) y 0 subsistemas tienen tarjeta verde. El grueso del pendiente todavía no sale de Besalco.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01-09-2026 · Atrasos al 13-09-2026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Punch list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1.304 P1 levantados; 67,6% cerrados. Atrasado = ítem abierto cuya fecha requerida de cierre ya venció al 13-09-2026.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67,6%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10241280" y="26700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881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Atrasados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10241280" y="32369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168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 en plazo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10241280" y="38039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255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13 días vencidos; el más antiguo lleva 126. 171 entre 1-30 días, 108 entre 31-90 días, 14 entre 91-180 días.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01-09-2026 · Atrasos al 13-09-2026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293 ítems atrasados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37,7% de los 778 abiertos ya venció su fecha requerida. Foco en Eléctrica (109), Piping (31), Mecánica (10).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28 caminatas de Operables pendientes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Caminata 2 va en 65% (52/80). Sin caminata no se levanta el punch final ni se habilita la entrega de la carpeta.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del armado interno las 48 carpetas retenidas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están en preparación y 31 sin iniciar. Solo 47 de 95 (49,5%) llegaron al cliente; 2 volvieron rechazadas y hay que rearmarlas.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la zona Desaladora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369 P1 abiertos y 125 atrasados sobre 74 subsistemas. Es la ruta crítica del proyecto.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01-09-2026 · Atrasos al 13-09-2026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Captación de agua, pozos y estaciones de bombeo · CODELCO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4600029355 · 218 subsistemas en 9 áreas · 2.111 detalles de terminación levantados.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99,5%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exigible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97,6%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exigible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promedio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92,9%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P1+P2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Atrasos calculados al 13-09-2026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2.111 DT · Atrasos al 13-09-2026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99,5%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215/216 exigibles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realizada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98,6% del universo · 2 programadas en plazo · 1 con agenda vencida · 0 sin programar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97,6%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205/210 exigibles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realizada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94% del universo · 8 programadas en plazo · 5 con agenda vencida · 0 sin programar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193/218 sobre 95%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de carpetas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subsistemas bajo 80% de avance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89,7%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365/407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abiertos · 25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está prácticamente cerrado; el volumen pendiente está en las prioridades menores.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89,7% de cierre en P1 (42 abiertos), pero 301 DT abiertos entre P2, P3 y P4 sobre un total de 343.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atraso es más antiguo que el de los otros proyectos.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 DT con la fecha de compromiso vencida; mediana de 38 días y el más antiguo lleva 178. Los 211 abiertos sin fecha de compromiso no se cuentan como atrasados.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Caminatas: 99,5% y 97,6% de lo exigible (C1 y C2).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1: 215/216 exigibles, 1 con agenda vencida. Caminata 2: 205/210, con 8 agendadas en plazo y 0 sin programar.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avanzan bien salvo un grupo acotado.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promedio 95%: 193 subsistemas sobre 95% y solo 4 bajo 80%.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2.111 DT · Atrasos al 13-09-2026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avance de carpetas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2: 97,6% de lo exigible (205/210) — se descuentan 8 agendadas a fecha futura, que no son incumplimiento al corte. Talabre mide la carpeta como % de avance (PEC), no como estado de aprobación.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8521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446520" y="1874520"/>
          <a:ext cx="5285232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2.111 DT · Atrasos al 13-09-2026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" name="Text 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2.111 DT levantados; 83,8% cerrados. Atrasado = DT abierto cuya fecha de compromiso de cierre ya venció al 13-09-2026.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POR PRIORIDAD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36992" y="243230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8778240" y="243230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365/407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10287000" y="243230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89,7%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936992" y="2688336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3" name="Shape 9"/>
          <p:cNvSpPr/>
          <p:nvPr/>
        </p:nvSpPr>
        <p:spPr>
          <a:xfrm>
            <a:off x="7936992" y="2688336"/>
            <a:ext cx="3198846" cy="118872"/>
          </a:xfrm>
          <a:prstGeom prst="rect">
            <a:avLst/>
          </a:prstGeom>
          <a:solidFill>
            <a:srgbClr val="E3A55B"/>
          </a:solidFill>
          <a:ln/>
        </p:spPr>
      </p:sp>
      <p:sp>
        <p:nvSpPr>
          <p:cNvPr id="14" name="Text 10"/>
          <p:cNvSpPr/>
          <p:nvPr/>
        </p:nvSpPr>
        <p:spPr>
          <a:xfrm>
            <a:off x="7936992" y="294436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8778240" y="294436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1.319/1.406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10287000" y="294436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93,8%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936992" y="3200400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8" name="Shape 14"/>
          <p:cNvSpPr/>
          <p:nvPr/>
        </p:nvSpPr>
        <p:spPr>
          <a:xfrm>
            <a:off x="7936992" y="3200400"/>
            <a:ext cx="3345058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9" name="Text 15"/>
          <p:cNvSpPr/>
          <p:nvPr/>
        </p:nvSpPr>
        <p:spPr>
          <a:xfrm>
            <a:off x="7936992" y="345643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8778240" y="345643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75/239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10287000" y="345643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31,4%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936992" y="3712464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3" name="Shape 19"/>
          <p:cNvSpPr/>
          <p:nvPr/>
        </p:nvSpPr>
        <p:spPr>
          <a:xfrm>
            <a:off x="7936992" y="3712464"/>
            <a:ext cx="1119774" cy="1188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4" name="Text 20"/>
          <p:cNvSpPr/>
          <p:nvPr/>
        </p:nvSpPr>
        <p:spPr>
          <a:xfrm>
            <a:off x="7936992" y="39684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8778240" y="396849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0/50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10287000" y="396849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7936992" y="4224528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8" name="Text 24"/>
          <p:cNvSpPr/>
          <p:nvPr/>
        </p:nvSpPr>
        <p:spPr>
          <a:xfrm>
            <a:off x="7936992" y="44805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8778240" y="448056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9/9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10287000" y="448056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32" name="Shape 28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33" name="Shape 29"/>
          <p:cNvSpPr/>
          <p:nvPr/>
        </p:nvSpPr>
        <p:spPr>
          <a:xfrm>
            <a:off x="7936992" y="502920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936992" y="5138928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38 días vencidos; el más antiguo lleva 178. 28 entre 1-30 días, 71 entre 31-90 días, 12 entre 91-180 días.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2.111 DT · Atrasos al 13-09-2026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111 DT atrasados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 son P2 y 25 son P1. La mediana de atraso es de 38 días y 12 superan los 90 días.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 caminata 2 en CERRO VERDE/PS2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CERRO VERDE/PS2: 0/3 (0%). A nivel proyecto la caminata 2 va 94% con 8 ya agendadas.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P4: 50 abiertos y ninguno cerrado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50 DT levantados en P4 no se ha cerrado ninguno (0%). P3 tampoco despega: 31,4% de cierre.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POZOS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110 de los 343 DT abiertos (32,1%), con 4 atrasados. Además hay 4 carpetas bajo 80% de avance que conviene cerrar en paralelo.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2.111 DT · Atrasos al 13-09-2026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Electromecánico Planta Concentradora y de Espesado · MASA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2004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 subsistemas en 4 áreas (2000 · 3000 · 4000 · 8000) · 2.967 detalles de terminación levantados.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 de armado y entrega de carpetas TOP · avance de caminatas 80% / 100% · detalles de construcción en condición P1.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68,4%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22,8%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61,4%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detalles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10-09-2026   ·   Corte anterior: 07-09-2026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10-09-2026 · Áreas 2000/3000/4000/8000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136/136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 realizadas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cerrado en las 4 áreas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68,4%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93/136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 realizadas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 próximas · 0 por programar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3593592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 vs. corte anterior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181344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0" name="Text 17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22,8%</a:t>
            </a:r>
            <a:endParaRPr lang="en-US" sz="4000" dirty="0"/>
          </a:p>
        </p:txBody>
      </p:sp>
      <p:sp>
        <p:nvSpPr>
          <p:cNvPr id="21" name="Text 18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31/136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455664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· 19 rechazadas · 11 en revisión · 1 observadas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455664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+3 vs. corte anterior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9043416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7" name="Text 24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61,4%</a:t>
            </a:r>
            <a:endParaRPr lang="en-US" sz="4000" dirty="0"/>
          </a:p>
        </p:txBody>
      </p:sp>
      <p:sp>
        <p:nvSpPr>
          <p:cNvPr id="28" name="Text 25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1.222/1.990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detalles P1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9317736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755 abiertos · 630 vencidos · 13 en trámite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9317736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+33 vs. corte anterior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457200" y="4041648"/>
            <a:ext cx="11274552" cy="2103120"/>
          </a:xfrm>
          <a:prstGeom prst="roundRect">
            <a:avLst>
              <a:gd name="adj" fmla="val 2609"/>
            </a:avLst>
          </a:prstGeom>
          <a:solidFill>
            <a:srgbClr val="12233B"/>
          </a:solidFill>
          <a:ln/>
        </p:spPr>
      </p:sp>
      <p:sp>
        <p:nvSpPr>
          <p:cNvPr id="33" name="Text 30"/>
          <p:cNvSpPr/>
          <p:nvPr/>
        </p:nvSpPr>
        <p:spPr>
          <a:xfrm>
            <a:off x="777240" y="4206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22960" y="45902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5" name="Text 32"/>
          <p:cNvSpPr/>
          <p:nvPr/>
        </p:nvSpPr>
        <p:spPr>
          <a:xfrm>
            <a:off x="1051560" y="44897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de caminatas al 100%.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 de 136 realizadas (68,4%); 43 próximas y 0 por programar.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822960" y="510235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7" name="Text 34"/>
          <p:cNvSpPr/>
          <p:nvPr/>
        </p:nvSpPr>
        <p:spPr>
          <a:xfrm>
            <a:off x="1051560" y="500176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TOP siguen sin aprobaciones y suben los rechazos.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entregadas de 136 (22,8%) y 0 aprobadas; las rechazadas pasaron de 17 a 19.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822960" y="561441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9" name="Text 36"/>
          <p:cNvSpPr/>
          <p:nvPr/>
        </p:nvSpPr>
        <p:spPr>
          <a:xfrm>
            <a:off x="1051560" y="55138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cierre de detalles P1 está prácticamente detenido y crece la deuda vencida.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+33 P1 cerrado desde el corte anterior; 755 abiertos, de los cuales 630 superaron su fecha de vencimiento. El área 3000 concentra 678 (89,8%).</a:t>
            </a:r>
            <a:endParaRPr lang="en-US" sz="1250" dirty="0"/>
          </a:p>
        </p:txBody>
      </p:sp>
      <p:sp>
        <p:nvSpPr>
          <p:cNvPr id="40" name="Text 3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10-09-2026 · Áreas 2000/3000/4000/8000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POR ÁREA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integrado de los tres frentes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02920" y="15727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3474720" y="1572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SUBSIST.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4434840" y="15727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100%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3504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ENTREGADAS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818120" y="15727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P1 % CIERRE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909828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ABIERTOS (VENC.)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0881360" y="15727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02920" y="1883664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2920" y="2011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02920" y="23408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Chancado (Área Seca)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474720" y="213969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434840" y="213969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35/35 · 100%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03504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21/35 · 60%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818120" y="213969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96,5%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909828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(14)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10863072" y="2121408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1" name="Text 18"/>
          <p:cNvSpPr/>
          <p:nvPr/>
        </p:nvSpPr>
        <p:spPr>
          <a:xfrm>
            <a:off x="10863072" y="21305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02920" y="2898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2898648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9443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3000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502920" y="32735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Molienda–Flotación (Área Húmeda)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474720" y="307238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4434840" y="307238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37/77 · 48,1%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03504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8/77 · 10,4%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7818120" y="307238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34,5%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909828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678 (586)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10863072" y="305409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2" name="Text 29"/>
          <p:cNvSpPr/>
          <p:nvPr/>
        </p:nvSpPr>
        <p:spPr>
          <a:xfrm>
            <a:off x="10863072" y="3063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02920" y="383133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87705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502920" y="42062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Espesamiento y Relaves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3474720" y="40050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4434840" y="400507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19/22 · 86,4%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03504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2/22 · 9,1%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7818120" y="400507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83,5%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09828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 (30)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863072" y="3986784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2" name="Text 39"/>
          <p:cNvSpPr/>
          <p:nvPr/>
        </p:nvSpPr>
        <p:spPr>
          <a:xfrm>
            <a:off x="10863072" y="39959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476402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57200" y="4764024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2"/>
          <p:cNvSpPr/>
          <p:nvPr/>
        </p:nvSpPr>
        <p:spPr>
          <a:xfrm>
            <a:off x="502920" y="480974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8000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502920" y="5138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Salas de Control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3474720" y="49377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434840" y="49377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2/2 · 100%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603504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0/2 · 0%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7818120" y="49377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909828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(0)</a:t>
            </a:r>
            <a:endParaRPr lang="en-US" sz="1300" dirty="0"/>
          </a:p>
        </p:txBody>
      </p:sp>
      <p:sp>
        <p:nvSpPr>
          <p:cNvPr id="52" name="Shape 49"/>
          <p:cNvSpPr/>
          <p:nvPr/>
        </p:nvSpPr>
        <p:spPr>
          <a:xfrm>
            <a:off x="10863072" y="4919472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53" name="Text 50"/>
          <p:cNvSpPr/>
          <p:nvPr/>
        </p:nvSpPr>
        <p:spPr>
          <a:xfrm>
            <a:off x="10863072" y="492861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502920" y="56967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· Crítico: caminata 100% &lt; 60% o cierre P1 &lt; 50%   ·   Atención: algún frente entre 60–90% o carpetas TOP por entregar   ·   Al día: caminatas ≥ 90% y P1 ≥ 90%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10-09-2026 · Áreas 2000/3000/4000/8000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1 · CAMINATAS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Avance de caminatas 80% y 100%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al 80% están cerradas en todas las áreas (136/136). El hito 100% avanza a 68,4%, y el área 3000 concentra 40 de los 43 subsistemas pendientes.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0956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80%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09560" y="23317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7909560" y="3035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 de 136 subsistemas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909560" y="352044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909560" y="3675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100%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7909560" y="390448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68,4%</a:t>
            </a:r>
            <a:endParaRPr lang="en-US" sz="4000" dirty="0"/>
          </a:p>
        </p:txBody>
      </p:sp>
      <p:sp>
        <p:nvSpPr>
          <p:cNvPr id="14" name="Text 10"/>
          <p:cNvSpPr/>
          <p:nvPr/>
        </p:nvSpPr>
        <p:spPr>
          <a:xfrm>
            <a:off x="7909560" y="46085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 realizadas · 43 pendientes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909560" y="507492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Foco: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 próximas a realizar y 0 por programar.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10-09-2026 · Áreas 2000/3000/4000/8000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2 · CARPETAS TOP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Estatus de armado y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carpetas entregadas de 136 (22,8%). Ninguna aprobada aún: el flujo se acumula en revisión y hay 19 rechazos que requieren rearmado.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863840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EMBUDO DE ENTREGA (136)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863840" y="2450592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7973568" y="262432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1" name="Text 7"/>
          <p:cNvSpPr/>
          <p:nvPr/>
        </p:nvSpPr>
        <p:spPr>
          <a:xfrm>
            <a:off x="8302752" y="245059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Entregadas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50592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+3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0469880" y="2450592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7863840" y="3072384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7973568" y="3246120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16" name="Text 12"/>
          <p:cNvSpPr/>
          <p:nvPr/>
        </p:nvSpPr>
        <p:spPr>
          <a:xfrm>
            <a:off x="8302752" y="307238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72384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10469880" y="3072384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7863840" y="3694176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7973568" y="386791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1" name="Text 17"/>
          <p:cNvSpPr/>
          <p:nvPr/>
        </p:nvSpPr>
        <p:spPr>
          <a:xfrm>
            <a:off x="8302752" y="3694176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Observadas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10469880" y="3694176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7863840" y="4315968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4" name="Shape 20"/>
          <p:cNvSpPr/>
          <p:nvPr/>
        </p:nvSpPr>
        <p:spPr>
          <a:xfrm>
            <a:off x="7973568" y="4489704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1"/>
          <p:cNvSpPr/>
          <p:nvPr/>
        </p:nvSpPr>
        <p:spPr>
          <a:xfrm>
            <a:off x="8302752" y="431596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Rechazadas</a:t>
            </a:r>
            <a:endParaRPr lang="en-US" sz="1250" dirty="0"/>
          </a:p>
        </p:txBody>
      </p:sp>
      <p:sp>
        <p:nvSpPr>
          <p:cNvPr id="26" name="Text 22"/>
          <p:cNvSpPr/>
          <p:nvPr/>
        </p:nvSpPr>
        <p:spPr>
          <a:xfrm>
            <a:off x="9509760" y="4315968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+2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10469880" y="4315968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2200" dirty="0"/>
          </a:p>
        </p:txBody>
      </p:sp>
      <p:sp>
        <p:nvSpPr>
          <p:cNvPr id="28" name="Shape 24"/>
          <p:cNvSpPr/>
          <p:nvPr/>
        </p:nvSpPr>
        <p:spPr>
          <a:xfrm>
            <a:off x="7863840" y="4937760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9" name="Shape 25"/>
          <p:cNvSpPr/>
          <p:nvPr/>
        </p:nvSpPr>
        <p:spPr>
          <a:xfrm>
            <a:off x="7973568" y="511149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30" name="Text 26"/>
          <p:cNvSpPr/>
          <p:nvPr/>
        </p:nvSpPr>
        <p:spPr>
          <a:xfrm>
            <a:off x="8302752" y="493776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Aprobadas</a:t>
            </a:r>
            <a:endParaRPr lang="en-US" sz="1250" dirty="0"/>
          </a:p>
        </p:txBody>
      </p:sp>
      <p:sp>
        <p:nvSpPr>
          <p:cNvPr id="31" name="Text 27"/>
          <p:cNvSpPr/>
          <p:nvPr/>
        </p:nvSpPr>
        <p:spPr>
          <a:xfrm>
            <a:off x="10469880" y="493776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200" dirty="0"/>
          </a:p>
        </p:txBody>
      </p:sp>
      <p:sp>
        <p:nvSpPr>
          <p:cNvPr id="32" name="Text 28"/>
          <p:cNvSpPr/>
          <p:nvPr/>
        </p:nvSpPr>
        <p:spPr>
          <a:xfrm>
            <a:off x="7863840" y="555955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Cuello de botella: la revisión del cliente devuelve más carpetas de las que aprueba. Convertir entregas en aprobaciones es el próximo hito.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10-09-2026 · Áreas 2000/3000/4000/8000</a:t>
            </a:r>
            <a:endParaRPr lang="en-US" sz="850" dirty="0"/>
          </a:p>
        </p:txBody>
      </p:sp>
      <p:sp>
        <p:nvSpPr>
          <p:cNvPr id="34" name="Text 3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35" name="Text 3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3 · DETALLES P1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1.990 P1 levantados; 61,4% cerrados. El pendiente se concentra en Piping, Eléctrica, Instrumentación y Control, y físicamente en el área 3000.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61,4%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0241280" y="2651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1.222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10241280" y="32186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755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trámite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10241280" y="3785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Concentración por área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678 de 755 P1 abiertos (89,8%) están en el área 3000. Áreas 2000 y 8000 sobre 90% de cierre.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10-09-2026 · Áreas 2000/3000/4000/8000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aprobaciones de carpetas TOP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de 136. Priorizar el cierre de las 11 en revisión y el rearmado de las 19 rechazadas para convertir entregas en aprobaciones.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Atacar el atraso del área 3000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678 P1 abiertos (89,8% del total) y 40 caminatas 100% pendientes. Es la ruta crítica: sin esta área no mejora ningún indicador global.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630 P1 vencidos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83,4% de los P1 abiertos superó su fecha de vencimiento. Foco en Piping (203), Eléctrica (170), Instrumentación y Control (147).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caminatas ya programadas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 subsistemas pendientes: 43 próximos a realizar y 0 por programar. La programación ya está hecha; falta ejecutarla para habilitar la entrega de carpetas.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10-09-2026 · Áreas 2000/3000/4000/8000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Panel de Control — Carpetas TOP · Caminatas · Detalles P1</dc:title>
  <dc:subject>PptxGenJS Presentation</dc:subject>
  <dc:creator>Control de Proyecto</dc:creator>
  <cp:lastModifiedBy>Control de Proyecto</cp:lastModifiedBy>
  <cp:revision>1</cp:revision>
  <dcterms:created xsi:type="dcterms:W3CDTF">2026-09-14T02:44:16Z</dcterms:created>
  <dcterms:modified xsi:type="dcterms:W3CDTF">2026-09-14T02:44:16Z</dcterms:modified>
</cp:coreProperties>
</file>