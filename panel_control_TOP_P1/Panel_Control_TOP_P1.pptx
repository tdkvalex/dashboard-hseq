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66</c:v>
                </c:pt>
                <c:pt idx="1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13</c:v>
                </c:pt>
                <c:pt idx="1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84</c:v>
                </c:pt>
                <c:pt idx="1">
                  <c:v>83</c:v>
                </c:pt>
                <c:pt idx="2">
                  <c:v>11</c:v>
                </c:pt>
                <c:pt idx="3">
                  <c:v>14</c:v>
                </c:pt>
                <c:pt idx="4">
                  <c:v>5</c:v>
                </c:pt>
                <c:pt idx="5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148</c:v>
                </c:pt>
                <c:pt idx="1">
                  <c:v>31</c:v>
                </c:pt>
                <c:pt idx="2">
                  <c:v>48</c:v>
                </c:pt>
                <c:pt idx="3">
                  <c:v>1</c:v>
                </c:pt>
                <c:pt idx="4">
                  <c:v>8</c:v>
                </c:pt>
                <c:pt idx="5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1129</c:v>
                </c:pt>
                <c:pt idx="1">
                  <c:v>206</c:v>
                </c:pt>
                <c:pt idx="2">
                  <c:v>237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</c:v>
                </c:pt>
                <c:pt idx="1">
                  <c:v>20</c:v>
                </c:pt>
                <c:pt idx="2">
                  <c:v>25</c:v>
                </c:pt>
                <c:pt idx="3">
                  <c:v>3</c:v>
                </c:pt>
                <c:pt idx="4">
                  <c:v>14</c:v>
                </c:pt>
                <c:pt idx="5">
                  <c:v>21</c:v>
                </c:pt>
                <c:pt idx="6">
                  <c:v>110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 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Agenda vencida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20</c:v>
                </c:pt>
                <c:pt idx="2">
                  <c:v>17</c:v>
                </c:pt>
                <c:pt idx="3">
                  <c:v>3</c:v>
                </c:pt>
                <c:pt idx="4">
                  <c:v>10</c:v>
                </c:pt>
                <c:pt idx="5">
                  <c:v>15</c:v>
                </c:pt>
                <c:pt idx="6">
                  <c:v>110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>8</c:v>
                </c:pt>
                <c:pt idx="3">
                  <c:v/>
                </c:pt>
                <c:pt idx="4">
                  <c:v>3</c:v>
                </c:pt>
                <c:pt idx="5">
                  <c:v>7</c:v>
                </c:pt>
                <c:pt idx="6">
                  <c:v/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</c:v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</c:v>
                </c:pt>
                <c:pt idx="1">
                  <c:v>43</c:v>
                </c:pt>
                <c:pt idx="2">
                  <c:v>8</c:v>
                </c:pt>
                <c:pt idx="3">
                  <c:v>8</c:v>
                </c:pt>
                <c:pt idx="4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132</c:v>
                </c:pt>
                <c:pt idx="1">
                  <c:v>60</c:v>
                </c:pt>
                <c:pt idx="2">
                  <c:v>23</c:v>
                </c:pt>
                <c:pt idx="3">
                  <c:v>13</c:v>
                </c:pt>
                <c:pt idx="4">
                  <c:v>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50</c:v>
                </c:pt>
                <c:pt idx="2">
                  <c:v>20</c:v>
                </c:pt>
                <c:pt idx="3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27</c:v>
                </c:pt>
                <c:pt idx="2">
                  <c:v>2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</c:v>
                </c:pt>
                <c:pt idx="1">
                  <c:v>7</c:v>
                </c:pt>
                <c:pt idx="2">
                  <c:v>2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5</c:v>
                </c:pt>
                <c:pt idx="1">
                  <c:v>69</c:v>
                </c:pt>
                <c:pt idx="2">
                  <c:v>20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Obras Civiles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132</c:v>
                </c:pt>
                <c:pt idx="1">
                  <c:v>124</c:v>
                </c:pt>
                <c:pt idx="2">
                  <c:v>129</c:v>
                </c:pt>
                <c:pt idx="3">
                  <c:v>62</c:v>
                </c:pt>
                <c:pt idx="4">
                  <c:v/>
                </c:pt>
                <c:pt idx="5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Obras Civiles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43</c:v>
                </c:pt>
                <c:pt idx="1">
                  <c:v>26</c:v>
                </c:pt>
                <c:pt idx="2">
                  <c:v>20</c:v>
                </c:pt>
                <c:pt idx="3">
                  <c:v>16</c:v>
                </c:pt>
                <c:pt idx="4">
                  <c:v>16</c:v>
                </c:pt>
                <c:pt idx="5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1474</c:v>
                </c:pt>
                <c:pt idx="1">
                  <c:v>582</c:v>
                </c:pt>
                <c:pt idx="2">
                  <c:v>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ANTOFAGASTA MINERALS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3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83,5%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66,3%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71,8%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29-09-2026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29-09-2026 · Atrasos al 05-10-2026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83,5%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66/79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66,3%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aprobadas · 11 en revisión · 6 rechazadas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71,8%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1.129/1.572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443 abiertos · 206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1.792 de 2.481 ítems cerrados (72,2%); de los 689 abiertos, 366 ya pasaron su fecha requerida de cierre (53,1%).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66/79 por Caminata 2 (83,5%); Facility 12/15 por Caminata 1 (80%).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66,3%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entregadas de 95: 46 aprobadas, 11 en revisión y 6 rechazadas. Quedan 15 en preparación y 17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232 de los 443 P1 abiertos (52,4%), con 84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29-09-2026 · Atrasos al 05-10-2026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48,4%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11,6%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6,3%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15,8%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17,9%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carpetas ya están en manos del cliente (66,3%) y 46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29-09-2026 · Atrasos al 05-10-2026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1.572 P1 levantados; 71,8% cerrados. Atrasado = ítem abierto cuya fecha requerida de cierre ya venció al 05-10-2026.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71,8%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1.129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237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20 días vencidos; el más antiguo lleva 148. 202 entre 1-30 días, 82 entre 31-90 días, 82 entre 91-180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29-09-2026 · Atrasos al 05-10-2026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366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53,1% de los 689 abiertos ya venció su fecha requerida. Foco en Piping (84), Eléctrica (83), Mecánica (11).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13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83,5% (66/79).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32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están en preparación y 17 sin iniciar. Solo 63 de 95 (66,3%) llegaron al cliente; 6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391 P1 abiertos y 154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29-09-2026 · Atrasos al 05-10-2026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218 subsistemas en 9 áreas · 2.175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exigible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98,2%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exigible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P1+P2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05-10-2026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2.175 DT · Atrasos al 05-10-2026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218/218 exigibles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del universo · 0 programadas en plazo · 0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98,2%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214/218 exigibles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98,2% del universo · 0 programadas en plazo · 4 con agenda vencida · 0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193/218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91,8%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404/440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abiertos · 19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91,8% de cierre en P1 (36 abiertos), pero 277 DT abiertos entre P2, P3 y P4 sobre un total de 313.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 DT con la fecha de compromiso vencida; mediana de 59 días y el más antiguo lleva 200. Los 211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Caminatas: 100% y 98,2% de lo exigible (C1 y C2).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218/218 exigibles. Caminata 2: 214/218, con 0 agendadas en plazo y 0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95%: 193 subsistemas sobre 95% y solo 3 bajo 80%.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2.175 DT · Atrasos al 05-10-2026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2: 98,2% de lo exigible (214/218) — se descuentan 0 agendadas a fecha futura, que no son incumplimiento al corte.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2.175 DT · Atrasos al 05-10-2026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2.175 DT levantados; 85,6% cerrados. Atrasado = DT abierto cuya fecha de compromiso de cierre ya venció al 05-10-2026.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323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404/440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323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91,8%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68833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688336"/>
            <a:ext cx="3273735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29443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29443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1.374/1.437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29443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95,6%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2004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200400"/>
            <a:ext cx="3409249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4564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4564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31,4%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71246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712464"/>
            <a:ext cx="1119774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39684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39684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39684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22452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Text 24"/>
          <p:cNvSpPr/>
          <p:nvPr/>
        </p:nvSpPr>
        <p:spPr>
          <a:xfrm>
            <a:off x="7936992" y="44805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8240" y="4480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0287000" y="44805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2" name="Shape 28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502920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138928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59 días vencidos; el más antiguo lleva 200. 30 entre 1-30 días, 27 entre 31-90 días, 9 entre 91-180 días, 2 entre &gt;180 días.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2.175 DT · Atrasos al 05-10-2026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68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son P2 y 19 son P1. La mediana de atraso es de 59 días y 11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1/3 (33,3%). A nivel proyecto la caminata 2 va 98,2% con 0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31,4%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108 de los 313 DT abiertos (34,5%), con 2 atrasados. Además hay 3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2.175 DT · Atrasos al 05-10-2026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Electromecánico Planta Concentradora y de Espesado · MASA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subsistemas en 4 áreas (2000 · 3000 · 4000 · 8000) · 3.114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29,4%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01-10-2026   ·   Corte anterior: 28-09-2026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136/136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78,7%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107/136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próximas · 0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29,4%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40/136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24 rechazadas · 15 en revisión · 1 observadas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71,7%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1.474/2.056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582 abiertos · 448 vencidos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+37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destrabó la programación de caminatas, pero no la ejecución.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subsistemas «por programar» bajaron de 2 a 0, mientras las realizadas al 100% se mantienen en 107 (78,7%).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 y suben los rechazos.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entregadas de 136 (29,4%) y 0 aprobadas; las rechazadas pasaron de 21 a 24.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+37 P1 cerrado desde el corte anterior; 582 abiertos, de los cuales 448 superaron su fecha de vencimiento. El área 3000 concentra 536 (92,1%).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30/35 · 85,7%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(0)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50/77 · 64,9%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8/77 · 10,4%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51,3%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536 (421)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20/22 · 90,9%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2/22 · 9,1%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(25)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 · 100%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85,7%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(2)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(136/136). El hito 100% avanza a 78,7%, y el área 3000 concentra 27 de los 29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de 136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78,7%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 realizadas · 29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próximas a realizar y 0 por programar. Las «por programar» bajaron 2 en el período.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carpetas entregadas de 136 (29,4%). Ninguna aprobada aún: el flujo se acumula en revisión y hay 24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(136)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505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6" name="Text 12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7238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-2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1" name="Text 17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4" name="Shape 20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9509760" y="431596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+3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2200" dirty="0"/>
          </a:p>
        </p:txBody>
      </p:sp>
      <p:sp>
        <p:nvSpPr>
          <p:cNvPr id="28" name="Shape 24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9" name="Shape 25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30" name="Text 26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2" name="Text 28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2.056 P1 levantados; 71,7% cerrados. El pendiente se concentra en Eléctrica, Piping,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71,7%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1.474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582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536 de 582 P1 abiertos (92,1%) están en el área 3000. Áreas 2000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136. Priorizar el cierre de las 15 en revisión y el rearmado de las 24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536 P1 abiertos (92,1% del total) y 27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448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 de los P1 abiertos superó su fecha de vencimiento. Foco en Eléctrica (132), Instrumentación y Control (129), Piping (124).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subsistemas pendientes: 29 próximos a realizar y 0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2026-10-05T14:26:35Z</dcterms:created>
  <dcterms:modified xsi:type="dcterms:W3CDTF">2026-10-05T14:26:35Z</dcterms:modified>
</cp:coreProperties>
</file>