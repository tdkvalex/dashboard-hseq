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7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8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4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433"/>
                </a:solidFill>
                <a:latin typeface="Calibri"/>
              </a:rPr>
              <a:t>Subsistemas por estado de su caminata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Realizada</c:v>
                </c:pt>
              </c:strCache>
            </c:strRef>
          </c:tx>
          <c:spPr>
            <a:solidFill>
              <a:srgbClr val="1F7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Operable (C2)</c:v>
                  </c:pt>
                  <c:pt idx="1">
                    <c:v>Facility (C1)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</c:v>
                </c:pt>
                <c:pt idx="1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Pendiente</c:v>
                </c:pt>
              </c:strCache>
            </c:strRef>
          </c:tx>
          <c:spPr>
            <a:solidFill>
              <a:srgbClr val="5B6B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Operable (C2)</c:v>
                  </c:pt>
                  <c:pt idx="1">
                    <c:v>Facility (C1)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</c:v>
                </c:pt>
                <c:pt idx="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A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6606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4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433"/>
                </a:solidFill>
                <a:latin typeface="Calibri"/>
              </a:rPr>
              <a:t>P1 abiertos por disciplina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Atrasados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Piping</c:v>
                  </c:pt>
                  <c:pt idx="1">
                    <c:v>Eléctrica</c:v>
                  </c:pt>
                  <c:pt idx="2">
                    <c:v>Mecánica</c:v>
                  </c:pt>
                  <c:pt idx="3">
                    <c:v>Obras Civiles</c:v>
                  </c:pt>
                  <c:pt idx="4">
                    <c:v>Instr. y Control</c:v>
                  </c:pt>
                  <c:pt idx="5">
                    <c:v>Estructura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103</c:v>
                </c:pt>
                <c:pt idx="1">
                  <c:v>70</c:v>
                </c:pt>
                <c:pt idx="2">
                  <c:v>13</c:v>
                </c:pt>
                <c:pt idx="3">
                  <c:v>14</c:v>
                </c:pt>
                <c:pt idx="4">
                  <c:v>6</c:v>
                </c:pt>
                <c:pt idx="5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 plazo o sin fecha</c:v>
                </c:pt>
              </c:strCache>
            </c:strRef>
          </c:tx>
          <c:spPr>
            <a:solidFill>
              <a:srgbClr val="2E6F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Piping</c:v>
                  </c:pt>
                  <c:pt idx="1">
                    <c:v>Eléctrica</c:v>
                  </c:pt>
                  <c:pt idx="2">
                    <c:v>Mecánica</c:v>
                  </c:pt>
                  <c:pt idx="3">
                    <c:v>Obras Civiles</c:v>
                  </c:pt>
                  <c:pt idx="4">
                    <c:v>Instr. y Control</c:v>
                  </c:pt>
                  <c:pt idx="5">
                    <c:v>Estructura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66</c:v>
                </c:pt>
                <c:pt idx="1">
                  <c:v>10</c:v>
                </c:pt>
                <c:pt idx="2">
                  <c:v>18</c:v>
                </c:pt>
                <c:pt idx="3">
                  <c:v>2</c:v>
                </c:pt>
                <c:pt idx="4">
                  <c:v>3</c:v>
                </c:pt>
                <c:pt idx="5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1" i="0" u="none" strike="noStrike">
                <a:solidFill>
                  <a:srgbClr val="1A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6606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9E5B"/>
              </a:solidFill>
              <a:ln w="9525" cap="flat">
                <a:solidFill>
                  <a:srgbClr val="12233B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0392B"/>
              </a:solidFill>
              <a:ln w="9525" cap="flat">
                <a:solidFill>
                  <a:srgbClr val="12233B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E3A55B"/>
              </a:solidFill>
              <a:ln w="9525" cap="flat">
                <a:solidFill>
                  <a:srgbClr val="12233B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Cerrados</c:v>
                </c:pt>
                <c:pt idx="1">
                  <c:v>Atrasados</c:v>
                </c:pt>
                <c:pt idx="2">
                  <c:v>Abiertos en plazo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1412</c:v>
                </c:pt>
                <c:pt idx="1">
                  <c:v>212</c:v>
                </c:pt>
                <c:pt idx="2">
                  <c:v>99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12233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4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433"/>
                </a:solidFill>
                <a:latin typeface="Calibri"/>
              </a:rPr>
              <a:t>Caminata 2 por área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Realizada</c:v>
                </c:pt>
              </c:strCache>
            </c:strRef>
          </c:tx>
          <c:spPr>
            <a:solidFill>
              <a:srgbClr val="1F7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CERRO VERDE/PS2</c:v>
                  </c:pt>
                  <c:pt idx="1">
                    <c:v>EBMP</c:v>
                  </c:pt>
                  <c:pt idx="2">
                    <c:v>EBMS</c:v>
                  </c:pt>
                  <c:pt idx="3">
                    <c:v>IMPULSIÓN ADUCCIÓN</c:v>
                  </c:pt>
                  <c:pt idx="4">
                    <c:v>LÍNEAS IMPULSIÓN</c:v>
                  </c:pt>
                  <c:pt idx="5">
                    <c:v>PISCINAS Y SEDIMENTADOR</c:v>
                  </c:pt>
                  <c:pt idx="6">
                    <c:v>POZOS</c:v>
                  </c:pt>
                  <c:pt idx="7">
                    <c:v>PQS</c:v>
                  </c:pt>
                  <c:pt idx="8">
                    <c:v>SALA GAR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20</c:v>
                </c:pt>
                <c:pt idx="2">
                  <c:v>25</c:v>
                </c:pt>
                <c:pt idx="3">
                  <c:v>3</c:v>
                </c:pt>
                <c:pt idx="4">
                  <c:v>14</c:v>
                </c:pt>
                <c:pt idx="5">
                  <c:v>22</c:v>
                </c:pt>
                <c:pt idx="6">
                  <c:v>110</c:v>
                </c:pt>
                <c:pt idx="7">
                  <c:v>12</c:v>
                </c:pt>
                <c:pt idx="8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Agendada en plazo</c:v>
                </c:pt>
              </c:strCache>
            </c:strRef>
          </c:tx>
          <c:spPr>
            <a:solidFill>
              <a:srgbClr val="2E6F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CERRO VERDE/PS2</c:v>
                  </c:pt>
                  <c:pt idx="1">
                    <c:v>EBMP</c:v>
                  </c:pt>
                  <c:pt idx="2">
                    <c:v>EBMS</c:v>
                  </c:pt>
                  <c:pt idx="3">
                    <c:v>IMPULSIÓN ADUCCIÓN</c:v>
                  </c:pt>
                  <c:pt idx="4">
                    <c:v>LÍNEAS IMPULSIÓN</c:v>
                  </c:pt>
                  <c:pt idx="5">
                    <c:v>PISCINAS Y SEDIMENTADOR</c:v>
                  </c:pt>
                  <c:pt idx="6">
                    <c:v>POZOS</c:v>
                  </c:pt>
                  <c:pt idx="7">
                    <c:v>PQS</c:v>
                  </c:pt>
                  <c:pt idx="8">
                    <c:v>SALA GAR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Agenda vencida</c:v>
                </c:pt>
              </c:strCache>
            </c:strRef>
          </c:tx>
          <c:spPr>
            <a:solidFill>
              <a:srgbClr val="9A6B0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CERRO VERDE/PS2</c:v>
                  </c:pt>
                  <c:pt idx="1">
                    <c:v>EBMP</c:v>
                  </c:pt>
                  <c:pt idx="2">
                    <c:v>EBMS</c:v>
                  </c:pt>
                  <c:pt idx="3">
                    <c:v>IMPULSIÓN ADUCCIÓN</c:v>
                  </c:pt>
                  <c:pt idx="4">
                    <c:v>LÍNEAS IMPULSIÓN</c:v>
                  </c:pt>
                  <c:pt idx="5">
                    <c:v>PISCINAS Y SEDIMENTADOR</c:v>
                  </c:pt>
                  <c:pt idx="6">
                    <c:v>POZOS</c:v>
                  </c:pt>
                  <c:pt idx="7">
                    <c:v>PQS</c:v>
                  </c:pt>
                  <c:pt idx="8">
                    <c:v>SALA GAR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1</c:v>
                </c:pt>
                <c:pt idx="8">
                  <c:v/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Sin programar</c:v>
                </c:pt>
              </c:strCache>
            </c:strRef>
          </c:tx>
          <c:spPr>
            <a:solidFill>
              <a:srgbClr val="5B6B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CERRO VERDE/PS2</c:v>
                  </c:pt>
                  <c:pt idx="1">
                    <c:v>EBMP</c:v>
                  </c:pt>
                  <c:pt idx="2">
                    <c:v>EBMS</c:v>
                  </c:pt>
                  <c:pt idx="3">
                    <c:v>IMPULSIÓN ADUCCIÓN</c:v>
                  </c:pt>
                  <c:pt idx="4">
                    <c:v>LÍNEAS IMPULSIÓN</c:v>
                  </c:pt>
                  <c:pt idx="5">
                    <c:v>PISCINAS Y SEDIMENTADOR</c:v>
                  </c:pt>
                  <c:pt idx="6">
                    <c:v>POZOS</c:v>
                  </c:pt>
                  <c:pt idx="7">
                    <c:v>PQS</c:v>
                  </c:pt>
                  <c:pt idx="8">
                    <c:v>SALA GAR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1" i="0" u="none" strike="noStrike">
                <a:solidFill>
                  <a:srgbClr val="1A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6606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4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433"/>
                </a:solidFill>
                <a:latin typeface="Calibri"/>
              </a:rPr>
              <a:t>Avance PEC de carpetas por área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95% o más</c:v>
                </c:pt>
              </c:strCache>
            </c:strRef>
          </c:tx>
          <c:spPr>
            <a:solidFill>
              <a:srgbClr val="1F7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CERRO VERDE/PS2</c:v>
                  </c:pt>
                  <c:pt idx="1">
                    <c:v>EBMP</c:v>
                  </c:pt>
                  <c:pt idx="2">
                    <c:v>EBMS</c:v>
                  </c:pt>
                  <c:pt idx="3">
                    <c:v>IMPULSIÓN ADUCCIÓN</c:v>
                  </c:pt>
                  <c:pt idx="4">
                    <c:v>LÍNEAS IMPULSIÓN</c:v>
                  </c:pt>
                  <c:pt idx="5">
                    <c:v>PISCINAS Y SEDIMENTADOR</c:v>
                  </c:pt>
                  <c:pt idx="6">
                    <c:v>POZOS</c:v>
                  </c:pt>
                  <c:pt idx="7">
                    <c:v>PQS</c:v>
                  </c:pt>
                  <c:pt idx="8">
                    <c:v>SALA GAR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20</c:v>
                </c:pt>
                <c:pt idx="2">
                  <c:v>17</c:v>
                </c:pt>
                <c:pt idx="3">
                  <c:v>3</c:v>
                </c:pt>
                <c:pt idx="4">
                  <c:v>10</c:v>
                </c:pt>
                <c:pt idx="5">
                  <c:v>15</c:v>
                </c:pt>
                <c:pt idx="6">
                  <c:v>110</c:v>
                </c:pt>
                <c:pt idx="7">
                  <c:v>8</c:v>
                </c:pt>
                <c:pt idx="8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80% a 95%</c:v>
                </c:pt>
              </c:strCache>
            </c:strRef>
          </c:tx>
          <c:spPr>
            <a:solidFill>
              <a:srgbClr val="2E6F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CERRO VERDE/PS2</c:v>
                  </c:pt>
                  <c:pt idx="1">
                    <c:v>EBMP</c:v>
                  </c:pt>
                  <c:pt idx="2">
                    <c:v>EBMS</c:v>
                  </c:pt>
                  <c:pt idx="3">
                    <c:v>IMPULSIÓN ADUCCIÓN</c:v>
                  </c:pt>
                  <c:pt idx="4">
                    <c:v>LÍNEAS IMPULSIÓN</c:v>
                  </c:pt>
                  <c:pt idx="5">
                    <c:v>PISCINAS Y SEDIMENTADOR</c:v>
                  </c:pt>
                  <c:pt idx="6">
                    <c:v>POZOS</c:v>
                  </c:pt>
                  <c:pt idx="7">
                    <c:v>PQS</c:v>
                  </c:pt>
                  <c:pt idx="8">
                    <c:v>SALA GAR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/>
                </c:pt>
                <c:pt idx="1">
                  <c:v/>
                </c:pt>
                <c:pt idx="2">
                  <c:v>8</c:v>
                </c:pt>
                <c:pt idx="3">
                  <c:v/>
                </c:pt>
                <c:pt idx="4">
                  <c:v>3</c:v>
                </c:pt>
                <c:pt idx="5">
                  <c:v>7</c:v>
                </c:pt>
                <c:pt idx="6">
                  <c:v/>
                </c:pt>
                <c:pt idx="7">
                  <c:v>4</c:v>
                </c:pt>
                <c:pt idx="8">
                  <c:v/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Bajo 80%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CERRO VERDE/PS2</c:v>
                  </c:pt>
                  <c:pt idx="1">
                    <c:v>EBMP</c:v>
                  </c:pt>
                  <c:pt idx="2">
                    <c:v>EBMS</c:v>
                  </c:pt>
                  <c:pt idx="3">
                    <c:v>IMPULSIÓN ADUCCIÓN</c:v>
                  </c:pt>
                  <c:pt idx="4">
                    <c:v>LÍNEAS IMPULSIÓN</c:v>
                  </c:pt>
                  <c:pt idx="5">
                    <c:v>PISCINAS Y SEDIMENTADOR</c:v>
                  </c:pt>
                  <c:pt idx="6">
                    <c:v>POZOS</c:v>
                  </c:pt>
                  <c:pt idx="7">
                    <c:v>PQS</c:v>
                  </c:pt>
                  <c:pt idx="8">
                    <c:v>SALA GAR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1</c:v>
                </c:pt>
                <c:pt idx="5">
                  <c:v/>
                </c:pt>
                <c:pt idx="6">
                  <c:v/>
                </c:pt>
                <c:pt idx="7">
                  <c:v>1</c:v>
                </c:pt>
                <c:pt idx="8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1" i="0" u="none" strike="noStrike">
                <a:solidFill>
                  <a:srgbClr val="1A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6606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4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433"/>
                </a:solidFill>
                <a:latin typeface="Calibri"/>
              </a:rPr>
              <a:t>DT abiertos por disciplina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Atrasados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Piping</c:v>
                  </c:pt>
                  <c:pt idx="1">
                    <c:v>Obras Civiles</c:v>
                  </c:pt>
                  <c:pt idx="2">
                    <c:v>Estructura</c:v>
                  </c:pt>
                  <c:pt idx="3">
                    <c:v>Eléctrica</c:v>
                  </c:pt>
                  <c:pt idx="4">
                    <c:v>Instr. y Control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12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 plazo o sin compromiso</c:v>
                </c:pt>
              </c:strCache>
            </c:strRef>
          </c:tx>
          <c:spPr>
            <a:solidFill>
              <a:srgbClr val="2E6F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Piping</c:v>
                  </c:pt>
                  <c:pt idx="1">
                    <c:v>Obras Civiles</c:v>
                  </c:pt>
                  <c:pt idx="2">
                    <c:v>Estructura</c:v>
                  </c:pt>
                  <c:pt idx="3">
                    <c:v>Eléctrica</c:v>
                  </c:pt>
                  <c:pt idx="4">
                    <c:v>Instr. y Control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130</c:v>
                </c:pt>
                <c:pt idx="1">
                  <c:v>57</c:v>
                </c:pt>
                <c:pt idx="2">
                  <c:v>13</c:v>
                </c:pt>
                <c:pt idx="3">
                  <c:v>10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1" i="0" u="none" strike="noStrike">
                <a:solidFill>
                  <a:srgbClr val="1A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6606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4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433"/>
                </a:solidFill>
                <a:latin typeface="Calibri"/>
              </a:rPr>
              <a:t>Subsistemas por estado de caminata 100%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Realizada</c:v>
                </c:pt>
              </c:strCache>
            </c:strRef>
          </c:tx>
          <c:spPr>
            <a:solidFill>
              <a:srgbClr val="1F7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2000</c:v>
                  </c:pt>
                  <c:pt idx="1">
                    <c:v>3000</c:v>
                  </c:pt>
                  <c:pt idx="2">
                    <c:v>4000</c:v>
                  </c:pt>
                  <c:pt idx="3">
                    <c:v>8000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77</c:v>
                </c:pt>
                <c:pt idx="2">
                  <c:v>22</c:v>
                </c:pt>
                <c:pt idx="3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Próxima a realizar</c:v>
                </c:pt>
              </c:strCache>
            </c:strRef>
          </c:tx>
          <c:spPr>
            <a:solidFill>
              <a:srgbClr val="2E6F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2000</c:v>
                  </c:pt>
                  <c:pt idx="1">
                    <c:v>3000</c:v>
                  </c:pt>
                  <c:pt idx="2">
                    <c:v>4000</c:v>
                  </c:pt>
                  <c:pt idx="3">
                    <c:v>8000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Por programar</c:v>
                </c:pt>
              </c:strCache>
            </c:strRef>
          </c:tx>
          <c:spPr>
            <a:solidFill>
              <a:srgbClr val="3A6F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2000</c:v>
                  </c:pt>
                  <c:pt idx="1">
                    <c:v>3000</c:v>
                  </c:pt>
                  <c:pt idx="2">
                    <c:v>4000</c:v>
                  </c:pt>
                  <c:pt idx="3">
                    <c:v>8000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A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6606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4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433"/>
                </a:solidFill>
                <a:latin typeface="Calibri"/>
              </a:rPr>
              <a:t>Carpetas TOP por área y estatus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 revisión</c:v>
                </c:pt>
              </c:strCache>
            </c:strRef>
          </c:tx>
          <c:spPr>
            <a:solidFill>
              <a:srgbClr val="2E6F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2000</c:v>
                  </c:pt>
                  <c:pt idx="1">
                    <c:v>3000</c:v>
                  </c:pt>
                  <c:pt idx="2">
                    <c:v>4000</c:v>
                  </c:pt>
                  <c:pt idx="3">
                    <c:v>8000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/>
                </c:pt>
                <c:pt idx="2">
                  <c:v>8</c:v>
                </c:pt>
                <c:pt idx="3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Observada</c:v>
                </c:pt>
              </c:strCache>
            </c:strRef>
          </c:tx>
          <c:spPr>
            <a:solidFill>
              <a:srgbClr val="9A6B0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2000</c:v>
                  </c:pt>
                  <c:pt idx="1">
                    <c:v>3000</c:v>
                  </c:pt>
                  <c:pt idx="2">
                    <c:v>4000</c:v>
                  </c:pt>
                  <c:pt idx="3">
                    <c:v>8000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/>
                </c:pt>
                <c:pt idx="1">
                  <c:v>1</c:v>
                </c:pt>
                <c:pt idx="2">
                  <c:v/>
                </c:pt>
                <c:pt idx="3">
                  <c:v/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Rechazada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2000</c:v>
                  </c:pt>
                  <c:pt idx="1">
                    <c:v>3000</c:v>
                  </c:pt>
                  <c:pt idx="2">
                    <c:v>4000</c:v>
                  </c:pt>
                  <c:pt idx="3">
                    <c:v>8000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21</c:v>
                </c:pt>
                <c:pt idx="1">
                  <c:v>7</c:v>
                </c:pt>
                <c:pt idx="2">
                  <c:v>2</c:v>
                </c:pt>
                <c:pt idx="3">
                  <c:v/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Sin entregar</c:v>
                </c:pt>
              </c:strCache>
            </c:strRef>
          </c:tx>
          <c:spPr>
            <a:solidFill>
              <a:srgbClr val="5B6B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2000</c:v>
                  </c:pt>
                  <c:pt idx="1">
                    <c:v>3000</c:v>
                  </c:pt>
                  <c:pt idx="2">
                    <c:v>4000</c:v>
                  </c:pt>
                  <c:pt idx="3">
                    <c:v>8000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</c:v>
                </c:pt>
                <c:pt idx="1">
                  <c:v>69</c:v>
                </c:pt>
                <c:pt idx="2">
                  <c:v>12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A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6606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4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2433"/>
                </a:solidFill>
                <a:latin typeface="Calibri"/>
              </a:rPr>
              <a:t>P1 abiertos por disciplina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Vencidos al corte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Instrum. y Control</c:v>
                  </c:pt>
                  <c:pt idx="1">
                    <c:v>Eléctrica</c:v>
                  </c:pt>
                  <c:pt idx="2">
                    <c:v>Piping</c:v>
                  </c:pt>
                  <c:pt idx="3">
                    <c:v>Estructura</c:v>
                  </c:pt>
                  <c:pt idx="4">
                    <c:v>Mecánica</c:v>
                  </c:pt>
                  <c:pt idx="5">
                    <c:v>Obras Civiles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</c:v>
                </c:pt>
                <c:pt idx="1">
                  <c:v>33</c:v>
                </c:pt>
                <c:pt idx="2">
                  <c:v>10</c:v>
                </c:pt>
                <c:pt idx="3">
                  <c:v>2</c:v>
                </c:pt>
                <c:pt idx="4">
                  <c:v>2</c:v>
                </c:pt>
                <c:pt idx="5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 plazo</c:v>
                </c:pt>
              </c:strCache>
            </c:strRef>
          </c:tx>
          <c:spPr>
            <a:solidFill>
              <a:srgbClr val="2E6F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Instrum. y Control</c:v>
                  </c:pt>
                  <c:pt idx="1">
                    <c:v>Eléctrica</c:v>
                  </c:pt>
                  <c:pt idx="2">
                    <c:v>Piping</c:v>
                  </c:pt>
                  <c:pt idx="3">
                    <c:v>Estructura</c:v>
                  </c:pt>
                  <c:pt idx="4">
                    <c:v>Mecánica</c:v>
                  </c:pt>
                  <c:pt idx="5">
                    <c:v>Obras Civiles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27</c:v>
                </c:pt>
                <c:pt idx="1">
                  <c:v>16</c:v>
                </c:pt>
                <c:pt idx="2">
                  <c:v>6</c:v>
                </c:pt>
                <c:pt idx="3">
                  <c:v>4</c:v>
                </c:pt>
                <c:pt idx="4">
                  <c:v>1</c:v>
                </c:pt>
                <c:pt idx="5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1" i="0" u="none" strike="noStrike">
                <a:solidFill>
                  <a:srgbClr val="1A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6606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9E5B"/>
              </a:solidFill>
              <a:ln w="9525" cap="flat">
                <a:solidFill>
                  <a:srgbClr val="12233B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0392B"/>
              </a:solidFill>
              <a:ln w="9525" cap="flat">
                <a:solidFill>
                  <a:srgbClr val="12233B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E3A55B"/>
              </a:solidFill>
              <a:ln w="9525" cap="flat">
                <a:solidFill>
                  <a:srgbClr val="12233B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Cerrados</c:v>
                </c:pt>
                <c:pt idx="1">
                  <c:v>Abiertos</c:v>
                </c:pt>
                <c:pt idx="2">
                  <c:v>En trámite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2039</c:v>
                </c:pt>
                <c:pt idx="1">
                  <c:v>143</c:v>
                </c:pt>
                <c:pt idx="2">
                  <c:v>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1223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1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1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9.xml"/><Relationship Id="rId3" Type="http://schemas.openxmlformats.org/officeDocument/2006/relationships/chart" Target="/ppt/charts/chart10.xml"/><Relationship Id="rId1" Type="http://schemas.openxmlformats.org/officeDocument/2006/relationships/image" Target="../media/image-1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7616" y="420624"/>
            <a:ext cx="3547872" cy="7680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058400" y="-1463040"/>
            <a:ext cx="3840480" cy="3840480"/>
          </a:xfrm>
          <a:prstGeom prst="ellipse">
            <a:avLst/>
          </a:prstGeom>
          <a:solidFill>
            <a:srgbClr val="1B3252"/>
          </a:solidFill>
          <a:ln/>
        </p:spPr>
      </p:sp>
      <p:sp>
        <p:nvSpPr>
          <p:cNvPr id="4" name="Shape 1"/>
          <p:cNvSpPr/>
          <p:nvPr/>
        </p:nvSpPr>
        <p:spPr>
          <a:xfrm>
            <a:off x="11064240" y="4572000"/>
            <a:ext cx="2743200" cy="2743200"/>
          </a:xfrm>
          <a:prstGeom prst="ellipse">
            <a:avLst/>
          </a:prstGeom>
          <a:solidFill>
            <a:srgbClr val="1B3252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234440"/>
            <a:ext cx="201168" cy="201168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01 · P2416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" y="1572768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Desaladora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PV3 Montaje Electromecánico — Ampliación Desaladora · ANTOFAGASTA MINERALS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15468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VPP-1001-03-CC-088 · 95 subsistemas (80 Operable · 15 Facility) en Desaladora y EB-2.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suman al universo 3 componentes ya entregados: son entregas parciales de un subsistema que ya está contado.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772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Caminata 2 · Operables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5204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35204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Caminata 1 · Facility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2636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74,7%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62636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Carpetas entregadas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0068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90068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punch P1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7724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Corte: 20-10-2026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REPORTE_GERENCIAL + Listado de Puntos Punch Consolidado · Corte 20-10-2026 · Atrasos al 26-10-2026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19456"/>
            <a:ext cx="2770632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DESALADORA · RESUMEN EJECUTIVO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global de los tres frentes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1719072"/>
            <a:ext cx="146304" cy="146304"/>
          </a:xfrm>
          <a:prstGeom prst="ellipse">
            <a:avLst/>
          </a:prstGeom>
          <a:solidFill>
            <a:srgbClr val="2E6FB5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6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31520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72/80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9900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Caminata 2 · Operables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27355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subsistemas por caminar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19272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75304" y="1719072"/>
            <a:ext cx="146304" cy="146304"/>
          </a:xfrm>
          <a:prstGeom prst="ellipse">
            <a:avLst/>
          </a:prstGeom>
          <a:solidFill>
            <a:srgbClr val="2E6FB5"/>
          </a:solidFill>
          <a:ln/>
        </p:spPr>
      </p:sp>
      <p:sp>
        <p:nvSpPr>
          <p:cNvPr id="13" name="Text 10"/>
          <p:cNvSpPr/>
          <p:nvPr/>
        </p:nvSpPr>
        <p:spPr>
          <a:xfrm>
            <a:off x="3575304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6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3593592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12/15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593592" y="29900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Caminata 1 · Facility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593592" y="327355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facilities por caminar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81344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37376" y="1719072"/>
            <a:ext cx="146304" cy="146304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19" name="Text 16"/>
          <p:cNvSpPr/>
          <p:nvPr/>
        </p:nvSpPr>
        <p:spPr>
          <a:xfrm>
            <a:off x="6437376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8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74,7%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6455664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71/95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55664" y="29900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Carpetas entregadas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55664" y="327355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aprobadas · 8 en revisión · 7 rechazadas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043416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299448" y="1719072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2"/>
          <p:cNvSpPr/>
          <p:nvPr/>
        </p:nvSpPr>
        <p:spPr>
          <a:xfrm>
            <a:off x="9299448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3800" dirty="0"/>
          </a:p>
        </p:txBody>
      </p:sp>
      <p:sp>
        <p:nvSpPr>
          <p:cNvPr id="26" name="Text 23"/>
          <p:cNvSpPr/>
          <p:nvPr/>
        </p:nvSpPr>
        <p:spPr>
          <a:xfrm>
            <a:off x="9317736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1.412/1.723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317736" y="29900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punch P1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317736" y="327355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abiertos · 212 atrasados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57200" y="3950208"/>
            <a:ext cx="11274552" cy="2212848"/>
          </a:xfrm>
          <a:prstGeom prst="roundRect">
            <a:avLst>
              <a:gd name="adj" fmla="val 2479"/>
            </a:avLst>
          </a:prstGeom>
          <a:solidFill>
            <a:srgbClr val="12233B"/>
          </a:solidFill>
          <a:ln/>
        </p:spPr>
      </p:sp>
      <p:sp>
        <p:nvSpPr>
          <p:cNvPr id="30" name="Text 27"/>
          <p:cNvSpPr/>
          <p:nvPr/>
        </p:nvSpPr>
        <p:spPr>
          <a:xfrm>
            <a:off x="7772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PERÍODO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22960" y="4498848"/>
            <a:ext cx="109728" cy="109728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32" name="Text 29"/>
          <p:cNvSpPr/>
          <p:nvPr/>
        </p:nvSpPr>
        <p:spPr>
          <a:xfrm>
            <a:off x="1051560" y="439826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punch cierra a buen ritmo, pero la deuda vencida es la mitad de lo abierto.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2.210 de 2.748 ítems cerrados (80,4%); de los 538 abiertos, 370 ya pasaron su fecha requerida de cierre (68,8%).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822960" y="4919472"/>
            <a:ext cx="109728" cy="109728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34" name="Text 31"/>
          <p:cNvSpPr/>
          <p:nvPr/>
        </p:nvSpPr>
        <p:spPr>
          <a:xfrm>
            <a:off x="1051560" y="481888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caminatas avanzan a distinta velocidad según el tipo de subsistema.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Operables 72/80 por Caminata 2 (90%); Facility 12/15 por Caminata 1 (80%).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822960" y="5340096"/>
            <a:ext cx="109728" cy="109728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36" name="Text 33"/>
          <p:cNvSpPr/>
          <p:nvPr/>
        </p:nvSpPr>
        <p:spPr>
          <a:xfrm>
            <a:off x="1051560" y="52395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carpetas están a 74,7% de entrega y el cuello está en el armado interno.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entregadas de 95: 56 aprobadas, 8 en revisión y 7 rechazadas. Quedan 13 en preparación y 11 sin iniciar.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822960" y="5760720"/>
            <a:ext cx="109728" cy="109728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38" name="Text 35"/>
          <p:cNvSpPr/>
          <p:nvPr/>
        </p:nvSpPr>
        <p:spPr>
          <a:xfrm>
            <a:off x="1051560" y="566013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Piping concentra el pendiente de P1.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 de los 311 P1 abiertos (54,3%), con 103 atrasados.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REPORTE_GERENCIAL + Listado de Puntos Punch Consolidado · Corte 20-10-2026 · Atrasos al 26-10-2026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DESALADORA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19456"/>
            <a:ext cx="2770632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DESALADORA · FRENTES 1 Y 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Caminatas y certificados de entrega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tipo de subsistema se mide con su propia caminata: los Operables por la Caminata 2 y los Facility por la Caminata 1, tal como lo declara el propio reporte gerencial.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874520"/>
          <a:ext cx="55778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6263640" y="1874520"/>
            <a:ext cx="5468112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92240" y="20848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DE ENTREGA (95 SUBSISTEMAS)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92240" y="2468880"/>
            <a:ext cx="5010912" cy="566928"/>
          </a:xfrm>
          <a:prstGeom prst="roundRect">
            <a:avLst>
              <a:gd name="adj" fmla="val 8065"/>
            </a:avLst>
          </a:prstGeom>
          <a:solidFill>
            <a:srgbClr val="F4F6F9"/>
          </a:solidFill>
          <a:ln/>
        </p:spPr>
      </p:sp>
      <p:sp>
        <p:nvSpPr>
          <p:cNvPr id="10" name="Shape 6"/>
          <p:cNvSpPr/>
          <p:nvPr/>
        </p:nvSpPr>
        <p:spPr>
          <a:xfrm>
            <a:off x="6601968" y="264261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1" name="Text 7"/>
          <p:cNvSpPr/>
          <p:nvPr/>
        </p:nvSpPr>
        <p:spPr>
          <a:xfrm>
            <a:off x="6931152" y="24688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9509760" y="24688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58,9%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561320" y="24688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6492240" y="3090672"/>
            <a:ext cx="5010912" cy="566928"/>
          </a:xfrm>
          <a:prstGeom prst="roundRect">
            <a:avLst>
              <a:gd name="adj" fmla="val 8065"/>
            </a:avLst>
          </a:prstGeom>
          <a:solidFill>
            <a:srgbClr val="F4F6F9"/>
          </a:solidFill>
          <a:ln/>
        </p:spPr>
      </p:sp>
      <p:sp>
        <p:nvSpPr>
          <p:cNvPr id="15" name="Shape 11"/>
          <p:cNvSpPr/>
          <p:nvPr/>
        </p:nvSpPr>
        <p:spPr>
          <a:xfrm>
            <a:off x="6601968" y="3264408"/>
            <a:ext cx="219456" cy="219456"/>
          </a:xfrm>
          <a:prstGeom prst="ellipse">
            <a:avLst/>
          </a:prstGeom>
          <a:solidFill>
            <a:srgbClr val="2E6FB5"/>
          </a:solidFill>
          <a:ln/>
        </p:spPr>
      </p:sp>
      <p:sp>
        <p:nvSpPr>
          <p:cNvPr id="16" name="Text 12"/>
          <p:cNvSpPr/>
          <p:nvPr/>
        </p:nvSpPr>
        <p:spPr>
          <a:xfrm>
            <a:off x="6931152" y="309067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revisión del cliente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9509760" y="309067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8,4%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0561320" y="309067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E6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6492240" y="3712464"/>
            <a:ext cx="5010912" cy="566928"/>
          </a:xfrm>
          <a:prstGeom prst="roundRect">
            <a:avLst>
              <a:gd name="adj" fmla="val 8065"/>
            </a:avLst>
          </a:prstGeom>
          <a:solidFill>
            <a:srgbClr val="F4F6F9"/>
          </a:solidFill>
          <a:ln/>
        </p:spPr>
      </p:sp>
      <p:sp>
        <p:nvSpPr>
          <p:cNvPr id="20" name="Shape 16"/>
          <p:cNvSpPr/>
          <p:nvPr/>
        </p:nvSpPr>
        <p:spPr>
          <a:xfrm>
            <a:off x="6601968" y="3886200"/>
            <a:ext cx="219456" cy="21945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7"/>
          <p:cNvSpPr/>
          <p:nvPr/>
        </p:nvSpPr>
        <p:spPr>
          <a:xfrm>
            <a:off x="6931152" y="371246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Rechazada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9509760" y="371246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7,4%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0561320" y="371246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6492240" y="4334256"/>
            <a:ext cx="5010912" cy="566928"/>
          </a:xfrm>
          <a:prstGeom prst="roundRect">
            <a:avLst>
              <a:gd name="adj" fmla="val 8065"/>
            </a:avLst>
          </a:prstGeom>
          <a:solidFill>
            <a:srgbClr val="F4F6F9"/>
          </a:solidFill>
          <a:ln/>
        </p:spPr>
      </p:sp>
      <p:sp>
        <p:nvSpPr>
          <p:cNvPr id="25" name="Shape 21"/>
          <p:cNvSpPr/>
          <p:nvPr/>
        </p:nvSpPr>
        <p:spPr>
          <a:xfrm>
            <a:off x="6601968" y="4507992"/>
            <a:ext cx="219456" cy="219456"/>
          </a:xfrm>
          <a:prstGeom prst="ellipse">
            <a:avLst/>
          </a:prstGeom>
          <a:solidFill>
            <a:srgbClr val="E0A32E"/>
          </a:solidFill>
          <a:ln/>
        </p:spPr>
      </p:sp>
      <p:sp>
        <p:nvSpPr>
          <p:cNvPr id="26" name="Text 22"/>
          <p:cNvSpPr/>
          <p:nvPr/>
        </p:nvSpPr>
        <p:spPr>
          <a:xfrm>
            <a:off x="6931152" y="433425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preparación (interna)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9509760" y="433425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13,7%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10561320" y="433425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A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200" dirty="0"/>
          </a:p>
        </p:txBody>
      </p:sp>
      <p:sp>
        <p:nvSpPr>
          <p:cNvPr id="29" name="Shape 25"/>
          <p:cNvSpPr/>
          <p:nvPr/>
        </p:nvSpPr>
        <p:spPr>
          <a:xfrm>
            <a:off x="6492240" y="4956048"/>
            <a:ext cx="5010912" cy="566928"/>
          </a:xfrm>
          <a:prstGeom prst="roundRect">
            <a:avLst>
              <a:gd name="adj" fmla="val 8065"/>
            </a:avLst>
          </a:prstGeom>
          <a:solidFill>
            <a:srgbClr val="F4F6F9"/>
          </a:solidFill>
          <a:ln/>
        </p:spPr>
      </p:sp>
      <p:sp>
        <p:nvSpPr>
          <p:cNvPr id="30" name="Shape 26"/>
          <p:cNvSpPr/>
          <p:nvPr/>
        </p:nvSpPr>
        <p:spPr>
          <a:xfrm>
            <a:off x="6601968" y="5129784"/>
            <a:ext cx="219456" cy="219456"/>
          </a:xfrm>
          <a:prstGeom prst="ellipse">
            <a:avLst/>
          </a:prstGeom>
          <a:solidFill>
            <a:srgbClr val="6E8CA8"/>
          </a:solidFill>
          <a:ln/>
        </p:spPr>
      </p:sp>
      <p:sp>
        <p:nvSpPr>
          <p:cNvPr id="31" name="Text 27"/>
          <p:cNvSpPr/>
          <p:nvPr/>
        </p:nvSpPr>
        <p:spPr>
          <a:xfrm>
            <a:off x="6931152" y="495604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entregar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9509760" y="495604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11,6%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10561320" y="495604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E8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34" name="Text 30"/>
          <p:cNvSpPr/>
          <p:nvPr/>
        </p:nvSpPr>
        <p:spPr>
          <a:xfrm>
            <a:off x="6492240" y="5596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carpetas ya están en manos del cliente (74,7%) y 56 subsistemas tienen tarjeta verde. El grueso del pendiente todavía no sale de Besalco.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REPORTE_GERENCIAL + Listado de Puntos Punch Consolidado · Corte 20-10-2026 · Atrasos al 26-10-2026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DESALADORA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19456"/>
            <a:ext cx="2770632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DESALADORA · FRENTE 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Punch list en condición P1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1.723 P1 levantados; 82% cerrados. Atrasado = ítem abierto cuya fecha requerida de cierre ya venció al 26-10-2026.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874520"/>
          <a:ext cx="70408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680960" y="1874520"/>
            <a:ext cx="4050792" cy="4114800"/>
          </a:xfrm>
          <a:prstGeom prst="roundRect">
            <a:avLst>
              <a:gd name="adj" fmla="val 1354"/>
            </a:avLst>
          </a:prstGeom>
          <a:solidFill>
            <a:srgbClr val="12233B"/>
          </a:solidFill>
          <a:ln/>
        </p:spPr>
      </p:sp>
      <p:sp>
        <p:nvSpPr>
          <p:cNvPr id="8" name="Text 4"/>
          <p:cNvSpPr/>
          <p:nvPr/>
        </p:nvSpPr>
        <p:spPr>
          <a:xfrm>
            <a:off x="7936992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GLOBAL P1</a:t>
            </a:r>
            <a:endParaRPr lang="en-US" sz="11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7772400" y="2331720"/>
          <a:ext cx="20116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 5"/>
          <p:cNvSpPr/>
          <p:nvPr/>
        </p:nvSpPr>
        <p:spPr>
          <a:xfrm>
            <a:off x="7772400" y="299923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19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CE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cerrado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0012680" y="2505456"/>
            <a:ext cx="182880" cy="18288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7"/>
          <p:cNvSpPr/>
          <p:nvPr/>
        </p:nvSpPr>
        <p:spPr>
          <a:xfrm>
            <a:off x="10241280" y="2423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Cerrados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10241280" y="2670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1.412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10012680" y="3072384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0"/>
          <p:cNvSpPr/>
          <p:nvPr/>
        </p:nvSpPr>
        <p:spPr>
          <a:xfrm>
            <a:off x="10241280" y="29900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Atrasados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0241280" y="3236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10012680" y="3639312"/>
            <a:ext cx="182880" cy="182880"/>
          </a:xfrm>
          <a:prstGeom prst="ellipse">
            <a:avLst/>
          </a:prstGeom>
          <a:solidFill>
            <a:srgbClr val="E3A55B"/>
          </a:solidFill>
          <a:ln/>
        </p:spPr>
      </p:sp>
      <p:sp>
        <p:nvSpPr>
          <p:cNvPr id="18" name="Text 13"/>
          <p:cNvSpPr/>
          <p:nvPr/>
        </p:nvSpPr>
        <p:spPr>
          <a:xfrm>
            <a:off x="10241280" y="355701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Abiertos en plazo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10241280" y="3803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936992" y="4526280"/>
            <a:ext cx="3566160" cy="0"/>
          </a:xfrm>
          <a:prstGeom prst="line">
            <a:avLst/>
          </a:prstGeom>
          <a:noFill/>
          <a:ln w="12700">
            <a:solidFill>
              <a:srgbClr val="1B3252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936992" y="466344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 del atraso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26 días vencidos; el más antiguo lleva 169. 190 entre 1-30 días, 104 entre 31-90 días, 76 entre 91-180 días.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REPORTE_GERENCIAL + Listado de Puntos Punch Consolidado · Corte 20-10-2026 · Atrasos al 26-10-2026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DESALADORA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7616" y="420624"/>
            <a:ext cx="3547872" cy="7680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875520" y="-1645920"/>
            <a:ext cx="4206240" cy="4206240"/>
          </a:xfrm>
          <a:prstGeom prst="ellipse">
            <a:avLst/>
          </a:prstGeom>
          <a:solidFill>
            <a:srgbClr val="1B3252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DESALADORA · FOCO DE GESTIÓN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poner el esfuerzo esta semana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1B325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80136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691640" y="178308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los 370 ítems atrasados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91640" y="240487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68,8% de los 538 abiertos ya venció su fecha requerida. Foco en Piping (103), Eléctrica (70), Mecánica (13).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45352" y="160020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1B3252"/>
          </a:solidFill>
          <a:ln/>
        </p:spPr>
      </p:sp>
      <p:sp>
        <p:nvSpPr>
          <p:cNvPr id="11" name="Text 8"/>
          <p:cNvSpPr/>
          <p:nvPr/>
        </p:nvSpPr>
        <p:spPr>
          <a:xfrm>
            <a:off x="6519672" y="180136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479792" y="178308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las 8 caminatas de Operables pendientes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79792" y="240487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Caminata 2 va en 90% (72/80). Sin caminata no se levanta el punch final ni se habilita la entrega de la carpeta.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74904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1B3252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395020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1691640" y="393192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Sacar del armado interno las 24 carpetas retenidas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691640" y="45537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están en preparación y 11 sin iniciar. Solo 71 de 95 (74,7%) llegaron al cliente; 7 volvieron rechazadas y hay que rearmarlas.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45352" y="374904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1B3252"/>
          </a:solidFill>
          <a:ln/>
        </p:spPr>
      </p:sp>
      <p:sp>
        <p:nvSpPr>
          <p:cNvPr id="19" name="Text 16"/>
          <p:cNvSpPr/>
          <p:nvPr/>
        </p:nvSpPr>
        <p:spPr>
          <a:xfrm>
            <a:off x="6519672" y="395020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7479792" y="393192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 la zona Desaladora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479792" y="45537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 262 P1 abiertos y 163 atrasados sobre 74 subsistemas. Es la ruta crítica del proyecto.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REPORTE_GERENCIAL + Listado de Puntos Punch Consolidado · Corte 20-10-2026 · Atrasos al 26-10-2026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DESALADORA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7616" y="420624"/>
            <a:ext cx="3547872" cy="7680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058400" y="-1463040"/>
            <a:ext cx="3840480" cy="3840480"/>
          </a:xfrm>
          <a:prstGeom prst="ellipse">
            <a:avLst/>
          </a:prstGeom>
          <a:solidFill>
            <a:srgbClr val="1B3252"/>
          </a:solidFill>
          <a:ln/>
        </p:spPr>
      </p:sp>
      <p:sp>
        <p:nvSpPr>
          <p:cNvPr id="4" name="Shape 1"/>
          <p:cNvSpPr/>
          <p:nvPr/>
        </p:nvSpPr>
        <p:spPr>
          <a:xfrm>
            <a:off x="11064240" y="4572000"/>
            <a:ext cx="2743200" cy="2743200"/>
          </a:xfrm>
          <a:prstGeom prst="ellipse">
            <a:avLst/>
          </a:prstGeom>
          <a:solidFill>
            <a:srgbClr val="1B3252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1234440"/>
            <a:ext cx="201168" cy="201168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02 · P2407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" y="1572768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Talabre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de agua, pozos y estaciones de bombeo · CODELCO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1546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4600029355 · 218 subsistemas en 9 áreas · 2.181 detalles de terminación levantados.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772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Caminata 1 · exigible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5204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98,6%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35204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Caminata 2 · exigible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2636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95,3%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62636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PEC promedio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0068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98,9%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90068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DT P1+P2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7724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Atrasos calculados al 19-10-2026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STATUS_SUBSISTEMAS_TALABRE + Detalle_de_Terminaciones · 218 subsistemas · 2.181 DT · Atrasos al 19-10-2026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19456"/>
            <a:ext cx="2770632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TALABRE · RESUMEN EJECUTIVO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global de los tres frentes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1719072"/>
            <a:ext cx="146304" cy="146304"/>
          </a:xfrm>
          <a:prstGeom prst="ellipse">
            <a:avLst/>
          </a:prstGeom>
          <a:solidFill>
            <a:srgbClr val="2E6FB5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6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31520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218/218 exigibles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9900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Caminata 1 realizada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27355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del universo · 0 programadas en plazo · 0 sin programar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19272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75304" y="1719072"/>
            <a:ext cx="146304" cy="146304"/>
          </a:xfrm>
          <a:prstGeom prst="ellipse">
            <a:avLst/>
          </a:prstGeom>
          <a:solidFill>
            <a:srgbClr val="2E6FB5"/>
          </a:solidFill>
          <a:ln/>
        </p:spPr>
      </p:sp>
      <p:sp>
        <p:nvSpPr>
          <p:cNvPr id="13" name="Text 10"/>
          <p:cNvSpPr/>
          <p:nvPr/>
        </p:nvSpPr>
        <p:spPr>
          <a:xfrm>
            <a:off x="3575304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6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98,6%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3593592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215/218 exigibles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593592" y="29900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Caminata 2 realizada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593592" y="327355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98,6% del universo · 0 programadas en plazo · 3 con agenda vencida · 0 sin programar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81344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37376" y="1719072"/>
            <a:ext cx="146304" cy="146304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19" name="Text 16"/>
          <p:cNvSpPr/>
          <p:nvPr/>
        </p:nvSpPr>
        <p:spPr>
          <a:xfrm>
            <a:off x="6437376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8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95,3%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6455664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193/218 sobre 95%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55664" y="29900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PEC de carpetas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55664" y="327355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subsistemas bajo 80% de avance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043416" y="1463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299448" y="1719072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2"/>
          <p:cNvSpPr/>
          <p:nvPr/>
        </p:nvSpPr>
        <p:spPr>
          <a:xfrm>
            <a:off x="9299448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97,5%</a:t>
            </a:r>
            <a:endParaRPr lang="en-US" sz="3800" dirty="0"/>
          </a:p>
        </p:txBody>
      </p:sp>
      <p:sp>
        <p:nvSpPr>
          <p:cNvPr id="26" name="Text 23"/>
          <p:cNvSpPr/>
          <p:nvPr/>
        </p:nvSpPr>
        <p:spPr>
          <a:xfrm>
            <a:off x="9317736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433/444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317736" y="29900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DT P1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317736" y="327355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abiertos · 8 atrasados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57200" y="3950208"/>
            <a:ext cx="11274552" cy="2212848"/>
          </a:xfrm>
          <a:prstGeom prst="roundRect">
            <a:avLst>
              <a:gd name="adj" fmla="val 2479"/>
            </a:avLst>
          </a:prstGeom>
          <a:solidFill>
            <a:srgbClr val="12233B"/>
          </a:solidFill>
          <a:ln/>
        </p:spPr>
      </p:sp>
      <p:sp>
        <p:nvSpPr>
          <p:cNvPr id="30" name="Text 27"/>
          <p:cNvSpPr/>
          <p:nvPr/>
        </p:nvSpPr>
        <p:spPr>
          <a:xfrm>
            <a:off x="7772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PERÍODO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22960" y="4498848"/>
            <a:ext cx="109728" cy="109728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32" name="Text 29"/>
          <p:cNvSpPr/>
          <p:nvPr/>
        </p:nvSpPr>
        <p:spPr>
          <a:xfrm>
            <a:off x="1051560" y="439826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está prácticamente cerrado; el volumen pendiente está en las prioridades menores.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97,5% de cierre en P1 (11 abiertos), pero 227 DT abiertos entre P2, P3 y P4 sobre un total de 238.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822960" y="4919472"/>
            <a:ext cx="109728" cy="109728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34" name="Text 31"/>
          <p:cNvSpPr/>
          <p:nvPr/>
        </p:nvSpPr>
        <p:spPr>
          <a:xfrm>
            <a:off x="1051560" y="481888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atraso es más antiguo que el de los otros proyectos.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DT con la fecha de compromiso vencida; mediana de 75 días y el más antiguo lleva 214. Los 210 abiertos sin fecha de compromiso no se cuentan como atrasados.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822960" y="5340096"/>
            <a:ext cx="109728" cy="109728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36" name="Text 33"/>
          <p:cNvSpPr/>
          <p:nvPr/>
        </p:nvSpPr>
        <p:spPr>
          <a:xfrm>
            <a:off x="1051560" y="52395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Caminatas: 100% y 98,6% de lo exigible (C1 y C2).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Caminata 1: 218/218 exigibles. Caminata 2: 215/218, con 0 agendadas en plazo y 0 sin programar.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822960" y="5760720"/>
            <a:ext cx="109728" cy="109728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38" name="Text 35"/>
          <p:cNvSpPr/>
          <p:nvPr/>
        </p:nvSpPr>
        <p:spPr>
          <a:xfrm>
            <a:off x="1051560" y="566013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carpetas avanzan bien salvo un grupo acotado.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promedio 95,3%: 193 subsistemas sobre 95% y solo 3 bajo 80%.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STATUS_SUBSISTEMAS_TALABRE + Detalle_de_Terminaciones · 218 subsistemas · 2.181 DT · Atrasos al 19-10-2026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TALABRE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19456"/>
            <a:ext cx="2770632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TALABRE · FRENTES 1 Y 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Caminatas y avance de carpetas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Caminata 2: 98,6% de lo exigible (215/218) — se descuentan 0 agendadas a fecha futura, que no son incumplimiento al corte. Talabre mide la carpeta como % de avance (PEC), no como estado de aprobación.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874520"/>
          <a:ext cx="58521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446520" y="1874520"/>
          <a:ext cx="5285232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 3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STATUS_SUBSISTEMAS_TALABRE + Detalle_de_Terminaciones · 218 subsistemas · 2.181 DT · Atrasos al 19-10-2026</a:t>
            </a:r>
            <a:endParaRPr lang="en-US" sz="850" dirty="0"/>
          </a:p>
        </p:txBody>
      </p:sp>
      <p:sp>
        <p:nvSpPr>
          <p:cNvPr id="9" name="Text 4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TALABRE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19456"/>
            <a:ext cx="2770632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TALABRE · FRENTE 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Detalles de terminación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2.181 DT levantados; 89,1% cerrados. Atrasado = DT abierto cuya fecha de compromiso de cierre ya venció al 19-10-2026.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874520"/>
          <a:ext cx="70408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680960" y="1874520"/>
            <a:ext cx="4050792" cy="4114800"/>
          </a:xfrm>
          <a:prstGeom prst="roundRect">
            <a:avLst>
              <a:gd name="adj" fmla="val 1354"/>
            </a:avLst>
          </a:prstGeom>
          <a:solidFill>
            <a:srgbClr val="12233B"/>
          </a:solidFill>
          <a:ln/>
        </p:spPr>
      </p:sp>
      <p:sp>
        <p:nvSpPr>
          <p:cNvPr id="8" name="Text 4"/>
          <p:cNvSpPr/>
          <p:nvPr/>
        </p:nvSpPr>
        <p:spPr>
          <a:xfrm>
            <a:off x="7936992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POR PRIORIDAD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936992" y="24323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8778240" y="24323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433/444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0287000" y="243230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97,5%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936992" y="2688336"/>
            <a:ext cx="3566160" cy="118872"/>
          </a:xfrm>
          <a:prstGeom prst="rect">
            <a:avLst/>
          </a:prstGeom>
          <a:solidFill>
            <a:srgbClr val="1B3252"/>
          </a:solidFill>
          <a:ln/>
        </p:spPr>
      </p:sp>
      <p:sp>
        <p:nvSpPr>
          <p:cNvPr id="13" name="Shape 9"/>
          <p:cNvSpPr/>
          <p:nvPr/>
        </p:nvSpPr>
        <p:spPr>
          <a:xfrm>
            <a:off x="7936992" y="2688336"/>
            <a:ext cx="3477006" cy="118872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14" name="Text 10"/>
          <p:cNvSpPr/>
          <p:nvPr/>
        </p:nvSpPr>
        <p:spPr>
          <a:xfrm>
            <a:off x="7936992" y="29443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778240" y="29443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1.425/1.435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0287000" y="29443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99,3%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936992" y="3200400"/>
            <a:ext cx="3566160" cy="118872"/>
          </a:xfrm>
          <a:prstGeom prst="rect">
            <a:avLst/>
          </a:prstGeom>
          <a:solidFill>
            <a:srgbClr val="1B3252"/>
          </a:solidFill>
          <a:ln/>
        </p:spPr>
      </p:sp>
      <p:sp>
        <p:nvSpPr>
          <p:cNvPr id="18" name="Shape 14"/>
          <p:cNvSpPr/>
          <p:nvPr/>
        </p:nvSpPr>
        <p:spPr>
          <a:xfrm>
            <a:off x="7936992" y="3200400"/>
            <a:ext cx="3541197" cy="118872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19" name="Text 15"/>
          <p:cNvSpPr/>
          <p:nvPr/>
        </p:nvSpPr>
        <p:spPr>
          <a:xfrm>
            <a:off x="7936992" y="34564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8778240" y="34564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74/243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10287000" y="345643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30,5%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936992" y="3712464"/>
            <a:ext cx="3566160" cy="118872"/>
          </a:xfrm>
          <a:prstGeom prst="rect">
            <a:avLst/>
          </a:prstGeom>
          <a:solidFill>
            <a:srgbClr val="1B3252"/>
          </a:solidFill>
          <a:ln/>
        </p:spPr>
      </p:sp>
      <p:sp>
        <p:nvSpPr>
          <p:cNvPr id="23" name="Shape 19"/>
          <p:cNvSpPr/>
          <p:nvPr/>
        </p:nvSpPr>
        <p:spPr>
          <a:xfrm>
            <a:off x="7936992" y="3712464"/>
            <a:ext cx="1087679" cy="1188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0"/>
          <p:cNvSpPr/>
          <p:nvPr/>
        </p:nvSpPr>
        <p:spPr>
          <a:xfrm>
            <a:off x="7936992" y="39684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8778240" y="39684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2/50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0287000" y="39684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7936992" y="4224528"/>
            <a:ext cx="3566160" cy="118872"/>
          </a:xfrm>
          <a:prstGeom prst="rect">
            <a:avLst/>
          </a:prstGeom>
          <a:solidFill>
            <a:srgbClr val="1B3252"/>
          </a:solidFill>
          <a:ln/>
        </p:spPr>
      </p:sp>
      <p:sp>
        <p:nvSpPr>
          <p:cNvPr id="28" name="Shape 24"/>
          <p:cNvSpPr/>
          <p:nvPr/>
        </p:nvSpPr>
        <p:spPr>
          <a:xfrm>
            <a:off x="7936992" y="4224528"/>
            <a:ext cx="142646" cy="1188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5"/>
          <p:cNvSpPr/>
          <p:nvPr/>
        </p:nvSpPr>
        <p:spPr>
          <a:xfrm>
            <a:off x="7936992" y="44805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asignar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8778240" y="44805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9/9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10287000" y="44805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7936992" y="4736592"/>
            <a:ext cx="3566160" cy="118872"/>
          </a:xfrm>
          <a:prstGeom prst="rect">
            <a:avLst/>
          </a:prstGeom>
          <a:solidFill>
            <a:srgbClr val="1B3252"/>
          </a:solidFill>
          <a:ln/>
        </p:spPr>
      </p:sp>
      <p:sp>
        <p:nvSpPr>
          <p:cNvPr id="33" name="Shape 29"/>
          <p:cNvSpPr/>
          <p:nvPr/>
        </p:nvSpPr>
        <p:spPr>
          <a:xfrm>
            <a:off x="7936992" y="4736592"/>
            <a:ext cx="3566160" cy="118872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34" name="Shape 30"/>
          <p:cNvSpPr/>
          <p:nvPr/>
        </p:nvSpPr>
        <p:spPr>
          <a:xfrm>
            <a:off x="7936992" y="5029200"/>
            <a:ext cx="3566160" cy="0"/>
          </a:xfrm>
          <a:prstGeom prst="line">
            <a:avLst/>
          </a:prstGeom>
          <a:noFill/>
          <a:ln w="12700">
            <a:solidFill>
              <a:srgbClr val="1B3252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936992" y="513892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 del atraso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75 días vencidos; el más antiguo lleva 214. 12 entre 1-30 días, 7 entre 31-90 días, 5 entre 91-180 días, 1 entre &gt;180 días.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STATUS_SUBSISTEMAS_TALABRE + Detalle_de_Terminaciones · 218 subsistemas · 2.181 DT · Atrasos al 19-10-2026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TALABRE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7616" y="420624"/>
            <a:ext cx="3547872" cy="7680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875520" y="-1645920"/>
            <a:ext cx="4206240" cy="4206240"/>
          </a:xfrm>
          <a:prstGeom prst="ellipse">
            <a:avLst/>
          </a:prstGeom>
          <a:solidFill>
            <a:srgbClr val="1B3252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TALABRE · FOCO DE GESTIÓN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poner el esfuerzo esta semana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1B325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80136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691640" y="178308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los 25 DT atrasados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691640" y="240487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son P2 y 8 son P1. La mediana de atraso es de 75 días y 6 superan los 90 días.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45352" y="160020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1B3252"/>
          </a:solidFill>
          <a:ln/>
        </p:spPr>
      </p:sp>
      <p:sp>
        <p:nvSpPr>
          <p:cNvPr id="11" name="Text 8"/>
          <p:cNvSpPr/>
          <p:nvPr/>
        </p:nvSpPr>
        <p:spPr>
          <a:xfrm>
            <a:off x="6519672" y="180136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479792" y="178308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la caminata 2 en CERRO VERDE/PS2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79792" y="240487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CERRO VERDE/PS2: 1/3 (33,3%). A nivel proyecto la caminata 2 va 98,6% con 0 ya agendadas.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74904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1B3252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395020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1691640" y="393192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Destrabar P4: 48 abiertos y ninguno cerrado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691640" y="45537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50 DT levantados en P4 no se ha cerrado ninguno (4%). P3 tampoco despega: 30,5% de cierre.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45352" y="374904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1B3252"/>
          </a:solidFill>
          <a:ln/>
        </p:spPr>
      </p:sp>
      <p:sp>
        <p:nvSpPr>
          <p:cNvPr id="19" name="Text 16"/>
          <p:cNvSpPr/>
          <p:nvPr/>
        </p:nvSpPr>
        <p:spPr>
          <a:xfrm>
            <a:off x="6519672" y="395020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7479792" y="393192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 POZOS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479792" y="45537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 106 de los 238 DT abiertos (44,5%), con 0 atrasados. Además hay 3 carpetas bajo 80% de avance que conviene cerrar en paralelo.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STATUS_SUBSISTEMAS_TALABRE + Detalle_de_Terminaciones · 218 subsistemas · 2.181 DT · Atrasos al 19-10-2026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TALABRE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3840480" cy="3840480"/>
          </a:xfrm>
          <a:prstGeom prst="ellipse">
            <a:avLst/>
          </a:prstGeom>
          <a:solidFill>
            <a:srgbClr val="1B3252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4572000"/>
            <a:ext cx="2743200" cy="2743200"/>
          </a:xfrm>
          <a:prstGeom prst="ellipse">
            <a:avLst/>
          </a:prstGeom>
          <a:solidFill>
            <a:srgbClr val="1B3252"/>
          </a:solidFill>
          <a:ln/>
        </p:spPr>
      </p:sp>
      <p:pic>
        <p:nvPicPr>
          <p:cNvPr id="4" name="Image 0" descr="/home/user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7616" y="420624"/>
            <a:ext cx="3547872" cy="7680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234440"/>
            <a:ext cx="201168" cy="201168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03 · P2342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" y="1572768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Arqueros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Electromecánico Planta Concentradora y de Espesado · MASA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20040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subsistemas en 4 áreas (2000 · 3000 · 4000 · 8000) · 3.314 detalles de terminación levantados.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Estatus de armado y entrega de carpetas TOP · avance de caminatas 80% / 100% · detalles de construcción en condición P1.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772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Caminatas 80%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5204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35204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Caminatas 100%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2636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62636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Carpetas TOP entregadas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00684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A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93,4%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9006840" y="5486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detalles P1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7724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Corte: 26-10-2026   ·   Corte anterior: 19-10-2026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Estatus_Resumen_General_QAQC.xlsx · Corte 26-10-2026 · Áreas 2000/3000/4000/8000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19456"/>
            <a:ext cx="2770632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ARQUEROS · RESUMEN EJECUTIVO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global de los tres frentes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2743200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1719072"/>
            <a:ext cx="146304" cy="146304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136/136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9992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Caminatas 80% realizadas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2918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cerrado en las 4 áreas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19272" y="1463040"/>
            <a:ext cx="2743200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75304" y="1719072"/>
            <a:ext cx="146304" cy="146304"/>
          </a:xfrm>
          <a:prstGeom prst="ellipse">
            <a:avLst/>
          </a:prstGeom>
          <a:solidFill>
            <a:srgbClr val="2E6FB5"/>
          </a:solidFill>
          <a:ln/>
        </p:spPr>
      </p:sp>
      <p:sp>
        <p:nvSpPr>
          <p:cNvPr id="13" name="Text 10"/>
          <p:cNvSpPr/>
          <p:nvPr/>
        </p:nvSpPr>
        <p:spPr>
          <a:xfrm>
            <a:off x="3575304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6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3593592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136/136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593592" y="29992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Caminatas 100% realizadas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593592" y="32918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próximas · 0 por programar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593592" y="355701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sin cambio vs. corte anterior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181344" y="1463040"/>
            <a:ext cx="2743200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37376" y="1719072"/>
            <a:ext cx="146304" cy="146304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20" name="Text 17"/>
          <p:cNvSpPr/>
          <p:nvPr/>
        </p:nvSpPr>
        <p:spPr>
          <a:xfrm>
            <a:off x="6437376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6455664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49/136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55664" y="29992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Carpetas TOP entregadas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55664" y="32918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aprobadas · 30 rechazadas · 18 en revisión · 1 observadas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455664" y="355701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+3 vs. corte anterior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9043416" y="1463040"/>
            <a:ext cx="2743200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5">
                <a:alpha val="2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299448" y="1719072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4"/>
          <p:cNvSpPr/>
          <p:nvPr/>
        </p:nvSpPr>
        <p:spPr>
          <a:xfrm>
            <a:off x="9299448" y="19385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93,4%</a:t>
            </a:r>
            <a:endParaRPr lang="en-US" sz="4000" dirty="0"/>
          </a:p>
        </p:txBody>
      </p:sp>
      <p:sp>
        <p:nvSpPr>
          <p:cNvPr id="28" name="Text 25"/>
          <p:cNvSpPr/>
          <p:nvPr/>
        </p:nvSpPr>
        <p:spPr>
          <a:xfrm>
            <a:off x="9317736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2.039/2.182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317736" y="29992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detalles P1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317736" y="32918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abiertos · 86 vencidos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9317736" y="355701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+125 vs. corte anterior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57200" y="4041648"/>
            <a:ext cx="11274552" cy="2103120"/>
          </a:xfrm>
          <a:prstGeom prst="roundRect">
            <a:avLst>
              <a:gd name="adj" fmla="val 2609"/>
            </a:avLst>
          </a:prstGeom>
          <a:solidFill>
            <a:srgbClr val="12233B"/>
          </a:solidFill>
          <a:ln/>
        </p:spPr>
      </p:sp>
      <p:sp>
        <p:nvSpPr>
          <p:cNvPr id="33" name="Text 30"/>
          <p:cNvSpPr/>
          <p:nvPr/>
        </p:nvSpPr>
        <p:spPr>
          <a:xfrm>
            <a:off x="77724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PERÍODO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22960" y="4590288"/>
            <a:ext cx="109728" cy="109728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35" name="Text 32"/>
          <p:cNvSpPr/>
          <p:nvPr/>
        </p:nvSpPr>
        <p:spPr>
          <a:xfrm>
            <a:off x="1051560" y="44897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caminatas al 100%.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de 136 realizadas (100%); 0 próximas y 0 por programar.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822960" y="5102352"/>
            <a:ext cx="109728" cy="109728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37" name="Text 34"/>
          <p:cNvSpPr/>
          <p:nvPr/>
        </p:nvSpPr>
        <p:spPr>
          <a:xfrm>
            <a:off x="1051560" y="50017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carpetas TOP siguen sin aprobaciones.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entregadas de 136 (36%) y 0 aprobadas; 30 rechazadas.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822960" y="5614416"/>
            <a:ext cx="109728" cy="109728"/>
          </a:xfrm>
          <a:prstGeom prst="ellipse">
            <a:avLst/>
          </a:prstGeom>
          <a:solidFill>
            <a:srgbClr val="C87A32"/>
          </a:solidFill>
          <a:ln/>
        </p:spPr>
      </p:sp>
      <p:sp>
        <p:nvSpPr>
          <p:cNvPr id="39" name="Text 36"/>
          <p:cNvSpPr/>
          <p:nvPr/>
        </p:nvSpPr>
        <p:spPr>
          <a:xfrm>
            <a:off x="1051560" y="55138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cierre de detalles P1 está prácticamente detenido y crece la deuda vencida.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+125 P1 cerrado desde el corte anterior; 143 abiertos, de los cuales 86 superaron su fecha de vencimiento. El área 3000 concentra 143 (100%).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Estatus_Resumen_General_QAQC.xlsx · Corte 26-10-2026 · Áreas 2000/3000/4000/8000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ARQUEROS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19456"/>
            <a:ext cx="2770632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ARQUEROS · ESTADO POR ÁREA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Semáforo integrado de los tres frentes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572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474720" y="1572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SUBSIST.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434840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CAMINATA 100%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0" y="1572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ENTREGADAS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818120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P1 % CIERRE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098280" y="1572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ABIERTOS (VENC.)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0881360" y="15727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2920" y="1883664"/>
            <a:ext cx="11247120" cy="0"/>
          </a:xfrm>
          <a:prstGeom prst="line">
            <a:avLst/>
          </a:prstGeom>
          <a:noFill/>
          <a:ln w="12700">
            <a:solidFill>
              <a:srgbClr val="6E8C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011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" y="23408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Chancado (Área Seca)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474720" y="21396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434840" y="213969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35/35 · 100%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035040" y="21396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31/35 · 88,6%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818120" y="213969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098280" y="21396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(0)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0863072" y="2121408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21" name="Text 18"/>
          <p:cNvSpPr/>
          <p:nvPr/>
        </p:nvSpPr>
        <p:spPr>
          <a:xfrm>
            <a:off x="10863072" y="21305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día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02920" y="2898648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2898648"/>
            <a:ext cx="11292840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9443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02920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Molienda–Flotación (Área Húmeda)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474720" y="307238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434840" y="307238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77/77 · 100%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035040" y="30723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8/77 · 10,4%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818120" y="307238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88,4%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098280" y="30723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(86)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10863072" y="3054096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E0A32E"/>
          </a:solidFill>
          <a:ln/>
        </p:spPr>
      </p:sp>
      <p:sp>
        <p:nvSpPr>
          <p:cNvPr id="32" name="Text 29"/>
          <p:cNvSpPr/>
          <p:nvPr/>
        </p:nvSpPr>
        <p:spPr>
          <a:xfrm>
            <a:off x="10863072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02920" y="3831336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2920" y="387705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4000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50292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Espesamiento y Relaves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474720" y="40050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4434840" y="40050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22/22 · 100%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035040" y="40050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10/22 · 45,5%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7818120" y="40050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9098280" y="40050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(0)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10863072" y="3986784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42" name="Text 39"/>
          <p:cNvSpPr/>
          <p:nvPr/>
        </p:nvSpPr>
        <p:spPr>
          <a:xfrm>
            <a:off x="10863072" y="3995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día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502920" y="4764024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57200" y="4764024"/>
            <a:ext cx="11292840" cy="932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/>
          <p:nvPr/>
        </p:nvSpPr>
        <p:spPr>
          <a:xfrm>
            <a:off x="502920" y="480974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8000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502920" y="5138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Control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3474720" y="4937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4434840" y="4937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 · 100%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6035040" y="4937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0/2 · 0%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7818120" y="4937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9098280" y="4937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(0)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10863072" y="4919472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53" name="Text 50"/>
          <p:cNvSpPr/>
          <p:nvPr/>
        </p:nvSpPr>
        <p:spPr>
          <a:xfrm>
            <a:off x="10863072" y="49286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día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502920" y="5696712"/>
            <a:ext cx="1124712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· Crítico: caminata 100% &lt; 60% o cierre P1 &lt; 50%   ·   Atención: algún frente entre 60–90% o carpetas TOP por entregar   ·   Al día: caminatas ≥ 90% y P1 ≥ 90%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Estatus_Resumen_General_QAQC.xlsx · Corte 26-10-2026 · Áreas 2000/3000/4000/8000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ARQUEROS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19456"/>
            <a:ext cx="2770632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ARQUEROS · FRENTE 1 · CAMINATAS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 de caminatas 80% y 100%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caminatas al 80% están cerradas en todas las áreas (136/136). El hito 100% avanza a 100%.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87452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635240" y="1874520"/>
            <a:ext cx="4096512" cy="4114800"/>
          </a:xfrm>
          <a:prstGeom prst="roundRect">
            <a:avLst>
              <a:gd name="adj" fmla="val 1339"/>
            </a:avLst>
          </a:prstGeom>
          <a:solidFill>
            <a:srgbClr val="12233B"/>
          </a:solidFill>
          <a:ln/>
        </p:spPr>
      </p:sp>
      <p:sp>
        <p:nvSpPr>
          <p:cNvPr id="8" name="Text 4"/>
          <p:cNvSpPr/>
          <p:nvPr/>
        </p:nvSpPr>
        <p:spPr>
          <a:xfrm>
            <a:off x="790956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80%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909560" y="2331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7909560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de 136 subsistemas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909560" y="3520440"/>
            <a:ext cx="3566160" cy="0"/>
          </a:xfrm>
          <a:prstGeom prst="line">
            <a:avLst/>
          </a:prstGeom>
          <a:noFill/>
          <a:ln w="12700">
            <a:solidFill>
              <a:srgbClr val="1B325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09560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100%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909560" y="39044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7909560" y="4608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realizadas · 0 pendientes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909560" y="50749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próximas a realizar y 0 por programar.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Estatus_Resumen_General_QAQC.xlsx · Corte 26-10-2026 · Áreas 2000/3000/4000/8000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ARQUEROS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19456"/>
            <a:ext cx="2770632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ARQUEROS · FRENTE 2 · CARPETAS TOP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Estatus de armado y entrega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carpetas entregadas de 136 (36%). Ninguna aprobada aún: el flujo se acumula en revisión y hay 30 rechazos que requieren rearmado.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87452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635240" y="1874520"/>
            <a:ext cx="4096512" cy="4114800"/>
          </a:xfrm>
          <a:prstGeom prst="roundRect">
            <a:avLst>
              <a:gd name="adj" fmla="val 1339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86384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EMBUDO DE ENTREGA (136)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863840" y="2450592"/>
            <a:ext cx="3639312" cy="566928"/>
          </a:xfrm>
          <a:prstGeom prst="roundRect">
            <a:avLst>
              <a:gd name="adj" fmla="val 8065"/>
            </a:avLst>
          </a:prstGeom>
          <a:solidFill>
            <a:srgbClr val="F4F6F9"/>
          </a:solidFill>
          <a:ln/>
        </p:spPr>
      </p:sp>
      <p:sp>
        <p:nvSpPr>
          <p:cNvPr id="10" name="Shape 6"/>
          <p:cNvSpPr/>
          <p:nvPr/>
        </p:nvSpPr>
        <p:spPr>
          <a:xfrm>
            <a:off x="7973568" y="2624328"/>
            <a:ext cx="219456" cy="219456"/>
          </a:xfrm>
          <a:prstGeom prst="ellipse">
            <a:avLst/>
          </a:prstGeom>
          <a:solidFill>
            <a:srgbClr val="2E6FB5"/>
          </a:solidFill>
          <a:ln/>
        </p:spPr>
      </p:sp>
      <p:sp>
        <p:nvSpPr>
          <p:cNvPr id="11" name="Text 7"/>
          <p:cNvSpPr/>
          <p:nvPr/>
        </p:nvSpPr>
        <p:spPr>
          <a:xfrm>
            <a:off x="8302752" y="245059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Entregadas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9509760" y="245059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+3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0469880" y="245059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E6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7863840" y="3072384"/>
            <a:ext cx="3639312" cy="566928"/>
          </a:xfrm>
          <a:prstGeom prst="roundRect">
            <a:avLst>
              <a:gd name="adj" fmla="val 8065"/>
            </a:avLst>
          </a:prstGeom>
          <a:solidFill>
            <a:srgbClr val="F4F6F9"/>
          </a:solidFill>
          <a:ln/>
        </p:spPr>
      </p:sp>
      <p:sp>
        <p:nvSpPr>
          <p:cNvPr id="15" name="Shape 11"/>
          <p:cNvSpPr/>
          <p:nvPr/>
        </p:nvSpPr>
        <p:spPr>
          <a:xfrm>
            <a:off x="7973568" y="3246120"/>
            <a:ext cx="219456" cy="219456"/>
          </a:xfrm>
          <a:prstGeom prst="ellipse">
            <a:avLst/>
          </a:prstGeom>
          <a:solidFill>
            <a:srgbClr val="6E8CA8"/>
          </a:solidFill>
          <a:ln/>
        </p:spPr>
      </p:sp>
      <p:sp>
        <p:nvSpPr>
          <p:cNvPr id="16" name="Text 12"/>
          <p:cNvSpPr/>
          <p:nvPr/>
        </p:nvSpPr>
        <p:spPr>
          <a:xfrm>
            <a:off x="8302752" y="307238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revisión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9509760" y="307238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+3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0469880" y="3072384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E8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7863840" y="3694176"/>
            <a:ext cx="3639312" cy="566928"/>
          </a:xfrm>
          <a:prstGeom prst="roundRect">
            <a:avLst>
              <a:gd name="adj" fmla="val 8065"/>
            </a:avLst>
          </a:prstGeom>
          <a:solidFill>
            <a:srgbClr val="F4F6F9"/>
          </a:solidFill>
          <a:ln/>
        </p:spPr>
      </p:sp>
      <p:sp>
        <p:nvSpPr>
          <p:cNvPr id="20" name="Shape 16"/>
          <p:cNvSpPr/>
          <p:nvPr/>
        </p:nvSpPr>
        <p:spPr>
          <a:xfrm>
            <a:off x="7973568" y="3867912"/>
            <a:ext cx="219456" cy="219456"/>
          </a:xfrm>
          <a:prstGeom prst="ellipse">
            <a:avLst/>
          </a:prstGeom>
          <a:solidFill>
            <a:srgbClr val="E0A32E"/>
          </a:solidFill>
          <a:ln/>
        </p:spPr>
      </p:sp>
      <p:sp>
        <p:nvSpPr>
          <p:cNvPr id="21" name="Text 17"/>
          <p:cNvSpPr/>
          <p:nvPr/>
        </p:nvSpPr>
        <p:spPr>
          <a:xfrm>
            <a:off x="8302752" y="369417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Observadas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10469880" y="3694176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A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7863840" y="4315968"/>
            <a:ext cx="3639312" cy="566928"/>
          </a:xfrm>
          <a:prstGeom prst="roundRect">
            <a:avLst>
              <a:gd name="adj" fmla="val 8065"/>
            </a:avLst>
          </a:prstGeom>
          <a:solidFill>
            <a:srgbClr val="F4F6F9"/>
          </a:solidFill>
          <a:ln/>
        </p:spPr>
      </p:sp>
      <p:sp>
        <p:nvSpPr>
          <p:cNvPr id="24" name="Shape 20"/>
          <p:cNvSpPr/>
          <p:nvPr/>
        </p:nvSpPr>
        <p:spPr>
          <a:xfrm>
            <a:off x="7973568" y="4489704"/>
            <a:ext cx="219456" cy="21945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1"/>
          <p:cNvSpPr/>
          <p:nvPr/>
        </p:nvSpPr>
        <p:spPr>
          <a:xfrm>
            <a:off x="8302752" y="431596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Rechazadas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10469880" y="431596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200" dirty="0"/>
          </a:p>
        </p:txBody>
      </p:sp>
      <p:sp>
        <p:nvSpPr>
          <p:cNvPr id="27" name="Shape 23"/>
          <p:cNvSpPr/>
          <p:nvPr/>
        </p:nvSpPr>
        <p:spPr>
          <a:xfrm>
            <a:off x="7863840" y="4937760"/>
            <a:ext cx="3639312" cy="566928"/>
          </a:xfrm>
          <a:prstGeom prst="roundRect">
            <a:avLst>
              <a:gd name="adj" fmla="val 8065"/>
            </a:avLst>
          </a:prstGeom>
          <a:solidFill>
            <a:srgbClr val="F4F6F9"/>
          </a:solidFill>
          <a:ln/>
        </p:spPr>
      </p:sp>
      <p:sp>
        <p:nvSpPr>
          <p:cNvPr id="28" name="Shape 24"/>
          <p:cNvSpPr/>
          <p:nvPr/>
        </p:nvSpPr>
        <p:spPr>
          <a:xfrm>
            <a:off x="7973568" y="5111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9" name="Text 25"/>
          <p:cNvSpPr/>
          <p:nvPr/>
        </p:nvSpPr>
        <p:spPr>
          <a:xfrm>
            <a:off x="8302752" y="49377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Aprobadas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10469880" y="493776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31" name="Text 27"/>
          <p:cNvSpPr/>
          <p:nvPr/>
        </p:nvSpPr>
        <p:spPr>
          <a:xfrm>
            <a:off x="7863840" y="55595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Cuello de botella: la revisión del cliente devuelve más carpetas de las que aprueba. Convertir entregas en aprobaciones es el próximo hito.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Estatus_Resumen_General_QAQC.xlsx · Corte 26-10-2026 · Áreas 2000/3000/4000/8000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ARQUEROS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68" y="219456"/>
            <a:ext cx="2770632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87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ARQUEROS · FRENTE 3 · DETALLES P1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Detalles de terminación en condición P1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2.182 P1 levantados; 93,4% cerrados. El pendiente se concentra en Instrumentación y Control, Eléctrica, Piping, y físicamente en el área 3000.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874520"/>
          <a:ext cx="70408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680960" y="1874520"/>
            <a:ext cx="4050792" cy="4114800"/>
          </a:xfrm>
          <a:prstGeom prst="roundRect">
            <a:avLst>
              <a:gd name="adj" fmla="val 1354"/>
            </a:avLst>
          </a:prstGeom>
          <a:solidFill>
            <a:srgbClr val="12233B"/>
          </a:solidFill>
          <a:ln/>
        </p:spPr>
      </p:sp>
      <p:sp>
        <p:nvSpPr>
          <p:cNvPr id="8" name="Text 4"/>
          <p:cNvSpPr/>
          <p:nvPr/>
        </p:nvSpPr>
        <p:spPr>
          <a:xfrm>
            <a:off x="7936992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GLOBAL P1</a:t>
            </a:r>
            <a:endParaRPr lang="en-US" sz="11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7772400" y="2331720"/>
          <a:ext cx="20116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 5"/>
          <p:cNvSpPr/>
          <p:nvPr/>
        </p:nvSpPr>
        <p:spPr>
          <a:xfrm>
            <a:off x="7772400" y="299923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93,4%</a:t>
            </a:r>
            <a:endParaRPr lang="en-US" sz="19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CE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cerrado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0012680" y="2505456"/>
            <a:ext cx="182880" cy="18288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7"/>
          <p:cNvSpPr/>
          <p:nvPr/>
        </p:nvSpPr>
        <p:spPr>
          <a:xfrm>
            <a:off x="1024128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Cerrados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0241280" y="2651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2.039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10012680" y="3072384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0"/>
          <p:cNvSpPr/>
          <p:nvPr/>
        </p:nvSpPr>
        <p:spPr>
          <a:xfrm>
            <a:off x="10241280" y="29900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Abiertos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0241280" y="3218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10012680" y="3639312"/>
            <a:ext cx="182880" cy="182880"/>
          </a:xfrm>
          <a:prstGeom prst="ellipse">
            <a:avLst/>
          </a:prstGeom>
          <a:solidFill>
            <a:srgbClr val="E3A55B"/>
          </a:solidFill>
          <a:ln/>
        </p:spPr>
      </p:sp>
      <p:sp>
        <p:nvSpPr>
          <p:cNvPr id="18" name="Text 13"/>
          <p:cNvSpPr/>
          <p:nvPr/>
        </p:nvSpPr>
        <p:spPr>
          <a:xfrm>
            <a:off x="10241280" y="35570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trámite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0241280" y="37856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936992" y="4526280"/>
            <a:ext cx="3566160" cy="0"/>
          </a:xfrm>
          <a:prstGeom prst="line">
            <a:avLst/>
          </a:prstGeom>
          <a:noFill/>
          <a:ln w="12700">
            <a:solidFill>
              <a:srgbClr val="1B3252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936992" y="466344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por área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de 143 P1 abiertos (100%) están en el área 3000. Áreas 2000 y 4000 y 8000 sobre 90% de cierre.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Estatus_Resumen_General_QAQC.xlsx · Corte 26-10-2026 · Áreas 2000/3000/4000/8000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ARQUEROS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ashboard-hseq/panel_control_TOP_P1/besal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7616" y="420624"/>
            <a:ext cx="3547872" cy="7680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875520" y="-1645920"/>
            <a:ext cx="4206240" cy="4206240"/>
          </a:xfrm>
          <a:prstGeom prst="ellipse">
            <a:avLst/>
          </a:prstGeom>
          <a:solidFill>
            <a:srgbClr val="1B3252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3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ARQUEROS · FOCO DE GESTIÓN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poner el esfuerzo esta semana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1B325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80136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7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691640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Destrabar aprobaciones de carpetas TOP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91640" y="240487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aprobadas de 136. Priorizar el cierre de las 18 en revisión y el rearmado de las 30 rechazadas para convertir entregas en aprobaciones.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45352" y="160020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1B3252"/>
          </a:solidFill>
          <a:ln/>
        </p:spPr>
      </p:sp>
      <p:sp>
        <p:nvSpPr>
          <p:cNvPr id="11" name="Text 8"/>
          <p:cNvSpPr/>
          <p:nvPr/>
        </p:nvSpPr>
        <p:spPr>
          <a:xfrm>
            <a:off x="6519672" y="180136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479792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Atacar el atraso del área 3000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479792" y="240487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P1 abiertos (100% del total) y 0 caminatas 100% pendientes. Es la ruta crítica: sin esta área no mejora ningún indicador global.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374904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1B3252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395020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1691640" y="396849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los 86 P1 vencidos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691640" y="45537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60,1% de los P1 abiertos superó su fecha de vencimiento. Foco en Instrumentación y Control (39), Eléctrica (33), Piping (10).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45352" y="3749040"/>
            <a:ext cx="5486400" cy="1920240"/>
          </a:xfrm>
          <a:prstGeom prst="roundRect">
            <a:avLst>
              <a:gd name="adj" fmla="val 3333"/>
            </a:avLst>
          </a:prstGeom>
          <a:solidFill>
            <a:srgbClr val="1B3252"/>
          </a:solidFill>
          <a:ln/>
        </p:spPr>
      </p:sp>
      <p:sp>
        <p:nvSpPr>
          <p:cNvPr id="19" name="Text 16"/>
          <p:cNvSpPr/>
          <p:nvPr/>
        </p:nvSpPr>
        <p:spPr>
          <a:xfrm>
            <a:off x="6519672" y="395020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7479792" y="396849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las caminatas ya programadas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479792" y="4553712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subsistemas pendientes: 0 próximos a realizar y 0 por programar. La programación ya está hecha; falta ejecutarla para habilitar la entrega de carpetas.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Estatus_Resumen_General_QAQC.xlsx · Corte 26-10-2026 · Áreas 2000/3000/4000/8000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828800" y="6483096"/>
            <a:ext cx="9756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ARQUEROS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Panel de Control — Carpetas TOP · Caminatas · Detalles P1</dc:title>
  <dc:subject>PptxGenJS Presentation</dc:subject>
  <dc:creator>Control de Proyecto</dc:creator>
  <cp:lastModifiedBy>Control de Proyecto</cp:lastModifiedBy>
  <cp:revision>1</cp:revision>
  <dcterms:created xsi:type="dcterms:W3CDTF">2026-10-26T13:24:08Z</dcterms:created>
  <dcterms:modified xsi:type="dcterms:W3CDTF">2026-10-26T13:24:08Z</dcterms:modified>
</cp:coreProperties>
</file>