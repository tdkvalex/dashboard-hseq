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7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8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su caminata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41</c:v>
                </c:pt>
                <c:pt idx="1">
                  <c:v>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Pendiente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39</c:v>
                </c:pt>
                <c:pt idx="1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Obras Civiles</c:v>
                  </c:pt>
                  <c:pt idx="3">
                    <c:v>Mecánica</c:v>
                  </c:pt>
                  <c:pt idx="4">
                    <c:v>Estructura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72</c:v>
                </c:pt>
                <c:pt idx="1">
                  <c:v>58</c:v>
                </c:pt>
                <c:pt idx="2">
                  <c:v>29</c:v>
                </c:pt>
                <c:pt idx="3">
                  <c:v>13</c:v>
                </c:pt>
                <c:pt idx="4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fecha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Obras Civiles</c:v>
                  </c:pt>
                  <c:pt idx="3">
                    <c:v>Mecánica</c:v>
                  </c:pt>
                  <c:pt idx="4">
                    <c:v>Estructura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25</c:v>
                </c:pt>
                <c:pt idx="1">
                  <c:v>23</c:v>
                </c:pt>
                <c:pt idx="2">
                  <c:v>5</c:v>
                </c:pt>
                <c:pt idx="3">
                  <c:v>3</c:v>
                </c:pt>
                <c:pt idx="4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Atrasados</c:v>
                </c:pt>
                <c:pt idx="2">
                  <c:v>Abiertos en plazo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592</c:v>
                </c:pt>
                <c:pt idx="1">
                  <c:v>178</c:v>
                </c:pt>
                <c:pt idx="2">
                  <c:v>59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Caminata 2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/>
                </c:pt>
                <c:pt idx="1">
                  <c:v>19</c:v>
                </c:pt>
                <c:pt idx="2">
                  <c:v>22</c:v>
                </c:pt>
                <c:pt idx="3">
                  <c:v>3</c:v>
                </c:pt>
                <c:pt idx="4">
                  <c:v>14</c:v>
                </c:pt>
                <c:pt idx="5">
                  <c:v>10</c:v>
                </c:pt>
                <c:pt idx="6">
                  <c:v>104</c:v>
                </c:pt>
                <c:pt idx="7">
                  <c:v>12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Agendada 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3</c:v>
                </c:pt>
                <c:pt idx="1">
                  <c:v>1</c:v>
                </c:pt>
                <c:pt idx="2">
                  <c:v>3</c:v>
                </c:pt>
                <c:pt idx="3">
                  <c:v/>
                </c:pt>
                <c:pt idx="4">
                  <c:v/>
                </c:pt>
                <c:pt idx="5">
                  <c:v>12</c:v>
                </c:pt>
                <c:pt idx="6">
                  <c:v>6</c:v>
                </c:pt>
                <c:pt idx="7">
                  <c:v/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Sin programar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Avance PEC de carpetas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95% o más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18</c:v>
                </c:pt>
                <c:pt idx="2">
                  <c:v>16</c:v>
                </c:pt>
                <c:pt idx="3">
                  <c:v>3</c:v>
                </c:pt>
                <c:pt idx="4">
                  <c:v>10</c:v>
                </c:pt>
                <c:pt idx="5">
                  <c:v>6</c:v>
                </c:pt>
                <c:pt idx="6">
                  <c:v>110</c:v>
                </c:pt>
                <c:pt idx="7">
                  <c:v>8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80% a 95%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>1</c:v>
                </c:pt>
                <c:pt idx="2">
                  <c:v>7</c:v>
                </c:pt>
                <c:pt idx="3">
                  <c:v/>
                </c:pt>
                <c:pt idx="4">
                  <c:v>3</c:v>
                </c:pt>
                <c:pt idx="5">
                  <c:v>13</c:v>
                </c:pt>
                <c:pt idx="6">
                  <c:v/>
                </c:pt>
                <c:pt idx="7">
                  <c:v>4</c:v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Bajo 80%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</c:v>
                </c:pt>
                <c:pt idx="1">
                  <c:v>1</c:v>
                </c:pt>
                <c:pt idx="2">
                  <c:v>2</c:v>
                </c:pt>
                <c:pt idx="3">
                  <c:v/>
                </c:pt>
                <c:pt idx="4">
                  <c:v>1</c:v>
                </c:pt>
                <c:pt idx="5">
                  <c:v>3</c:v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DT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Obras Civiles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38</c:v>
                </c:pt>
                <c:pt idx="1">
                  <c:v>59</c:v>
                </c:pt>
                <c:pt idx="2">
                  <c:v>45</c:v>
                </c:pt>
                <c:pt idx="3">
                  <c:v>9</c:v>
                </c:pt>
                <c:pt idx="4">
                  <c:v>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compromiso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Obras Civiles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170</c:v>
                </c:pt>
                <c:pt idx="1">
                  <c:v>91</c:v>
                </c:pt>
                <c:pt idx="2">
                  <c:v>34</c:v>
                </c:pt>
                <c:pt idx="3">
                  <c:v>24</c:v>
                </c:pt>
                <c:pt idx="4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caminata 100%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</c:v>
                </c:pt>
                <c:pt idx="1">
                  <c:v>35</c:v>
                </c:pt>
                <c:pt idx="2">
                  <c:v>19</c:v>
                </c:pt>
                <c:pt idx="3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Próxima a realizar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40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Por programar</c:v>
                </c:pt>
              </c:strCache>
            </c:strRef>
          </c:tx>
          <c:spPr>
            <a:solidFill>
              <a:srgbClr val="3A6F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/>
                </c:pt>
                <c:pt idx="1">
                  <c:v>1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Carpetas TOP por área y estatus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 revisión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Observada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1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Rechazada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</c:v>
                </c:pt>
                <c:pt idx="1">
                  <c:v>7</c:v>
                </c:pt>
                <c:pt idx="2">
                  <c:v>1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entregar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17</c:v>
                </c:pt>
                <c:pt idx="1">
                  <c:v>68</c:v>
                </c:pt>
                <c:pt idx="2">
                  <c:v>21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Vencidos al corte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Estructura</c:v>
                  </c:pt>
                  <c:pt idx="5">
                    <c:v>Obras Civiles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74</c:v>
                </c:pt>
                <c:pt idx="1">
                  <c:v>98</c:v>
                </c:pt>
                <c:pt idx="2">
                  <c:v>128</c:v>
                </c:pt>
                <c:pt idx="3">
                  <c:v>88</c:v>
                </c:pt>
                <c:pt idx="4">
                  <c:v>17</c:v>
                </c:pt>
                <c:pt idx="5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Estructura</c:v>
                  </c:pt>
                  <c:pt idx="5">
                    <c:v>Obras Civiles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177</c:v>
                </c:pt>
                <c:pt idx="1">
                  <c:v>118</c:v>
                </c:pt>
                <c:pt idx="2">
                  <c:v>53</c:v>
                </c:pt>
                <c:pt idx="3">
                  <c:v>38</c:v>
                </c:pt>
                <c:pt idx="4">
                  <c:v>19</c:v>
                </c:pt>
                <c:pt idx="5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Abiertos</c:v>
                </c:pt>
                <c:pt idx="2">
                  <c:v>En trámite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1148</c:v>
                </c:pt>
                <c:pt idx="1">
                  <c:v>830</c:v>
                </c:pt>
                <c:pt idx="2">
                  <c:v>10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3" Type="http://schemas.openxmlformats.org/officeDocument/2006/relationships/chart" Target="/ppt/charts/chart5.xml"/><Relationship Id="rId1" Type="http://schemas.openxmlformats.org/officeDocument/2006/relationships/image" Target="../media/image-8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1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9.xml"/><Relationship Id="rId3" Type="http://schemas.openxmlformats.org/officeDocument/2006/relationships/chart" Target="/ppt/charts/chart10.xml"/><Relationship Id="rId1" Type="http://schemas.openxmlformats.org/officeDocument/2006/relationships/image" Target="../media/image-16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 · P2416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PV3 Montaje Electromecánico — Ampliación Desaladora · ANTOFAGASTA MINERALS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VPP-1001-03-CC-088 · 95 subsistemas (80 Operable · 15 Facility) en Desaladora y EB-2.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suman al universo 2 componentes ya entregados: son entregas parciales de un subsistema que ya está contado.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51,3%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38,9%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71,4%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27-07-2026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51,3%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41/80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subsistemas por caminar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10/15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facilities por caminar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38,9%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37/95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aprobadas · 9 rechazadas · 14 en preparación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71,4%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592/829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237 abiertos · 178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punch cierra a buen ritmo, pero la deuda vencida es la mitad de lo abierto.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960 de 1.386 ítems cerrados (69,3%); de los 426 abiertos, 332 ya pasaron su fecha requerida de cierre (77,9%).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avanzan a distinta velocidad según el tipo de subsistema.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Operables 41/80 por Caminata 2 (51,3%); Facility 10/15 por Caminata 1 (66,7%).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están a 38,9% de entrega y el cuello está en el armado interno.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entregadas de 95: 20 aprobadas, 8 en revisión y 9 rechazadas. Quedan 14 en preparación y 44 sin iniciar.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Piping concentra el pendiente de P1.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 de los 237 P1 abiertos (40,9%), con 72 atrasados.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certificados de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tipo de subsistema se mide con su propia caminata: los Operables por la Caminata 2 y los Facility por la Caminata 1, tal como lo declara el propio reporte gerencial.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5778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263640" y="1874520"/>
            <a:ext cx="5468112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492240" y="20848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 DE ENTREGA (95 SUBSISTEMAS)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492240" y="2468880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6601968" y="264261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1" name="Text 7"/>
          <p:cNvSpPr/>
          <p:nvPr/>
        </p:nvSpPr>
        <p:spPr>
          <a:xfrm>
            <a:off x="6931152" y="24688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6888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21,1%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10561320" y="246888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6492240" y="3090672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6601968" y="326440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6" name="Text 12"/>
          <p:cNvSpPr/>
          <p:nvPr/>
        </p:nvSpPr>
        <p:spPr>
          <a:xfrm>
            <a:off x="6931152" y="309067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 del cliente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509760" y="309067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8,4%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10561320" y="3090672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6492240" y="3712464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0" name="Shape 16"/>
          <p:cNvSpPr/>
          <p:nvPr/>
        </p:nvSpPr>
        <p:spPr>
          <a:xfrm>
            <a:off x="6601968" y="3886200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1" name="Text 17"/>
          <p:cNvSpPr/>
          <p:nvPr/>
        </p:nvSpPr>
        <p:spPr>
          <a:xfrm>
            <a:off x="6931152" y="371246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9509760" y="371246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9,5%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10561320" y="3712464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6492240" y="4334256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5" name="Shape 21"/>
          <p:cNvSpPr/>
          <p:nvPr/>
        </p:nvSpPr>
        <p:spPr>
          <a:xfrm>
            <a:off x="6601968" y="450799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6" name="Text 22"/>
          <p:cNvSpPr/>
          <p:nvPr/>
        </p:nvSpPr>
        <p:spPr>
          <a:xfrm>
            <a:off x="6931152" y="43342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preparación (interna)</a:t>
            </a:r>
            <a:endParaRPr lang="en-US" sz="1250" dirty="0"/>
          </a:p>
        </p:txBody>
      </p:sp>
      <p:sp>
        <p:nvSpPr>
          <p:cNvPr id="27" name="Text 23"/>
          <p:cNvSpPr/>
          <p:nvPr/>
        </p:nvSpPr>
        <p:spPr>
          <a:xfrm>
            <a:off x="9509760" y="433425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14,7%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10561320" y="4334256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200" dirty="0"/>
          </a:p>
        </p:txBody>
      </p:sp>
      <p:sp>
        <p:nvSpPr>
          <p:cNvPr id="29" name="Shape 25"/>
          <p:cNvSpPr/>
          <p:nvPr/>
        </p:nvSpPr>
        <p:spPr>
          <a:xfrm>
            <a:off x="6492240" y="4956048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30" name="Shape 26"/>
          <p:cNvSpPr/>
          <p:nvPr/>
        </p:nvSpPr>
        <p:spPr>
          <a:xfrm>
            <a:off x="6601968" y="5129784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31" name="Text 27"/>
          <p:cNvSpPr/>
          <p:nvPr/>
        </p:nvSpPr>
        <p:spPr>
          <a:xfrm>
            <a:off x="6931152" y="495604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entregar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9509760" y="495604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46,3%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10561320" y="4956048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2200" dirty="0"/>
          </a:p>
        </p:txBody>
      </p:sp>
      <p:sp>
        <p:nvSpPr>
          <p:cNvPr id="34" name="Text 30"/>
          <p:cNvSpPr/>
          <p:nvPr/>
        </p:nvSpPr>
        <p:spPr>
          <a:xfrm>
            <a:off x="6492240" y="55961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carpetas ya están en manos del cliente (38,9%) y 25 subsistemas tienen tarjeta verde. El grueso del pendiente todavía no sale de Besalco.</a:t>
            </a:r>
            <a:endParaRPr lang="en-US" sz="100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Punch list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829 P1 levantados; 71,4% cerrados. Atrasado = ítem abierto cuya fecha requerida de cierre ya venció al 27-07-2026.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71,4%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10241280" y="26700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592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Atrasados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10241280" y="32369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178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 en plazo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10241280" y="38039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22 días vencidos; el más antiguo lleva 78. 281 entre 1-30 días, 51 entre 31-90 días.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332 ítems atrasados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77,9% de los 426 abiertos ya venció su fecha requerida. Foco en Piping (72), Eléctrica (58), Obras Civiles (29).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39 caminatas de Operables pendientes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Caminata 2 va en 51,3% (41/80). Sin caminata no se levanta el punch final ni se habilita la entrega de la carpeta.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del armado interno las 58 carpetas retenidas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están en preparación y 44 sin iniciar. Solo 37 de 95 (38,9%) llegaron al cliente; 9 volvieron rechazadas y hay que rearmarlas.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la zona Desaladora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181 P1 abiertos y 144 atrasados sobre 74 subsistemas. Es la ruta crítica del proyecto.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 · P2407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Captación de agua, pozos y estaciones de bombeo · CODELCO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4600029355 · 218 subsistemas en 9 áreas · 2.024 detalles de terminación levantados.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98,6%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exigible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99,5%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exigible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92,7%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promedio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P1+P2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Atrasos calculados al 03-08-2026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2.024 DT · Atrasos al 03-08-2026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98,6%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205/208 exigibles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realizada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94% del universo · 10 programadas en plazo · 2 con agenda vencida · 1 sin programar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99,5%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192/193 exigibles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realizada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88,1% del universo · 25 programadas en plazo · 1 sin programar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92,7%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181/218 sobre 95%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de carpetas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subsistemas bajo 80% de avance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91,8%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323/352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abiertos · 11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está prácticamente cerrado; el volumen pendiente está en las prioridades menores.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91,8% de cierre en P1 (29 abiertos), pero 451 DT abiertos entre P2, P3 y P4 sobre un total de 480.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atraso es más antiguo que el de los otros proyectos.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158 DT con la fecha de compromiso vencida; mediana de 31 días y el más antiguo lleva 137. Los 218 abiertos sin fecha de compromiso no se cuentan como atrasados.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Caminatas: 98,6% y 99,5% de lo exigible (C1 y C2).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1: 205/208 exigibles, 2 con agenda vencida. Caminata 2: 192/193, con 25 agendadas en plazo y 1 sin programar.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avanzan bien salvo un grupo acotado.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promedio 92,7%: 181 subsistemas sobre 95% y solo 9 bajo 80%.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2.024 DT · Atrasos al 03-08-2026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avance de carpetas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2: 99,5% de lo exigible (192/193) — se descuentan 25 agendadas a fecha futura, que no son incumplimiento al corte. Talabre mide la carpeta como % de avance (PEC), no como estado de aprobación.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8521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6446520" y="1874520"/>
          <a:ext cx="5285232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2.024 DT · Atrasos al 03-08-2026</a:t>
            </a:r>
            <a:endParaRPr lang="en-US" sz="850" dirty="0"/>
          </a:p>
        </p:txBody>
      </p:sp>
      <p:sp>
        <p:nvSpPr>
          <p:cNvPr id="9" name="Text 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10" name="Text 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2.024 DT levantados; 76,3% cerrados. Atrasado = DT abierto cuya fecha de compromiso de cierre ya venció al 03-08-2026.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POR PRIORIDAD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36992" y="243230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8778240" y="243230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323/352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10287000" y="243230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91,8%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7936992" y="2688336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3" name="Shape 9"/>
          <p:cNvSpPr/>
          <p:nvPr/>
        </p:nvSpPr>
        <p:spPr>
          <a:xfrm>
            <a:off x="7936992" y="2688336"/>
            <a:ext cx="3273735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14" name="Text 10"/>
          <p:cNvSpPr/>
          <p:nvPr/>
        </p:nvSpPr>
        <p:spPr>
          <a:xfrm>
            <a:off x="7936992" y="294436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8778240" y="294436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1.144/1.374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10287000" y="294436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83,3%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7936992" y="3200400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8" name="Shape 14"/>
          <p:cNvSpPr/>
          <p:nvPr/>
        </p:nvSpPr>
        <p:spPr>
          <a:xfrm>
            <a:off x="7936992" y="3200400"/>
            <a:ext cx="2970611" cy="118872"/>
          </a:xfrm>
          <a:prstGeom prst="rect">
            <a:avLst/>
          </a:prstGeom>
          <a:solidFill>
            <a:srgbClr val="E3A55B"/>
          </a:solidFill>
          <a:ln/>
        </p:spPr>
      </p:sp>
      <p:sp>
        <p:nvSpPr>
          <p:cNvPr id="19" name="Text 15"/>
          <p:cNvSpPr/>
          <p:nvPr/>
        </p:nvSpPr>
        <p:spPr>
          <a:xfrm>
            <a:off x="7936992" y="345643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8778240" y="345643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68/239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10287000" y="345643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28,5%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7936992" y="3712464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3" name="Shape 19"/>
          <p:cNvSpPr/>
          <p:nvPr/>
        </p:nvSpPr>
        <p:spPr>
          <a:xfrm>
            <a:off x="7936992" y="3712464"/>
            <a:ext cx="1016356" cy="1188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4" name="Text 20"/>
          <p:cNvSpPr/>
          <p:nvPr/>
        </p:nvSpPr>
        <p:spPr>
          <a:xfrm>
            <a:off x="7936992" y="396849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8778240" y="396849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0/50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10287000" y="396849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7936992" y="4224528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8" name="Text 24"/>
          <p:cNvSpPr/>
          <p:nvPr/>
        </p:nvSpPr>
        <p:spPr>
          <a:xfrm>
            <a:off x="7936992" y="44805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8778240" y="448056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9/9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10287000" y="448056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7936992" y="4736592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32" name="Shape 28"/>
          <p:cNvSpPr/>
          <p:nvPr/>
        </p:nvSpPr>
        <p:spPr>
          <a:xfrm>
            <a:off x="7936992" y="4736592"/>
            <a:ext cx="3566160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33" name="Shape 29"/>
          <p:cNvSpPr/>
          <p:nvPr/>
        </p:nvSpPr>
        <p:spPr>
          <a:xfrm>
            <a:off x="7936992" y="502920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7936992" y="5138928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31 días vencidos; el más antiguo lleva 137. 78 entre 1-30 días, 59 entre 31-90 días, 21 entre 91-180 días.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2.024 DT · Atrasos al 03-08-2026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158 DT atrasados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 son P2 y 11 son P1. La mediana de atraso es de 31 días y 21 superan los 90 días.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 caminata 2 en CERRO VERDE/PS2 y PISCINAS Y SEDIMENTADOR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CERRO VERDE/PS2: 0/3 (0%) · PISCINAS Y SEDIMENTADOR: 10/22 (45,5%). A nivel proyecto la caminata 2 va 88,1% con 25 ya agendadas.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P4: 50 abiertos y ninguno cerrado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50 DT levantados en P4 no se ha cerrado ninguno (0%). P3 tampoco despega: 28,5% de cierre.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POZOS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154 de los 480 DT abiertos (32,1%), con 31 atrasados. Además hay 9 carpetas bajo 80% de avance que conviene cerrar en paralelo.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2.024 DT · Atrasos al 03-08-2026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 · P2342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Arqueros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Electromecánico Planta Concentradora y de Espesado · MASA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20040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 subsistemas en 4 áreas (2000 · 3000 · 4000 · 8000) · 2.963 detalles de terminación levantados.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 de armado y entrega de carpetas TOP · avance de caminatas 80% / 100% · detalles de construcción en condición P1.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57,7%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detalles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26-07-2026   ·   Corte anterior: 16-07-2026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135/135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 realizadas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cerrado en las 4 áreas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90/135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 realizadas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próximas · 1 por programar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3593592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sin cambio vs. corte anterior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181344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0" name="Text 17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</a:t>
            </a:r>
            <a:endParaRPr lang="en-US" sz="4000" dirty="0"/>
          </a:p>
        </p:txBody>
      </p:sp>
      <p:sp>
        <p:nvSpPr>
          <p:cNvPr id="21" name="Text 18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27/135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455664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· 12 rechazadas · 14 en revisión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455664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 vs. corte anterior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9043416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7" name="Text 24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57,7%</a:t>
            </a:r>
            <a:endParaRPr lang="en-US" sz="4000" dirty="0"/>
          </a:p>
        </p:txBody>
      </p:sp>
      <p:sp>
        <p:nvSpPr>
          <p:cNvPr id="28" name="Text 25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1.148/1.988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detalles P1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9317736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830 abiertos · 405 vencidos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9317736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 vs. corte anterior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457200" y="4041648"/>
            <a:ext cx="11274552" cy="2103120"/>
          </a:xfrm>
          <a:prstGeom prst="roundRect">
            <a:avLst>
              <a:gd name="adj" fmla="val 2609"/>
            </a:avLst>
          </a:prstGeom>
          <a:solidFill>
            <a:srgbClr val="12233B"/>
          </a:solidFill>
          <a:ln/>
        </p:spPr>
      </p:sp>
      <p:sp>
        <p:nvSpPr>
          <p:cNvPr id="33" name="Text 30"/>
          <p:cNvSpPr/>
          <p:nvPr/>
        </p:nvSpPr>
        <p:spPr>
          <a:xfrm>
            <a:off x="777240" y="4206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22960" y="45902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5" name="Text 32"/>
          <p:cNvSpPr/>
          <p:nvPr/>
        </p:nvSpPr>
        <p:spPr>
          <a:xfrm>
            <a:off x="1051560" y="448970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destrabó la programación de caminatas, pero no la ejecución.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subsistemas «por programar» bajaron de 36 a 1, mientras las realizadas al 100% se mantienen en 90 (66,7%).</a:t>
            </a:r>
            <a:endParaRPr lang="en-US" sz="1250" dirty="0"/>
          </a:p>
        </p:txBody>
      </p:sp>
      <p:sp>
        <p:nvSpPr>
          <p:cNvPr id="36" name="Shape 33"/>
          <p:cNvSpPr/>
          <p:nvPr/>
        </p:nvSpPr>
        <p:spPr>
          <a:xfrm>
            <a:off x="822960" y="510235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7" name="Text 34"/>
          <p:cNvSpPr/>
          <p:nvPr/>
        </p:nvSpPr>
        <p:spPr>
          <a:xfrm>
            <a:off x="1051560" y="500176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TOP siguen sin aprobaciones y suben los rechazos.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entregadas de 135 (20%) y 0 aprobadas; las rechazadas pasaron de 8 a 12.</a:t>
            </a:r>
            <a:endParaRPr lang="en-US" sz="1250" dirty="0"/>
          </a:p>
        </p:txBody>
      </p:sp>
      <p:sp>
        <p:nvSpPr>
          <p:cNvPr id="38" name="Shape 35"/>
          <p:cNvSpPr/>
          <p:nvPr/>
        </p:nvSpPr>
        <p:spPr>
          <a:xfrm>
            <a:off x="822960" y="561441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9" name="Text 36"/>
          <p:cNvSpPr/>
          <p:nvPr/>
        </p:nvSpPr>
        <p:spPr>
          <a:xfrm>
            <a:off x="1051560" y="55138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cierre de detalles P1 está prácticamente detenido y crece la deuda vencida.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P1 cerrado desde el corte anterior; 830 abiertos, de los cuales 405 superaron su fecha de vencimiento (+4 en el período). El área 3000 concentra 707 (85,2%).</a:t>
            </a:r>
            <a:endParaRPr lang="en-US" sz="1250" dirty="0"/>
          </a:p>
        </p:txBody>
      </p:sp>
      <p:sp>
        <p:nvSpPr>
          <p:cNvPr id="40" name="Text 3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42" name="Text 3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ESTADO POR ÁREA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integrado de los tres frentes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02920" y="15727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3474720" y="1572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SUBSIST.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4434840" y="15727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100%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03504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ENTREGADAS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7818120" y="15727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P1 % CIERRE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909828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ABIERTOS (VENC.)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0881360" y="15727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02920" y="1883664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2920" y="2011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02920" y="234086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Chancado (Área Seca)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474720" y="213969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434840" y="2139696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35/35 · 100%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03504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18/35 · 51,4%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818120" y="213969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91,9%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909828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(19)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10863072" y="2121408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1" name="Text 18"/>
          <p:cNvSpPr/>
          <p:nvPr/>
        </p:nvSpPr>
        <p:spPr>
          <a:xfrm>
            <a:off x="10863072" y="21305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02920" y="2898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57200" y="2898648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9443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3000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502920" y="32735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Molienda–Flotación (Área Húmeda)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474720" y="3072384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4434840" y="307238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35/76 · 46,1%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03504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8/76 · 10,5%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7818120" y="307238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32,6%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909828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707 (366)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10863072" y="305409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32" name="Text 29"/>
          <p:cNvSpPr/>
          <p:nvPr/>
        </p:nvSpPr>
        <p:spPr>
          <a:xfrm>
            <a:off x="10863072" y="30632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02920" y="383133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877056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502920" y="42062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Espesamiento y Relaves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3474720" y="40050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4434840" y="400507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19/22 · 86,4%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03504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1/22 · 4,5%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7818120" y="400507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75,9%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909828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 (19)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863072" y="3986784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42" name="Text 39"/>
          <p:cNvSpPr/>
          <p:nvPr/>
        </p:nvSpPr>
        <p:spPr>
          <a:xfrm>
            <a:off x="10863072" y="39959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02920" y="476402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57200" y="4764024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2"/>
          <p:cNvSpPr/>
          <p:nvPr/>
        </p:nvSpPr>
        <p:spPr>
          <a:xfrm>
            <a:off x="502920" y="480974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8000</a:t>
            </a:r>
            <a:endParaRPr lang="en-US" sz="1500" dirty="0"/>
          </a:p>
        </p:txBody>
      </p:sp>
      <p:sp>
        <p:nvSpPr>
          <p:cNvPr id="46" name="Text 43"/>
          <p:cNvSpPr/>
          <p:nvPr/>
        </p:nvSpPr>
        <p:spPr>
          <a:xfrm>
            <a:off x="502920" y="5138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Salas de Control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3474720" y="49377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4434840" y="49377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1/2 · 50%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603504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0/2 · 0%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7818120" y="49377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91,7%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909828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(1)</a:t>
            </a:r>
            <a:endParaRPr lang="en-US" sz="1300" dirty="0"/>
          </a:p>
        </p:txBody>
      </p:sp>
      <p:sp>
        <p:nvSpPr>
          <p:cNvPr id="52" name="Shape 49"/>
          <p:cNvSpPr/>
          <p:nvPr/>
        </p:nvSpPr>
        <p:spPr>
          <a:xfrm>
            <a:off x="10863072" y="4919472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53" name="Text 50"/>
          <p:cNvSpPr/>
          <p:nvPr/>
        </p:nvSpPr>
        <p:spPr>
          <a:xfrm>
            <a:off x="10863072" y="492861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54" name="Shape 51"/>
          <p:cNvSpPr/>
          <p:nvPr/>
        </p:nvSpPr>
        <p:spPr>
          <a:xfrm>
            <a:off x="502920" y="56967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· Crítico: caminata 100% &lt; 60% o cierre P1 &lt; 50%   ·   Atención: algún frente entre 60–90% o carpetas TOP por entregar   ·   Al día: caminatas ≥ 90% y P1 ≥ 90%</a:t>
            </a:r>
            <a:endParaRPr lang="en-US" sz="950" dirty="0"/>
          </a:p>
        </p:txBody>
      </p:sp>
      <p:sp>
        <p:nvSpPr>
          <p:cNvPr id="56" name="Text 5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57" name="Text 5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58" name="Text 5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1 · CAMINATAS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Avance de caminatas 80% y 100%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al 80% están cerradas en todas las áreas (135/135). El hito 100% avanza a 66,7%, y el área 3000 concentra 41 de los 45 subsistemas pendientes.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09560" y="2103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80%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09560" y="23317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7909560" y="30358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 de 135 subsistemas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7909560" y="352044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909560" y="36758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100%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7909560" y="390448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4000" dirty="0"/>
          </a:p>
        </p:txBody>
      </p:sp>
      <p:sp>
        <p:nvSpPr>
          <p:cNvPr id="14" name="Text 10"/>
          <p:cNvSpPr/>
          <p:nvPr/>
        </p:nvSpPr>
        <p:spPr>
          <a:xfrm>
            <a:off x="7909560" y="46085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realizadas · 45 pendientes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7909560" y="507492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Foco: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próximas a realizar y 1 por programar. Las «por programar» bajaron 35 en el período.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17" name="Text 13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2 · CARPETAS TOP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Estatus de armado y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carpetas entregadas de 135 (20%). Ninguna aprobada aún: el flujo se acumula en revisión y hay 12 rechazos que requieren rearmado.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863840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EMBUDO DE ENTREGA (135)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7863840" y="2450592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7973568" y="262432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1" name="Text 7"/>
          <p:cNvSpPr/>
          <p:nvPr/>
        </p:nvSpPr>
        <p:spPr>
          <a:xfrm>
            <a:off x="8302752" y="245059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Entregadas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50592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0469880" y="2450592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7863840" y="3072384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7973568" y="3246120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16" name="Text 12"/>
          <p:cNvSpPr/>
          <p:nvPr/>
        </p:nvSpPr>
        <p:spPr>
          <a:xfrm>
            <a:off x="8302752" y="3072384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509760" y="3072384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-3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10469880" y="3072384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7863840" y="3694176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0" name="Shape 16"/>
          <p:cNvSpPr/>
          <p:nvPr/>
        </p:nvSpPr>
        <p:spPr>
          <a:xfrm>
            <a:off x="7973568" y="386791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1" name="Text 17"/>
          <p:cNvSpPr/>
          <p:nvPr/>
        </p:nvSpPr>
        <p:spPr>
          <a:xfrm>
            <a:off x="8302752" y="3694176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Observadas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10469880" y="3694176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23" name="Shape 19"/>
          <p:cNvSpPr/>
          <p:nvPr/>
        </p:nvSpPr>
        <p:spPr>
          <a:xfrm>
            <a:off x="7863840" y="4315968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4" name="Shape 20"/>
          <p:cNvSpPr/>
          <p:nvPr/>
        </p:nvSpPr>
        <p:spPr>
          <a:xfrm>
            <a:off x="7973568" y="4489704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1"/>
          <p:cNvSpPr/>
          <p:nvPr/>
        </p:nvSpPr>
        <p:spPr>
          <a:xfrm>
            <a:off x="8302752" y="431596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Rechazadas</a:t>
            </a:r>
            <a:endParaRPr lang="en-US" sz="1250" dirty="0"/>
          </a:p>
        </p:txBody>
      </p:sp>
      <p:sp>
        <p:nvSpPr>
          <p:cNvPr id="26" name="Text 22"/>
          <p:cNvSpPr/>
          <p:nvPr/>
        </p:nvSpPr>
        <p:spPr>
          <a:xfrm>
            <a:off x="9509760" y="4315968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+4</a:t>
            </a:r>
            <a:endParaRPr lang="en-US" sz="950" dirty="0"/>
          </a:p>
        </p:txBody>
      </p:sp>
      <p:sp>
        <p:nvSpPr>
          <p:cNvPr id="27" name="Text 23"/>
          <p:cNvSpPr/>
          <p:nvPr/>
        </p:nvSpPr>
        <p:spPr>
          <a:xfrm>
            <a:off x="10469880" y="4315968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200" dirty="0"/>
          </a:p>
        </p:txBody>
      </p:sp>
      <p:sp>
        <p:nvSpPr>
          <p:cNvPr id="28" name="Shape 24"/>
          <p:cNvSpPr/>
          <p:nvPr/>
        </p:nvSpPr>
        <p:spPr>
          <a:xfrm>
            <a:off x="7863840" y="4937760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9" name="Shape 25"/>
          <p:cNvSpPr/>
          <p:nvPr/>
        </p:nvSpPr>
        <p:spPr>
          <a:xfrm>
            <a:off x="7973568" y="511149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30" name="Text 26"/>
          <p:cNvSpPr/>
          <p:nvPr/>
        </p:nvSpPr>
        <p:spPr>
          <a:xfrm>
            <a:off x="8302752" y="493776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Aprobadas</a:t>
            </a:r>
            <a:endParaRPr lang="en-US" sz="1250" dirty="0"/>
          </a:p>
        </p:txBody>
      </p:sp>
      <p:sp>
        <p:nvSpPr>
          <p:cNvPr id="31" name="Text 27"/>
          <p:cNvSpPr/>
          <p:nvPr/>
        </p:nvSpPr>
        <p:spPr>
          <a:xfrm>
            <a:off x="10469880" y="493776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200" dirty="0"/>
          </a:p>
        </p:txBody>
      </p:sp>
      <p:sp>
        <p:nvSpPr>
          <p:cNvPr id="32" name="Text 28"/>
          <p:cNvSpPr/>
          <p:nvPr/>
        </p:nvSpPr>
        <p:spPr>
          <a:xfrm>
            <a:off x="7863840" y="555955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Cuello de botella: la revisión del cliente devuelve más carpetas de las que aprueba. Convertir entregas en aprobaciones es el próximo hito.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34" name="Text 3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35" name="Text 3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3 · DETALLES P1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1.988 P1 levantados; 57,7% cerrados. El pendiente se concentra en Piping, Eléctrica, Instrumentación y Control, y físicamente en el área 3000.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57,7%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0241280" y="2651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1.148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10241280" y="32186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830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trámite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10241280" y="3785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Concentración por área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707 de 830 P1 abiertos (85,2%) están en el área 3000. Áreas 2000 y 8000 sobre 90% de cierre.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aprobaciones de carpetas TOP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de 135. Priorizar el cierre de las 14 en revisión y el rearmado de las 12 rechazadas para convertir entregas en aprobaciones.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Atacar el atraso del área 3000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707 P1 abiertos (85,2% del total) y 41 caminatas 100% pendientes. Es la ruta crítica: sin esta área no mejora ningún indicador global.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405 P1 vencidos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48,8% de los P1 abiertos superó su fecha de vencimiento. Foco en Instrumentación y Control (128), Eléctrica (98), Mecánica (88).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caminatas ya programadas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subsistemas pendientes: 44 próximos a realizar y 1 por programar. La programación ya está hecha; falta ejecutarla para habilitar la entrega de carpetas.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Panel de Control — Carpetas TOP · Caminatas · Detalles P1</dc:title>
  <dc:subject>PptxGenJS Presentation</dc:subject>
  <dc:creator>Control de Proyecto</dc:creator>
  <cp:lastModifiedBy>Control de Proyecto</cp:lastModifiedBy>
  <cp:revision>1</cp:revision>
  <dcterms:created xsi:type="dcterms:W3CDTF">2026-08-04T03:09:58Z</dcterms:created>
  <dcterms:modified xsi:type="dcterms:W3CDTF">2026-08-04T03:09:58Z</dcterms:modified>
</cp:coreProperties>
</file>