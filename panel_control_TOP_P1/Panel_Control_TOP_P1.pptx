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28</c:v>
                </c:pt>
                <c:pt idx="1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109</c:v>
                </c:pt>
                <c:pt idx="1">
                  <c:v>31</c:v>
                </c:pt>
                <c:pt idx="2">
                  <c:v>10</c:v>
                </c:pt>
                <c:pt idx="3">
                  <c:v>12</c:v>
                </c:pt>
                <c:pt idx="4">
                  <c:v/>
                </c:pt>
                <c:pt idx="5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81</c:v>
                </c:pt>
                <c:pt idx="1">
                  <c:v>120</c:v>
                </c:pt>
                <c:pt idx="2">
                  <c:v>20</c:v>
                </c:pt>
                <c:pt idx="3">
                  <c:v>9</c:v>
                </c:pt>
                <c:pt idx="4">
                  <c:v>17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881</c:v>
                </c:pt>
                <c:pt idx="1">
                  <c:v>168</c:v>
                </c:pt>
                <c:pt idx="2">
                  <c:v>255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20</c:v>
                </c:pt>
                <c:pt idx="2">
                  <c:v>23</c:v>
                </c:pt>
                <c:pt idx="3">
                  <c:v>3</c:v>
                </c:pt>
                <c:pt idx="4">
                  <c:v>14</c:v>
                </c:pt>
                <c:pt idx="5">
                  <c:v>15</c:v>
                </c:pt>
                <c:pt idx="6">
                  <c:v>110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4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Agenda vencida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2</c:v>
                </c:pt>
                <c:pt idx="3">
                  <c:v/>
                </c:pt>
                <c:pt idx="4">
                  <c:v/>
                </c:pt>
                <c:pt idx="5">
                  <c:v>3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20</c:v>
                </c:pt>
                <c:pt idx="2">
                  <c:v>17</c:v>
                </c:pt>
                <c:pt idx="3">
                  <c:v>3</c:v>
                </c:pt>
                <c:pt idx="4">
                  <c:v>10</c:v>
                </c:pt>
                <c:pt idx="5">
                  <c:v>15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8</c:v>
                </c:pt>
                <c:pt idx="3">
                  <c:v/>
                </c:pt>
                <c:pt idx="4">
                  <c:v>3</c:v>
                </c:pt>
                <c:pt idx="5">
                  <c:v>6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61</c:v>
                </c:pt>
                <c:pt idx="2">
                  <c:v>32</c:v>
                </c:pt>
                <c:pt idx="3">
                  <c:v>12</c:v>
                </c:pt>
                <c:pt idx="4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133</c:v>
                </c:pt>
                <c:pt idx="1">
                  <c:v>71</c:v>
                </c:pt>
                <c:pt idx="2">
                  <c:v>9</c:v>
                </c:pt>
                <c:pt idx="3">
                  <c:v>13</c:v>
                </c:pt>
                <c:pt idx="4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37</c:v>
                </c:pt>
                <c:pt idx="2">
                  <c:v>19</c:v>
                </c:pt>
                <c:pt idx="3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40</c:v>
                </c:pt>
                <c:pt idx="2">
                  <c:v>3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14</c:v>
                </c:pt>
                <c:pt idx="1">
                  <c:v>69</c:v>
                </c:pt>
                <c:pt idx="2">
                  <c:v>20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203</c:v>
                </c:pt>
                <c:pt idx="1">
                  <c:v>170</c:v>
                </c:pt>
                <c:pt idx="2">
                  <c:v>147</c:v>
                </c:pt>
                <c:pt idx="3">
                  <c:v>97</c:v>
                </c:pt>
                <c:pt idx="4">
                  <c:v>13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24</c:v>
                </c:pt>
                <c:pt idx="1">
                  <c:v>34</c:v>
                </c:pt>
                <c:pt idx="2">
                  <c:v>23</c:v>
                </c:pt>
                <c:pt idx="3">
                  <c:v>12</c:v>
                </c:pt>
                <c:pt idx="4">
                  <c:v>12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1222</c:v>
                </c:pt>
                <c:pt idx="1">
                  <c:v>755</c:v>
                </c:pt>
                <c:pt idx="2">
                  <c:v>13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3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49,5%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67,6%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01-09-2026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01-09-2026 · Atrasos al 13-09-2026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52/80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49,5%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aprobadas · 9 en revisión · 2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67,6%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881/1.304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423 abiertos · 168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1.408 de 2.186 ítems cerrados (64,4%); de los 778 abiertos, 293 ya pasaron su fecha requerida de cierre (37,7%).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52/80 por Caminata 2 (65%); Facility 12/15 por Caminata 1 (80%).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49,5%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entregadas de 95: 36 aprobadas, 9 en revisión y 2 rechazadas. Quedan 17 en preparación y 31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Eléctrica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 de los 423 P1 abiertos (44,9%), con 109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01-09-2026 · Atrasos al 13-09-2026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37,9%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9,5%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17,9%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carpetas ya están en manos del cliente (49,5%) y 0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01-09-2026 · Atrasos al 13-09-2026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1.304 P1 levantados; 67,6% cerrados. Atrasado = ítem abierto cuya fecha requerida de cierre ya venció al 13-09-2026.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67,6%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881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13 días vencidos; el más antiguo lleva 126. 171 entre 1-30 días, 108 entre 31-90 días, 14 entre 91-180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01-09-2026 · Atrasos al 13-09-2026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293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37,7% de los 778 abiertos ya venció su fecha requerida. Foco en Eléctrica (109), Piping (31), Mecánica (10).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28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65% (52/80).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48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están en preparación y 31 sin iniciar. Solo 47 de 95 (49,5%) llegaron al cliente; 2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369 P1 abiertos y 125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01-09-2026 · Atrasos al 13-09-2026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2.111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97,6%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92,9%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13-09-2026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2.111 DT · Atrasos al 13-09-2026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215/216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98,6% del universo · 2 programadas en plazo · 1 con agenda vencida · 0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97,6%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205/210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 del universo · 8 programadas en plazo · 5 con agenda vencida · 0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89,7%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365/407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abiertos · 25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89,7% de cierre en P1 (42 abiertos), pero 301 DT abiertos entre P2, P3 y P4 sobre un total de 343.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 DT con la fecha de compromiso vencida; mediana de 38 días y el más antiguo lleva 178. Los 211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99,5% y 97,6%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215/216 exigibles, 1 con agenda vencida. Caminata 2: 205/210, con 8 agendadas en plazo y 0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95%: 193 subsistemas sobre 95% y solo 4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2.111 DT · Atrasos al 13-09-2026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97,6% de lo exigible (205/210) — se descuentan 8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2.111 DT · Atrasos al 13-09-2026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2.111 DT levantados; 83,8% cerrados. Atrasado = DT abierto cuya fecha de compromiso de cierre ya venció al 13-09-2026.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365/407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89,7%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198846" cy="118872"/>
          </a:xfrm>
          <a:prstGeom prst="rect">
            <a:avLst/>
          </a:prstGeom>
          <a:solidFill>
            <a:srgbClr val="E3A5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1.319/1.406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93,8%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3345058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31,4%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119774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38 días vencidos; el más antiguo lleva 178. 28 entre 1-30 días, 71 entre 31-90 días, 12 entre 91-180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2.111 DT · Atrasos al 13-09-2026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111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 son P2 y 25 son P1. La mediana de atraso es de 38 días y 12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(0%). A nivel proyecto la caminata 2 va 94% con 8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31,4%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110 de los 343 DT abiertos (32,1%), con 4 atrasados. Además hay 4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2.111 DT · Atrasos al 13-09-2026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subsistemas en 4 áreas (2000 · 3000 · 4000 · 8000) · 2.967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68,4%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22,8%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61,4%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10-09-2026   ·   Corte anterior: 07-09-2026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10-09-2026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136/136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68,4%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93/136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próximas · 0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22,8%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31/136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19 rechazadas · 11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+3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61,4%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1.222/1.990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755 abiertos · 630 vencidos · 13 en trámite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+33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caminatas al 100%.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 de 136 realizadas (68,4%); 43 próximas y 0 por programar.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entregadas de 136 (22,8%) y 0 aprobadas; las rechazadas pasaron de 17 a 19.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+33 P1 cerrado desde el corte anterior; 755 abiertos, de los cuales 630 superaron su fecha de vencimiento. El área 3000 concentra 678 (89,8%).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10-09-2026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21/35 · 60%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96,5%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(14)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37/77 · 48,1%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8/77 · 10,4%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34,5%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678 (586)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2/22 · 9,1%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83,5%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(30)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 · 100%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(0)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10-09-2026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(136/136). El hito 100% avanza a 68,4%, y el área 3000 concentra 40 de los 43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de 136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68,4%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 realizadas · 43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próximas a realizar y 0 por programar.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10-09-2026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carpetas entregadas de 136 (22,8%). Ninguna aprobada aún: el flujo se acumula en revisión y hay 19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(136)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+3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+2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9" name="Shape 25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30" name="Text 26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2" name="Text 28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10-09-2026 · Áreas 2000/3000/4000/8000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1.990 P1 levantados; 61,4%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61,4%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1.222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755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678 de 755 P1 abiertos (89,8%)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10-09-2026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136. Priorizar el cierre de las 11 en revisión y el rearmado de las 19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678 P1 abiertos (89,8% del total) y 40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630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83,4% de los P1 abiertos superó su fecha de vencimiento. Foco en Piping (203), Eléctrica (170), Instrumentación y Control (147).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subsistemas pendientes: 43 próximos a realizar y 0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10-09-2026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2026-09-21T12:22:06Z</dcterms:created>
  <dcterms:modified xsi:type="dcterms:W3CDTF">2026-09-21T12:22:06Z</dcterms:modified>
</cp:coreProperties>
</file>