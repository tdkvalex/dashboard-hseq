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6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levantados en cada una de las últimas 8 semanas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Aún 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09-06</c:v>
                  </c:pt>
                  <c:pt idx="1">
                    <c:v>16-06</c:v>
                  </c:pt>
                  <c:pt idx="2">
                    <c:v>23-06</c:v>
                  </c:pt>
                  <c:pt idx="3">
                    <c:v>30-06</c:v>
                  </c:pt>
                  <c:pt idx="4">
                    <c:v>07-07</c:v>
                  </c:pt>
                  <c:pt idx="5">
                    <c:v>14-07</c:v>
                  </c:pt>
                  <c:pt idx="6">
                    <c:v>21-07</c:v>
                  </c:pt>
                  <c:pt idx="7">
                    <c:v>28-07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>2</c:v>
                </c:pt>
                <c:pt idx="4">
                  <c:v>1</c:v>
                </c:pt>
                <c:pt idx="5">
                  <c:v/>
                </c:pt>
                <c:pt idx="6">
                  <c:v>4</c:v>
                </c:pt>
                <c:pt idx="7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Ya 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09-06</c:v>
                  </c:pt>
                  <c:pt idx="1">
                    <c:v>16-06</c:v>
                  </c:pt>
                  <c:pt idx="2">
                    <c:v>23-06</c:v>
                  </c:pt>
                  <c:pt idx="3">
                    <c:v>30-06</c:v>
                  </c:pt>
                  <c:pt idx="4">
                    <c:v>07-07</c:v>
                  </c:pt>
                  <c:pt idx="5">
                    <c:v>14-07</c:v>
                  </c:pt>
                  <c:pt idx="6">
                    <c:v>21-07</c:v>
                  </c:pt>
                  <c:pt idx="7">
                    <c:v>28-07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</c:v>
                </c:pt>
                <c:pt idx="1">
                  <c:v/>
                </c:pt>
                <c:pt idx="2">
                  <c:v>2</c:v>
                </c:pt>
                <c:pt idx="3">
                  <c:v>2</c:v>
                </c:pt>
                <c:pt idx="4">
                  <c:v/>
                </c:pt>
                <c:pt idx="5">
                  <c:v/>
                </c:pt>
                <c:pt idx="6">
                  <c:v>1</c:v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frente y vía de emisión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Interna (Besalco)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56</c:v>
                </c:pt>
                <c:pt idx="1">
                  <c:v>53</c:v>
                </c:pt>
                <c:pt idx="2">
                  <c:v>53</c:v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Externa · Cliente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30</c:v>
                </c:pt>
                <c:pt idx="1">
                  <c:v>188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Externa · Subcontrato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8</c:v>
                </c:pt>
                <c:pt idx="1">
                  <c:v/>
                </c:pt>
                <c:pt idx="2">
                  <c:v>40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clasificar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Desaladora</c:v>
                  </c:pt>
                  <c:pt idx="1">
                    <c:v>Talabre</c:v>
                  </c:pt>
                  <c:pt idx="2">
                    <c:v>Arqueros</c:v>
                  </c:pt>
                  <c:pt idx="3">
                    <c:v>Oficina Central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/>
                </c:pt>
                <c:pt idx="2">
                  <c:v/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Hallazgos por tipo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266</c:v>
                </c:pt>
                <c:pt idx="1">
                  <c:v>116</c:v>
                </c:pt>
                <c:pt idx="2">
                  <c:v>23</c:v>
                </c:pt>
                <c:pt idx="3">
                  <c:v>13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 Conformidad</c:v>
                  </c:pt>
                  <c:pt idx="1">
                    <c:v>Producto No Conforme</c:v>
                  </c:pt>
                  <c:pt idx="2">
                    <c:v>Observación</c:v>
                  </c:pt>
                  <c:pt idx="3">
                    <c:v>Opción de Mejora</c:v>
                  </c:pt>
                  <c:pt idx="4">
                    <c:v>Reporte HSE Nivel Alto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14</c:v>
                </c:pt>
                <c:pt idx="1">
                  <c:v>4</c:v>
                </c:pt>
                <c:pt idx="2">
                  <c:v/>
                </c:pt>
                <c:pt idx="3">
                  <c:v>1</c:v>
                </c:pt>
                <c:pt idx="4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Antigüedad de los 19 hallazgos abiertos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1-30 días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31-90 días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91-180 días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181-365 días</c:v>
                </c:pt>
              </c:strCache>
            </c:strRef>
          </c:tx>
          <c:spPr>
            <a:solidFill>
              <a:srgbClr val="8A55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Más de un año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Abiertos</c:v>
                  </c:pt>
                </c:lvl>
              </c:multiLvlStrCache>
            </c:multiLvlStrRef>
          </c:cat>
          <c:val>
            <c:numRef>
              <c:f>Sheet1!$F$2:$F$2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18)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20</c:v>
                </c:pt>
                <c:pt idx="1">
                  <c:v>12</c:v>
                </c:pt>
                <c:pt idx="2">
                  <c:v>12</c:v>
                </c:pt>
                <c:pt idx="3">
                  <c:v>10</c:v>
                </c:pt>
                <c:pt idx="4">
                  <c:v>9</c:v>
                </c:pt>
                <c:pt idx="5">
                  <c:v>5</c:v>
                </c:pt>
                <c:pt idx="6">
                  <c:v>4</c:v>
                </c:pt>
                <c:pt idx="7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ELÉCTRICA</c:v>
                  </c:pt>
                  <c:pt idx="1">
                    <c:v>OO.CC</c:v>
                  </c:pt>
                  <c:pt idx="2">
                    <c:v>ADMINISTRACIÓN</c:v>
                  </c:pt>
                  <c:pt idx="3">
                    <c:v>RRLL</c:v>
                  </c:pt>
                  <c:pt idx="4">
                    <c:v>CALIDAD</c:v>
                  </c:pt>
                  <c:pt idx="5">
                    <c:v>EXPEDITORÍA</c:v>
                  </c:pt>
                  <c:pt idx="6">
                    <c:v>LOGÍSTICA</c:v>
                  </c:pt>
                  <c:pt idx="7">
                    <c:v>ESTRUCTURA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12)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131</c:v>
                </c:pt>
                <c:pt idx="1">
                  <c:v>23</c:v>
                </c:pt>
                <c:pt idx="2">
                  <c:v>16</c:v>
                </c:pt>
                <c:pt idx="3">
                  <c:v>11</c:v>
                </c:pt>
                <c:pt idx="4">
                  <c:v>9</c:v>
                </c:pt>
                <c:pt idx="5">
                  <c:v>8</c:v>
                </c:pt>
                <c:pt idx="6">
                  <c:v>8</c:v>
                </c:pt>
                <c:pt idx="7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OO.CC</c:v>
                  </c:pt>
                  <c:pt idx="1">
                    <c:v>CALIDAD</c:v>
                  </c:pt>
                  <c:pt idx="2">
                    <c:v>PIPING</c:v>
                  </c:pt>
                  <c:pt idx="3">
                    <c:v>ELÉCTRICA</c:v>
                  </c:pt>
                  <c:pt idx="4">
                    <c:v>TOPOGRAFÍA</c:v>
                  </c:pt>
                  <c:pt idx="5">
                    <c:v>ESTRUCTURA</c:v>
                  </c:pt>
                  <c:pt idx="6">
                    <c:v>ADQUISICIONES</c:v>
                  </c:pt>
                  <c:pt idx="7">
                    <c:v>GENERAL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9</c:v>
                </c:pt>
                <c:pt idx="1">
                  <c:v>3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Especialidades con más hallazgos (8 de 17)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Cerrados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BODEGA</c:v>
                  </c:pt>
                  <c:pt idx="3">
                    <c:v>SUBCONTRATO</c:v>
                  </c:pt>
                  <c:pt idx="4">
                    <c:v>ESTRUCTURA</c:v>
                  </c:pt>
                  <c:pt idx="5">
                    <c:v>TOPOGRAFÍA</c:v>
                  </c:pt>
                  <c:pt idx="6">
                    <c:v>MECÁNICA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37</c:v>
                </c:pt>
                <c:pt idx="1">
                  <c:v>15</c:v>
                </c:pt>
                <c:pt idx="2">
                  <c:v>7</c:v>
                </c:pt>
                <c:pt idx="3">
                  <c:v>6</c:v>
                </c:pt>
                <c:pt idx="4">
                  <c:v>4</c:v>
                </c:pt>
                <c:pt idx="5">
                  <c:v>4</c:v>
                </c:pt>
                <c:pt idx="6">
                  <c:v>3</c:v>
                </c:pt>
                <c:pt idx="7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Abiertos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EXPEDITORÍA</c:v>
                  </c:pt>
                  <c:pt idx="1">
                    <c:v>OO.CC</c:v>
                  </c:pt>
                  <c:pt idx="2">
                    <c:v>BODEGA</c:v>
                  </c:pt>
                  <c:pt idx="3">
                    <c:v>SUBCONTRATO</c:v>
                  </c:pt>
                  <c:pt idx="4">
                    <c:v>ESTRUCTURA</c:v>
                  </c:pt>
                  <c:pt idx="5">
                    <c:v>TOPOGRAFÍA</c:v>
                  </c:pt>
                  <c:pt idx="6">
                    <c:v>MECÁNICA</c:v>
                  </c:pt>
                  <c:pt idx="7">
                    <c:v>LOGÍSTICA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CALIDAD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Conformidades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de calidad y su corrección · 3 proyectos y Oficina Central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438 hallazgos levantados entre 10-02-2023 y 28-07-2026 (Desaladora 95 · Talabre 241 · Arqueros 94 · Oficina Central 8).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 · origen interno y externo · antigüedad de lo que sigue abierto · velocidad de corrección por frente.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95,7%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UF declaradas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cuatro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95,7%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419/438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abiertos · 3 con más de 180 días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438 levantados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iniciado · 1 no aceptado · 3 listo para revisión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37,8%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162/429 clasificados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levanta Besalco antes que el cliente o un subcontrato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10.783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256 de 438 con costo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declarado (UF)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182 hallazgos no declaran costo: la cifra es un piso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31920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0965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concentra el pendiente.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de los 19 hallazgos abiertos (78,9%), y es el único frente donde el cliente levanta más de lo que detecta Besalco (188 externas contra 53 internas).</a:t>
            </a:r>
            <a:endParaRPr 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822960" y="50474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9469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semana trajo 1 hallazgo nuevo, ninguno de autodetección.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 al 03-08-2026: 1 del cliente en CALIDAD (1). Todos siguen abiertos; la semana anterior entraron 5.</a:t>
            </a:r>
            <a:endParaRPr 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822960" y="559612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49554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no es medible con este archivo; se mide la antigüedad.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19 abiertos trae fecha comprometida —la columna «Fecha De Cierre» solo se llena al cerrar—, así que se reporta la antigüedad: 3 llevan más de 180 días y 1 más de un año.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FRENTE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de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 si hay más de 15 abiertas o el cierre baja de 85% · Atención si hay más de 3 abiertas o el cierre queda bajo 95% · Al día en caso contrario.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920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3429000" y="1920240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LEVANTADOS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4572000" y="1920240"/>
            <a:ext cx="960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2356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662940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CIERRE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63524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4108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646920" y="19202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UF</a:t>
            </a:r>
            <a:endParaRPr lang="en-US" sz="950" dirty="0"/>
          </a:p>
        </p:txBody>
      </p:sp>
      <p:sp>
        <p:nvSpPr>
          <p:cNvPr id="14" name="Text 11"/>
          <p:cNvSpPr/>
          <p:nvPr/>
        </p:nvSpPr>
        <p:spPr>
          <a:xfrm>
            <a:off x="10835640" y="19202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02920" y="22311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235915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502920" y="266090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3429000" y="243230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4572000" y="243230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562356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62940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96,8%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763524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641080" y="243230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646920" y="243230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1.573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10835640" y="2450592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6" name="Text 23"/>
          <p:cNvSpPr/>
          <p:nvPr/>
        </p:nvSpPr>
        <p:spPr>
          <a:xfrm>
            <a:off x="10835640" y="2459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502920" y="30632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457200" y="3063240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502920" y="3108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400" dirty="0"/>
          </a:p>
        </p:txBody>
      </p:sp>
      <p:sp>
        <p:nvSpPr>
          <p:cNvPr id="30" name="Text 27"/>
          <p:cNvSpPr/>
          <p:nvPr/>
        </p:nvSpPr>
        <p:spPr>
          <a:xfrm>
            <a:off x="502920" y="341071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3429000" y="318211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</a:t>
            </a:r>
            <a:endParaRPr lang="en-US" sz="1300" dirty="0"/>
          </a:p>
        </p:txBody>
      </p:sp>
      <p:sp>
        <p:nvSpPr>
          <p:cNvPr id="32" name="Text 29"/>
          <p:cNvSpPr/>
          <p:nvPr/>
        </p:nvSpPr>
        <p:spPr>
          <a:xfrm>
            <a:off x="4572000" y="318211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562356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62940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93,8%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763524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8641080" y="318211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188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9646920" y="318211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5.818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10835640" y="3200400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39" name="Text 36"/>
          <p:cNvSpPr/>
          <p:nvPr/>
        </p:nvSpPr>
        <p:spPr>
          <a:xfrm>
            <a:off x="10835640" y="320954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502920" y="38130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02920" y="3858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400" dirty="0"/>
          </a:p>
        </p:txBody>
      </p:sp>
      <p:sp>
        <p:nvSpPr>
          <p:cNvPr id="42" name="Text 39"/>
          <p:cNvSpPr/>
          <p:nvPr/>
        </p:nvSpPr>
        <p:spPr>
          <a:xfrm>
            <a:off x="502920" y="41605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3429000" y="393192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4572000" y="393192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300" dirty="0"/>
          </a:p>
        </p:txBody>
      </p:sp>
      <p:sp>
        <p:nvSpPr>
          <p:cNvPr id="45" name="Text 42"/>
          <p:cNvSpPr/>
          <p:nvPr/>
        </p:nvSpPr>
        <p:spPr>
          <a:xfrm>
            <a:off x="56235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62940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98,9%</a:t>
            </a:r>
            <a:endParaRPr lang="en-US" sz="1300" dirty="0"/>
          </a:p>
        </p:txBody>
      </p:sp>
      <p:sp>
        <p:nvSpPr>
          <p:cNvPr id="47" name="Text 44"/>
          <p:cNvSpPr/>
          <p:nvPr/>
        </p:nvSpPr>
        <p:spPr>
          <a:xfrm>
            <a:off x="763524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864108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9646920" y="393192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3.392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10835640" y="3950208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51" name="Text 48"/>
          <p:cNvSpPr/>
          <p:nvPr/>
        </p:nvSpPr>
        <p:spPr>
          <a:xfrm>
            <a:off x="10835640" y="395935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52" name="Shape 49"/>
          <p:cNvSpPr/>
          <p:nvPr/>
        </p:nvSpPr>
        <p:spPr>
          <a:xfrm>
            <a:off x="502920" y="45628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457200" y="4562856"/>
            <a:ext cx="11292840" cy="74980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/>
          <p:nvPr/>
        </p:nvSpPr>
        <p:spPr>
          <a:xfrm>
            <a:off x="502920" y="46085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400" dirty="0"/>
          </a:p>
        </p:txBody>
      </p:sp>
      <p:sp>
        <p:nvSpPr>
          <p:cNvPr id="55" name="Text 52"/>
          <p:cNvSpPr/>
          <p:nvPr/>
        </p:nvSpPr>
        <p:spPr>
          <a:xfrm>
            <a:off x="502920" y="491032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BESALCO MONTAJES · no es obra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3429000" y="468172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7" name="Text 54"/>
          <p:cNvSpPr/>
          <p:nvPr/>
        </p:nvSpPr>
        <p:spPr>
          <a:xfrm>
            <a:off x="4572000" y="46817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562356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59" name="Text 56"/>
          <p:cNvSpPr/>
          <p:nvPr/>
        </p:nvSpPr>
        <p:spPr>
          <a:xfrm>
            <a:off x="662940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300" dirty="0"/>
          </a:p>
        </p:txBody>
      </p:sp>
      <p:sp>
        <p:nvSpPr>
          <p:cNvPr id="60" name="Text 57"/>
          <p:cNvSpPr/>
          <p:nvPr/>
        </p:nvSpPr>
        <p:spPr>
          <a:xfrm>
            <a:off x="763524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1" name="Text 58"/>
          <p:cNvSpPr/>
          <p:nvPr/>
        </p:nvSpPr>
        <p:spPr>
          <a:xfrm>
            <a:off x="8641080" y="46817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2" name="Text 59"/>
          <p:cNvSpPr/>
          <p:nvPr/>
        </p:nvSpPr>
        <p:spPr>
          <a:xfrm>
            <a:off x="9646920" y="468172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300" dirty="0"/>
          </a:p>
        </p:txBody>
      </p:sp>
      <p:sp>
        <p:nvSpPr>
          <p:cNvPr id="63" name="Shape 60"/>
          <p:cNvSpPr/>
          <p:nvPr/>
        </p:nvSpPr>
        <p:spPr>
          <a:xfrm>
            <a:off x="10835640" y="4700016"/>
            <a:ext cx="914400" cy="365760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64" name="Text 61"/>
          <p:cNvSpPr/>
          <p:nvPr/>
        </p:nvSpPr>
        <p:spPr>
          <a:xfrm>
            <a:off x="10835640" y="470916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65" name="Shape 62"/>
          <p:cNvSpPr/>
          <p:nvPr/>
        </p:nvSpPr>
        <p:spPr>
          <a:xfrm>
            <a:off x="502920" y="531266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6" name="Text 63"/>
          <p:cNvSpPr/>
          <p:nvPr/>
        </p:nvSpPr>
        <p:spPr>
          <a:xfrm>
            <a:off x="502920" y="53766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3 proyectos</a:t>
            </a:r>
            <a:endParaRPr lang="en-US" sz="1400" dirty="0"/>
          </a:p>
        </p:txBody>
      </p:sp>
      <p:sp>
        <p:nvSpPr>
          <p:cNvPr id="67" name="Text 64"/>
          <p:cNvSpPr/>
          <p:nvPr/>
        </p:nvSpPr>
        <p:spPr>
          <a:xfrm>
            <a:off x="502920" y="56784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Oficina Central</a:t>
            </a:r>
            <a:endParaRPr lang="en-US" sz="950" dirty="0"/>
          </a:p>
        </p:txBody>
      </p:sp>
      <p:sp>
        <p:nvSpPr>
          <p:cNvPr id="68" name="Text 65"/>
          <p:cNvSpPr/>
          <p:nvPr/>
        </p:nvSpPr>
        <p:spPr>
          <a:xfrm>
            <a:off x="3429000" y="544982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4572000" y="5449824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411</a:t>
            </a:r>
            <a:endParaRPr lang="en-US" sz="1300" dirty="0"/>
          </a:p>
        </p:txBody>
      </p:sp>
      <p:sp>
        <p:nvSpPr>
          <p:cNvPr id="70" name="Text 67"/>
          <p:cNvSpPr/>
          <p:nvPr/>
        </p:nvSpPr>
        <p:spPr>
          <a:xfrm>
            <a:off x="562356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71" name="Text 68"/>
          <p:cNvSpPr/>
          <p:nvPr/>
        </p:nvSpPr>
        <p:spPr>
          <a:xfrm>
            <a:off x="662940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95,6%</a:t>
            </a:r>
            <a:endParaRPr lang="en-US" sz="1300" dirty="0"/>
          </a:p>
        </p:txBody>
      </p:sp>
      <p:sp>
        <p:nvSpPr>
          <p:cNvPr id="72" name="Text 69"/>
          <p:cNvSpPr/>
          <p:nvPr/>
        </p:nvSpPr>
        <p:spPr>
          <a:xfrm>
            <a:off x="763524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162</a:t>
            </a:r>
            <a:endParaRPr lang="en-US" sz="1300" dirty="0"/>
          </a:p>
        </p:txBody>
      </p:sp>
      <p:sp>
        <p:nvSpPr>
          <p:cNvPr id="73" name="Text 70"/>
          <p:cNvSpPr/>
          <p:nvPr/>
        </p:nvSpPr>
        <p:spPr>
          <a:xfrm>
            <a:off x="8641080" y="544982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</a:t>
            </a:r>
            <a:endParaRPr lang="en-US" sz="1300" dirty="0"/>
          </a:p>
        </p:txBody>
      </p:sp>
      <p:sp>
        <p:nvSpPr>
          <p:cNvPr id="74" name="Text 71"/>
          <p:cNvSpPr/>
          <p:nvPr/>
        </p:nvSpPr>
        <p:spPr>
          <a:xfrm>
            <a:off x="9646920" y="54498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10.783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457200" y="598932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 global 28 días · el hallazgo más lento tomó 389 días · 8 hallazgos sin especialidad declarada.</a:t>
            </a:r>
            <a:endParaRPr lang="en-US" sz="950" dirty="0"/>
          </a:p>
        </p:txBody>
      </p:sp>
      <p:sp>
        <p:nvSpPr>
          <p:cNvPr id="76" name="Text 7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77" name="Text 7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78" name="Text 7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NOVEDADES DEL PERÍODO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Levantados en la última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el 28-07-2026 y el 03-08-2026 se levantó 1 hallazgo: 0 internos y 1 externo. Sigue abierto.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783080"/>
          <a:ext cx="5852160" cy="1874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492240" y="1783080"/>
            <a:ext cx="5239512" cy="1874520"/>
          </a:xfrm>
          <a:prstGeom prst="roundRect">
            <a:avLst>
              <a:gd name="adj" fmla="val 2927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766560" y="18928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SALIERON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766560" y="224028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6"/>
          <p:cNvSpPr/>
          <p:nvPr/>
        </p:nvSpPr>
        <p:spPr>
          <a:xfrm>
            <a:off x="8183880" y="2240280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1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6766560" y="2569464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8183880" y="2569464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766560" y="2898648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8183880" y="2898648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 1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6766560" y="3227832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8183880" y="3227832"/>
            <a:ext cx="3429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 1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502920" y="3712464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 LOS HALLAZGOS NUEVOS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502920" y="39867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137160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20" name="Text 16"/>
          <p:cNvSpPr/>
          <p:nvPr/>
        </p:nvSpPr>
        <p:spPr>
          <a:xfrm>
            <a:off x="2468880" y="398678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21" name="Text 17"/>
          <p:cNvSpPr/>
          <p:nvPr/>
        </p:nvSpPr>
        <p:spPr>
          <a:xfrm>
            <a:off x="356616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4983480" y="398678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23" name="Text 19"/>
          <p:cNvSpPr/>
          <p:nvPr/>
        </p:nvSpPr>
        <p:spPr>
          <a:xfrm>
            <a:off x="6446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24" name="Text 20"/>
          <p:cNvSpPr/>
          <p:nvPr/>
        </p:nvSpPr>
        <p:spPr>
          <a:xfrm>
            <a:off x="7589520" y="39867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9006840" y="3986784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9921240" y="398678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27" name="Shape 23"/>
          <p:cNvSpPr/>
          <p:nvPr/>
        </p:nvSpPr>
        <p:spPr>
          <a:xfrm>
            <a:off x="502920" y="4297680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502920" y="4425696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28-07-2026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137160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2468880" y="4425696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· RNC N°449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356616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4983480" y="4425696"/>
            <a:ext cx="1417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6446520" y="442569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34" name="Text 30"/>
          <p:cNvSpPr/>
          <p:nvPr/>
        </p:nvSpPr>
        <p:spPr>
          <a:xfrm>
            <a:off x="7589520" y="4425696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Ramirez B.</a:t>
            </a:r>
            <a:endParaRPr lang="en-US" sz="1050" dirty="0"/>
          </a:p>
        </p:txBody>
      </p:sp>
      <p:sp>
        <p:nvSpPr>
          <p:cNvPr id="35" name="Text 31"/>
          <p:cNvSpPr/>
          <p:nvPr/>
        </p:nvSpPr>
        <p:spPr>
          <a:xfrm>
            <a:off x="9006840" y="442569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6" name="Text 32"/>
          <p:cNvSpPr/>
          <p:nvPr/>
        </p:nvSpPr>
        <p:spPr>
          <a:xfrm>
            <a:off x="9921240" y="4425696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Registros de construcción n…</a:t>
            </a:r>
            <a:endParaRPr lang="en-US" sz="1000" dirty="0"/>
          </a:p>
        </p:txBody>
      </p:sp>
      <p:sp>
        <p:nvSpPr>
          <p:cNvPr id="37" name="Shape 33"/>
          <p:cNvSpPr/>
          <p:nvPr/>
        </p:nvSpPr>
        <p:spPr>
          <a:xfrm>
            <a:off x="502920" y="47000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8" name="Text 3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39" name="Text 3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40" name="Text 3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levanta las no conformidades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es autodetección: la levanta Besalco antes que nadie. Externa la levanta el cliente —compromete el contrato— o un subcontrato. Autodetección global: 37,8%.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28800"/>
          <a:ext cx="60350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675120" y="1828800"/>
          <a:ext cx="5056632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Shape 3"/>
          <p:cNvSpPr/>
          <p:nvPr/>
        </p:nvSpPr>
        <p:spPr>
          <a:xfrm>
            <a:off x="6675120" y="4572000"/>
            <a:ext cx="5056632" cy="1280160"/>
          </a:xfrm>
          <a:prstGeom prst="roundRect">
            <a:avLst>
              <a:gd name="adj" fmla="val 4286"/>
            </a:avLst>
          </a:prstGeom>
          <a:solidFill>
            <a:srgbClr val="12233B"/>
          </a:solidFill>
          <a:ln/>
        </p:spPr>
      </p:sp>
      <p:sp>
        <p:nvSpPr>
          <p:cNvPr id="9" name="Text 4"/>
          <p:cNvSpPr/>
          <p:nvPr/>
        </p:nvSpPr>
        <p:spPr>
          <a:xfrm>
            <a:off x="6949440" y="470001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 POR FRENTE</a:t>
            </a:r>
            <a:endParaRPr lang="en-US" sz="1050" dirty="0"/>
          </a:p>
        </p:txBody>
      </p:sp>
      <p:sp>
        <p:nvSpPr>
          <p:cNvPr id="10" name="Text 5"/>
          <p:cNvSpPr/>
          <p:nvPr/>
        </p:nvSpPr>
        <p:spPr>
          <a:xfrm>
            <a:off x="6949440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400" dirty="0"/>
          </a:p>
        </p:txBody>
      </p:sp>
      <p:sp>
        <p:nvSpPr>
          <p:cNvPr id="11" name="Text 6"/>
          <p:cNvSpPr/>
          <p:nvPr/>
        </p:nvSpPr>
        <p:spPr>
          <a:xfrm>
            <a:off x="6949440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8522208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400" dirty="0"/>
          </a:p>
        </p:txBody>
      </p:sp>
      <p:sp>
        <p:nvSpPr>
          <p:cNvPr id="13" name="Text 8"/>
          <p:cNvSpPr/>
          <p:nvPr/>
        </p:nvSpPr>
        <p:spPr>
          <a:xfrm>
            <a:off x="8522208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050" dirty="0"/>
          </a:p>
        </p:txBody>
      </p:sp>
      <p:sp>
        <p:nvSpPr>
          <p:cNvPr id="14" name="Text 9"/>
          <p:cNvSpPr/>
          <p:nvPr/>
        </p:nvSpPr>
        <p:spPr>
          <a:xfrm>
            <a:off x="10094976" y="49926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2400" dirty="0"/>
          </a:p>
        </p:txBody>
      </p:sp>
      <p:sp>
        <p:nvSpPr>
          <p:cNvPr id="15" name="Text 10"/>
          <p:cNvSpPr/>
          <p:nvPr/>
        </p:nvSpPr>
        <p:spPr>
          <a:xfrm>
            <a:off x="10094976" y="54498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17" name="Text 1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18" name="Text 1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 ABIERTO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Antigüedad y velocidad de corrección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los 19 hallazgos abiertos, 3 llevan más de 180 días desde que se levantaron y 1 más de un año. La mediana de cierre global es de 28 días.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03504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675120" y="1874520"/>
            <a:ext cx="5056632" cy="2377440"/>
          </a:xfrm>
          <a:prstGeom prst="roundRect">
            <a:avLst>
              <a:gd name="adj" fmla="val 2308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6949440" y="20299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 — NO CALCULABLE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949440" y="2359152"/>
            <a:ext cx="4526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regla del proyecto es: hallazgo abierto cuya fecha de cierre comprometida ya venció.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Ninguno de los 19 abiertos trae esa fecha: la columna «Fecha De Cierre» del Excel solo se llena al cerrar. El indicador no se puede calcular y el panel lo declara en vez de informar 0 atrasados. En su lugar se usa la antigüedad.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6949440" y="3749040"/>
            <a:ext cx="4526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activarlo basta agregar al Excel una columna de fecha comprometida de cierre: el script ya la calcula.</a:t>
            </a:r>
            <a:endParaRPr lang="en-US" sz="1000" dirty="0"/>
          </a:p>
        </p:txBody>
      </p:sp>
      <p:sp>
        <p:nvSpPr>
          <p:cNvPr id="11" name="Text 7"/>
          <p:cNvSpPr/>
          <p:nvPr/>
        </p:nvSpPr>
        <p:spPr>
          <a:xfrm>
            <a:off x="502920" y="4343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 POR FRENTE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502920" y="46634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301752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950" dirty="0"/>
          </a:p>
        </p:txBody>
      </p:sp>
      <p:sp>
        <p:nvSpPr>
          <p:cNvPr id="14" name="Text 10"/>
          <p:cNvSpPr/>
          <p:nvPr/>
        </p:nvSpPr>
        <p:spPr>
          <a:xfrm>
            <a:off x="429768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5577840" y="4663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LENTO</a:t>
            </a:r>
            <a:endParaRPr lang="en-US" sz="950" dirty="0"/>
          </a:p>
        </p:txBody>
      </p:sp>
      <p:sp>
        <p:nvSpPr>
          <p:cNvPr id="16" name="Text 12"/>
          <p:cNvSpPr/>
          <p:nvPr/>
        </p:nvSpPr>
        <p:spPr>
          <a:xfrm>
            <a:off x="6949440" y="4663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950" dirty="0"/>
          </a:p>
        </p:txBody>
      </p:sp>
      <p:sp>
        <p:nvSpPr>
          <p:cNvPr id="17" name="Text 13"/>
          <p:cNvSpPr/>
          <p:nvPr/>
        </p:nvSpPr>
        <p:spPr>
          <a:xfrm>
            <a:off x="8229600" y="4663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</a:t>
            </a:r>
            <a:endParaRPr lang="en-US" sz="950" dirty="0"/>
          </a:p>
        </p:txBody>
      </p:sp>
      <p:sp>
        <p:nvSpPr>
          <p:cNvPr id="18" name="Shape 14"/>
          <p:cNvSpPr/>
          <p:nvPr/>
        </p:nvSpPr>
        <p:spPr>
          <a:xfrm>
            <a:off x="502920" y="497433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02920" y="510235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301752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429768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d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5577840" y="510235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 d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949440" y="51023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8229600" y="510235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25" name="Shape 21"/>
          <p:cNvSpPr/>
          <p:nvPr/>
        </p:nvSpPr>
        <p:spPr>
          <a:xfrm>
            <a:off x="502920" y="53675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457200" y="537667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3"/>
          <p:cNvSpPr/>
          <p:nvPr/>
        </p:nvSpPr>
        <p:spPr>
          <a:xfrm>
            <a:off x="502920" y="542239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</a:t>
            </a:r>
            <a:endParaRPr lang="en-US" sz="1150" dirty="0"/>
          </a:p>
        </p:txBody>
      </p:sp>
      <p:sp>
        <p:nvSpPr>
          <p:cNvPr id="28" name="Text 24"/>
          <p:cNvSpPr/>
          <p:nvPr/>
        </p:nvSpPr>
        <p:spPr>
          <a:xfrm>
            <a:off x="301752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429768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d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577840" y="542239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389 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6949440" y="542239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50" dirty="0"/>
          </a:p>
        </p:txBody>
      </p:sp>
      <p:sp>
        <p:nvSpPr>
          <p:cNvPr id="32" name="Text 28"/>
          <p:cNvSpPr/>
          <p:nvPr/>
        </p:nvSpPr>
        <p:spPr>
          <a:xfrm>
            <a:off x="8229600" y="542239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3" name="Shape 29"/>
          <p:cNvSpPr/>
          <p:nvPr/>
        </p:nvSpPr>
        <p:spPr>
          <a:xfrm>
            <a:off x="502920" y="568756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502920" y="574243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301752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150" dirty="0"/>
          </a:p>
        </p:txBody>
      </p:sp>
      <p:sp>
        <p:nvSpPr>
          <p:cNvPr id="36" name="Text 32"/>
          <p:cNvSpPr/>
          <p:nvPr/>
        </p:nvSpPr>
        <p:spPr>
          <a:xfrm>
            <a:off x="429768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 d</a:t>
            </a:r>
            <a:endParaRPr lang="en-US" sz="1150" dirty="0"/>
          </a:p>
        </p:txBody>
      </p:sp>
      <p:sp>
        <p:nvSpPr>
          <p:cNvPr id="37" name="Text 33"/>
          <p:cNvSpPr/>
          <p:nvPr/>
        </p:nvSpPr>
        <p:spPr>
          <a:xfrm>
            <a:off x="5577840" y="574243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 d</a:t>
            </a:r>
            <a:endParaRPr lang="en-US" sz="1150" dirty="0"/>
          </a:p>
        </p:txBody>
      </p:sp>
      <p:sp>
        <p:nvSpPr>
          <p:cNvPr id="38" name="Text 34"/>
          <p:cNvSpPr/>
          <p:nvPr/>
        </p:nvSpPr>
        <p:spPr>
          <a:xfrm>
            <a:off x="6949440" y="574243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8229600" y="574243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7× más lento que el mejor frente</a:t>
            </a:r>
            <a:endParaRPr lang="en-US" sz="1150" dirty="0"/>
          </a:p>
        </p:txBody>
      </p:sp>
      <p:sp>
        <p:nvSpPr>
          <p:cNvPr id="40" name="Shape 36"/>
          <p:cNvSpPr/>
          <p:nvPr/>
        </p:nvSpPr>
        <p:spPr>
          <a:xfrm>
            <a:off x="502920" y="600760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57200" y="6016752"/>
            <a:ext cx="11292840" cy="3200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8"/>
          <p:cNvSpPr/>
          <p:nvPr/>
        </p:nvSpPr>
        <p:spPr>
          <a:xfrm>
            <a:off x="502920" y="6062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 Central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301752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50" dirty="0"/>
          </a:p>
        </p:txBody>
      </p:sp>
      <p:sp>
        <p:nvSpPr>
          <p:cNvPr id="44" name="Text 40"/>
          <p:cNvSpPr/>
          <p:nvPr/>
        </p:nvSpPr>
        <p:spPr>
          <a:xfrm>
            <a:off x="429768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 d</a:t>
            </a:r>
            <a:endParaRPr lang="en-US" sz="1150" dirty="0"/>
          </a:p>
        </p:txBody>
      </p:sp>
      <p:sp>
        <p:nvSpPr>
          <p:cNvPr id="45" name="Text 41"/>
          <p:cNvSpPr/>
          <p:nvPr/>
        </p:nvSpPr>
        <p:spPr>
          <a:xfrm>
            <a:off x="5577840" y="606247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 d</a:t>
            </a:r>
            <a:endParaRPr lang="en-US" sz="1150" dirty="0"/>
          </a:p>
        </p:txBody>
      </p:sp>
      <p:sp>
        <p:nvSpPr>
          <p:cNvPr id="46" name="Text 42"/>
          <p:cNvSpPr/>
          <p:nvPr/>
        </p:nvSpPr>
        <p:spPr>
          <a:xfrm>
            <a:off x="6949440" y="606247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150" dirty="0"/>
          </a:p>
        </p:txBody>
      </p:sp>
      <p:sp>
        <p:nvSpPr>
          <p:cNvPr id="47" name="Text 43"/>
          <p:cNvSpPr/>
          <p:nvPr/>
        </p:nvSpPr>
        <p:spPr>
          <a:xfrm>
            <a:off x="8229600" y="6062472"/>
            <a:ext cx="3520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 más lento que el mejor frente</a:t>
            </a:r>
            <a:endParaRPr lang="en-US" sz="1150" dirty="0"/>
          </a:p>
        </p:txBody>
      </p:sp>
      <p:sp>
        <p:nvSpPr>
          <p:cNvPr id="48" name="Shape 44"/>
          <p:cNvSpPr/>
          <p:nvPr/>
        </p:nvSpPr>
        <p:spPr>
          <a:xfrm>
            <a:off x="502920" y="6327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50" name="Text 46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51" name="Text 4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el pendiente de Talabre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de los 19 hallazgos abiertos (78,9%) y 93,8% de cierre, contra 95,7% global. Es la ruta crítica del módulo.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Levantar la autodetección de Talabre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22% de sus hallazgos los detecta Besalco; el mejor frente va en 59,6%. Lo que no se detecta adentro llega como observación del cliente.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los 3 hallazgos sobre 180 días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 ellos superan el año abiertos. Los tienen a cargo Alvaro Cortés V. (3). Es deuda antigua que no se cierra sola.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la medición del atraso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Agregar al Excel una columna de fecha comprometida de cierre. Sin ella el indicador que pide el procedimiento no se puede calcular y hoy se reemplaza por la antigüedad.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CONSOLIDADO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 · P2416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ANTOFAGASTA MINERALS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 hallazgos levantados · 56 internos y 38 externos · 18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95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internos · 38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92/95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95,7%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listo para revisión · 2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250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59,6%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7" name="Shape 43"/>
          <p:cNvSpPr/>
          <p:nvPr/>
        </p:nvSpPr>
        <p:spPr>
          <a:xfrm>
            <a:off x="7900416" y="6071616"/>
            <a:ext cx="164592" cy="164592"/>
          </a:xfrm>
          <a:prstGeom prst="ellipse">
            <a:avLst/>
          </a:prstGeom>
          <a:solidFill>
            <a:srgbClr val="5B6B7C"/>
          </a:solidFill>
          <a:ln/>
        </p:spPr>
      </p:sp>
      <p:sp>
        <p:nvSpPr>
          <p:cNvPr id="48" name="Text 44"/>
          <p:cNvSpPr/>
          <p:nvPr/>
        </p:nvSpPr>
        <p:spPr>
          <a:xfrm>
            <a:off x="8156448" y="598017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clasificar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10287000" y="598017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50" name="Text 46"/>
          <p:cNvSpPr/>
          <p:nvPr/>
        </p:nvSpPr>
        <p:spPr>
          <a:xfrm>
            <a:off x="10972800" y="598017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51" name="Text 4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52" name="Text 4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53" name="Text 4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hallazgos siguen abiertos;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Ariel Flores U.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en manilla de válvula 4515-HV-…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Opción de Mejora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Cristián Ellmen M.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Construcción Bodega de  Almacenamie…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MECÁNICA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Wilson Jara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Verificación de Preservación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44" name="Text 41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45" name="Text 42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46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 · P2407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CODELCO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241 hallazgos levantados · 53 internos y 188 externos · 12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241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internos · 188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93,8%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226/241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95,7%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abiertos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iniciado · 1 no aceptado · 2 listo para revisión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389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44" name="Text 4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5" name="Text 4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hallazgos siguen abiertos; 3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392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Plan de Calidad de…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2615184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2"/>
          <p:cNvSpPr/>
          <p:nvPr/>
        </p:nvSpPr>
        <p:spPr>
          <a:xfrm>
            <a:off x="502920" y="266090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137160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2926080" y="266090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4434840" y="266090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760720" y="266090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315200" y="266090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8686800" y="26609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328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9464040" y="266090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a la recepción de ma…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02920" y="29535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00837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37160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36" name="Text 33"/>
          <p:cNvSpPr/>
          <p:nvPr/>
        </p:nvSpPr>
        <p:spPr>
          <a:xfrm>
            <a:off x="2926080" y="300837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4434840" y="3008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EXPEDITORÍA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760720" y="3008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Alvaro Cortés V.</a:t>
            </a:r>
            <a:endParaRPr lang="en-US" sz="1050" dirty="0"/>
          </a:p>
        </p:txBody>
      </p:sp>
      <p:sp>
        <p:nvSpPr>
          <p:cNvPr id="39" name="Text 36"/>
          <p:cNvSpPr/>
          <p:nvPr/>
        </p:nvSpPr>
        <p:spPr>
          <a:xfrm>
            <a:off x="7315200" y="300837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8686800" y="30083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9464040" y="300837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Daños manguerotes en recepción/desc…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502920" y="330098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457200" y="3310128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Text 41"/>
          <p:cNvSpPr/>
          <p:nvPr/>
        </p:nvSpPr>
        <p:spPr>
          <a:xfrm>
            <a:off x="502920" y="335584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</a:t>
            </a:r>
            <a:endParaRPr lang="en-US" sz="1050" dirty="0"/>
          </a:p>
        </p:txBody>
      </p:sp>
      <p:sp>
        <p:nvSpPr>
          <p:cNvPr id="45" name="Text 42"/>
          <p:cNvSpPr/>
          <p:nvPr/>
        </p:nvSpPr>
        <p:spPr>
          <a:xfrm>
            <a:off x="137160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46" name="Text 43"/>
          <p:cNvSpPr/>
          <p:nvPr/>
        </p:nvSpPr>
        <p:spPr>
          <a:xfrm>
            <a:off x="2926080" y="33558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47" name="Text 44"/>
          <p:cNvSpPr/>
          <p:nvPr/>
        </p:nvSpPr>
        <p:spPr>
          <a:xfrm>
            <a:off x="4434840" y="335584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48" name="Text 45"/>
          <p:cNvSpPr/>
          <p:nvPr/>
        </p:nvSpPr>
        <p:spPr>
          <a:xfrm>
            <a:off x="5760720" y="335584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49" name="Text 46"/>
          <p:cNvSpPr/>
          <p:nvPr/>
        </p:nvSpPr>
        <p:spPr>
          <a:xfrm>
            <a:off x="7315200" y="335584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0" name="Text 47"/>
          <p:cNvSpPr/>
          <p:nvPr/>
        </p:nvSpPr>
        <p:spPr>
          <a:xfrm>
            <a:off x="8686800" y="335584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139</a:t>
            </a:r>
            <a:endParaRPr lang="en-US" sz="1050" dirty="0"/>
          </a:p>
        </p:txBody>
      </p:sp>
      <p:sp>
        <p:nvSpPr>
          <p:cNvPr id="51" name="Text 48"/>
          <p:cNvSpPr/>
          <p:nvPr/>
        </p:nvSpPr>
        <p:spPr>
          <a:xfrm>
            <a:off x="9464040" y="335584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Fundaciones sin relleno estructural…</a:t>
            </a:r>
            <a:endParaRPr lang="en-US" sz="1000" dirty="0"/>
          </a:p>
        </p:txBody>
      </p:sp>
      <p:sp>
        <p:nvSpPr>
          <p:cNvPr id="52" name="Shape 49"/>
          <p:cNvSpPr/>
          <p:nvPr/>
        </p:nvSpPr>
        <p:spPr>
          <a:xfrm>
            <a:off x="502920" y="364845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502920" y="3703320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</a:t>
            </a:r>
            <a:endParaRPr lang="en-US" sz="1050" dirty="0"/>
          </a:p>
        </p:txBody>
      </p:sp>
      <p:sp>
        <p:nvSpPr>
          <p:cNvPr id="54" name="Text 51"/>
          <p:cNvSpPr/>
          <p:nvPr/>
        </p:nvSpPr>
        <p:spPr>
          <a:xfrm>
            <a:off x="137160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55" name="Text 52"/>
          <p:cNvSpPr/>
          <p:nvPr/>
        </p:nvSpPr>
        <p:spPr>
          <a:xfrm>
            <a:off x="2926080" y="370332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56" name="Text 53"/>
          <p:cNvSpPr/>
          <p:nvPr/>
        </p:nvSpPr>
        <p:spPr>
          <a:xfrm>
            <a:off x="4434840" y="370332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57" name="Text 54"/>
          <p:cNvSpPr/>
          <p:nvPr/>
        </p:nvSpPr>
        <p:spPr>
          <a:xfrm>
            <a:off x="5760720" y="3703320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Wladimir Carvajal …</a:t>
            </a:r>
            <a:endParaRPr lang="en-US" sz="1050" dirty="0"/>
          </a:p>
        </p:txBody>
      </p:sp>
      <p:sp>
        <p:nvSpPr>
          <p:cNvPr id="58" name="Text 55"/>
          <p:cNvSpPr/>
          <p:nvPr/>
        </p:nvSpPr>
        <p:spPr>
          <a:xfrm>
            <a:off x="7315200" y="3703320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59" name="Text 56"/>
          <p:cNvSpPr/>
          <p:nvPr/>
        </p:nvSpPr>
        <p:spPr>
          <a:xfrm>
            <a:off x="8686800" y="37033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133</a:t>
            </a:r>
            <a:endParaRPr lang="en-US" sz="1050" dirty="0"/>
          </a:p>
        </p:txBody>
      </p:sp>
      <p:sp>
        <p:nvSpPr>
          <p:cNvPr id="60" name="Text 57"/>
          <p:cNvSpPr/>
          <p:nvPr/>
        </p:nvSpPr>
        <p:spPr>
          <a:xfrm>
            <a:off x="9464040" y="370332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 en geomembrana HDPE instalada…</a:t>
            </a:r>
            <a:endParaRPr lang="en-US" sz="1000" dirty="0"/>
          </a:p>
        </p:txBody>
      </p:sp>
      <p:sp>
        <p:nvSpPr>
          <p:cNvPr id="61" name="Shape 58"/>
          <p:cNvSpPr/>
          <p:nvPr/>
        </p:nvSpPr>
        <p:spPr>
          <a:xfrm>
            <a:off x="502920" y="399592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457200" y="4005072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0"/>
          <p:cNvSpPr/>
          <p:nvPr/>
        </p:nvSpPr>
        <p:spPr>
          <a:xfrm>
            <a:off x="502920" y="405079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205</a:t>
            </a:r>
            <a:endParaRPr lang="en-US" sz="1050" dirty="0"/>
          </a:p>
        </p:txBody>
      </p:sp>
      <p:sp>
        <p:nvSpPr>
          <p:cNvPr id="64" name="Text 61"/>
          <p:cNvSpPr/>
          <p:nvPr/>
        </p:nvSpPr>
        <p:spPr>
          <a:xfrm>
            <a:off x="137160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 No Conforme</a:t>
            </a:r>
            <a:endParaRPr lang="en-US" sz="1050" dirty="0"/>
          </a:p>
        </p:txBody>
      </p:sp>
      <p:sp>
        <p:nvSpPr>
          <p:cNvPr id="65" name="Text 62"/>
          <p:cNvSpPr/>
          <p:nvPr/>
        </p:nvSpPr>
        <p:spPr>
          <a:xfrm>
            <a:off x="2926080" y="405079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66" name="Text 63"/>
          <p:cNvSpPr/>
          <p:nvPr/>
        </p:nvSpPr>
        <p:spPr>
          <a:xfrm>
            <a:off x="4434840" y="405079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67" name="Text 64"/>
          <p:cNvSpPr/>
          <p:nvPr/>
        </p:nvSpPr>
        <p:spPr>
          <a:xfrm>
            <a:off x="5760720" y="405079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68" name="Text 65"/>
          <p:cNvSpPr/>
          <p:nvPr/>
        </p:nvSpPr>
        <p:spPr>
          <a:xfrm>
            <a:off x="7315200" y="405079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aceptado</a:t>
            </a:r>
            <a:endParaRPr lang="en-US" sz="1050" dirty="0"/>
          </a:p>
        </p:txBody>
      </p:sp>
      <p:sp>
        <p:nvSpPr>
          <p:cNvPr id="69" name="Text 66"/>
          <p:cNvSpPr/>
          <p:nvPr/>
        </p:nvSpPr>
        <p:spPr>
          <a:xfrm>
            <a:off x="8686800" y="40507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50" dirty="0"/>
          </a:p>
        </p:txBody>
      </p:sp>
      <p:sp>
        <p:nvSpPr>
          <p:cNvPr id="70" name="Text 67"/>
          <p:cNvSpPr/>
          <p:nvPr/>
        </p:nvSpPr>
        <p:spPr>
          <a:xfrm>
            <a:off x="9464040" y="4050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proyectada asociada al ele…</a:t>
            </a:r>
            <a:endParaRPr lang="en-US" sz="1000" dirty="0"/>
          </a:p>
        </p:txBody>
      </p:sp>
      <p:sp>
        <p:nvSpPr>
          <p:cNvPr id="71" name="Shape 68"/>
          <p:cNvSpPr/>
          <p:nvPr/>
        </p:nvSpPr>
        <p:spPr>
          <a:xfrm>
            <a:off x="502920" y="434340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72" name="Text 69"/>
          <p:cNvSpPr/>
          <p:nvPr/>
        </p:nvSpPr>
        <p:spPr>
          <a:xfrm>
            <a:off x="502920" y="4398264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209</a:t>
            </a:r>
            <a:endParaRPr lang="en-US" sz="1050" dirty="0"/>
          </a:p>
        </p:txBody>
      </p:sp>
      <p:sp>
        <p:nvSpPr>
          <p:cNvPr id="73" name="Text 70"/>
          <p:cNvSpPr/>
          <p:nvPr/>
        </p:nvSpPr>
        <p:spPr>
          <a:xfrm>
            <a:off x="137160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74" name="Text 71"/>
          <p:cNvSpPr/>
          <p:nvPr/>
        </p:nvSpPr>
        <p:spPr>
          <a:xfrm>
            <a:off x="2926080" y="439826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75" name="Text 72"/>
          <p:cNvSpPr/>
          <p:nvPr/>
        </p:nvSpPr>
        <p:spPr>
          <a:xfrm>
            <a:off x="4434840" y="4398264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76" name="Text 73"/>
          <p:cNvSpPr/>
          <p:nvPr/>
        </p:nvSpPr>
        <p:spPr>
          <a:xfrm>
            <a:off x="5760720" y="4398264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Sebastián Ramos</a:t>
            </a:r>
            <a:endParaRPr lang="en-US" sz="1050" dirty="0"/>
          </a:p>
        </p:txBody>
      </p:sp>
      <p:sp>
        <p:nvSpPr>
          <p:cNvPr id="77" name="Text 74"/>
          <p:cNvSpPr/>
          <p:nvPr/>
        </p:nvSpPr>
        <p:spPr>
          <a:xfrm>
            <a:off x="7315200" y="439826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78" name="Text 75"/>
          <p:cNvSpPr/>
          <p:nvPr/>
        </p:nvSpPr>
        <p:spPr>
          <a:xfrm>
            <a:off x="8686800" y="43982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50" dirty="0"/>
          </a:p>
        </p:txBody>
      </p:sp>
      <p:sp>
        <p:nvSpPr>
          <p:cNvPr id="79" name="Text 76"/>
          <p:cNvSpPr/>
          <p:nvPr/>
        </p:nvSpPr>
        <p:spPr>
          <a:xfrm>
            <a:off x="9464040" y="4398264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Manifold EBMS, Fundaciones F…</a:t>
            </a:r>
            <a:endParaRPr lang="en-US" sz="1000" dirty="0"/>
          </a:p>
        </p:txBody>
      </p:sp>
      <p:sp>
        <p:nvSpPr>
          <p:cNvPr id="80" name="Shape 77"/>
          <p:cNvSpPr/>
          <p:nvPr/>
        </p:nvSpPr>
        <p:spPr>
          <a:xfrm>
            <a:off x="502920" y="469087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81" name="Shape 78"/>
          <p:cNvSpPr/>
          <p:nvPr/>
        </p:nvSpPr>
        <p:spPr>
          <a:xfrm>
            <a:off x="457200" y="4700016"/>
            <a:ext cx="1129284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2" name="Text 79"/>
          <p:cNvSpPr/>
          <p:nvPr/>
        </p:nvSpPr>
        <p:spPr>
          <a:xfrm>
            <a:off x="502920" y="47457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228</a:t>
            </a:r>
            <a:endParaRPr lang="en-US" sz="1050" dirty="0"/>
          </a:p>
        </p:txBody>
      </p:sp>
      <p:sp>
        <p:nvSpPr>
          <p:cNvPr id="83" name="Text 80"/>
          <p:cNvSpPr/>
          <p:nvPr/>
        </p:nvSpPr>
        <p:spPr>
          <a:xfrm>
            <a:off x="137160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84" name="Text 81"/>
          <p:cNvSpPr/>
          <p:nvPr/>
        </p:nvSpPr>
        <p:spPr>
          <a:xfrm>
            <a:off x="2926080" y="474573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85" name="Text 82"/>
          <p:cNvSpPr/>
          <p:nvPr/>
        </p:nvSpPr>
        <p:spPr>
          <a:xfrm>
            <a:off x="4434840" y="474573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86" name="Text 83"/>
          <p:cNvSpPr/>
          <p:nvPr/>
        </p:nvSpPr>
        <p:spPr>
          <a:xfrm>
            <a:off x="5760720" y="474573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87" name="Text 84"/>
          <p:cNvSpPr/>
          <p:nvPr/>
        </p:nvSpPr>
        <p:spPr>
          <a:xfrm>
            <a:off x="7315200" y="4745736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revisi…</a:t>
            </a:r>
            <a:endParaRPr lang="en-US" sz="1050" dirty="0"/>
          </a:p>
        </p:txBody>
      </p:sp>
      <p:sp>
        <p:nvSpPr>
          <p:cNvPr id="88" name="Text 85"/>
          <p:cNvSpPr/>
          <p:nvPr/>
        </p:nvSpPr>
        <p:spPr>
          <a:xfrm>
            <a:off x="8686800" y="474573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89" name="Text 86"/>
          <p:cNvSpPr/>
          <p:nvPr/>
        </p:nvSpPr>
        <p:spPr>
          <a:xfrm>
            <a:off x="9464040" y="4745736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la auditoría se identificar…</a:t>
            </a:r>
            <a:endParaRPr lang="en-US" sz="1000" dirty="0"/>
          </a:p>
        </p:txBody>
      </p:sp>
      <p:sp>
        <p:nvSpPr>
          <p:cNvPr id="90" name="Shape 87"/>
          <p:cNvSpPr/>
          <p:nvPr/>
        </p:nvSpPr>
        <p:spPr>
          <a:xfrm>
            <a:off x="502920" y="503834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91" name="Text 88"/>
          <p:cNvSpPr/>
          <p:nvPr/>
        </p:nvSpPr>
        <p:spPr>
          <a:xfrm>
            <a:off x="502920" y="509320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230</a:t>
            </a:r>
            <a:endParaRPr lang="en-US" sz="1050" dirty="0"/>
          </a:p>
        </p:txBody>
      </p:sp>
      <p:sp>
        <p:nvSpPr>
          <p:cNvPr id="92" name="Text 89"/>
          <p:cNvSpPr/>
          <p:nvPr/>
        </p:nvSpPr>
        <p:spPr>
          <a:xfrm>
            <a:off x="137160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93" name="Text 90"/>
          <p:cNvSpPr/>
          <p:nvPr/>
        </p:nvSpPr>
        <p:spPr>
          <a:xfrm>
            <a:off x="2926080" y="509320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050" dirty="0"/>
          </a:p>
        </p:txBody>
      </p:sp>
      <p:sp>
        <p:nvSpPr>
          <p:cNvPr id="94" name="Text 91"/>
          <p:cNvSpPr/>
          <p:nvPr/>
        </p:nvSpPr>
        <p:spPr>
          <a:xfrm>
            <a:off x="4434840" y="5093208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</a:t>
            </a:r>
            <a:endParaRPr lang="en-US" sz="1050" dirty="0"/>
          </a:p>
        </p:txBody>
      </p:sp>
      <p:sp>
        <p:nvSpPr>
          <p:cNvPr id="95" name="Text 92"/>
          <p:cNvSpPr/>
          <p:nvPr/>
        </p:nvSpPr>
        <p:spPr>
          <a:xfrm>
            <a:off x="5760720" y="5093208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Mauricio Soto B.</a:t>
            </a:r>
            <a:endParaRPr lang="en-US" sz="1050" dirty="0"/>
          </a:p>
        </p:txBody>
      </p:sp>
      <p:sp>
        <p:nvSpPr>
          <p:cNvPr id="96" name="Text 93"/>
          <p:cNvSpPr/>
          <p:nvPr/>
        </p:nvSpPr>
        <p:spPr>
          <a:xfrm>
            <a:off x="7315200" y="50932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97" name="Text 94"/>
          <p:cNvSpPr/>
          <p:nvPr/>
        </p:nvSpPr>
        <p:spPr>
          <a:xfrm>
            <a:off x="8686800" y="5093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50" dirty="0"/>
          </a:p>
        </p:txBody>
      </p:sp>
      <p:sp>
        <p:nvSpPr>
          <p:cNvPr id="98" name="Text 95"/>
          <p:cNvSpPr/>
          <p:nvPr/>
        </p:nvSpPr>
        <p:spPr>
          <a:xfrm>
            <a:off x="9464040" y="5093208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 evidenció un Plan de Cierre d…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502920" y="538581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100" name="Text 97"/>
          <p:cNvSpPr/>
          <p:nvPr/>
        </p:nvSpPr>
        <p:spPr>
          <a:xfrm>
            <a:off x="502920" y="544068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listan los 9 más antiguos de 15 abiertos; el detalle completo está en el panel.</a:t>
            </a:r>
            <a:endParaRPr lang="en-US" sz="950" dirty="0"/>
          </a:p>
        </p:txBody>
      </p:sp>
      <p:sp>
        <p:nvSpPr>
          <p:cNvPr id="101" name="Shape 98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12233B"/>
          </a:solidFill>
          <a:ln/>
        </p:spPr>
      </p:sp>
      <p:sp>
        <p:nvSpPr>
          <p:cNvPr id="102" name="Text 99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103" name="Text 100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nuevo · 0 internos y 1 externo · CALIDAD 1 · 1 sigue abierto</a:t>
            </a:r>
            <a:endParaRPr lang="en-US" sz="1150" dirty="0"/>
          </a:p>
        </p:txBody>
      </p:sp>
      <p:sp>
        <p:nvSpPr>
          <p:cNvPr id="104" name="Text 10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105" name="Text 10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6" name="Text 10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 · P2342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Arqueros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 · Hallazgos de calidad y su corrección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 hallazgos levantados · 53 internos y 41 externos · 17 especialidades involucradas.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cierre, antigüedad de lo que sigue abierto y novedades de la última semana.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cerrados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 d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cierre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Autodetección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03-08-2026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ESTADO DE LOS HALLAZGOS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Cierre, disciplina y origen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cerrados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levantados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internos · 41 externos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1F7A44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7A4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98,9%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93/94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hallazgos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módulo: 95,7%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abierto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Siguen abiertos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iniciado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139</a:t>
            </a:r>
            <a:endParaRPr lang="en-US" sz="40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(mediana)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 de cierre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9184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más lento tomó 313 días</a:t>
            </a:r>
            <a:endParaRPr lang="en-US" sz="950" dirty="0"/>
          </a:p>
        </p:txBody>
      </p:sp>
      <p:graphicFrame>
        <p:nvGraphicFramePr>
          <p:cNvPr id="29" name="Chart 0" descr=""/>
          <p:cNvGraphicFramePr/>
          <p:nvPr/>
        </p:nvGraphicFramePr>
        <p:xfrm>
          <a:off x="457200" y="3886200"/>
          <a:ext cx="6949440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7635240" y="3886200"/>
            <a:ext cx="4096512" cy="2468880"/>
          </a:xfrm>
          <a:prstGeom prst="roundRect">
            <a:avLst>
              <a:gd name="adj" fmla="val 2222"/>
            </a:avLst>
          </a:prstGeom>
          <a:solidFill>
            <a:srgbClr val="12233B"/>
          </a:solidFill>
          <a:ln/>
        </p:spPr>
      </p:sp>
      <p:sp>
        <p:nvSpPr>
          <p:cNvPr id="31" name="Text 27"/>
          <p:cNvSpPr/>
          <p:nvPr/>
        </p:nvSpPr>
        <p:spPr>
          <a:xfrm>
            <a:off x="7882128" y="40050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 DEL HALLAZGO</a:t>
            </a:r>
            <a:endParaRPr lang="en-US" sz="1050" dirty="0"/>
          </a:p>
        </p:txBody>
      </p:sp>
      <p:sp>
        <p:nvSpPr>
          <p:cNvPr id="32" name="Text 28"/>
          <p:cNvSpPr/>
          <p:nvPr/>
        </p:nvSpPr>
        <p:spPr>
          <a:xfrm>
            <a:off x="7882128" y="4261104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56,4%</a:t>
            </a:r>
            <a:endParaRPr lang="en-US" sz="2600" dirty="0"/>
          </a:p>
        </p:txBody>
      </p:sp>
      <p:sp>
        <p:nvSpPr>
          <p:cNvPr id="33" name="Text 29"/>
          <p:cNvSpPr/>
          <p:nvPr/>
        </p:nvSpPr>
        <p:spPr>
          <a:xfrm>
            <a:off x="9098280" y="42611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autodetección</a:t>
            </a:r>
            <a:endParaRPr lang="en-US" sz="10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del módulo 37,8%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7882128" y="4791456"/>
            <a:ext cx="365760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7900416" y="4974336"/>
            <a:ext cx="164592" cy="164592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36" name="Text 32"/>
          <p:cNvSpPr/>
          <p:nvPr/>
        </p:nvSpPr>
        <p:spPr>
          <a:xfrm>
            <a:off x="8156448" y="48828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10287000" y="488289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ab.</a:t>
            </a:r>
            <a:endParaRPr lang="en-US" sz="950" dirty="0"/>
          </a:p>
        </p:txBody>
      </p:sp>
      <p:sp>
        <p:nvSpPr>
          <p:cNvPr id="38" name="Text 34"/>
          <p:cNvSpPr/>
          <p:nvPr/>
        </p:nvSpPr>
        <p:spPr>
          <a:xfrm>
            <a:off x="10972800" y="488289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</a:t>
            </a:r>
            <a:endParaRPr lang="en-US" sz="1600" dirty="0"/>
          </a:p>
        </p:txBody>
      </p:sp>
      <p:sp>
        <p:nvSpPr>
          <p:cNvPr id="39" name="Shape 35"/>
          <p:cNvSpPr/>
          <p:nvPr/>
        </p:nvSpPr>
        <p:spPr>
          <a:xfrm>
            <a:off x="7900416" y="5340096"/>
            <a:ext cx="164592" cy="164592"/>
          </a:xfrm>
          <a:prstGeom prst="ellipse">
            <a:avLst/>
          </a:prstGeom>
          <a:solidFill>
            <a:srgbClr val="9A6B0F"/>
          </a:solidFill>
          <a:ln/>
        </p:spPr>
      </p:sp>
      <p:sp>
        <p:nvSpPr>
          <p:cNvPr id="40" name="Text 36"/>
          <p:cNvSpPr/>
          <p:nvPr/>
        </p:nvSpPr>
        <p:spPr>
          <a:xfrm>
            <a:off x="8156448" y="524865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Cliente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10287000" y="524865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2" name="Text 38"/>
          <p:cNvSpPr/>
          <p:nvPr/>
        </p:nvSpPr>
        <p:spPr>
          <a:xfrm>
            <a:off x="10972800" y="524865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43" name="Shape 39"/>
          <p:cNvSpPr/>
          <p:nvPr/>
        </p:nvSpPr>
        <p:spPr>
          <a:xfrm>
            <a:off x="7900416" y="5705856"/>
            <a:ext cx="164592" cy="164592"/>
          </a:xfrm>
          <a:prstGeom prst="ellipse">
            <a:avLst/>
          </a:prstGeom>
          <a:solidFill>
            <a:srgbClr val="8A5520"/>
          </a:solidFill>
          <a:ln/>
        </p:spPr>
      </p:sp>
      <p:sp>
        <p:nvSpPr>
          <p:cNvPr id="44" name="Text 40"/>
          <p:cNvSpPr/>
          <p:nvPr/>
        </p:nvSpPr>
        <p:spPr>
          <a:xfrm>
            <a:off x="8156448" y="561441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 · Subcontrato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10287000" y="5614416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ab.</a:t>
            </a:r>
            <a:endParaRPr lang="en-US" sz="950" dirty="0"/>
          </a:p>
        </p:txBody>
      </p:sp>
      <p:sp>
        <p:nvSpPr>
          <p:cNvPr id="46" name="Text 42"/>
          <p:cNvSpPr/>
          <p:nvPr/>
        </p:nvSpPr>
        <p:spPr>
          <a:xfrm>
            <a:off x="10972800" y="5614416"/>
            <a:ext cx="594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600" dirty="0"/>
          </a:p>
        </p:txBody>
      </p:sp>
      <p:sp>
        <p:nvSpPr>
          <p:cNvPr id="47" name="Text 4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48" name="Text 4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49" name="Text 4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modulo_nc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ARQUEROS · PENDIENTE Y NOVEDADES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Hallazgos abiertos y lo levantado en la semana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hallazgo sigue abierto; 0 con más de 180 días. Se listan del más antiguo al más reciente.</a:t>
            </a:r>
            <a:endParaRPr lang="en-US" sz="1350" dirty="0"/>
          </a:p>
        </p:txBody>
      </p:sp>
      <p:sp>
        <p:nvSpPr>
          <p:cNvPr id="6" name="Text 3"/>
          <p:cNvSpPr/>
          <p:nvPr/>
        </p:nvSpPr>
        <p:spPr>
          <a:xfrm>
            <a:off x="502920" y="1874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N°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137160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2926080" y="18745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ORIGEN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434840" y="1874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DISCIPLINA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5760720" y="1874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7315200" y="18745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8686800" y="1874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946404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TÍTULO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02920" y="2185416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13432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- 00…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37160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Conformidad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2926080" y="23134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E6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 (Besalco)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4434840" y="231343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OO.CC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760720" y="2313432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Renato Muñoz F.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7315200" y="2313432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8686800" y="231343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9464040" y="23134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Incumplimiento en requisito para ej…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2606040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57200" y="5806440"/>
            <a:ext cx="11274552" cy="566928"/>
          </a:xfrm>
          <a:prstGeom prst="roundRect">
            <a:avLst>
              <a:gd name="adj" fmla="val 9677"/>
            </a:avLst>
          </a:prstGeom>
          <a:solidFill>
            <a:srgbClr val="E9EDF2"/>
          </a:solidFill>
          <a:ln/>
        </p:spPr>
      </p:sp>
      <p:sp>
        <p:nvSpPr>
          <p:cNvPr id="25" name="Text 22"/>
          <p:cNvSpPr/>
          <p:nvPr/>
        </p:nvSpPr>
        <p:spPr>
          <a:xfrm>
            <a:off x="713232" y="5806440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28-07-2026 — 03-08-2026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5806440"/>
            <a:ext cx="8321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hallazgos nuevos en el período.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1e73482e-Data_NCR03082026.xlsx — hoja «Observaciones» · Corte 03-08-2026 · 438 registros desde 10-02-2023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Control de No Conformidades — Gestión de Calidad</dc:title>
  <dc:subject>PptxGenJS Presentation</dc:subject>
  <dc:creator>Gestión de Calidad</dc:creator>
  <cp:lastModifiedBy>Gestión de Calidad</cp:lastModifiedBy>
  <cp:revision>1</cp:revision>
  <dcterms:created xsi:type="dcterms:W3CDTF">2026-08-03T13:31:09Z</dcterms:created>
  <dcterms:modified xsi:type="dcterms:W3CDTF">2026-08-03T13:31:09Z</dcterms:modified>
</cp:coreProperties>
</file>