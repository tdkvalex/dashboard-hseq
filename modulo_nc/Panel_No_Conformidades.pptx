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Ritmo semanal — la barra «3 sem.» acumula las semanas más viejas</a:t>
            </a:r>
          </a:p>
        </c:rich>
      </c:tx>
      <c:layout/>
      <c:overlay val="0"/>
    </c:title>
    <c:autoTitleDeleted val="0"/>
    <c:plotArea>
      <c:layout/>
      <c:barChart>
        <c:barDir val="bar"/>
        <c:grouping val="stacked"/>
        <c:varyColors val="0"/>
        <c:ser>
          <c:idx val="0"/>
          <c:order val="0"/>
          <c:tx>
            <c:strRef>
              <c:f>Sheet1!$B$1</c:f>
              <c:strCache>
                <c:ptCount val="1"/>
                <c:pt idx="0">
                  <c:v>Aún abiertos</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3 sem.</c:v>
                  </c:pt>
                  <c:pt idx="1">
                    <c:v>13-07</c:v>
                  </c:pt>
                  <c:pt idx="2">
                    <c:v>20-07</c:v>
                  </c:pt>
                  <c:pt idx="3">
                    <c:v>27-07</c:v>
                  </c:pt>
                  <c:pt idx="4">
                    <c:v>03-08</c:v>
                  </c:pt>
                  <c:pt idx="5">
                    <c:v>10-08</c:v>
                  </c:pt>
                </c:lvl>
              </c:multiLvlStrCache>
            </c:multiLvlStrRef>
          </c:cat>
          <c:val>
            <c:numRef>
              <c:f>Sheet1!$B$2:$B$7</c:f>
              <c:numCache>
                <c:formatCode>General</c:formatCode>
                <c:ptCount val="6"/>
                <c:pt idx="0">
                  <c:v>1</c:v>
                </c:pt>
                <c:pt idx="1">
                  <c:v/>
                </c:pt>
                <c:pt idx="2">
                  <c:v>1</c:v>
                </c:pt>
                <c:pt idx="3">
                  <c:v>3</c:v>
                </c:pt>
                <c:pt idx="4">
                  <c:v/>
                </c:pt>
                <c:pt idx="5">
                  <c:v>2</c:v>
                </c:pt>
              </c:numCache>
            </c:numRef>
          </c:val>
        </c:ser>
        <c:ser>
          <c:idx val="1"/>
          <c:order val="1"/>
          <c:tx>
            <c:strRef>
              <c:f>Sheet1!$C$1</c:f>
              <c:strCache>
                <c:ptCount val="1"/>
                <c:pt idx="0">
                  <c:v>Ya cerrados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3 sem.</c:v>
                  </c:pt>
                  <c:pt idx="1">
                    <c:v>13-07</c:v>
                  </c:pt>
                  <c:pt idx="2">
                    <c:v>20-07</c:v>
                  </c:pt>
                  <c:pt idx="3">
                    <c:v>27-07</c:v>
                  </c:pt>
                  <c:pt idx="4">
                    <c:v>03-08</c:v>
                  </c:pt>
                  <c:pt idx="5">
                    <c:v>10-08</c:v>
                  </c:pt>
                </c:lvl>
              </c:multiLvlStrCache>
            </c:multiLvlStrRef>
          </c:cat>
          <c:val>
            <c:numRef>
              <c:f>Sheet1!$C$2:$C$7</c:f>
              <c:numCache>
                <c:formatCode>General</c:formatCode>
                <c:ptCount val="6"/>
                <c:pt idx="0">
                  <c:v>5</c:v>
                </c:pt>
                <c:pt idx="1">
                  <c:v/>
                </c:pt>
                <c:pt idx="2">
                  <c:v>2</c:v>
                </c:pt>
                <c:pt idx="3">
                  <c:v>1</c:v>
                </c:pt>
                <c:pt idx="4">
                  <c:v>1</c:v>
                </c:pt>
                <c:pt idx="5">
                  <c:v>1</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Hallazgos por frente y vía de emisión</a:t>
            </a:r>
          </a:p>
        </c:rich>
      </c:tx>
      <c:layout/>
      <c:overlay val="0"/>
    </c:title>
    <c:autoTitleDeleted val="0"/>
    <c:plotArea>
      <c:layout/>
      <c:barChart>
        <c:barDir val="bar"/>
        <c:grouping val="stacked"/>
        <c:varyColors val="0"/>
        <c:ser>
          <c:idx val="0"/>
          <c:order val="0"/>
          <c:tx>
            <c:strRef>
              <c:f>Sheet1!$B$1</c:f>
              <c:strCache>
                <c:ptCount val="1"/>
                <c:pt idx="0">
                  <c:v>Interna (Besalco)</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Desaladora</c:v>
                  </c:pt>
                  <c:pt idx="1">
                    <c:v>Talabre</c:v>
                  </c:pt>
                  <c:pt idx="2">
                    <c:v>Arqueros</c:v>
                  </c:pt>
                  <c:pt idx="3">
                    <c:v>Oficina Central</c:v>
                  </c:pt>
                </c:lvl>
              </c:multiLvlStrCache>
            </c:multiLvlStrRef>
          </c:cat>
          <c:val>
            <c:numRef>
              <c:f>Sheet1!$B$2:$B$5</c:f>
              <c:numCache>
                <c:formatCode>General</c:formatCode>
                <c:ptCount val="4"/>
                <c:pt idx="0">
                  <c:v>54</c:v>
                </c:pt>
                <c:pt idx="1">
                  <c:v>52</c:v>
                </c:pt>
                <c:pt idx="2">
                  <c:v>53</c:v>
                </c:pt>
                <c:pt idx="3">
                  <c:v/>
                </c:pt>
              </c:numCache>
            </c:numRef>
          </c:val>
        </c:ser>
        <c:ser>
          <c:idx val="1"/>
          <c:order val="1"/>
          <c:tx>
            <c:strRef>
              <c:f>Sheet1!$C$1</c:f>
              <c:strCache>
                <c:ptCount val="1"/>
                <c:pt idx="0">
                  <c:v>Externa · Cliente</c:v>
                </c:pt>
              </c:strCache>
            </c:strRef>
          </c:tx>
          <c:spPr>
            <a:solidFill>
              <a:srgbClr val="9A6B0F"/>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Desaladora</c:v>
                  </c:pt>
                  <c:pt idx="1">
                    <c:v>Talabre</c:v>
                  </c:pt>
                  <c:pt idx="2">
                    <c:v>Arqueros</c:v>
                  </c:pt>
                  <c:pt idx="3">
                    <c:v>Oficina Central</c:v>
                  </c:pt>
                </c:lvl>
              </c:multiLvlStrCache>
            </c:multiLvlStrRef>
          </c:cat>
          <c:val>
            <c:numRef>
              <c:f>Sheet1!$C$2:$C$5</c:f>
              <c:numCache>
                <c:formatCode>General</c:formatCode>
                <c:ptCount val="4"/>
                <c:pt idx="0">
                  <c:v>19</c:v>
                </c:pt>
                <c:pt idx="1">
                  <c:v>192</c:v>
                </c:pt>
                <c:pt idx="2">
                  <c:v>71</c:v>
                </c:pt>
                <c:pt idx="3">
                  <c:v/>
                </c:pt>
              </c:numCache>
            </c:numRef>
          </c:val>
        </c:ser>
        <c:ser>
          <c:idx val="2"/>
          <c:order val="2"/>
          <c:tx>
            <c:strRef>
              <c:f>Sheet1!$D$1</c:f>
              <c:strCache>
                <c:ptCount val="1"/>
                <c:pt idx="0">
                  <c:v>Externa · Subcontrato</c:v>
                </c:pt>
              </c:strCache>
            </c:strRef>
          </c:tx>
          <c:spPr>
            <a:solidFill>
              <a:srgbClr val="8A5520"/>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Desaladora</c:v>
                  </c:pt>
                  <c:pt idx="1">
                    <c:v>Talabre</c:v>
                  </c:pt>
                  <c:pt idx="2">
                    <c:v>Arqueros</c:v>
                  </c:pt>
                  <c:pt idx="3">
                    <c:v>Oficina Central</c:v>
                  </c:pt>
                </c:lvl>
              </c:multiLvlStrCache>
            </c:multiLvlStrRef>
          </c:cat>
          <c:val>
            <c:numRef>
              <c:f>Sheet1!$D$2:$D$5</c:f>
              <c:numCache>
                <c:formatCode>General</c:formatCode>
                <c:ptCount val="4"/>
                <c:pt idx="0">
                  <c:v>8</c:v>
                </c:pt>
                <c:pt idx="1">
                  <c:v/>
                </c:pt>
                <c:pt idx="2">
                  <c:v>40</c:v>
                </c:pt>
                <c:pt idx="3">
                  <c:v/>
                </c:pt>
              </c:numCache>
            </c:numRef>
          </c:val>
        </c:ser>
        <c:ser>
          <c:idx val="3"/>
          <c:order val="3"/>
          <c:tx>
            <c:strRef>
              <c:f>Sheet1!$E$1</c:f>
              <c:strCache>
                <c:ptCount val="1"/>
                <c:pt idx="0">
                  <c:v>Sin clasificar</c:v>
                </c:pt>
              </c:strCache>
            </c:strRef>
          </c:tx>
          <c:spPr>
            <a:solidFill>
              <a:srgbClr val="5B6B7C"/>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Desaladora</c:v>
                  </c:pt>
                  <c:pt idx="1">
                    <c:v>Talabre</c:v>
                  </c:pt>
                  <c:pt idx="2">
                    <c:v>Arqueros</c:v>
                  </c:pt>
                  <c:pt idx="3">
                    <c:v>Oficina Central</c:v>
                  </c:pt>
                </c:lvl>
              </c:multiLvlStrCache>
            </c:multiLvlStrRef>
          </c:cat>
          <c:val>
            <c:numRef>
              <c:f>Sheet1!$E$2:$E$5</c:f>
              <c:numCache>
                <c:formatCode>General</c:formatCode>
                <c:ptCount val="4"/>
                <c:pt idx="0">
                  <c:v>1</c:v>
                </c:pt>
                <c:pt idx="1">
                  <c:v/>
                </c:pt>
                <c:pt idx="2">
                  <c:v/>
                </c:pt>
                <c:pt idx="3">
                  <c:v>8</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Hallazgos por tipo</a:t>
            </a:r>
          </a:p>
        </c:rich>
      </c:tx>
      <c:layout/>
      <c:overlay val="0"/>
    </c:title>
    <c:autoTitleDeleted val="0"/>
    <c:plotArea>
      <c:layout/>
      <c:barChart>
        <c:barDir val="bar"/>
        <c:grouping val="stacked"/>
        <c:varyColors val="0"/>
        <c:ser>
          <c:idx val="0"/>
          <c:order val="0"/>
          <c:tx>
            <c:strRef>
              <c:f>Sheet1!$B$1</c:f>
              <c:strCache>
                <c:ptCount val="1"/>
                <c:pt idx="0">
                  <c:v>Cerrados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No Conformidad</c:v>
                  </c:pt>
                  <c:pt idx="1">
                    <c:v>Producto No Conforme</c:v>
                  </c:pt>
                  <c:pt idx="2">
                    <c:v>Observación</c:v>
                  </c:pt>
                  <c:pt idx="3">
                    <c:v>Reporte HSE Nivel Alto</c:v>
                  </c:pt>
                </c:lvl>
              </c:multiLvlStrCache>
            </c:multiLvlStrRef>
          </c:cat>
          <c:val>
            <c:numRef>
              <c:f>Sheet1!$B$2:$B$5</c:f>
              <c:numCache>
                <c:formatCode>General</c:formatCode>
                <c:ptCount val="4"/>
                <c:pt idx="0">
                  <c:v>283</c:v>
                </c:pt>
                <c:pt idx="1">
                  <c:v>117</c:v>
                </c:pt>
                <c:pt idx="2">
                  <c:v>45</c:v>
                </c:pt>
                <c:pt idx="3">
                  <c:v>1</c:v>
                </c:pt>
              </c:numCache>
            </c:numRef>
          </c:val>
        </c:ser>
        <c:ser>
          <c:idx val="1"/>
          <c:order val="1"/>
          <c:tx>
            <c:strRef>
              <c:f>Sheet1!$C$1</c:f>
              <c:strCache>
                <c:ptCount val="1"/>
                <c:pt idx="0">
                  <c:v>Abiertos</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No Conformidad</c:v>
                  </c:pt>
                  <c:pt idx="1">
                    <c:v>Producto No Conforme</c:v>
                  </c:pt>
                  <c:pt idx="2">
                    <c:v>Observación</c:v>
                  </c:pt>
                  <c:pt idx="3">
                    <c:v>Reporte HSE Nivel Alto</c:v>
                  </c:pt>
                </c:lvl>
              </c:multiLvlStrCache>
            </c:multiLvlStrRef>
          </c:cat>
          <c:val>
            <c:numRef>
              <c:f>Sheet1!$C$2:$C$5</c:f>
              <c:numCache>
                <c:formatCode>General</c:formatCode>
                <c:ptCount val="4"/>
                <c:pt idx="0">
                  <c:v>33</c:v>
                </c:pt>
                <c:pt idx="1">
                  <c:v>4</c:v>
                </c:pt>
                <c:pt idx="2">
                  <c:v>15</c:v>
                </c:pt>
                <c:pt idx="3">
                  <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Antigüedad de los 52 hallazgos abiertos</a:t>
            </a:r>
          </a:p>
        </c:rich>
      </c:tx>
      <c:layout/>
      <c:overlay val="0"/>
    </c:title>
    <c:autoTitleDeleted val="0"/>
    <c:plotArea>
      <c:layout/>
      <c:barChart>
        <c:barDir val="bar"/>
        <c:grouping val="stacked"/>
        <c:varyColors val="0"/>
        <c:ser>
          <c:idx val="0"/>
          <c:order val="0"/>
          <c:tx>
            <c:strRef>
              <c:f>Sheet1!$B$1</c:f>
              <c:strCache>
                <c:ptCount val="1"/>
                <c:pt idx="0">
                  <c:v>1-30 días</c:v>
                </c:pt>
              </c:strCache>
            </c:strRef>
          </c:tx>
          <c:spPr>
            <a:solidFill>
              <a:srgbClr val="1F7A44"/>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Sheet1!$A$2:$A$2</c:f>
              <c:multiLvlStrCache>
                <c:ptCount val="1"/>
                <c:lvl>
                  <c:pt idx="0">
                    <c:v>Abiertos</c:v>
                  </c:pt>
                </c:lvl>
              </c:multiLvlStrCache>
            </c:multiLvlStrRef>
          </c:cat>
          <c:val>
            <c:numRef>
              <c:f>Sheet1!$B$2:$B$2</c:f>
              <c:numCache>
                <c:formatCode>General</c:formatCode>
                <c:ptCount val="1"/>
                <c:pt idx="0">
                  <c:v>6</c:v>
                </c:pt>
              </c:numCache>
            </c:numRef>
          </c:val>
        </c:ser>
        <c:ser>
          <c:idx val="1"/>
          <c:order val="1"/>
          <c:tx>
            <c:strRef>
              <c:f>Sheet1!$C$1</c:f>
              <c:strCache>
                <c:ptCount val="1"/>
                <c:pt idx="0">
                  <c:v>31-90 días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Sheet1!$A$2:$A$2</c:f>
              <c:multiLvlStrCache>
                <c:ptCount val="1"/>
                <c:lvl>
                  <c:pt idx="0">
                    <c:v>Abiertos</c:v>
                  </c:pt>
                </c:lvl>
              </c:multiLvlStrCache>
            </c:multiLvlStrRef>
          </c:cat>
          <c:val>
            <c:numRef>
              <c:f>Sheet1!$C$2:$C$2</c:f>
              <c:numCache>
                <c:formatCode>General</c:formatCode>
                <c:ptCount val="1"/>
                <c:pt idx="0">
                  <c:v>10</c:v>
                </c:pt>
              </c:numCache>
            </c:numRef>
          </c:val>
        </c:ser>
        <c:ser>
          <c:idx val="2"/>
          <c:order val="2"/>
          <c:tx>
            <c:strRef>
              <c:f>Sheet1!$D$1</c:f>
              <c:strCache>
                <c:ptCount val="1"/>
                <c:pt idx="0">
                  <c:v>91-180 días</c:v>
                </c:pt>
              </c:strCache>
            </c:strRef>
          </c:tx>
          <c:spPr>
            <a:solidFill>
              <a:srgbClr val="9A6B0F"/>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Sheet1!$A$2:$A$2</c:f>
              <c:multiLvlStrCache>
                <c:ptCount val="1"/>
                <c:lvl>
                  <c:pt idx="0">
                    <c:v>Abiertos</c:v>
                  </c:pt>
                </c:lvl>
              </c:multiLvlStrCache>
            </c:multiLvlStrRef>
          </c:cat>
          <c:val>
            <c:numRef>
              <c:f>Sheet1!$D$2:$D$2</c:f>
              <c:numCache>
                <c:formatCode>General</c:formatCode>
                <c:ptCount val="1"/>
                <c:pt idx="0">
                  <c:v>17</c:v>
                </c:pt>
              </c:numCache>
            </c:numRef>
          </c:val>
        </c:ser>
        <c:ser>
          <c:idx val="3"/>
          <c:order val="3"/>
          <c:tx>
            <c:strRef>
              <c:f>Sheet1!$E$1</c:f>
              <c:strCache>
                <c:ptCount val="1"/>
                <c:pt idx="0">
                  <c:v>181-365 días</c:v>
                </c:pt>
              </c:strCache>
            </c:strRef>
          </c:tx>
          <c:spPr>
            <a:solidFill>
              <a:srgbClr val="8A5520"/>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Sheet1!$A$2:$A$2</c:f>
              <c:multiLvlStrCache>
                <c:ptCount val="1"/>
                <c:lvl>
                  <c:pt idx="0">
                    <c:v>Abiertos</c:v>
                  </c:pt>
                </c:lvl>
              </c:multiLvlStrCache>
            </c:multiLvlStrRef>
          </c:cat>
          <c:val>
            <c:numRef>
              <c:f>Sheet1!$E$2:$E$2</c:f>
              <c:numCache>
                <c:formatCode>General</c:formatCode>
                <c:ptCount val="1"/>
                <c:pt idx="0">
                  <c:v>15</c:v>
                </c:pt>
              </c:numCache>
            </c:numRef>
          </c:val>
        </c:ser>
        <c:ser>
          <c:idx val="4"/>
          <c:order val="4"/>
          <c:tx>
            <c:strRef>
              <c:f>Sheet1!$F$1</c:f>
              <c:strCache>
                <c:ptCount val="1"/>
                <c:pt idx="0">
                  <c:v>Más de un año</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Sheet1!$A$2:$A$2</c:f>
              <c:multiLvlStrCache>
                <c:ptCount val="1"/>
                <c:lvl>
                  <c:pt idx="0">
                    <c:v>Abiertos</c:v>
                  </c:pt>
                </c:lvl>
              </c:multiLvlStrCache>
            </c:multiLvlStrRef>
          </c:cat>
          <c:val>
            <c:numRef>
              <c:f>Sheet1!$F$2:$F$2</c:f>
              <c:numCache>
                <c:formatCode>General</c:formatCode>
                <c:ptCount val="1"/>
                <c:pt idx="0">
                  <c:v>4</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Costo declarado por mes · UF · últimos 12 meses</a:t>
            </a:r>
          </a:p>
        </c:rich>
      </c:tx>
      <c:layout/>
      <c:overlay val="0"/>
    </c:title>
    <c:autoTitleDeleted val="0"/>
    <c:plotArea>
      <c:layout/>
      <c:barChart>
        <c:barDir val="bar"/>
        <c:grouping val="stacked"/>
        <c:varyColors val="0"/>
        <c:ser>
          <c:idx val="0"/>
          <c:order val="0"/>
          <c:tx>
            <c:strRef>
              <c:f>Sheet1!$B$1</c:f>
              <c:strCache>
                <c:ptCount val="1"/>
                <c:pt idx="0">
                  <c:v>CALIDAD</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
                </c:pt>
                <c:pt idx="11">
                  <c:v/>
                </c:pt>
              </c:numCache>
            </c:numRef>
          </c:val>
        </c:ser>
        <c:ser>
          <c:idx val="1"/>
          <c:order val="1"/>
          <c:tx>
            <c:strRef>
              <c:f>Sheet1!$C$1</c:f>
              <c:strCache>
                <c:ptCount val="1"/>
                <c:pt idx="0">
                  <c:v>OO.CC</c:v>
                </c:pt>
              </c:strCache>
            </c:strRef>
          </c:tx>
          <c:spPr>
            <a:solidFill>
              <a:srgbClr val="8A5520"/>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Sheet1!$C$2:$C$13</c:f>
              <c:numCache>
                <c:formatCode>General</c:formatCode>
                <c:ptCount val="12"/>
                <c:pt idx="0">
                  <c:v>546.57</c:v>
                </c:pt>
                <c:pt idx="1">
                  <c:v>406.64</c:v>
                </c:pt>
                <c:pt idx="2">
                  <c:v>125</c:v>
                </c:pt>
                <c:pt idx="3">
                  <c:v>575</c:v>
                </c:pt>
                <c:pt idx="4">
                  <c:v>375.58</c:v>
                </c:pt>
                <c:pt idx="5">
                  <c:v>175</c:v>
                </c:pt>
                <c:pt idx="6">
                  <c:v>130</c:v>
                </c:pt>
                <c:pt idx="7">
                  <c:v/>
                </c:pt>
                <c:pt idx="8">
                  <c:v/>
                </c:pt>
                <c:pt idx="9">
                  <c:v/>
                </c:pt>
                <c:pt idx="10">
                  <c:v/>
                </c:pt>
                <c:pt idx="11">
                  <c:v/>
                </c:pt>
              </c:numCache>
            </c:numRef>
          </c:val>
        </c:ser>
        <c:ser>
          <c:idx val="2"/>
          <c:order val="2"/>
          <c:tx>
            <c:strRef>
              <c:f>Sheet1!$D$1</c:f>
              <c:strCache>
                <c:ptCount val="1"/>
                <c:pt idx="0">
                  <c:v>EXPEDITORÍA</c:v>
                </c:pt>
              </c:strCache>
            </c:strRef>
          </c:tx>
          <c:spPr>
            <a:solidFill>
              <a:srgbClr val="9A6B0F"/>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Sheet1!$D$2:$D$13</c:f>
              <c:numCache>
                <c:formatCode>General</c:formatCode>
                <c:ptCount val="12"/>
                <c:pt idx="0">
                  <c:v>200</c:v>
                </c:pt>
                <c:pt idx="1">
                  <c:v/>
                </c:pt>
                <c:pt idx="2">
                  <c:v/>
                </c:pt>
                <c:pt idx="3">
                  <c:v/>
                </c:pt>
                <c:pt idx="4">
                  <c:v>26</c:v>
                </c:pt>
                <c:pt idx="5">
                  <c:v/>
                </c:pt>
                <c:pt idx="6">
                  <c:v>450</c:v>
                </c:pt>
                <c:pt idx="7">
                  <c:v/>
                </c:pt>
                <c:pt idx="8">
                  <c:v/>
                </c:pt>
                <c:pt idx="9">
                  <c:v/>
                </c:pt>
                <c:pt idx="10">
                  <c:v/>
                </c:pt>
                <c:pt idx="11">
                  <c:v/>
                </c:pt>
              </c:numCache>
            </c:numRef>
          </c:val>
        </c:ser>
        <c:ser>
          <c:idx val="3"/>
          <c:order val="3"/>
          <c:tx>
            <c:strRef>
              <c:f>Sheet1!$E$1</c:f>
              <c:strCache>
                <c:ptCount val="1"/>
                <c:pt idx="0">
                  <c:v>SUBCONTRATO</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Sheet1!$E$2:$E$13</c:f>
              <c:numCache>
                <c:formatCode>General</c:formatCode>
                <c:ptCount val="12"/>
                <c:pt idx="0">
                  <c:v/>
                </c:pt>
                <c:pt idx="1">
                  <c:v/>
                </c:pt>
                <c:pt idx="2">
                  <c:v/>
                </c:pt>
                <c:pt idx="3">
                  <c:v/>
                </c:pt>
                <c:pt idx="4">
                  <c:v/>
                </c:pt>
                <c:pt idx="5">
                  <c:v/>
                </c:pt>
                <c:pt idx="6">
                  <c:v/>
                </c:pt>
                <c:pt idx="7">
                  <c:v/>
                </c:pt>
                <c:pt idx="8">
                  <c:v/>
                </c:pt>
                <c:pt idx="9">
                  <c:v/>
                </c:pt>
                <c:pt idx="10">
                  <c:v/>
                </c:pt>
                <c:pt idx="11">
                  <c:v/>
                </c:pt>
              </c:numCache>
            </c:numRef>
          </c:val>
        </c:ser>
        <c:ser>
          <c:idx val="4"/>
          <c:order val="4"/>
          <c:tx>
            <c:strRef>
              <c:f>Sheet1!$F$1</c:f>
              <c:strCache>
                <c:ptCount val="1"/>
                <c:pt idx="0">
                  <c:v>ELÉCTRICA</c:v>
                </c:pt>
              </c:strCache>
            </c:strRef>
          </c:tx>
          <c:spPr>
            <a:solidFill>
              <a:srgbClr val="1F7A44"/>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Sheet1!$F$2:$F$13</c:f>
              <c:numCache>
                <c:formatCode>General</c:formatCode>
                <c:ptCount val="12"/>
                <c:pt idx="0">
                  <c:v/>
                </c:pt>
                <c:pt idx="1">
                  <c:v/>
                </c:pt>
                <c:pt idx="2">
                  <c:v/>
                </c:pt>
                <c:pt idx="3">
                  <c:v>73</c:v>
                </c:pt>
                <c:pt idx="4">
                  <c:v/>
                </c:pt>
                <c:pt idx="5">
                  <c:v>5</c:v>
                </c:pt>
                <c:pt idx="6">
                  <c:v/>
                </c:pt>
                <c:pt idx="7">
                  <c:v>100</c:v>
                </c:pt>
                <c:pt idx="8">
                  <c:v/>
                </c:pt>
                <c:pt idx="9">
                  <c:v/>
                </c:pt>
                <c:pt idx="10">
                  <c:v/>
                </c:pt>
                <c:pt idx="11">
                  <c:v/>
                </c:pt>
              </c:numCache>
            </c:numRef>
          </c:val>
        </c:ser>
        <c:ser>
          <c:idx val="5"/>
          <c:order val="5"/>
          <c:tx>
            <c:strRef>
              <c:f>Sheet1!$G$1</c:f>
              <c:strCache>
                <c:ptCount val="1"/>
                <c:pt idx="0">
                  <c:v>Otras disciplinas</c:v>
                </c:pt>
              </c:strCache>
            </c:strRef>
          </c:tx>
          <c:spPr>
            <a:solidFill>
              <a:srgbClr val="5B6B7C"/>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sep-25</c:v>
                  </c:pt>
                  <c:pt idx="1">
                    <c:v>oct-25</c:v>
                  </c:pt>
                  <c:pt idx="2">
                    <c:v>nov-25</c:v>
                  </c:pt>
                  <c:pt idx="3">
                    <c:v>dic-25</c:v>
                  </c:pt>
                  <c:pt idx="4">
                    <c:v>ene-26</c:v>
                  </c:pt>
                  <c:pt idx="5">
                    <c:v>feb-26</c:v>
                  </c:pt>
                  <c:pt idx="6">
                    <c:v>mar-26</c:v>
                  </c:pt>
                  <c:pt idx="7">
                    <c:v>abr-26</c:v>
                  </c:pt>
                  <c:pt idx="8">
                    <c:v>may-26</c:v>
                  </c:pt>
                  <c:pt idx="9">
                    <c:v>jun-26</c:v>
                  </c:pt>
                  <c:pt idx="10">
                    <c:v>jul-26</c:v>
                  </c:pt>
                  <c:pt idx="11">
                    <c:v>ago-26</c:v>
                  </c:pt>
                </c:lvl>
              </c:multiLvlStrCache>
            </c:multiLvlStrRef>
          </c:cat>
          <c:val>
            <c:numRef>
              <c:f>Sheet1!$G$2:$G$13</c:f>
              <c:numCache>
                <c:formatCode>General</c:formatCode>
                <c:ptCount val="12"/>
                <c:pt idx="0">
                  <c:v/>
                </c:pt>
                <c:pt idx="1">
                  <c:v/>
                </c:pt>
                <c:pt idx="2">
                  <c:v>50</c:v>
                </c:pt>
                <c:pt idx="3">
                  <c:v>20</c:v>
                </c:pt>
                <c:pt idx="4">
                  <c:v>48</c:v>
                </c:pt>
                <c:pt idx="5">
                  <c:v>40.43</c:v>
                </c:pt>
                <c:pt idx="6">
                  <c:v/>
                </c:pt>
                <c:pt idx="7">
                  <c:v/>
                </c:pt>
                <c:pt idx="8">
                  <c:v/>
                </c:pt>
                <c:pt idx="9">
                  <c:v/>
                </c:pt>
                <c:pt idx="10">
                  <c:v/>
                </c:pt>
                <c:pt idx="11">
                  <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Especialidades con más hallazgos (8 de 18)</a:t>
            </a:r>
          </a:p>
        </c:rich>
      </c:tx>
      <c:layout/>
      <c:overlay val="0"/>
    </c:title>
    <c:autoTitleDeleted val="0"/>
    <c:plotArea>
      <c:layout/>
      <c:barChart>
        <c:barDir val="bar"/>
        <c:grouping val="stacked"/>
        <c:varyColors val="0"/>
        <c:ser>
          <c:idx val="0"/>
          <c:order val="0"/>
          <c:tx>
            <c:strRef>
              <c:f>Sheet1!$B$1</c:f>
              <c:strCache>
                <c:ptCount val="1"/>
                <c:pt idx="0">
                  <c:v>Cerrados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ELÉCTRICA</c:v>
                  </c:pt>
                  <c:pt idx="1">
                    <c:v>ADMINISTRACIÓN</c:v>
                  </c:pt>
                  <c:pt idx="2">
                    <c:v>OO.CC</c:v>
                  </c:pt>
                  <c:pt idx="3">
                    <c:v>RRLL</c:v>
                  </c:pt>
                  <c:pt idx="4">
                    <c:v>CALIDAD</c:v>
                  </c:pt>
                  <c:pt idx="5">
                    <c:v>EXPEDITORÍA</c:v>
                  </c:pt>
                  <c:pt idx="6">
                    <c:v>LOGÍSTICA</c:v>
                  </c:pt>
                  <c:pt idx="7">
                    <c:v>ADQUISICIONES</c:v>
                  </c:pt>
                </c:lvl>
              </c:multiLvlStrCache>
            </c:multiLvlStrRef>
          </c:cat>
          <c:val>
            <c:numRef>
              <c:f>Sheet1!$B$2:$B$9</c:f>
              <c:numCache>
                <c:formatCode>General</c:formatCode>
                <c:ptCount val="8"/>
                <c:pt idx="0">
                  <c:v>15</c:v>
                </c:pt>
                <c:pt idx="1">
                  <c:v>12</c:v>
                </c:pt>
                <c:pt idx="2">
                  <c:v>10</c:v>
                </c:pt>
                <c:pt idx="3">
                  <c:v>10</c:v>
                </c:pt>
                <c:pt idx="4">
                  <c:v>7</c:v>
                </c:pt>
                <c:pt idx="5">
                  <c:v>4</c:v>
                </c:pt>
                <c:pt idx="6">
                  <c:v>4</c:v>
                </c:pt>
                <c:pt idx="7">
                  <c:v>3</c:v>
                </c:pt>
              </c:numCache>
            </c:numRef>
          </c:val>
        </c:ser>
        <c:ser>
          <c:idx val="1"/>
          <c:order val="1"/>
          <c:tx>
            <c:strRef>
              <c:f>Sheet1!$C$1</c:f>
              <c:strCache>
                <c:ptCount val="1"/>
                <c:pt idx="0">
                  <c:v>Abiertos</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ELÉCTRICA</c:v>
                  </c:pt>
                  <c:pt idx="1">
                    <c:v>ADMINISTRACIÓN</c:v>
                  </c:pt>
                  <c:pt idx="2">
                    <c:v>OO.CC</c:v>
                  </c:pt>
                  <c:pt idx="3">
                    <c:v>RRLL</c:v>
                  </c:pt>
                  <c:pt idx="4">
                    <c:v>CALIDAD</c:v>
                  </c:pt>
                  <c:pt idx="5">
                    <c:v>EXPEDITORÍA</c:v>
                  </c:pt>
                  <c:pt idx="6">
                    <c:v>LOGÍSTICA</c:v>
                  </c:pt>
                  <c:pt idx="7">
                    <c:v>ADQUISICIONES</c:v>
                  </c:pt>
                </c:lvl>
              </c:multiLvlStrCache>
            </c:multiLvlStrRef>
          </c:cat>
          <c:val>
            <c:numRef>
              <c:f>Sheet1!$C$2:$C$9</c:f>
              <c:numCache>
                <c:formatCode>General</c:formatCode>
                <c:ptCount val="8"/>
                <c:pt idx="0">
                  <c:v/>
                </c:pt>
                <c:pt idx="1">
                  <c:v/>
                </c:pt>
                <c:pt idx="2">
                  <c:v/>
                </c:pt>
                <c:pt idx="3">
                  <c:v/>
                </c:pt>
                <c:pt idx="4">
                  <c:v/>
                </c:pt>
                <c:pt idx="5">
                  <c:v>1</c:v>
                </c:pt>
                <c:pt idx="6">
                  <c:v/>
                </c:pt>
                <c:pt idx="7">
                  <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Especialidades con más hallazgos (8 de 12)</a:t>
            </a:r>
          </a:p>
        </c:rich>
      </c:tx>
      <c:layout/>
      <c:overlay val="0"/>
    </c:title>
    <c:autoTitleDeleted val="0"/>
    <c:plotArea>
      <c:layout/>
      <c:barChart>
        <c:barDir val="bar"/>
        <c:grouping val="stacked"/>
        <c:varyColors val="0"/>
        <c:ser>
          <c:idx val="0"/>
          <c:order val="0"/>
          <c:tx>
            <c:strRef>
              <c:f>Sheet1!$B$1</c:f>
              <c:strCache>
                <c:ptCount val="1"/>
                <c:pt idx="0">
                  <c:v>Cerrados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OO.CC</c:v>
                  </c:pt>
                  <c:pt idx="1">
                    <c:v>CALIDAD</c:v>
                  </c:pt>
                  <c:pt idx="2">
                    <c:v>PIPING</c:v>
                  </c:pt>
                  <c:pt idx="3">
                    <c:v>ELÉCTRICA</c:v>
                  </c:pt>
                  <c:pt idx="4">
                    <c:v>TOPOGRAFÍA</c:v>
                  </c:pt>
                  <c:pt idx="5">
                    <c:v>ESTRUCTURA</c:v>
                  </c:pt>
                  <c:pt idx="6">
                    <c:v>ADQUISICIONES</c:v>
                  </c:pt>
                  <c:pt idx="7">
                    <c:v>GENERAL</c:v>
                  </c:pt>
                </c:lvl>
              </c:multiLvlStrCache>
            </c:multiLvlStrRef>
          </c:cat>
          <c:val>
            <c:numRef>
              <c:f>Sheet1!$B$2:$B$9</c:f>
              <c:numCache>
                <c:formatCode>General</c:formatCode>
                <c:ptCount val="8"/>
                <c:pt idx="0">
                  <c:v>134</c:v>
                </c:pt>
                <c:pt idx="1">
                  <c:v>24</c:v>
                </c:pt>
                <c:pt idx="2">
                  <c:v>16</c:v>
                </c:pt>
                <c:pt idx="3">
                  <c:v>11</c:v>
                </c:pt>
                <c:pt idx="4">
                  <c:v>9</c:v>
                </c:pt>
                <c:pt idx="5">
                  <c:v>8</c:v>
                </c:pt>
                <c:pt idx="6">
                  <c:v>8</c:v>
                </c:pt>
                <c:pt idx="7">
                  <c:v>8</c:v>
                </c:pt>
              </c:numCache>
            </c:numRef>
          </c:val>
        </c:ser>
        <c:ser>
          <c:idx val="1"/>
          <c:order val="1"/>
          <c:tx>
            <c:strRef>
              <c:f>Sheet1!$C$1</c:f>
              <c:strCache>
                <c:ptCount val="1"/>
                <c:pt idx="0">
                  <c:v>Abiertos</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OO.CC</c:v>
                  </c:pt>
                  <c:pt idx="1">
                    <c:v>CALIDAD</c:v>
                  </c:pt>
                  <c:pt idx="2">
                    <c:v>PIPING</c:v>
                  </c:pt>
                  <c:pt idx="3">
                    <c:v>ELÉCTRICA</c:v>
                  </c:pt>
                  <c:pt idx="4">
                    <c:v>TOPOGRAFÍA</c:v>
                  </c:pt>
                  <c:pt idx="5">
                    <c:v>ESTRUCTURA</c:v>
                  </c:pt>
                  <c:pt idx="6">
                    <c:v>ADQUISICIONES</c:v>
                  </c:pt>
                  <c:pt idx="7">
                    <c:v>GENERAL</c:v>
                  </c:pt>
                </c:lvl>
              </c:multiLvlStrCache>
            </c:multiLvlStrRef>
          </c:cat>
          <c:val>
            <c:numRef>
              <c:f>Sheet1!$C$2:$C$9</c:f>
              <c:numCache>
                <c:formatCode>General</c:formatCode>
                <c:ptCount val="8"/>
                <c:pt idx="0">
                  <c:v>9</c:v>
                </c:pt>
                <c:pt idx="1">
                  <c:v>2</c:v>
                </c:pt>
                <c:pt idx="2">
                  <c:v/>
                </c:pt>
                <c:pt idx="3">
                  <c:v/>
                </c:pt>
                <c:pt idx="4">
                  <c:v/>
                </c:pt>
                <c:pt idx="5">
                  <c:v/>
                </c:pt>
                <c:pt idx="6">
                  <c:v/>
                </c:pt>
                <c:pt idx="7">
                  <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433"/>
                </a:solidFill>
                <a:latin typeface="Calibri"/>
              </a:defRPr>
            </a:pPr>
            <a:r>
              <a:rPr sz="1300" b="0" i="0" u="none" strike="noStrike">
                <a:solidFill>
                  <a:srgbClr val="1A2433"/>
                </a:solidFill>
                <a:latin typeface="Calibri"/>
              </a:rPr>
              <a:t>Especialidades con más hallazgos (8 de 18)</a:t>
            </a:r>
          </a:p>
        </c:rich>
      </c:tx>
      <c:layout/>
      <c:overlay val="0"/>
    </c:title>
    <c:autoTitleDeleted val="0"/>
    <c:plotArea>
      <c:layout/>
      <c:barChart>
        <c:barDir val="bar"/>
        <c:grouping val="stacked"/>
        <c:varyColors val="0"/>
        <c:ser>
          <c:idx val="0"/>
          <c:order val="0"/>
          <c:tx>
            <c:strRef>
              <c:f>Sheet1!$B$1</c:f>
              <c:strCache>
                <c:ptCount val="1"/>
                <c:pt idx="0">
                  <c:v>Cerrados</c:v>
                </c:pt>
              </c:strCache>
            </c:strRef>
          </c:tx>
          <c:spPr>
            <a:solidFill>
              <a:srgbClr val="2E6FB5"/>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Sin especialidad</c:v>
                  </c:pt>
                  <c:pt idx="1">
                    <c:v>EXPEDITORÍA</c:v>
                  </c:pt>
                  <c:pt idx="2">
                    <c:v>OO.CC</c:v>
                  </c:pt>
                  <c:pt idx="3">
                    <c:v>BODEGA</c:v>
                  </c:pt>
                  <c:pt idx="4">
                    <c:v>SUBCONTRATO</c:v>
                  </c:pt>
                  <c:pt idx="5">
                    <c:v>TOPOGRAFÍA</c:v>
                  </c:pt>
                  <c:pt idx="6">
                    <c:v>ESTRUCTURA</c:v>
                  </c:pt>
                  <c:pt idx="7">
                    <c:v>LOGÍSTICA</c:v>
                  </c:pt>
                </c:lvl>
              </c:multiLvlStrCache>
            </c:multiLvlStrRef>
          </c:cat>
          <c:val>
            <c:numRef>
              <c:f>Sheet1!$B$2:$B$9</c:f>
              <c:numCache>
                <c:formatCode>General</c:formatCode>
                <c:ptCount val="8"/>
                <c:pt idx="0">
                  <c:v>35</c:v>
                </c:pt>
                <c:pt idx="1">
                  <c:v>37</c:v>
                </c:pt>
                <c:pt idx="2">
                  <c:v>15</c:v>
                </c:pt>
                <c:pt idx="3">
                  <c:v>7</c:v>
                </c:pt>
                <c:pt idx="4">
                  <c:v>6</c:v>
                </c:pt>
                <c:pt idx="5">
                  <c:v>4</c:v>
                </c:pt>
                <c:pt idx="6">
                  <c:v>4</c:v>
                </c:pt>
                <c:pt idx="7">
                  <c:v>3</c:v>
                </c:pt>
              </c:numCache>
            </c:numRef>
          </c:val>
        </c:ser>
        <c:ser>
          <c:idx val="1"/>
          <c:order val="1"/>
          <c:tx>
            <c:strRef>
              <c:f>Sheet1!$C$1</c:f>
              <c:strCache>
                <c:ptCount val="1"/>
                <c:pt idx="0">
                  <c:v>Abiertos</c:v>
                </c:pt>
              </c:strCache>
            </c:strRef>
          </c:tx>
          <c:spPr>
            <a:solidFill>
              <a:srgbClr val="C0392B"/>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Sheet1!$A$2:$A$9</c:f>
              <c:multiLvlStrCache>
                <c:ptCount val="8"/>
                <c:lvl>
                  <c:pt idx="0">
                    <c:v>Sin especialidad</c:v>
                  </c:pt>
                  <c:pt idx="1">
                    <c:v>EXPEDITORÍA</c:v>
                  </c:pt>
                  <c:pt idx="2">
                    <c:v>OO.CC</c:v>
                  </c:pt>
                  <c:pt idx="3">
                    <c:v>BODEGA</c:v>
                  </c:pt>
                  <c:pt idx="4">
                    <c:v>SUBCONTRATO</c:v>
                  </c:pt>
                  <c:pt idx="5">
                    <c:v>TOPOGRAFÍA</c:v>
                  </c:pt>
                  <c:pt idx="6">
                    <c:v>ESTRUCTURA</c:v>
                  </c:pt>
                  <c:pt idx="7">
                    <c:v>LOGÍSTICA</c:v>
                  </c:pt>
                </c:lvl>
              </c:multiLvlStrCache>
            </c:multiLvlStrRef>
          </c:cat>
          <c:val>
            <c:numRef>
              <c:f>Sheet1!$C$2:$C$9</c:f>
              <c:numCache>
                <c:formatCode>General</c:formatCode>
                <c:ptCount val="8"/>
                <c:pt idx="0">
                  <c:v>36</c:v>
                </c:pt>
                <c:pt idx="1">
                  <c:v/>
                </c:pt>
                <c:pt idx="2">
                  <c:v>1</c:v>
                </c:pt>
                <c:pt idx="3">
                  <c:v/>
                </c:pt>
                <c:pt idx="4">
                  <c:v/>
                </c:pt>
                <c:pt idx="5">
                  <c:v/>
                </c:pt>
                <c:pt idx="6">
                  <c:v/>
                </c:pt>
                <c:pt idx="7">
                  <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1" i="0" u="none" strike="noStrike">
                <a:solidFill>
                  <a:srgbClr val="1A243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6E"/>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B"/>
        </a:solidFill>
      </p:bgPr>
    </p:bg>
    <p:spTree>
      <p:nvGrpSpPr>
        <p:cNvPr id="1" name=""/>
        <p:cNvGrpSpPr/>
        <p:nvPr/>
      </p:nvGrpSpPr>
      <p:grpSpPr>
        <a:xfrm>
          <a:off x="0" y="0"/>
          <a:ext cx="0" cy="0"/>
          <a:chOff x="0" y="0"/>
          <a:chExt cx="0" cy="0"/>
        </a:xfrm>
      </p:grpSpPr>
      <p:sp>
        <p:nvSpPr>
          <p:cNvPr id="2" name="Shape 0"/>
          <p:cNvSpPr/>
          <p:nvPr/>
        </p:nvSpPr>
        <p:spPr>
          <a:xfrm>
            <a:off x="10058400" y="-1463040"/>
            <a:ext cx="3840480" cy="3840480"/>
          </a:xfrm>
          <a:prstGeom prst="ellipse">
            <a:avLst/>
          </a:prstGeom>
          <a:solidFill>
            <a:srgbClr val="1B3252"/>
          </a:solidFill>
          <a:ln/>
        </p:spPr>
      </p:sp>
      <p:sp>
        <p:nvSpPr>
          <p:cNvPr id="3" name="Shape 1"/>
          <p:cNvSpPr/>
          <p:nvPr/>
        </p:nvSpPr>
        <p:spPr>
          <a:xfrm>
            <a:off x="11064240" y="4572000"/>
            <a:ext cx="2743200" cy="2743200"/>
          </a:xfrm>
          <a:prstGeom prst="ellipse">
            <a:avLst/>
          </a:prstGeom>
          <a:solidFill>
            <a:srgbClr val="1B3252"/>
          </a:solidFill>
          <a:ln/>
        </p:spPr>
      </p:sp>
      <p:pic>
        <p:nvPicPr>
          <p:cNvPr id="4" name="Image 0" descr="/workspace/dashboard-hseq/panel_control_TOP_P1/besalco_logo.png">    </p:cNvPr>
          <p:cNvPicPr>
            <a:picLocks noChangeAspect="1"/>
          </p:cNvPicPr>
          <p:nvPr/>
        </p:nvPicPr>
        <p:blipFill>
          <a:blip r:embed="rId1"/>
          <a:stretch>
            <a:fillRect/>
          </a:stretch>
        </p:blipFill>
        <p:spPr>
          <a:xfrm>
            <a:off x="8357616" y="420624"/>
            <a:ext cx="3547872" cy="768096"/>
          </a:xfrm>
          <a:prstGeom prst="rect">
            <a:avLst/>
          </a:prstGeom>
        </p:spPr>
      </p:pic>
      <p:sp>
        <p:nvSpPr>
          <p:cNvPr id="5" name="Shape 2"/>
          <p:cNvSpPr/>
          <p:nvPr/>
        </p:nvSpPr>
        <p:spPr>
          <a:xfrm>
            <a:off x="502920" y="1234440"/>
            <a:ext cx="201168" cy="201168"/>
          </a:xfrm>
          <a:prstGeom prst="ellipse">
            <a:avLst/>
          </a:prstGeom>
          <a:solidFill>
            <a:srgbClr val="C87A32"/>
          </a:solidFill>
          <a:ln/>
        </p:spPr>
      </p:sp>
      <p:sp>
        <p:nvSpPr>
          <p:cNvPr id="6" name="Text 3"/>
          <p:cNvSpPr/>
          <p:nvPr/>
        </p:nvSpPr>
        <p:spPr>
          <a:xfrm>
            <a:off x="777240" y="1097280"/>
            <a:ext cx="9144000" cy="365760"/>
          </a:xfrm>
          <a:prstGeom prst="rect">
            <a:avLst/>
          </a:prstGeom>
          <a:noFill/>
          <a:ln/>
        </p:spPr>
        <p:txBody>
          <a:bodyPr wrap="square" lIns="0" tIns="0" rIns="0" bIns="0" rtlCol="0" anchor="ctr"/>
          <a:lstStyle/>
          <a:p>
            <a:pPr indent="0" marL="0">
              <a:buNone/>
            </a:pPr>
            <a:r>
              <a:rPr lang="en-US" sz="1300" b="1" spc="300" kern="0" dirty="0">
                <a:solidFill>
                  <a:srgbClr val="E3A55B"/>
                </a:solidFill>
                <a:latin typeface="Calibri" pitchFamily="34" charset="0"/>
                <a:ea typeface="Calibri" pitchFamily="34" charset="-122"/>
                <a:cs typeface="Calibri" pitchFamily="34" charset="-120"/>
              </a:rPr>
              <a:t>GESTIÓN DE CALIDAD</a:t>
            </a:r>
            <a:endParaRPr lang="en-US" sz="1300" dirty="0"/>
          </a:p>
        </p:txBody>
      </p:sp>
      <p:sp>
        <p:nvSpPr>
          <p:cNvPr id="7" name="Text 4"/>
          <p:cNvSpPr/>
          <p:nvPr/>
        </p:nvSpPr>
        <p:spPr>
          <a:xfrm>
            <a:off x="749808" y="1572768"/>
            <a:ext cx="1060704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No Conformidades</a:t>
            </a:r>
            <a:endParaRPr lang="en-US" sz="4600" dirty="0"/>
          </a:p>
        </p:txBody>
      </p:sp>
      <p:sp>
        <p:nvSpPr>
          <p:cNvPr id="8" name="Text 5"/>
          <p:cNvSpPr/>
          <p:nvPr/>
        </p:nvSpPr>
        <p:spPr>
          <a:xfrm>
            <a:off x="777240" y="2651760"/>
            <a:ext cx="9601200"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Hallazgos de calidad y su corrección · 3 proyectos y Oficina Central</a:t>
            </a:r>
            <a:endParaRPr lang="en-US" sz="1600" dirty="0"/>
          </a:p>
        </p:txBody>
      </p:sp>
      <p:sp>
        <p:nvSpPr>
          <p:cNvPr id="9" name="Text 6"/>
          <p:cNvSpPr/>
          <p:nvPr/>
        </p:nvSpPr>
        <p:spPr>
          <a:xfrm>
            <a:off x="777240" y="3154680"/>
            <a:ext cx="8778240" cy="1371600"/>
          </a:xfrm>
          <a:prstGeom prst="rect">
            <a:avLst/>
          </a:prstGeom>
          <a:noFill/>
          <a:ln/>
        </p:spPr>
        <p:txBody>
          <a:bodyPr wrap="square" lIns="0" tIns="0" rIns="0" bIns="0" rtlCol="0" anchor="t"/>
          <a:lstStyle/>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498 hallazgos levantados entre 10-02-2023 y 11-08-2026 (Desaladora 82 · Talabre 244 · Arqueros 164 · Oficina Central 8).</a:t>
            </a:r>
            <a:endParaRPr lang="en-US" sz="1350" dirty="0"/>
          </a:p>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Estado de cierre · origen interno y externo · antigüedad de lo que sigue abierto · velocidad de corrección por frente.</a:t>
            </a:r>
            <a:endParaRPr lang="en-US" sz="1350" dirty="0"/>
          </a:p>
        </p:txBody>
      </p:sp>
      <p:sp>
        <p:nvSpPr>
          <p:cNvPr id="10" name="Text 7"/>
          <p:cNvSpPr/>
          <p:nvPr/>
        </p:nvSpPr>
        <p:spPr>
          <a:xfrm>
            <a:off x="7772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89,6%</a:t>
            </a:r>
            <a:endParaRPr lang="en-US" sz="3400" dirty="0"/>
          </a:p>
        </p:txBody>
      </p:sp>
      <p:sp>
        <p:nvSpPr>
          <p:cNvPr id="11" name="Text 8"/>
          <p:cNvSpPr/>
          <p:nvPr/>
        </p:nvSpPr>
        <p:spPr>
          <a:xfrm>
            <a:off x="7772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Hallazgos cerrados</a:t>
            </a:r>
            <a:endParaRPr lang="en-US" sz="1150" dirty="0"/>
          </a:p>
        </p:txBody>
      </p:sp>
      <p:sp>
        <p:nvSpPr>
          <p:cNvPr id="12" name="Text 9"/>
          <p:cNvSpPr/>
          <p:nvPr/>
        </p:nvSpPr>
        <p:spPr>
          <a:xfrm>
            <a:off x="35204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52</a:t>
            </a:r>
            <a:endParaRPr lang="en-US" sz="3400" dirty="0"/>
          </a:p>
        </p:txBody>
      </p:sp>
      <p:sp>
        <p:nvSpPr>
          <p:cNvPr id="13" name="Text 10"/>
          <p:cNvSpPr/>
          <p:nvPr/>
        </p:nvSpPr>
        <p:spPr>
          <a:xfrm>
            <a:off x="35204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Siguen abiertos</a:t>
            </a:r>
            <a:endParaRPr lang="en-US" sz="1150" dirty="0"/>
          </a:p>
        </p:txBody>
      </p:sp>
      <p:sp>
        <p:nvSpPr>
          <p:cNvPr id="14" name="Text 11"/>
          <p:cNvSpPr/>
          <p:nvPr/>
        </p:nvSpPr>
        <p:spPr>
          <a:xfrm>
            <a:off x="62636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30 d</a:t>
            </a:r>
            <a:endParaRPr lang="en-US" sz="3400" dirty="0"/>
          </a:p>
        </p:txBody>
      </p:sp>
      <p:sp>
        <p:nvSpPr>
          <p:cNvPr id="15" name="Text 12"/>
          <p:cNvSpPr/>
          <p:nvPr/>
        </p:nvSpPr>
        <p:spPr>
          <a:xfrm>
            <a:off x="62636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Mediana de cierre</a:t>
            </a:r>
            <a:endParaRPr lang="en-US" sz="1150" dirty="0"/>
          </a:p>
        </p:txBody>
      </p:sp>
      <p:sp>
        <p:nvSpPr>
          <p:cNvPr id="16" name="Text 13"/>
          <p:cNvSpPr/>
          <p:nvPr/>
        </p:nvSpPr>
        <p:spPr>
          <a:xfrm>
            <a:off x="90068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10.613</a:t>
            </a:r>
            <a:endParaRPr lang="en-US" sz="3400" dirty="0"/>
          </a:p>
        </p:txBody>
      </p:sp>
      <p:sp>
        <p:nvSpPr>
          <p:cNvPr id="17" name="Text 14"/>
          <p:cNvSpPr/>
          <p:nvPr/>
        </p:nvSpPr>
        <p:spPr>
          <a:xfrm>
            <a:off x="90068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UF declaradas</a:t>
            </a:r>
            <a:endParaRPr lang="en-US" sz="1150" dirty="0"/>
          </a:p>
        </p:txBody>
      </p:sp>
      <p:sp>
        <p:nvSpPr>
          <p:cNvPr id="18" name="Text 15"/>
          <p:cNvSpPr/>
          <p:nvPr/>
        </p:nvSpPr>
        <p:spPr>
          <a:xfrm>
            <a:off x="777240" y="6172200"/>
            <a:ext cx="7315200" cy="274320"/>
          </a:xfrm>
          <a:prstGeom prst="rect">
            <a:avLst/>
          </a:prstGeom>
          <a:noFill/>
          <a:ln/>
        </p:spPr>
        <p:txBody>
          <a:bodyPr wrap="square" lIns="0" tIns="0" rIns="0" bIns="0" rtlCol="0" anchor="ctr"/>
          <a:lstStyle/>
          <a:p>
            <a:pPr indent="0" marL="0">
              <a:buNone/>
            </a:pPr>
            <a:r>
              <a:rPr lang="en-US" sz="1100" i="1" dirty="0">
                <a:solidFill>
                  <a:srgbClr val="6E8CA8"/>
                </a:solidFill>
                <a:latin typeface="Calibri" pitchFamily="34" charset="0"/>
                <a:ea typeface="Calibri" pitchFamily="34" charset="-122"/>
                <a:cs typeface="Calibri" pitchFamily="34" charset="-120"/>
              </a:rPr>
              <a:t>Corte: 17-08-2026</a:t>
            </a:r>
            <a:endParaRPr lang="en-US" sz="1100" dirty="0"/>
          </a:p>
        </p:txBody>
      </p:sp>
      <p:sp>
        <p:nvSpPr>
          <p:cNvPr id="19" name="Text 16"/>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6E8CA8"/>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0" name="Text 1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6E8CA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RESUMEN EJECUTIVO</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Estado global de los cuatro frentes</a:t>
            </a:r>
            <a:endParaRPr lang="en-US" sz="3000" dirty="0"/>
          </a:p>
        </p:txBody>
      </p:sp>
      <p:sp>
        <p:nvSpPr>
          <p:cNvPr id="5" name="Shape 2"/>
          <p:cNvSpPr/>
          <p:nvPr/>
        </p:nvSpPr>
        <p:spPr>
          <a:xfrm>
            <a:off x="457200"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6" name="Shape 3"/>
          <p:cNvSpPr/>
          <p:nvPr/>
        </p:nvSpPr>
        <p:spPr>
          <a:xfrm>
            <a:off x="713232" y="1719072"/>
            <a:ext cx="146304" cy="146304"/>
          </a:xfrm>
          <a:prstGeom prst="ellipse">
            <a:avLst/>
          </a:prstGeom>
          <a:solidFill>
            <a:srgbClr val="2E6FB5"/>
          </a:solidFill>
          <a:ln/>
        </p:spPr>
      </p:sp>
      <p:sp>
        <p:nvSpPr>
          <p:cNvPr id="7" name="Text 4"/>
          <p:cNvSpPr/>
          <p:nvPr/>
        </p:nvSpPr>
        <p:spPr>
          <a:xfrm>
            <a:off x="713232" y="1938528"/>
            <a:ext cx="2286000" cy="749808"/>
          </a:xfrm>
          <a:prstGeom prst="rect">
            <a:avLst/>
          </a:prstGeom>
          <a:noFill/>
          <a:ln/>
        </p:spPr>
        <p:txBody>
          <a:bodyPr wrap="square" lIns="0" tIns="0" rIns="0" bIns="0" rtlCol="0" anchor="ctr"/>
          <a:lstStyle/>
          <a:p>
            <a:pPr indent="0" marL="0">
              <a:buNone/>
            </a:pPr>
            <a:r>
              <a:rPr lang="en-US" sz="4000" b="1" dirty="0">
                <a:solidFill>
                  <a:srgbClr val="2E6FB5"/>
                </a:solidFill>
                <a:latin typeface="Cambria" pitchFamily="34" charset="0"/>
                <a:ea typeface="Cambria" pitchFamily="34" charset="-122"/>
                <a:cs typeface="Cambria" pitchFamily="34" charset="-120"/>
              </a:rPr>
              <a:t>89,6%</a:t>
            </a:r>
            <a:endParaRPr lang="en-US" sz="4000" dirty="0"/>
          </a:p>
        </p:txBody>
      </p:sp>
      <p:sp>
        <p:nvSpPr>
          <p:cNvPr id="8" name="Text 5"/>
          <p:cNvSpPr/>
          <p:nvPr/>
        </p:nvSpPr>
        <p:spPr>
          <a:xfrm>
            <a:off x="731520"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446/498</a:t>
            </a:r>
            <a:endParaRPr lang="en-US" sz="1400" dirty="0"/>
          </a:p>
        </p:txBody>
      </p:sp>
      <p:sp>
        <p:nvSpPr>
          <p:cNvPr id="9" name="Text 6"/>
          <p:cNvSpPr/>
          <p:nvPr/>
        </p:nvSpPr>
        <p:spPr>
          <a:xfrm>
            <a:off x="731520"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Cierre de hallazgos</a:t>
            </a:r>
            <a:endParaRPr lang="en-US" sz="1200" dirty="0"/>
          </a:p>
        </p:txBody>
      </p:sp>
      <p:sp>
        <p:nvSpPr>
          <p:cNvPr id="10" name="Text 7"/>
          <p:cNvSpPr/>
          <p:nvPr/>
        </p:nvSpPr>
        <p:spPr>
          <a:xfrm>
            <a:off x="731520"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52 abiertos · 19 con más de 180 días</a:t>
            </a:r>
            <a:endParaRPr lang="en-US" sz="950" dirty="0"/>
          </a:p>
        </p:txBody>
      </p:sp>
      <p:sp>
        <p:nvSpPr>
          <p:cNvPr id="11" name="Shape 8"/>
          <p:cNvSpPr/>
          <p:nvPr/>
        </p:nvSpPr>
        <p:spPr>
          <a:xfrm>
            <a:off x="3319272"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2" name="Shape 9"/>
          <p:cNvSpPr/>
          <p:nvPr/>
        </p:nvSpPr>
        <p:spPr>
          <a:xfrm>
            <a:off x="3575304" y="1719072"/>
            <a:ext cx="146304" cy="146304"/>
          </a:xfrm>
          <a:prstGeom prst="ellipse">
            <a:avLst/>
          </a:prstGeom>
          <a:solidFill>
            <a:srgbClr val="C0392B"/>
          </a:solidFill>
          <a:ln/>
        </p:spPr>
      </p:sp>
      <p:sp>
        <p:nvSpPr>
          <p:cNvPr id="13" name="Text 10"/>
          <p:cNvSpPr/>
          <p:nvPr/>
        </p:nvSpPr>
        <p:spPr>
          <a:xfrm>
            <a:off x="3575304" y="1938528"/>
            <a:ext cx="2286000" cy="749808"/>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52</a:t>
            </a:r>
            <a:endParaRPr lang="en-US" sz="4000" dirty="0"/>
          </a:p>
        </p:txBody>
      </p:sp>
      <p:sp>
        <p:nvSpPr>
          <p:cNvPr id="14" name="Text 11"/>
          <p:cNvSpPr/>
          <p:nvPr/>
        </p:nvSpPr>
        <p:spPr>
          <a:xfrm>
            <a:off x="3593592"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de 498 levantados</a:t>
            </a:r>
            <a:endParaRPr lang="en-US" sz="1400" dirty="0"/>
          </a:p>
        </p:txBody>
      </p:sp>
      <p:sp>
        <p:nvSpPr>
          <p:cNvPr id="15" name="Text 12"/>
          <p:cNvSpPr/>
          <p:nvPr/>
        </p:nvSpPr>
        <p:spPr>
          <a:xfrm>
            <a:off x="3593592"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Hallazgos abiertos</a:t>
            </a:r>
            <a:endParaRPr lang="en-US" sz="1200" dirty="0"/>
          </a:p>
        </p:txBody>
      </p:sp>
      <p:sp>
        <p:nvSpPr>
          <p:cNvPr id="16" name="Text 13"/>
          <p:cNvSpPr/>
          <p:nvPr/>
        </p:nvSpPr>
        <p:spPr>
          <a:xfrm>
            <a:off x="3593592"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14 iniciado · 1 no aceptado · 26 listo para revisión · 10 stand by · 1 observada</a:t>
            </a:r>
            <a:endParaRPr lang="en-US" sz="950" dirty="0"/>
          </a:p>
        </p:txBody>
      </p:sp>
      <p:sp>
        <p:nvSpPr>
          <p:cNvPr id="17" name="Shape 14"/>
          <p:cNvSpPr/>
          <p:nvPr/>
        </p:nvSpPr>
        <p:spPr>
          <a:xfrm>
            <a:off x="6181344"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8" name="Shape 15"/>
          <p:cNvSpPr/>
          <p:nvPr/>
        </p:nvSpPr>
        <p:spPr>
          <a:xfrm>
            <a:off x="6437376" y="1719072"/>
            <a:ext cx="146304" cy="146304"/>
          </a:xfrm>
          <a:prstGeom prst="ellipse">
            <a:avLst/>
          </a:prstGeom>
          <a:solidFill>
            <a:srgbClr val="C87A32"/>
          </a:solidFill>
          <a:ln/>
        </p:spPr>
      </p:sp>
      <p:sp>
        <p:nvSpPr>
          <p:cNvPr id="19" name="Text 16"/>
          <p:cNvSpPr/>
          <p:nvPr/>
        </p:nvSpPr>
        <p:spPr>
          <a:xfrm>
            <a:off x="6437376" y="1938528"/>
            <a:ext cx="2286000" cy="749808"/>
          </a:xfrm>
          <a:prstGeom prst="rect">
            <a:avLst/>
          </a:prstGeom>
          <a:noFill/>
          <a:ln/>
        </p:spPr>
        <p:txBody>
          <a:bodyPr wrap="square" lIns="0" tIns="0" rIns="0" bIns="0" rtlCol="0" anchor="ctr"/>
          <a:lstStyle/>
          <a:p>
            <a:pPr indent="0" marL="0">
              <a:buNone/>
            </a:pPr>
            <a:r>
              <a:rPr lang="en-US" sz="4000" b="1" dirty="0">
                <a:solidFill>
                  <a:srgbClr val="C87A32"/>
                </a:solidFill>
                <a:latin typeface="Cambria" pitchFamily="34" charset="0"/>
                <a:ea typeface="Cambria" pitchFamily="34" charset="-122"/>
                <a:cs typeface="Cambria" pitchFamily="34" charset="-120"/>
              </a:rPr>
              <a:t>32,5%</a:t>
            </a:r>
            <a:endParaRPr lang="en-US" sz="4000" dirty="0"/>
          </a:p>
        </p:txBody>
      </p:sp>
      <p:sp>
        <p:nvSpPr>
          <p:cNvPr id="20" name="Text 17"/>
          <p:cNvSpPr/>
          <p:nvPr/>
        </p:nvSpPr>
        <p:spPr>
          <a:xfrm>
            <a:off x="6455664"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159/489 clasificados</a:t>
            </a:r>
            <a:endParaRPr lang="en-US" sz="1400" dirty="0"/>
          </a:p>
        </p:txBody>
      </p:sp>
      <p:sp>
        <p:nvSpPr>
          <p:cNvPr id="21" name="Text 18"/>
          <p:cNvSpPr/>
          <p:nvPr/>
        </p:nvSpPr>
        <p:spPr>
          <a:xfrm>
            <a:off x="6455664"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Autodetección</a:t>
            </a:r>
            <a:endParaRPr lang="en-US" sz="1200" dirty="0"/>
          </a:p>
        </p:txBody>
      </p:sp>
      <p:sp>
        <p:nvSpPr>
          <p:cNvPr id="22" name="Text 19"/>
          <p:cNvSpPr/>
          <p:nvPr/>
        </p:nvSpPr>
        <p:spPr>
          <a:xfrm>
            <a:off x="6455664"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Lo que levanta Besalco antes que el cliente o un subcontrato</a:t>
            </a:r>
            <a:endParaRPr lang="en-US" sz="950" dirty="0"/>
          </a:p>
        </p:txBody>
      </p:sp>
      <p:sp>
        <p:nvSpPr>
          <p:cNvPr id="23" name="Shape 20"/>
          <p:cNvSpPr/>
          <p:nvPr/>
        </p:nvSpPr>
        <p:spPr>
          <a:xfrm>
            <a:off x="9043416"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24" name="Shape 21"/>
          <p:cNvSpPr/>
          <p:nvPr/>
        </p:nvSpPr>
        <p:spPr>
          <a:xfrm>
            <a:off x="9299448" y="1719072"/>
            <a:ext cx="146304" cy="146304"/>
          </a:xfrm>
          <a:prstGeom prst="ellipse">
            <a:avLst/>
          </a:prstGeom>
          <a:solidFill>
            <a:srgbClr val="1F7A44"/>
          </a:solidFill>
          <a:ln/>
        </p:spPr>
      </p:sp>
      <p:sp>
        <p:nvSpPr>
          <p:cNvPr id="25" name="Text 22"/>
          <p:cNvSpPr/>
          <p:nvPr/>
        </p:nvSpPr>
        <p:spPr>
          <a:xfrm>
            <a:off x="9299448" y="1938528"/>
            <a:ext cx="2286000" cy="749808"/>
          </a:xfrm>
          <a:prstGeom prst="rect">
            <a:avLst/>
          </a:prstGeom>
          <a:noFill/>
          <a:ln/>
        </p:spPr>
        <p:txBody>
          <a:bodyPr wrap="square" lIns="0" tIns="0" rIns="0" bIns="0" rtlCol="0" anchor="ctr"/>
          <a:lstStyle/>
          <a:p>
            <a:pPr indent="0" marL="0">
              <a:buNone/>
            </a:pPr>
            <a:r>
              <a:rPr lang="en-US" sz="4000" b="1" dirty="0">
                <a:solidFill>
                  <a:srgbClr val="1F7A44"/>
                </a:solidFill>
                <a:latin typeface="Cambria" pitchFamily="34" charset="0"/>
                <a:ea typeface="Cambria" pitchFamily="34" charset="-122"/>
                <a:cs typeface="Cambria" pitchFamily="34" charset="-120"/>
              </a:rPr>
              <a:t>10.613</a:t>
            </a:r>
            <a:endParaRPr lang="en-US" sz="4000" dirty="0"/>
          </a:p>
        </p:txBody>
      </p:sp>
      <p:sp>
        <p:nvSpPr>
          <p:cNvPr id="26" name="Text 23"/>
          <p:cNvSpPr/>
          <p:nvPr/>
        </p:nvSpPr>
        <p:spPr>
          <a:xfrm>
            <a:off x="9317736"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251 de 498 con costo</a:t>
            </a:r>
            <a:endParaRPr lang="en-US" sz="1400" dirty="0"/>
          </a:p>
        </p:txBody>
      </p:sp>
      <p:sp>
        <p:nvSpPr>
          <p:cNvPr id="27" name="Text 24"/>
          <p:cNvSpPr/>
          <p:nvPr/>
        </p:nvSpPr>
        <p:spPr>
          <a:xfrm>
            <a:off x="9317736"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Costo declarado (UF)</a:t>
            </a:r>
            <a:endParaRPr lang="en-US" sz="1200" dirty="0"/>
          </a:p>
        </p:txBody>
      </p:sp>
      <p:sp>
        <p:nvSpPr>
          <p:cNvPr id="28" name="Text 25"/>
          <p:cNvSpPr/>
          <p:nvPr/>
        </p:nvSpPr>
        <p:spPr>
          <a:xfrm>
            <a:off x="9317736"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247 hallazgos no declaran costo: la cifra es un piso</a:t>
            </a:r>
            <a:endParaRPr lang="en-US" sz="950" dirty="0"/>
          </a:p>
        </p:txBody>
      </p:sp>
      <p:sp>
        <p:nvSpPr>
          <p:cNvPr id="29" name="Shape 26"/>
          <p:cNvSpPr/>
          <p:nvPr/>
        </p:nvSpPr>
        <p:spPr>
          <a:xfrm>
            <a:off x="457200" y="3931920"/>
            <a:ext cx="11274552" cy="2212848"/>
          </a:xfrm>
          <a:prstGeom prst="roundRect">
            <a:avLst>
              <a:gd name="adj" fmla="val 2479"/>
            </a:avLst>
          </a:prstGeom>
          <a:solidFill>
            <a:srgbClr val="12233B"/>
          </a:solidFill>
          <a:ln/>
        </p:spPr>
      </p:sp>
      <p:sp>
        <p:nvSpPr>
          <p:cNvPr id="30" name="Text 27"/>
          <p:cNvSpPr/>
          <p:nvPr/>
        </p:nvSpPr>
        <p:spPr>
          <a:xfrm>
            <a:off x="777240" y="4096512"/>
            <a:ext cx="5486400" cy="274320"/>
          </a:xfrm>
          <a:prstGeom prst="rect">
            <a:avLst/>
          </a:prstGeom>
          <a:noFill/>
          <a:ln/>
        </p:spPr>
        <p:txBody>
          <a:bodyPr wrap="square" lIns="0" tIns="0" rIns="0" bIns="0" rtlCol="0" anchor="ctr"/>
          <a:lstStyle/>
          <a:p>
            <a:pPr indent="0" marL="0">
              <a:buNone/>
            </a:pPr>
            <a:r>
              <a:rPr lang="en-US" sz="1100" b="1" spc="200" kern="0" dirty="0">
                <a:solidFill>
                  <a:srgbClr val="E3A55B"/>
                </a:solidFill>
                <a:latin typeface="Calibri" pitchFamily="34" charset="0"/>
                <a:ea typeface="Calibri" pitchFamily="34" charset="-122"/>
                <a:cs typeface="Calibri" pitchFamily="34" charset="-120"/>
              </a:rPr>
              <a:t>LECTURA DEL PERÍODO</a:t>
            </a:r>
            <a:endParaRPr lang="en-US" sz="1100" dirty="0"/>
          </a:p>
        </p:txBody>
      </p:sp>
      <p:sp>
        <p:nvSpPr>
          <p:cNvPr id="31" name="Shape 28"/>
          <p:cNvSpPr/>
          <p:nvPr/>
        </p:nvSpPr>
        <p:spPr>
          <a:xfrm>
            <a:off x="822960" y="4498848"/>
            <a:ext cx="109728" cy="109728"/>
          </a:xfrm>
          <a:prstGeom prst="ellipse">
            <a:avLst/>
          </a:prstGeom>
          <a:solidFill>
            <a:srgbClr val="C87A32"/>
          </a:solidFill>
          <a:ln/>
        </p:spPr>
      </p:sp>
      <p:sp>
        <p:nvSpPr>
          <p:cNvPr id="32" name="Text 29"/>
          <p:cNvSpPr/>
          <p:nvPr/>
        </p:nvSpPr>
        <p:spPr>
          <a:xfrm>
            <a:off x="1051560" y="4398264"/>
            <a:ext cx="10424160" cy="54864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Arqueros concentra el pendiente.  </a:t>
            </a:r>
            <a:pPr indent="0" marL="0">
              <a:lnSpc>
                <a:spcPts val="1600"/>
              </a:lnSpc>
              <a:buNone/>
            </a:pPr>
            <a:r>
              <a:rPr lang="en-US" sz="1250" dirty="0">
                <a:solidFill>
                  <a:srgbClr val="DCE6F0"/>
                </a:solidFill>
                <a:latin typeface="Calibri" pitchFamily="34" charset="0"/>
                <a:ea typeface="Calibri" pitchFamily="34" charset="-122"/>
                <a:cs typeface="Calibri" pitchFamily="34" charset="-120"/>
              </a:rPr>
              <a:t>37 de los 52 hallazgos abiertos (71,2%), y es uno de los frentes donde el cliente levanta más de lo que detecta Besalco (71 del cliente contra 53 internas).</a:t>
            </a:r>
            <a:endParaRPr lang="en-US" sz="1250" dirty="0"/>
          </a:p>
        </p:txBody>
      </p:sp>
      <p:sp>
        <p:nvSpPr>
          <p:cNvPr id="33" name="Shape 30"/>
          <p:cNvSpPr/>
          <p:nvPr/>
        </p:nvSpPr>
        <p:spPr>
          <a:xfrm>
            <a:off x="822960" y="5047488"/>
            <a:ext cx="109728" cy="109728"/>
          </a:xfrm>
          <a:prstGeom prst="ellipse">
            <a:avLst/>
          </a:prstGeom>
          <a:solidFill>
            <a:srgbClr val="C87A32"/>
          </a:solidFill>
          <a:ln/>
        </p:spPr>
      </p:sp>
      <p:sp>
        <p:nvSpPr>
          <p:cNvPr id="34" name="Text 31"/>
          <p:cNvSpPr/>
          <p:nvPr/>
        </p:nvSpPr>
        <p:spPr>
          <a:xfrm>
            <a:off x="1051560" y="4946904"/>
            <a:ext cx="10424160" cy="54864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La semana trajo 3 hallazgos nuevos, ninguno de autodetección.  </a:t>
            </a:r>
            <a:pPr indent="0" marL="0">
              <a:lnSpc>
                <a:spcPts val="1600"/>
              </a:lnSpc>
              <a:buNone/>
            </a:pPr>
            <a:r>
              <a:rPr lang="en-US" sz="1250" dirty="0">
                <a:solidFill>
                  <a:srgbClr val="DCE6F0"/>
                </a:solidFill>
                <a:latin typeface="Calibri" pitchFamily="34" charset="0"/>
                <a:ea typeface="Calibri" pitchFamily="34" charset="-122"/>
                <a:cs typeface="Calibri" pitchFamily="34" charset="-120"/>
              </a:rPr>
              <a:t>10-08-2026 al 16-08-2026: 3 del cliente en OO.CC (3). 2 siguen abiertos; la semana anterior entraron 1.</a:t>
            </a:r>
            <a:endParaRPr lang="en-US" sz="1250" dirty="0"/>
          </a:p>
        </p:txBody>
      </p:sp>
      <p:sp>
        <p:nvSpPr>
          <p:cNvPr id="35" name="Shape 32"/>
          <p:cNvSpPr/>
          <p:nvPr/>
        </p:nvSpPr>
        <p:spPr>
          <a:xfrm>
            <a:off x="822960" y="5596128"/>
            <a:ext cx="109728" cy="109728"/>
          </a:xfrm>
          <a:prstGeom prst="ellipse">
            <a:avLst/>
          </a:prstGeom>
          <a:solidFill>
            <a:srgbClr val="C87A32"/>
          </a:solidFill>
          <a:ln/>
        </p:spPr>
      </p:sp>
      <p:sp>
        <p:nvSpPr>
          <p:cNvPr id="36" name="Text 33"/>
          <p:cNvSpPr/>
          <p:nvPr/>
        </p:nvSpPr>
        <p:spPr>
          <a:xfrm>
            <a:off x="1051560" y="5495544"/>
            <a:ext cx="10424160" cy="54864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50 de los 52 abiertos están fuera del plazo de respuesta.  </a:t>
            </a:r>
            <a:pPr indent="0" marL="0">
              <a:lnSpc>
                <a:spcPts val="1600"/>
              </a:lnSpc>
              <a:buNone/>
            </a:pPr>
            <a:r>
              <a:rPr lang="en-US" sz="1250" dirty="0">
                <a:solidFill>
                  <a:srgbClr val="DCE6F0"/>
                </a:solidFill>
                <a:latin typeface="Calibri" pitchFamily="34" charset="0"/>
                <a:ea typeface="Calibri" pitchFamily="34" charset="-122"/>
                <a:cs typeface="Calibri" pitchFamily="34" charset="-120"/>
              </a:rPr>
              <a:t>El plazo es de 10 días desde que se emite la NC. De los atrasados, 19 llevan más de 180 días abiertos y 4 más de un año: no es atraso de días, es deuda vieja.</a:t>
            </a:r>
            <a:endParaRPr lang="en-US" sz="1250" dirty="0"/>
          </a:p>
        </p:txBody>
      </p:sp>
      <p:sp>
        <p:nvSpPr>
          <p:cNvPr id="37" name="Text 34"/>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38" name="Text 35"/>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39" name="Text 3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ESTADO POR FRENTE</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Semáforo de no conformidades</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Crítico si hay más de 15 abiertas o el cierre baja de 85% · Atención si hay más de 3 abiertas o el cierre queda bajo 95% · Al día en caso contrario.</a:t>
            </a:r>
            <a:endParaRPr lang="en-US" sz="1350" dirty="0"/>
          </a:p>
        </p:txBody>
      </p:sp>
      <p:sp>
        <p:nvSpPr>
          <p:cNvPr id="6" name="Text 3"/>
          <p:cNvSpPr/>
          <p:nvPr/>
        </p:nvSpPr>
        <p:spPr>
          <a:xfrm>
            <a:off x="502920" y="1920240"/>
            <a:ext cx="23774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FRENTE</a:t>
            </a:r>
            <a:endParaRPr lang="en-US" sz="950" dirty="0"/>
          </a:p>
        </p:txBody>
      </p:sp>
      <p:sp>
        <p:nvSpPr>
          <p:cNvPr id="7" name="Text 4"/>
          <p:cNvSpPr/>
          <p:nvPr/>
        </p:nvSpPr>
        <p:spPr>
          <a:xfrm>
            <a:off x="2971800" y="1920240"/>
            <a:ext cx="91440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LEVANTADOS</a:t>
            </a:r>
            <a:endParaRPr lang="en-US" sz="950" dirty="0"/>
          </a:p>
        </p:txBody>
      </p:sp>
      <p:sp>
        <p:nvSpPr>
          <p:cNvPr id="8" name="Text 5"/>
          <p:cNvSpPr/>
          <p:nvPr/>
        </p:nvSpPr>
        <p:spPr>
          <a:xfrm>
            <a:off x="3977640" y="1920240"/>
            <a:ext cx="8686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CERRADOS</a:t>
            </a:r>
            <a:endParaRPr lang="en-US" sz="950" dirty="0"/>
          </a:p>
        </p:txBody>
      </p:sp>
      <p:sp>
        <p:nvSpPr>
          <p:cNvPr id="9" name="Text 6"/>
          <p:cNvSpPr/>
          <p:nvPr/>
        </p:nvSpPr>
        <p:spPr>
          <a:xfrm>
            <a:off x="4937760" y="1920240"/>
            <a:ext cx="82296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ABIERTOS</a:t>
            </a:r>
            <a:endParaRPr lang="en-US" sz="950" dirty="0"/>
          </a:p>
        </p:txBody>
      </p:sp>
      <p:sp>
        <p:nvSpPr>
          <p:cNvPr id="10" name="Text 7"/>
          <p:cNvSpPr/>
          <p:nvPr/>
        </p:nvSpPr>
        <p:spPr>
          <a:xfrm>
            <a:off x="5852160" y="1920240"/>
            <a:ext cx="82296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 CIERRE</a:t>
            </a:r>
            <a:endParaRPr lang="en-US" sz="950" dirty="0"/>
          </a:p>
        </p:txBody>
      </p:sp>
      <p:sp>
        <p:nvSpPr>
          <p:cNvPr id="11" name="Text 8"/>
          <p:cNvSpPr/>
          <p:nvPr/>
        </p:nvSpPr>
        <p:spPr>
          <a:xfrm>
            <a:off x="6766560" y="1920240"/>
            <a:ext cx="82296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INTERNAS</a:t>
            </a:r>
            <a:endParaRPr lang="en-US" sz="950" dirty="0"/>
          </a:p>
        </p:txBody>
      </p:sp>
      <p:sp>
        <p:nvSpPr>
          <p:cNvPr id="12" name="Text 9"/>
          <p:cNvSpPr/>
          <p:nvPr/>
        </p:nvSpPr>
        <p:spPr>
          <a:xfrm>
            <a:off x="7680960" y="1920240"/>
            <a:ext cx="100584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DEL CLIENTE</a:t>
            </a:r>
            <a:endParaRPr lang="en-US" sz="950" dirty="0"/>
          </a:p>
        </p:txBody>
      </p:sp>
      <p:sp>
        <p:nvSpPr>
          <p:cNvPr id="13" name="Text 10"/>
          <p:cNvSpPr/>
          <p:nvPr/>
        </p:nvSpPr>
        <p:spPr>
          <a:xfrm>
            <a:off x="8778240" y="1920240"/>
            <a:ext cx="100584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DE SUBCONTR.</a:t>
            </a:r>
            <a:endParaRPr lang="en-US" sz="950" dirty="0"/>
          </a:p>
        </p:txBody>
      </p:sp>
      <p:sp>
        <p:nvSpPr>
          <p:cNvPr id="14" name="Text 11"/>
          <p:cNvSpPr/>
          <p:nvPr/>
        </p:nvSpPr>
        <p:spPr>
          <a:xfrm>
            <a:off x="9875520" y="1920240"/>
            <a:ext cx="91440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COSTO UF</a:t>
            </a:r>
            <a:endParaRPr lang="en-US" sz="950" dirty="0"/>
          </a:p>
        </p:txBody>
      </p:sp>
      <p:sp>
        <p:nvSpPr>
          <p:cNvPr id="15" name="Text 12"/>
          <p:cNvSpPr/>
          <p:nvPr/>
        </p:nvSpPr>
        <p:spPr>
          <a:xfrm>
            <a:off x="10927080" y="1920240"/>
            <a:ext cx="914400" cy="274320"/>
          </a:xfrm>
          <a:prstGeom prst="rect">
            <a:avLst/>
          </a:prstGeom>
          <a:noFill/>
          <a:ln/>
        </p:spPr>
        <p:txBody>
          <a:bodyPr wrap="square" lIns="0" tIns="0" rIns="0" bIns="0" rtlCol="0" anchor="ctr"/>
          <a:lstStyle/>
          <a:p>
            <a:pPr algn="ctr" indent="0" marL="0">
              <a:buNone/>
            </a:pPr>
            <a:r>
              <a:rPr lang="en-US" sz="950" b="1" spc="50" kern="0" dirty="0">
                <a:solidFill>
                  <a:srgbClr val="56606E"/>
                </a:solidFill>
                <a:latin typeface="Calibri" pitchFamily="34" charset="0"/>
                <a:ea typeface="Calibri" pitchFamily="34" charset="-122"/>
                <a:cs typeface="Calibri" pitchFamily="34" charset="-120"/>
              </a:rPr>
              <a:t>ESTADO</a:t>
            </a:r>
            <a:endParaRPr lang="en-US" sz="950" dirty="0"/>
          </a:p>
        </p:txBody>
      </p:sp>
      <p:sp>
        <p:nvSpPr>
          <p:cNvPr id="16" name="Shape 13"/>
          <p:cNvSpPr/>
          <p:nvPr/>
        </p:nvSpPr>
        <p:spPr>
          <a:xfrm>
            <a:off x="502920" y="2231136"/>
            <a:ext cx="11247120" cy="0"/>
          </a:xfrm>
          <a:prstGeom prst="line">
            <a:avLst/>
          </a:prstGeom>
          <a:noFill/>
          <a:ln w="12700">
            <a:solidFill>
              <a:srgbClr val="6E8CA8"/>
            </a:solidFill>
            <a:prstDash val="solid"/>
          </a:ln>
        </p:spPr>
      </p:sp>
      <p:sp>
        <p:nvSpPr>
          <p:cNvPr id="17" name="Text 14"/>
          <p:cNvSpPr/>
          <p:nvPr/>
        </p:nvSpPr>
        <p:spPr>
          <a:xfrm>
            <a:off x="502920" y="2359152"/>
            <a:ext cx="233172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Desaladora</a:t>
            </a:r>
            <a:endParaRPr lang="en-US" sz="1400" dirty="0"/>
          </a:p>
        </p:txBody>
      </p:sp>
      <p:sp>
        <p:nvSpPr>
          <p:cNvPr id="18" name="Text 15"/>
          <p:cNvSpPr/>
          <p:nvPr/>
        </p:nvSpPr>
        <p:spPr>
          <a:xfrm>
            <a:off x="502920" y="2660904"/>
            <a:ext cx="2377440" cy="256032"/>
          </a:xfrm>
          <a:prstGeom prst="rect">
            <a:avLst/>
          </a:prstGeom>
          <a:noFill/>
          <a:ln/>
        </p:spPr>
        <p:txBody>
          <a:bodyPr wrap="square" lIns="0" tIns="0" rIns="0" bIns="0" rtlCol="0" anchor="ctr"/>
          <a:lstStyle/>
          <a:p>
            <a:pPr indent="0" marL="0">
              <a:buNone/>
            </a:pPr>
            <a:r>
              <a:rPr lang="en-US" sz="950" dirty="0">
                <a:solidFill>
                  <a:srgbClr val="56606E"/>
                </a:solidFill>
                <a:latin typeface="Calibri" pitchFamily="34" charset="0"/>
                <a:ea typeface="Calibri" pitchFamily="34" charset="-122"/>
                <a:cs typeface="Calibri" pitchFamily="34" charset="-120"/>
              </a:rPr>
              <a:t>ANTOFAGASTA MINERALS</a:t>
            </a:r>
            <a:endParaRPr lang="en-US" sz="950" dirty="0"/>
          </a:p>
        </p:txBody>
      </p:sp>
      <p:sp>
        <p:nvSpPr>
          <p:cNvPr id="19" name="Text 16"/>
          <p:cNvSpPr/>
          <p:nvPr/>
        </p:nvSpPr>
        <p:spPr>
          <a:xfrm>
            <a:off x="2971800" y="2432304"/>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82</a:t>
            </a:r>
            <a:endParaRPr lang="en-US" sz="1300" dirty="0"/>
          </a:p>
        </p:txBody>
      </p:sp>
      <p:sp>
        <p:nvSpPr>
          <p:cNvPr id="20" name="Text 17"/>
          <p:cNvSpPr/>
          <p:nvPr/>
        </p:nvSpPr>
        <p:spPr>
          <a:xfrm>
            <a:off x="3977640" y="2432304"/>
            <a:ext cx="86868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81</a:t>
            </a:r>
            <a:endParaRPr lang="en-US" sz="1300" dirty="0"/>
          </a:p>
        </p:txBody>
      </p:sp>
      <p:sp>
        <p:nvSpPr>
          <p:cNvPr id="21" name="Text 18"/>
          <p:cNvSpPr/>
          <p:nvPr/>
        </p:nvSpPr>
        <p:spPr>
          <a:xfrm>
            <a:off x="4937760" y="2432304"/>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a:t>
            </a:r>
            <a:endParaRPr lang="en-US" sz="1300" dirty="0"/>
          </a:p>
        </p:txBody>
      </p:sp>
      <p:sp>
        <p:nvSpPr>
          <p:cNvPr id="22" name="Text 19"/>
          <p:cNvSpPr/>
          <p:nvPr/>
        </p:nvSpPr>
        <p:spPr>
          <a:xfrm>
            <a:off x="5852160" y="2432304"/>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98,8%</a:t>
            </a:r>
            <a:endParaRPr lang="en-US" sz="1300" dirty="0"/>
          </a:p>
        </p:txBody>
      </p:sp>
      <p:sp>
        <p:nvSpPr>
          <p:cNvPr id="23" name="Text 20"/>
          <p:cNvSpPr/>
          <p:nvPr/>
        </p:nvSpPr>
        <p:spPr>
          <a:xfrm>
            <a:off x="6766560" y="2432304"/>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54</a:t>
            </a:r>
            <a:endParaRPr lang="en-US" sz="1300" dirty="0"/>
          </a:p>
        </p:txBody>
      </p:sp>
      <p:sp>
        <p:nvSpPr>
          <p:cNvPr id="24" name="Text 21"/>
          <p:cNvSpPr/>
          <p:nvPr/>
        </p:nvSpPr>
        <p:spPr>
          <a:xfrm>
            <a:off x="7680960" y="2432304"/>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19</a:t>
            </a:r>
            <a:endParaRPr lang="en-US" sz="1300" dirty="0"/>
          </a:p>
        </p:txBody>
      </p:sp>
      <p:sp>
        <p:nvSpPr>
          <p:cNvPr id="25" name="Text 22"/>
          <p:cNvSpPr/>
          <p:nvPr/>
        </p:nvSpPr>
        <p:spPr>
          <a:xfrm>
            <a:off x="8778240" y="2432304"/>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8</a:t>
            </a:r>
            <a:endParaRPr lang="en-US" sz="1300" dirty="0"/>
          </a:p>
        </p:txBody>
      </p:sp>
      <p:sp>
        <p:nvSpPr>
          <p:cNvPr id="26" name="Text 23"/>
          <p:cNvSpPr/>
          <p:nvPr/>
        </p:nvSpPr>
        <p:spPr>
          <a:xfrm>
            <a:off x="9875520" y="2432304"/>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1.403</a:t>
            </a:r>
            <a:endParaRPr lang="en-US" sz="1300" dirty="0"/>
          </a:p>
        </p:txBody>
      </p:sp>
      <p:sp>
        <p:nvSpPr>
          <p:cNvPr id="27" name="Shape 24"/>
          <p:cNvSpPr/>
          <p:nvPr/>
        </p:nvSpPr>
        <p:spPr>
          <a:xfrm>
            <a:off x="10927080" y="2450592"/>
            <a:ext cx="914400" cy="365760"/>
          </a:xfrm>
          <a:prstGeom prst="roundRect">
            <a:avLst>
              <a:gd name="adj" fmla="val 50000"/>
            </a:avLst>
          </a:prstGeom>
          <a:solidFill>
            <a:srgbClr val="2E9E5B"/>
          </a:solidFill>
          <a:ln/>
        </p:spPr>
      </p:sp>
      <p:sp>
        <p:nvSpPr>
          <p:cNvPr id="28" name="Text 25"/>
          <p:cNvSpPr/>
          <p:nvPr/>
        </p:nvSpPr>
        <p:spPr>
          <a:xfrm>
            <a:off x="10927080" y="2459736"/>
            <a:ext cx="914400"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Al día</a:t>
            </a:r>
            <a:endParaRPr lang="en-US" sz="1050" dirty="0"/>
          </a:p>
        </p:txBody>
      </p:sp>
      <p:sp>
        <p:nvSpPr>
          <p:cNvPr id="29" name="Shape 26"/>
          <p:cNvSpPr/>
          <p:nvPr/>
        </p:nvSpPr>
        <p:spPr>
          <a:xfrm>
            <a:off x="502920" y="3063240"/>
            <a:ext cx="11247120" cy="0"/>
          </a:xfrm>
          <a:prstGeom prst="line">
            <a:avLst/>
          </a:prstGeom>
          <a:noFill/>
          <a:ln w="9525">
            <a:solidFill>
              <a:srgbClr val="D9DFE6"/>
            </a:solidFill>
            <a:prstDash val="solid"/>
          </a:ln>
        </p:spPr>
      </p:sp>
      <p:sp>
        <p:nvSpPr>
          <p:cNvPr id="30" name="Shape 27"/>
          <p:cNvSpPr/>
          <p:nvPr/>
        </p:nvSpPr>
        <p:spPr>
          <a:xfrm>
            <a:off x="457200" y="3063240"/>
            <a:ext cx="11292840" cy="749808"/>
          </a:xfrm>
          <a:prstGeom prst="rect">
            <a:avLst/>
          </a:prstGeom>
          <a:solidFill>
            <a:srgbClr val="FFFFFF"/>
          </a:solidFill>
          <a:ln/>
        </p:spPr>
      </p:sp>
      <p:sp>
        <p:nvSpPr>
          <p:cNvPr id="31" name="Text 28"/>
          <p:cNvSpPr/>
          <p:nvPr/>
        </p:nvSpPr>
        <p:spPr>
          <a:xfrm>
            <a:off x="502920" y="3108960"/>
            <a:ext cx="233172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Talabre</a:t>
            </a:r>
            <a:endParaRPr lang="en-US" sz="1400" dirty="0"/>
          </a:p>
        </p:txBody>
      </p:sp>
      <p:sp>
        <p:nvSpPr>
          <p:cNvPr id="32" name="Text 29"/>
          <p:cNvSpPr/>
          <p:nvPr/>
        </p:nvSpPr>
        <p:spPr>
          <a:xfrm>
            <a:off x="502920" y="3410712"/>
            <a:ext cx="2377440" cy="256032"/>
          </a:xfrm>
          <a:prstGeom prst="rect">
            <a:avLst/>
          </a:prstGeom>
          <a:noFill/>
          <a:ln/>
        </p:spPr>
        <p:txBody>
          <a:bodyPr wrap="square" lIns="0" tIns="0" rIns="0" bIns="0" rtlCol="0" anchor="ctr"/>
          <a:lstStyle/>
          <a:p>
            <a:pPr indent="0" marL="0">
              <a:buNone/>
            </a:pPr>
            <a:r>
              <a:rPr lang="en-US" sz="950" dirty="0">
                <a:solidFill>
                  <a:srgbClr val="56606E"/>
                </a:solidFill>
                <a:latin typeface="Calibri" pitchFamily="34" charset="0"/>
                <a:ea typeface="Calibri" pitchFamily="34" charset="-122"/>
                <a:cs typeface="Calibri" pitchFamily="34" charset="-120"/>
              </a:rPr>
              <a:t>CODELCO</a:t>
            </a:r>
            <a:endParaRPr lang="en-US" sz="950" dirty="0"/>
          </a:p>
        </p:txBody>
      </p:sp>
      <p:sp>
        <p:nvSpPr>
          <p:cNvPr id="33" name="Text 30"/>
          <p:cNvSpPr/>
          <p:nvPr/>
        </p:nvSpPr>
        <p:spPr>
          <a:xfrm>
            <a:off x="2971800" y="3182112"/>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244</a:t>
            </a:r>
            <a:endParaRPr lang="en-US" sz="1300" dirty="0"/>
          </a:p>
        </p:txBody>
      </p:sp>
      <p:sp>
        <p:nvSpPr>
          <p:cNvPr id="34" name="Text 31"/>
          <p:cNvSpPr/>
          <p:nvPr/>
        </p:nvSpPr>
        <p:spPr>
          <a:xfrm>
            <a:off x="3977640" y="3182112"/>
            <a:ext cx="86868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230</a:t>
            </a:r>
            <a:endParaRPr lang="en-US" sz="1300" dirty="0"/>
          </a:p>
        </p:txBody>
      </p:sp>
      <p:sp>
        <p:nvSpPr>
          <p:cNvPr id="35" name="Text 32"/>
          <p:cNvSpPr/>
          <p:nvPr/>
        </p:nvSpPr>
        <p:spPr>
          <a:xfrm>
            <a:off x="4937760" y="3182112"/>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14</a:t>
            </a:r>
            <a:endParaRPr lang="en-US" sz="1300" dirty="0"/>
          </a:p>
        </p:txBody>
      </p:sp>
      <p:sp>
        <p:nvSpPr>
          <p:cNvPr id="36" name="Text 33"/>
          <p:cNvSpPr/>
          <p:nvPr/>
        </p:nvSpPr>
        <p:spPr>
          <a:xfrm>
            <a:off x="5852160" y="3182112"/>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94,3%</a:t>
            </a:r>
            <a:endParaRPr lang="en-US" sz="1300" dirty="0"/>
          </a:p>
        </p:txBody>
      </p:sp>
      <p:sp>
        <p:nvSpPr>
          <p:cNvPr id="37" name="Text 34"/>
          <p:cNvSpPr/>
          <p:nvPr/>
        </p:nvSpPr>
        <p:spPr>
          <a:xfrm>
            <a:off x="6766560" y="3182112"/>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52</a:t>
            </a:r>
            <a:endParaRPr lang="en-US" sz="1300" dirty="0"/>
          </a:p>
        </p:txBody>
      </p:sp>
      <p:sp>
        <p:nvSpPr>
          <p:cNvPr id="38" name="Text 35"/>
          <p:cNvSpPr/>
          <p:nvPr/>
        </p:nvSpPr>
        <p:spPr>
          <a:xfrm>
            <a:off x="7680960" y="3182112"/>
            <a:ext cx="1005840" cy="365760"/>
          </a:xfrm>
          <a:prstGeom prst="rect">
            <a:avLst/>
          </a:prstGeom>
          <a:noFill/>
          <a:ln/>
        </p:spPr>
        <p:txBody>
          <a:bodyPr wrap="square" lIns="0" tIns="0" rIns="0" bIns="0" rtlCol="0" anchor="ctr"/>
          <a:lstStyle/>
          <a:p>
            <a:pPr algn="r" indent="0" marL="0">
              <a:buNone/>
            </a:pPr>
            <a:r>
              <a:rPr lang="en-US" sz="1300" dirty="0">
                <a:solidFill>
                  <a:srgbClr val="C87A32"/>
                </a:solidFill>
                <a:latin typeface="Calibri" pitchFamily="34" charset="0"/>
                <a:ea typeface="Calibri" pitchFamily="34" charset="-122"/>
                <a:cs typeface="Calibri" pitchFamily="34" charset="-120"/>
              </a:rPr>
              <a:t>192</a:t>
            </a:r>
            <a:endParaRPr lang="en-US" sz="1300" dirty="0"/>
          </a:p>
        </p:txBody>
      </p:sp>
      <p:sp>
        <p:nvSpPr>
          <p:cNvPr id="39" name="Text 36"/>
          <p:cNvSpPr/>
          <p:nvPr/>
        </p:nvSpPr>
        <p:spPr>
          <a:xfrm>
            <a:off x="8778240" y="3182112"/>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40" name="Text 37"/>
          <p:cNvSpPr/>
          <p:nvPr/>
        </p:nvSpPr>
        <p:spPr>
          <a:xfrm>
            <a:off x="9875520" y="3182112"/>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5.818</a:t>
            </a:r>
            <a:endParaRPr lang="en-US" sz="1300" dirty="0"/>
          </a:p>
        </p:txBody>
      </p:sp>
      <p:sp>
        <p:nvSpPr>
          <p:cNvPr id="41" name="Shape 38"/>
          <p:cNvSpPr/>
          <p:nvPr/>
        </p:nvSpPr>
        <p:spPr>
          <a:xfrm>
            <a:off x="10927080" y="3200400"/>
            <a:ext cx="914400" cy="365760"/>
          </a:xfrm>
          <a:prstGeom prst="roundRect">
            <a:avLst>
              <a:gd name="adj" fmla="val 50000"/>
            </a:avLst>
          </a:prstGeom>
          <a:solidFill>
            <a:srgbClr val="E0A32E"/>
          </a:solidFill>
          <a:ln/>
        </p:spPr>
      </p:sp>
      <p:sp>
        <p:nvSpPr>
          <p:cNvPr id="42" name="Text 39"/>
          <p:cNvSpPr/>
          <p:nvPr/>
        </p:nvSpPr>
        <p:spPr>
          <a:xfrm>
            <a:off x="10927080" y="3209544"/>
            <a:ext cx="914400"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Atención</a:t>
            </a:r>
            <a:endParaRPr lang="en-US" sz="1050" dirty="0"/>
          </a:p>
        </p:txBody>
      </p:sp>
      <p:sp>
        <p:nvSpPr>
          <p:cNvPr id="43" name="Shape 40"/>
          <p:cNvSpPr/>
          <p:nvPr/>
        </p:nvSpPr>
        <p:spPr>
          <a:xfrm>
            <a:off x="502920" y="3813048"/>
            <a:ext cx="11247120" cy="0"/>
          </a:xfrm>
          <a:prstGeom prst="line">
            <a:avLst/>
          </a:prstGeom>
          <a:noFill/>
          <a:ln w="9525">
            <a:solidFill>
              <a:srgbClr val="D9DFE6"/>
            </a:solidFill>
            <a:prstDash val="solid"/>
          </a:ln>
        </p:spPr>
      </p:sp>
      <p:sp>
        <p:nvSpPr>
          <p:cNvPr id="44" name="Text 41"/>
          <p:cNvSpPr/>
          <p:nvPr/>
        </p:nvSpPr>
        <p:spPr>
          <a:xfrm>
            <a:off x="502920" y="3858768"/>
            <a:ext cx="233172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Arqueros</a:t>
            </a:r>
            <a:endParaRPr lang="en-US" sz="1400" dirty="0"/>
          </a:p>
        </p:txBody>
      </p:sp>
      <p:sp>
        <p:nvSpPr>
          <p:cNvPr id="45" name="Text 42"/>
          <p:cNvSpPr/>
          <p:nvPr/>
        </p:nvSpPr>
        <p:spPr>
          <a:xfrm>
            <a:off x="502920" y="4160520"/>
            <a:ext cx="2377440" cy="256032"/>
          </a:xfrm>
          <a:prstGeom prst="rect">
            <a:avLst/>
          </a:prstGeom>
          <a:noFill/>
          <a:ln/>
        </p:spPr>
        <p:txBody>
          <a:bodyPr wrap="square" lIns="0" tIns="0" rIns="0" bIns="0" rtlCol="0" anchor="ctr"/>
          <a:lstStyle/>
          <a:p>
            <a:pPr indent="0" marL="0">
              <a:buNone/>
            </a:pPr>
            <a:r>
              <a:rPr lang="en-US" sz="950" dirty="0">
                <a:solidFill>
                  <a:srgbClr val="56606E"/>
                </a:solidFill>
                <a:latin typeface="Calibri" pitchFamily="34" charset="0"/>
                <a:ea typeface="Calibri" pitchFamily="34" charset="-122"/>
                <a:cs typeface="Calibri" pitchFamily="34" charset="-120"/>
              </a:rPr>
              <a:t>MASA</a:t>
            </a:r>
            <a:endParaRPr lang="en-US" sz="950" dirty="0"/>
          </a:p>
        </p:txBody>
      </p:sp>
      <p:sp>
        <p:nvSpPr>
          <p:cNvPr id="46" name="Text 43"/>
          <p:cNvSpPr/>
          <p:nvPr/>
        </p:nvSpPr>
        <p:spPr>
          <a:xfrm>
            <a:off x="2971800" y="3931920"/>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164</a:t>
            </a:r>
            <a:endParaRPr lang="en-US" sz="1300" dirty="0"/>
          </a:p>
        </p:txBody>
      </p:sp>
      <p:sp>
        <p:nvSpPr>
          <p:cNvPr id="47" name="Text 44"/>
          <p:cNvSpPr/>
          <p:nvPr/>
        </p:nvSpPr>
        <p:spPr>
          <a:xfrm>
            <a:off x="3977640" y="3931920"/>
            <a:ext cx="86868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127</a:t>
            </a:r>
            <a:endParaRPr lang="en-US" sz="1300" dirty="0"/>
          </a:p>
        </p:txBody>
      </p:sp>
      <p:sp>
        <p:nvSpPr>
          <p:cNvPr id="48" name="Text 45"/>
          <p:cNvSpPr/>
          <p:nvPr/>
        </p:nvSpPr>
        <p:spPr>
          <a:xfrm>
            <a:off x="4937760" y="3931920"/>
            <a:ext cx="822960" cy="365760"/>
          </a:xfrm>
          <a:prstGeom prst="rect">
            <a:avLst/>
          </a:prstGeom>
          <a:noFill/>
          <a:ln/>
        </p:spPr>
        <p:txBody>
          <a:bodyPr wrap="square" lIns="0" tIns="0" rIns="0" bIns="0" rtlCol="0" anchor="ctr"/>
          <a:lstStyle/>
          <a:p>
            <a:pPr algn="r" indent="0" marL="0">
              <a:buNone/>
            </a:pPr>
            <a:r>
              <a:rPr lang="en-US" sz="1300" dirty="0">
                <a:solidFill>
                  <a:srgbClr val="C0392B"/>
                </a:solidFill>
                <a:latin typeface="Calibri" pitchFamily="34" charset="0"/>
                <a:ea typeface="Calibri" pitchFamily="34" charset="-122"/>
                <a:cs typeface="Calibri" pitchFamily="34" charset="-120"/>
              </a:rPr>
              <a:t>37</a:t>
            </a:r>
            <a:endParaRPr lang="en-US" sz="1300" dirty="0"/>
          </a:p>
        </p:txBody>
      </p:sp>
      <p:sp>
        <p:nvSpPr>
          <p:cNvPr id="49" name="Text 46"/>
          <p:cNvSpPr/>
          <p:nvPr/>
        </p:nvSpPr>
        <p:spPr>
          <a:xfrm>
            <a:off x="5852160" y="3931920"/>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77,4%</a:t>
            </a:r>
            <a:endParaRPr lang="en-US" sz="1300" dirty="0"/>
          </a:p>
        </p:txBody>
      </p:sp>
      <p:sp>
        <p:nvSpPr>
          <p:cNvPr id="50" name="Text 47"/>
          <p:cNvSpPr/>
          <p:nvPr/>
        </p:nvSpPr>
        <p:spPr>
          <a:xfrm>
            <a:off x="6766560" y="3931920"/>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53</a:t>
            </a:r>
            <a:endParaRPr lang="en-US" sz="1300" dirty="0"/>
          </a:p>
        </p:txBody>
      </p:sp>
      <p:sp>
        <p:nvSpPr>
          <p:cNvPr id="51" name="Text 48"/>
          <p:cNvSpPr/>
          <p:nvPr/>
        </p:nvSpPr>
        <p:spPr>
          <a:xfrm>
            <a:off x="7680960" y="3931920"/>
            <a:ext cx="1005840" cy="365760"/>
          </a:xfrm>
          <a:prstGeom prst="rect">
            <a:avLst/>
          </a:prstGeom>
          <a:noFill/>
          <a:ln/>
        </p:spPr>
        <p:txBody>
          <a:bodyPr wrap="square" lIns="0" tIns="0" rIns="0" bIns="0" rtlCol="0" anchor="ctr"/>
          <a:lstStyle/>
          <a:p>
            <a:pPr algn="r" indent="0" marL="0">
              <a:buNone/>
            </a:pPr>
            <a:r>
              <a:rPr lang="en-US" sz="1300" dirty="0">
                <a:solidFill>
                  <a:srgbClr val="C87A32"/>
                </a:solidFill>
                <a:latin typeface="Calibri" pitchFamily="34" charset="0"/>
                <a:ea typeface="Calibri" pitchFamily="34" charset="-122"/>
                <a:cs typeface="Calibri" pitchFamily="34" charset="-120"/>
              </a:rPr>
              <a:t>71</a:t>
            </a:r>
            <a:endParaRPr lang="en-US" sz="1300" dirty="0"/>
          </a:p>
        </p:txBody>
      </p:sp>
      <p:sp>
        <p:nvSpPr>
          <p:cNvPr id="52" name="Text 49"/>
          <p:cNvSpPr/>
          <p:nvPr/>
        </p:nvSpPr>
        <p:spPr>
          <a:xfrm>
            <a:off x="8778240" y="3931920"/>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40</a:t>
            </a:r>
            <a:endParaRPr lang="en-US" sz="1300" dirty="0"/>
          </a:p>
        </p:txBody>
      </p:sp>
      <p:sp>
        <p:nvSpPr>
          <p:cNvPr id="53" name="Text 50"/>
          <p:cNvSpPr/>
          <p:nvPr/>
        </p:nvSpPr>
        <p:spPr>
          <a:xfrm>
            <a:off x="9875520" y="3931920"/>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3.392</a:t>
            </a:r>
            <a:endParaRPr lang="en-US" sz="1300" dirty="0"/>
          </a:p>
        </p:txBody>
      </p:sp>
      <p:sp>
        <p:nvSpPr>
          <p:cNvPr id="54" name="Shape 51"/>
          <p:cNvSpPr/>
          <p:nvPr/>
        </p:nvSpPr>
        <p:spPr>
          <a:xfrm>
            <a:off x="10927080" y="3950208"/>
            <a:ext cx="914400" cy="365760"/>
          </a:xfrm>
          <a:prstGeom prst="roundRect">
            <a:avLst>
              <a:gd name="adj" fmla="val 50000"/>
            </a:avLst>
          </a:prstGeom>
          <a:solidFill>
            <a:srgbClr val="C0392B"/>
          </a:solidFill>
          <a:ln/>
        </p:spPr>
      </p:sp>
      <p:sp>
        <p:nvSpPr>
          <p:cNvPr id="55" name="Text 52"/>
          <p:cNvSpPr/>
          <p:nvPr/>
        </p:nvSpPr>
        <p:spPr>
          <a:xfrm>
            <a:off x="10927080" y="3959352"/>
            <a:ext cx="914400"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Crítico</a:t>
            </a:r>
            <a:endParaRPr lang="en-US" sz="1050" dirty="0"/>
          </a:p>
        </p:txBody>
      </p:sp>
      <p:sp>
        <p:nvSpPr>
          <p:cNvPr id="56" name="Shape 53"/>
          <p:cNvSpPr/>
          <p:nvPr/>
        </p:nvSpPr>
        <p:spPr>
          <a:xfrm>
            <a:off x="502920" y="4562856"/>
            <a:ext cx="11247120" cy="0"/>
          </a:xfrm>
          <a:prstGeom prst="line">
            <a:avLst/>
          </a:prstGeom>
          <a:noFill/>
          <a:ln w="9525">
            <a:solidFill>
              <a:srgbClr val="D9DFE6"/>
            </a:solidFill>
            <a:prstDash val="solid"/>
          </a:ln>
        </p:spPr>
      </p:sp>
      <p:sp>
        <p:nvSpPr>
          <p:cNvPr id="57" name="Shape 54"/>
          <p:cNvSpPr/>
          <p:nvPr/>
        </p:nvSpPr>
        <p:spPr>
          <a:xfrm>
            <a:off x="457200" y="4562856"/>
            <a:ext cx="11292840" cy="749808"/>
          </a:xfrm>
          <a:prstGeom prst="rect">
            <a:avLst/>
          </a:prstGeom>
          <a:solidFill>
            <a:srgbClr val="FFFFFF"/>
          </a:solidFill>
          <a:ln/>
        </p:spPr>
      </p:sp>
      <p:sp>
        <p:nvSpPr>
          <p:cNvPr id="58" name="Text 55"/>
          <p:cNvSpPr/>
          <p:nvPr/>
        </p:nvSpPr>
        <p:spPr>
          <a:xfrm>
            <a:off x="502920" y="4608576"/>
            <a:ext cx="233172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Oficina Central</a:t>
            </a:r>
            <a:endParaRPr lang="en-US" sz="1400" dirty="0"/>
          </a:p>
        </p:txBody>
      </p:sp>
      <p:sp>
        <p:nvSpPr>
          <p:cNvPr id="59" name="Text 56"/>
          <p:cNvSpPr/>
          <p:nvPr/>
        </p:nvSpPr>
        <p:spPr>
          <a:xfrm>
            <a:off x="502920" y="4910328"/>
            <a:ext cx="2377440" cy="256032"/>
          </a:xfrm>
          <a:prstGeom prst="rect">
            <a:avLst/>
          </a:prstGeom>
          <a:noFill/>
          <a:ln/>
        </p:spPr>
        <p:txBody>
          <a:bodyPr wrap="square" lIns="0" tIns="0" rIns="0" bIns="0" rtlCol="0" anchor="ctr"/>
          <a:lstStyle/>
          <a:p>
            <a:pPr indent="0" marL="0">
              <a:buNone/>
            </a:pPr>
            <a:r>
              <a:rPr lang="en-US" sz="950" dirty="0">
                <a:solidFill>
                  <a:srgbClr val="56606E"/>
                </a:solidFill>
                <a:latin typeface="Calibri" pitchFamily="34" charset="0"/>
                <a:ea typeface="Calibri" pitchFamily="34" charset="-122"/>
                <a:cs typeface="Calibri" pitchFamily="34" charset="-120"/>
              </a:rPr>
              <a:t>BESALCO MONTAJES · no es obra</a:t>
            </a:r>
            <a:endParaRPr lang="en-US" sz="950" dirty="0"/>
          </a:p>
        </p:txBody>
      </p:sp>
      <p:sp>
        <p:nvSpPr>
          <p:cNvPr id="60" name="Text 57"/>
          <p:cNvSpPr/>
          <p:nvPr/>
        </p:nvSpPr>
        <p:spPr>
          <a:xfrm>
            <a:off x="2971800" y="4681728"/>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8</a:t>
            </a:r>
            <a:endParaRPr lang="en-US" sz="1300" dirty="0"/>
          </a:p>
        </p:txBody>
      </p:sp>
      <p:sp>
        <p:nvSpPr>
          <p:cNvPr id="61" name="Text 58"/>
          <p:cNvSpPr/>
          <p:nvPr/>
        </p:nvSpPr>
        <p:spPr>
          <a:xfrm>
            <a:off x="3977640" y="4681728"/>
            <a:ext cx="86868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8</a:t>
            </a:r>
            <a:endParaRPr lang="en-US" sz="1300" dirty="0"/>
          </a:p>
        </p:txBody>
      </p:sp>
      <p:sp>
        <p:nvSpPr>
          <p:cNvPr id="62" name="Text 59"/>
          <p:cNvSpPr/>
          <p:nvPr/>
        </p:nvSpPr>
        <p:spPr>
          <a:xfrm>
            <a:off x="4937760" y="4681728"/>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63" name="Text 60"/>
          <p:cNvSpPr/>
          <p:nvPr/>
        </p:nvSpPr>
        <p:spPr>
          <a:xfrm>
            <a:off x="5852160" y="4681728"/>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100%</a:t>
            </a:r>
            <a:endParaRPr lang="en-US" sz="1300" dirty="0"/>
          </a:p>
        </p:txBody>
      </p:sp>
      <p:sp>
        <p:nvSpPr>
          <p:cNvPr id="64" name="Text 61"/>
          <p:cNvSpPr/>
          <p:nvPr/>
        </p:nvSpPr>
        <p:spPr>
          <a:xfrm>
            <a:off x="6766560" y="4681728"/>
            <a:ext cx="82296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65" name="Text 62"/>
          <p:cNvSpPr/>
          <p:nvPr/>
        </p:nvSpPr>
        <p:spPr>
          <a:xfrm>
            <a:off x="7680960" y="4681728"/>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66" name="Text 63"/>
          <p:cNvSpPr/>
          <p:nvPr/>
        </p:nvSpPr>
        <p:spPr>
          <a:xfrm>
            <a:off x="8778240" y="4681728"/>
            <a:ext cx="100584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67" name="Text 64"/>
          <p:cNvSpPr/>
          <p:nvPr/>
        </p:nvSpPr>
        <p:spPr>
          <a:xfrm>
            <a:off x="9875520" y="4681728"/>
            <a:ext cx="914400" cy="365760"/>
          </a:xfrm>
          <a:prstGeom prst="rect">
            <a:avLst/>
          </a:prstGeom>
          <a:noFill/>
          <a:ln/>
        </p:spPr>
        <p:txBody>
          <a:bodyPr wrap="square" lIns="0" tIns="0" rIns="0" bIns="0" rtlCol="0" anchor="ctr"/>
          <a:lstStyle/>
          <a:p>
            <a:pPr algn="r" indent="0" marL="0">
              <a:buNone/>
            </a:pPr>
            <a:r>
              <a:rPr lang="en-US" sz="1300" dirty="0">
                <a:solidFill>
                  <a:srgbClr val="1A2433"/>
                </a:solidFill>
                <a:latin typeface="Calibri" pitchFamily="34" charset="0"/>
                <a:ea typeface="Calibri" pitchFamily="34" charset="-122"/>
                <a:cs typeface="Calibri" pitchFamily="34" charset="-120"/>
              </a:rPr>
              <a:t>0</a:t>
            </a:r>
            <a:endParaRPr lang="en-US" sz="1300" dirty="0"/>
          </a:p>
        </p:txBody>
      </p:sp>
      <p:sp>
        <p:nvSpPr>
          <p:cNvPr id="68" name="Shape 65"/>
          <p:cNvSpPr/>
          <p:nvPr/>
        </p:nvSpPr>
        <p:spPr>
          <a:xfrm>
            <a:off x="10927080" y="4700016"/>
            <a:ext cx="914400" cy="365760"/>
          </a:xfrm>
          <a:prstGeom prst="roundRect">
            <a:avLst>
              <a:gd name="adj" fmla="val 50000"/>
            </a:avLst>
          </a:prstGeom>
          <a:solidFill>
            <a:srgbClr val="2E9E5B"/>
          </a:solidFill>
          <a:ln/>
        </p:spPr>
      </p:sp>
      <p:sp>
        <p:nvSpPr>
          <p:cNvPr id="69" name="Text 66"/>
          <p:cNvSpPr/>
          <p:nvPr/>
        </p:nvSpPr>
        <p:spPr>
          <a:xfrm>
            <a:off x="10927080" y="4709160"/>
            <a:ext cx="914400"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Al día</a:t>
            </a:r>
            <a:endParaRPr lang="en-US" sz="1050" dirty="0"/>
          </a:p>
        </p:txBody>
      </p:sp>
      <p:sp>
        <p:nvSpPr>
          <p:cNvPr id="70" name="Shape 67"/>
          <p:cNvSpPr/>
          <p:nvPr/>
        </p:nvSpPr>
        <p:spPr>
          <a:xfrm>
            <a:off x="502920" y="5312664"/>
            <a:ext cx="11247120" cy="0"/>
          </a:xfrm>
          <a:prstGeom prst="line">
            <a:avLst/>
          </a:prstGeom>
          <a:noFill/>
          <a:ln w="9525">
            <a:solidFill>
              <a:srgbClr val="D9DFE6"/>
            </a:solidFill>
            <a:prstDash val="solid"/>
          </a:ln>
        </p:spPr>
      </p:sp>
      <p:sp>
        <p:nvSpPr>
          <p:cNvPr id="71" name="Text 68"/>
          <p:cNvSpPr/>
          <p:nvPr/>
        </p:nvSpPr>
        <p:spPr>
          <a:xfrm>
            <a:off x="502920" y="5376672"/>
            <a:ext cx="233172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Los 3 proyectos</a:t>
            </a:r>
            <a:endParaRPr lang="en-US" sz="1400" dirty="0"/>
          </a:p>
        </p:txBody>
      </p:sp>
      <p:sp>
        <p:nvSpPr>
          <p:cNvPr id="72" name="Text 69"/>
          <p:cNvSpPr/>
          <p:nvPr/>
        </p:nvSpPr>
        <p:spPr>
          <a:xfrm>
            <a:off x="502920" y="5678424"/>
            <a:ext cx="2377440" cy="256032"/>
          </a:xfrm>
          <a:prstGeom prst="rect">
            <a:avLst/>
          </a:prstGeom>
          <a:noFill/>
          <a:ln/>
        </p:spPr>
        <p:txBody>
          <a:bodyPr wrap="square" lIns="0" tIns="0" rIns="0" bIns="0" rtlCol="0" anchor="ctr"/>
          <a:lstStyle/>
          <a:p>
            <a:pPr indent="0" marL="0">
              <a:buNone/>
            </a:pPr>
            <a:r>
              <a:rPr lang="en-US" sz="950" dirty="0">
                <a:solidFill>
                  <a:srgbClr val="56606E"/>
                </a:solidFill>
                <a:latin typeface="Calibri" pitchFamily="34" charset="0"/>
                <a:ea typeface="Calibri" pitchFamily="34" charset="-122"/>
                <a:cs typeface="Calibri" pitchFamily="34" charset="-120"/>
              </a:rPr>
              <a:t>sin Oficina Central</a:t>
            </a:r>
            <a:endParaRPr lang="en-US" sz="950" dirty="0"/>
          </a:p>
        </p:txBody>
      </p:sp>
      <p:sp>
        <p:nvSpPr>
          <p:cNvPr id="73" name="Text 70"/>
          <p:cNvSpPr/>
          <p:nvPr/>
        </p:nvSpPr>
        <p:spPr>
          <a:xfrm>
            <a:off x="2971800" y="5449824"/>
            <a:ext cx="91440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490</a:t>
            </a:r>
            <a:endParaRPr lang="en-US" sz="1300" dirty="0"/>
          </a:p>
        </p:txBody>
      </p:sp>
      <p:sp>
        <p:nvSpPr>
          <p:cNvPr id="74" name="Text 71"/>
          <p:cNvSpPr/>
          <p:nvPr/>
        </p:nvSpPr>
        <p:spPr>
          <a:xfrm>
            <a:off x="3977640" y="5449824"/>
            <a:ext cx="86868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438</a:t>
            </a:r>
            <a:endParaRPr lang="en-US" sz="1300" dirty="0"/>
          </a:p>
        </p:txBody>
      </p:sp>
      <p:sp>
        <p:nvSpPr>
          <p:cNvPr id="75" name="Text 72"/>
          <p:cNvSpPr/>
          <p:nvPr/>
        </p:nvSpPr>
        <p:spPr>
          <a:xfrm>
            <a:off x="4937760" y="5449824"/>
            <a:ext cx="82296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52</a:t>
            </a:r>
            <a:endParaRPr lang="en-US" sz="1300" dirty="0"/>
          </a:p>
        </p:txBody>
      </p:sp>
      <p:sp>
        <p:nvSpPr>
          <p:cNvPr id="76" name="Text 73"/>
          <p:cNvSpPr/>
          <p:nvPr/>
        </p:nvSpPr>
        <p:spPr>
          <a:xfrm>
            <a:off x="5852160" y="5449824"/>
            <a:ext cx="82296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89,4%</a:t>
            </a:r>
            <a:endParaRPr lang="en-US" sz="1300" dirty="0"/>
          </a:p>
        </p:txBody>
      </p:sp>
      <p:sp>
        <p:nvSpPr>
          <p:cNvPr id="77" name="Text 74"/>
          <p:cNvSpPr/>
          <p:nvPr/>
        </p:nvSpPr>
        <p:spPr>
          <a:xfrm>
            <a:off x="6766560" y="5449824"/>
            <a:ext cx="82296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159</a:t>
            </a:r>
            <a:endParaRPr lang="en-US" sz="1300" dirty="0"/>
          </a:p>
        </p:txBody>
      </p:sp>
      <p:sp>
        <p:nvSpPr>
          <p:cNvPr id="78" name="Text 75"/>
          <p:cNvSpPr/>
          <p:nvPr/>
        </p:nvSpPr>
        <p:spPr>
          <a:xfrm>
            <a:off x="7680960" y="5449824"/>
            <a:ext cx="100584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282</a:t>
            </a:r>
            <a:endParaRPr lang="en-US" sz="1300" dirty="0"/>
          </a:p>
        </p:txBody>
      </p:sp>
      <p:sp>
        <p:nvSpPr>
          <p:cNvPr id="79" name="Text 76"/>
          <p:cNvSpPr/>
          <p:nvPr/>
        </p:nvSpPr>
        <p:spPr>
          <a:xfrm>
            <a:off x="8778240" y="5449824"/>
            <a:ext cx="100584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48</a:t>
            </a:r>
            <a:endParaRPr lang="en-US" sz="1300" dirty="0"/>
          </a:p>
        </p:txBody>
      </p:sp>
      <p:sp>
        <p:nvSpPr>
          <p:cNvPr id="80" name="Text 77"/>
          <p:cNvSpPr/>
          <p:nvPr/>
        </p:nvSpPr>
        <p:spPr>
          <a:xfrm>
            <a:off x="9875520" y="5449824"/>
            <a:ext cx="914400" cy="365760"/>
          </a:xfrm>
          <a:prstGeom prst="rect">
            <a:avLst/>
          </a:prstGeom>
          <a:noFill/>
          <a:ln/>
        </p:spPr>
        <p:txBody>
          <a:bodyPr wrap="square" lIns="0" tIns="0" rIns="0" bIns="0" rtlCol="0" anchor="ctr"/>
          <a:lstStyle/>
          <a:p>
            <a:pPr algn="r" indent="0" marL="0">
              <a:buNone/>
            </a:pPr>
            <a:r>
              <a:rPr lang="en-US" sz="1300" b="1" dirty="0">
                <a:solidFill>
                  <a:srgbClr val="1A2433"/>
                </a:solidFill>
                <a:latin typeface="Calibri" pitchFamily="34" charset="0"/>
                <a:ea typeface="Calibri" pitchFamily="34" charset="-122"/>
                <a:cs typeface="Calibri" pitchFamily="34" charset="-120"/>
              </a:rPr>
              <a:t>10.613</a:t>
            </a:r>
            <a:endParaRPr lang="en-US" sz="1300" dirty="0"/>
          </a:p>
        </p:txBody>
      </p:sp>
      <p:sp>
        <p:nvSpPr>
          <p:cNvPr id="81" name="Text 78"/>
          <p:cNvSpPr/>
          <p:nvPr/>
        </p:nvSpPr>
        <p:spPr>
          <a:xfrm>
            <a:off x="457200" y="5989320"/>
            <a:ext cx="11247120" cy="274320"/>
          </a:xfrm>
          <a:prstGeom prst="rect">
            <a:avLst/>
          </a:prstGeom>
          <a:noFill/>
          <a:ln/>
        </p:spPr>
        <p:txBody>
          <a:bodyPr wrap="square" lIns="0" tIns="0" rIns="0" bIns="0" rtlCol="0" anchor="ctr"/>
          <a:lstStyle/>
          <a:p>
            <a:pPr indent="0" marL="0">
              <a:buNone/>
            </a:pPr>
            <a:r>
              <a:rPr lang="en-US" sz="950" i="1" dirty="0">
                <a:solidFill>
                  <a:srgbClr val="56606E"/>
                </a:solidFill>
                <a:latin typeface="Calibri" pitchFamily="34" charset="0"/>
                <a:ea typeface="Calibri" pitchFamily="34" charset="-122"/>
                <a:cs typeface="Calibri" pitchFamily="34" charset="-120"/>
              </a:rPr>
              <a:t>Mediana de cierre global 30 días · el hallazgo más lento tomó 389 días · 79 hallazgos sin especialidad declarada.</a:t>
            </a:r>
            <a:endParaRPr lang="en-US" sz="950" dirty="0"/>
          </a:p>
        </p:txBody>
      </p:sp>
      <p:sp>
        <p:nvSpPr>
          <p:cNvPr id="82" name="Text 79"/>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83" name="Text 80"/>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84" name="Text 8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NOVEDADES DEL PERÍODO</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Levantados en la última semana</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Entre el 10-08-2026 y el 16-08-2026 se levantaron 3 hallazgos: 0 internas · 3 del cliente. 2 siguen abiertos.</a:t>
            </a:r>
            <a:endParaRPr lang="en-US" sz="1350" dirty="0"/>
          </a:p>
        </p:txBody>
      </p:sp>
      <p:graphicFrame>
        <p:nvGraphicFramePr>
          <p:cNvPr id="6" name="Chart 0" descr=""/>
          <p:cNvGraphicFramePr/>
          <p:nvPr/>
        </p:nvGraphicFramePr>
        <p:xfrm>
          <a:off x="457200" y="1783080"/>
          <a:ext cx="5852160" cy="18745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492240" y="1783080"/>
            <a:ext cx="5239512" cy="1874520"/>
          </a:xfrm>
          <a:prstGeom prst="roundRect">
            <a:avLst>
              <a:gd name="adj" fmla="val 2927"/>
            </a:avLst>
          </a:prstGeom>
          <a:solidFill>
            <a:srgbClr val="12233B"/>
          </a:solidFill>
          <a:ln/>
        </p:spPr>
      </p:sp>
      <p:sp>
        <p:nvSpPr>
          <p:cNvPr id="8" name="Text 4"/>
          <p:cNvSpPr/>
          <p:nvPr/>
        </p:nvSpPr>
        <p:spPr>
          <a:xfrm>
            <a:off x="6766560" y="1892808"/>
            <a:ext cx="4572000" cy="256032"/>
          </a:xfrm>
          <a:prstGeom prst="rect">
            <a:avLst/>
          </a:prstGeom>
          <a:noFill/>
          <a:ln/>
        </p:spPr>
        <p:txBody>
          <a:bodyPr wrap="square" lIns="0" tIns="0" rIns="0" bIns="0" rtlCol="0" anchor="ctr"/>
          <a:lstStyle/>
          <a:p>
            <a:pPr indent="0" marL="0">
              <a:buNone/>
            </a:pPr>
            <a:r>
              <a:rPr lang="en-US" sz="1050" b="1" spc="150" kern="0" dirty="0">
                <a:solidFill>
                  <a:srgbClr val="E3A55B"/>
                </a:solidFill>
                <a:latin typeface="Calibri" pitchFamily="34" charset="0"/>
                <a:ea typeface="Calibri" pitchFamily="34" charset="-122"/>
                <a:cs typeface="Calibri" pitchFamily="34" charset="-120"/>
              </a:rPr>
              <a:t>DE DÓNDE SALIERON</a:t>
            </a:r>
            <a:endParaRPr lang="en-US" sz="1050" dirty="0"/>
          </a:p>
        </p:txBody>
      </p:sp>
      <p:sp>
        <p:nvSpPr>
          <p:cNvPr id="9" name="Text 5"/>
          <p:cNvSpPr/>
          <p:nvPr/>
        </p:nvSpPr>
        <p:spPr>
          <a:xfrm>
            <a:off x="6766560" y="2240280"/>
            <a:ext cx="1417320" cy="329184"/>
          </a:xfrm>
          <a:prstGeom prst="rect">
            <a:avLst/>
          </a:prstGeom>
          <a:noFill/>
          <a:ln/>
        </p:spPr>
        <p:txBody>
          <a:bodyPr wrap="square" lIns="0" tIns="0" rIns="0" bIns="0" rtlCol="0" anchor="ctr"/>
          <a:lstStyle/>
          <a:p>
            <a:pPr indent="0" marL="0">
              <a:buNone/>
            </a:pPr>
            <a:r>
              <a:rPr lang="en-US" sz="950" b="1" spc="100" kern="0" dirty="0">
                <a:solidFill>
                  <a:srgbClr val="6E8CA8"/>
                </a:solidFill>
                <a:latin typeface="Calibri" pitchFamily="34" charset="0"/>
                <a:ea typeface="Calibri" pitchFamily="34" charset="-122"/>
                <a:cs typeface="Calibri" pitchFamily="34" charset="-120"/>
              </a:rPr>
              <a:t>DISCIPLINA</a:t>
            </a:r>
            <a:endParaRPr lang="en-US" sz="950" dirty="0"/>
          </a:p>
        </p:txBody>
      </p:sp>
      <p:sp>
        <p:nvSpPr>
          <p:cNvPr id="10" name="Text 6"/>
          <p:cNvSpPr/>
          <p:nvPr/>
        </p:nvSpPr>
        <p:spPr>
          <a:xfrm>
            <a:off x="8183880" y="2240280"/>
            <a:ext cx="342900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OO.CC 3</a:t>
            </a:r>
            <a:endParaRPr lang="en-US" sz="1100" dirty="0"/>
          </a:p>
        </p:txBody>
      </p:sp>
      <p:sp>
        <p:nvSpPr>
          <p:cNvPr id="11" name="Text 7"/>
          <p:cNvSpPr/>
          <p:nvPr/>
        </p:nvSpPr>
        <p:spPr>
          <a:xfrm>
            <a:off x="6766560" y="2569464"/>
            <a:ext cx="1417320" cy="329184"/>
          </a:xfrm>
          <a:prstGeom prst="rect">
            <a:avLst/>
          </a:prstGeom>
          <a:noFill/>
          <a:ln/>
        </p:spPr>
        <p:txBody>
          <a:bodyPr wrap="square" lIns="0" tIns="0" rIns="0" bIns="0" rtlCol="0" anchor="ctr"/>
          <a:lstStyle/>
          <a:p>
            <a:pPr indent="0" marL="0">
              <a:buNone/>
            </a:pPr>
            <a:r>
              <a:rPr lang="en-US" sz="950" b="1" spc="100" kern="0" dirty="0">
                <a:solidFill>
                  <a:srgbClr val="6E8CA8"/>
                </a:solidFill>
                <a:latin typeface="Calibri" pitchFamily="34" charset="0"/>
                <a:ea typeface="Calibri" pitchFamily="34" charset="-122"/>
                <a:cs typeface="Calibri" pitchFamily="34" charset="-120"/>
              </a:rPr>
              <a:t>FRENTE</a:t>
            </a:r>
            <a:endParaRPr lang="en-US" sz="950" dirty="0"/>
          </a:p>
        </p:txBody>
      </p:sp>
      <p:sp>
        <p:nvSpPr>
          <p:cNvPr id="12" name="Text 8"/>
          <p:cNvSpPr/>
          <p:nvPr/>
        </p:nvSpPr>
        <p:spPr>
          <a:xfrm>
            <a:off x="8183880" y="2569464"/>
            <a:ext cx="342900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Talabre 3</a:t>
            </a:r>
            <a:endParaRPr lang="en-US" sz="1100" dirty="0"/>
          </a:p>
        </p:txBody>
      </p:sp>
      <p:sp>
        <p:nvSpPr>
          <p:cNvPr id="13" name="Text 9"/>
          <p:cNvSpPr/>
          <p:nvPr/>
        </p:nvSpPr>
        <p:spPr>
          <a:xfrm>
            <a:off x="6766560" y="2898648"/>
            <a:ext cx="1417320" cy="329184"/>
          </a:xfrm>
          <a:prstGeom prst="rect">
            <a:avLst/>
          </a:prstGeom>
          <a:noFill/>
          <a:ln/>
        </p:spPr>
        <p:txBody>
          <a:bodyPr wrap="square" lIns="0" tIns="0" rIns="0" bIns="0" rtlCol="0" anchor="ctr"/>
          <a:lstStyle/>
          <a:p>
            <a:pPr indent="0" marL="0">
              <a:buNone/>
            </a:pPr>
            <a:r>
              <a:rPr lang="en-US" sz="950" b="1" spc="100" kern="0" dirty="0">
                <a:solidFill>
                  <a:srgbClr val="6E8CA8"/>
                </a:solidFill>
                <a:latin typeface="Calibri" pitchFamily="34" charset="0"/>
                <a:ea typeface="Calibri" pitchFamily="34" charset="-122"/>
                <a:cs typeface="Calibri" pitchFamily="34" charset="-120"/>
              </a:rPr>
              <a:t>ORIGEN</a:t>
            </a:r>
            <a:endParaRPr lang="en-US" sz="950" dirty="0"/>
          </a:p>
        </p:txBody>
      </p:sp>
      <p:sp>
        <p:nvSpPr>
          <p:cNvPr id="14" name="Text 10"/>
          <p:cNvSpPr/>
          <p:nvPr/>
        </p:nvSpPr>
        <p:spPr>
          <a:xfrm>
            <a:off x="8183880" y="2898648"/>
            <a:ext cx="342900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Externa · Cliente 3</a:t>
            </a:r>
            <a:endParaRPr lang="en-US" sz="1100" dirty="0"/>
          </a:p>
        </p:txBody>
      </p:sp>
      <p:sp>
        <p:nvSpPr>
          <p:cNvPr id="15" name="Text 11"/>
          <p:cNvSpPr/>
          <p:nvPr/>
        </p:nvSpPr>
        <p:spPr>
          <a:xfrm>
            <a:off x="6766560" y="3227832"/>
            <a:ext cx="1417320" cy="329184"/>
          </a:xfrm>
          <a:prstGeom prst="rect">
            <a:avLst/>
          </a:prstGeom>
          <a:noFill/>
          <a:ln/>
        </p:spPr>
        <p:txBody>
          <a:bodyPr wrap="square" lIns="0" tIns="0" rIns="0" bIns="0" rtlCol="0" anchor="ctr"/>
          <a:lstStyle/>
          <a:p>
            <a:pPr indent="0" marL="0">
              <a:buNone/>
            </a:pPr>
            <a:r>
              <a:rPr lang="en-US" sz="950" b="1" spc="100" kern="0" dirty="0">
                <a:solidFill>
                  <a:srgbClr val="6E8CA8"/>
                </a:solidFill>
                <a:latin typeface="Calibri" pitchFamily="34" charset="0"/>
                <a:ea typeface="Calibri" pitchFamily="34" charset="-122"/>
                <a:cs typeface="Calibri" pitchFamily="34" charset="-120"/>
              </a:rPr>
              <a:t>TIPO</a:t>
            </a:r>
            <a:endParaRPr lang="en-US" sz="950" dirty="0"/>
          </a:p>
        </p:txBody>
      </p:sp>
      <p:sp>
        <p:nvSpPr>
          <p:cNvPr id="16" name="Text 12"/>
          <p:cNvSpPr/>
          <p:nvPr/>
        </p:nvSpPr>
        <p:spPr>
          <a:xfrm>
            <a:off x="8183880" y="3227832"/>
            <a:ext cx="342900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No Conformidad 3</a:t>
            </a:r>
            <a:endParaRPr lang="en-US" sz="1100" dirty="0"/>
          </a:p>
        </p:txBody>
      </p:sp>
      <p:sp>
        <p:nvSpPr>
          <p:cNvPr id="17" name="Text 13"/>
          <p:cNvSpPr/>
          <p:nvPr/>
        </p:nvSpPr>
        <p:spPr>
          <a:xfrm>
            <a:off x="502920" y="3712464"/>
            <a:ext cx="10058400" cy="237744"/>
          </a:xfrm>
          <a:prstGeom prst="rect">
            <a:avLst/>
          </a:prstGeom>
          <a:noFill/>
          <a:ln/>
        </p:spPr>
        <p:txBody>
          <a:bodyPr wrap="square" lIns="0" tIns="0" rIns="0" bIns="0" rtlCol="0" anchor="ctr"/>
          <a:lstStyle/>
          <a:p>
            <a:pPr indent="0" marL="0">
              <a:buNone/>
            </a:pPr>
            <a:r>
              <a:rPr lang="en-US" sz="1050" b="1" spc="120" kern="0" dirty="0">
                <a:solidFill>
                  <a:srgbClr val="C87A32"/>
                </a:solidFill>
                <a:latin typeface="Calibri" pitchFamily="34" charset="0"/>
                <a:ea typeface="Calibri" pitchFamily="34" charset="-122"/>
                <a:cs typeface="Calibri" pitchFamily="34" charset="-120"/>
              </a:rPr>
              <a:t>DETALLE DE LOS HALLAZGOS NUEVOS</a:t>
            </a:r>
            <a:endParaRPr lang="en-US" sz="1050" dirty="0"/>
          </a:p>
        </p:txBody>
      </p:sp>
      <p:sp>
        <p:nvSpPr>
          <p:cNvPr id="18" name="Text 14"/>
          <p:cNvSpPr/>
          <p:nvPr/>
        </p:nvSpPr>
        <p:spPr>
          <a:xfrm>
            <a:off x="502920" y="3986784"/>
            <a:ext cx="8229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FECHA</a:t>
            </a:r>
            <a:endParaRPr lang="en-US" sz="950" dirty="0"/>
          </a:p>
        </p:txBody>
      </p:sp>
      <p:sp>
        <p:nvSpPr>
          <p:cNvPr id="19" name="Text 15"/>
          <p:cNvSpPr/>
          <p:nvPr/>
        </p:nvSpPr>
        <p:spPr>
          <a:xfrm>
            <a:off x="1371600" y="3986784"/>
            <a:ext cx="10515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FRENTE</a:t>
            </a:r>
            <a:endParaRPr lang="en-US" sz="950" dirty="0"/>
          </a:p>
        </p:txBody>
      </p:sp>
      <p:sp>
        <p:nvSpPr>
          <p:cNvPr id="20" name="Text 16"/>
          <p:cNvSpPr/>
          <p:nvPr/>
        </p:nvSpPr>
        <p:spPr>
          <a:xfrm>
            <a:off x="2468880" y="3986784"/>
            <a:ext cx="10515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N°</a:t>
            </a:r>
            <a:endParaRPr lang="en-US" sz="950" dirty="0"/>
          </a:p>
        </p:txBody>
      </p:sp>
      <p:sp>
        <p:nvSpPr>
          <p:cNvPr id="21" name="Text 17"/>
          <p:cNvSpPr/>
          <p:nvPr/>
        </p:nvSpPr>
        <p:spPr>
          <a:xfrm>
            <a:off x="3566160" y="3986784"/>
            <a:ext cx="13716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TIPO</a:t>
            </a:r>
            <a:endParaRPr lang="en-US" sz="950" dirty="0"/>
          </a:p>
        </p:txBody>
      </p:sp>
      <p:sp>
        <p:nvSpPr>
          <p:cNvPr id="22" name="Text 18"/>
          <p:cNvSpPr/>
          <p:nvPr/>
        </p:nvSpPr>
        <p:spPr>
          <a:xfrm>
            <a:off x="4983480" y="3986784"/>
            <a:ext cx="141732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ORIGEN</a:t>
            </a:r>
            <a:endParaRPr lang="en-US" sz="950" dirty="0"/>
          </a:p>
        </p:txBody>
      </p:sp>
      <p:sp>
        <p:nvSpPr>
          <p:cNvPr id="23" name="Text 19"/>
          <p:cNvSpPr/>
          <p:nvPr/>
        </p:nvSpPr>
        <p:spPr>
          <a:xfrm>
            <a:off x="6446520" y="3986784"/>
            <a:ext cx="109728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DISCIPLINA</a:t>
            </a:r>
            <a:endParaRPr lang="en-US" sz="950" dirty="0"/>
          </a:p>
        </p:txBody>
      </p:sp>
      <p:sp>
        <p:nvSpPr>
          <p:cNvPr id="24" name="Text 20"/>
          <p:cNvSpPr/>
          <p:nvPr/>
        </p:nvSpPr>
        <p:spPr>
          <a:xfrm>
            <a:off x="7589520" y="3986784"/>
            <a:ext cx="13716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RESPONSABLE</a:t>
            </a:r>
            <a:endParaRPr lang="en-US" sz="950" dirty="0"/>
          </a:p>
        </p:txBody>
      </p:sp>
      <p:sp>
        <p:nvSpPr>
          <p:cNvPr id="25" name="Text 21"/>
          <p:cNvSpPr/>
          <p:nvPr/>
        </p:nvSpPr>
        <p:spPr>
          <a:xfrm>
            <a:off x="9006840" y="3986784"/>
            <a:ext cx="86868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ESTADO</a:t>
            </a:r>
            <a:endParaRPr lang="en-US" sz="950" dirty="0"/>
          </a:p>
        </p:txBody>
      </p:sp>
      <p:sp>
        <p:nvSpPr>
          <p:cNvPr id="26" name="Text 22"/>
          <p:cNvSpPr/>
          <p:nvPr/>
        </p:nvSpPr>
        <p:spPr>
          <a:xfrm>
            <a:off x="9921240" y="3986784"/>
            <a:ext cx="18288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TÍTULO</a:t>
            </a:r>
            <a:endParaRPr lang="en-US" sz="950" dirty="0"/>
          </a:p>
        </p:txBody>
      </p:sp>
      <p:sp>
        <p:nvSpPr>
          <p:cNvPr id="27" name="Shape 23"/>
          <p:cNvSpPr/>
          <p:nvPr/>
        </p:nvSpPr>
        <p:spPr>
          <a:xfrm>
            <a:off x="502920" y="4297680"/>
            <a:ext cx="11247120" cy="0"/>
          </a:xfrm>
          <a:prstGeom prst="line">
            <a:avLst/>
          </a:prstGeom>
          <a:noFill/>
          <a:ln w="12700">
            <a:solidFill>
              <a:srgbClr val="6E8CA8"/>
            </a:solidFill>
            <a:prstDash val="solid"/>
          </a:ln>
        </p:spPr>
      </p:sp>
      <p:sp>
        <p:nvSpPr>
          <p:cNvPr id="28" name="Text 24"/>
          <p:cNvSpPr/>
          <p:nvPr/>
        </p:nvSpPr>
        <p:spPr>
          <a:xfrm>
            <a:off x="502920" y="4425696"/>
            <a:ext cx="8229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10-08-2026</a:t>
            </a:r>
            <a:endParaRPr lang="en-US" sz="1050" dirty="0"/>
          </a:p>
        </p:txBody>
      </p:sp>
      <p:sp>
        <p:nvSpPr>
          <p:cNvPr id="29" name="Text 25"/>
          <p:cNvSpPr/>
          <p:nvPr/>
        </p:nvSpPr>
        <p:spPr>
          <a:xfrm>
            <a:off x="1371600" y="4425696"/>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Talabre</a:t>
            </a:r>
            <a:endParaRPr lang="en-US" sz="1050" dirty="0"/>
          </a:p>
        </p:txBody>
      </p:sp>
      <p:sp>
        <p:nvSpPr>
          <p:cNvPr id="30" name="Text 26"/>
          <p:cNvSpPr/>
          <p:nvPr/>
        </p:nvSpPr>
        <p:spPr>
          <a:xfrm>
            <a:off x="2468880" y="4425696"/>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243 · RNC N°453</a:t>
            </a:r>
            <a:endParaRPr lang="en-US" sz="1050" dirty="0"/>
          </a:p>
        </p:txBody>
      </p:sp>
      <p:sp>
        <p:nvSpPr>
          <p:cNvPr id="31" name="Text 27"/>
          <p:cNvSpPr/>
          <p:nvPr/>
        </p:nvSpPr>
        <p:spPr>
          <a:xfrm>
            <a:off x="3566160" y="4425696"/>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32" name="Text 28"/>
          <p:cNvSpPr/>
          <p:nvPr/>
        </p:nvSpPr>
        <p:spPr>
          <a:xfrm>
            <a:off x="4983480" y="4425696"/>
            <a:ext cx="1417320" cy="237744"/>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33" name="Text 29"/>
          <p:cNvSpPr/>
          <p:nvPr/>
        </p:nvSpPr>
        <p:spPr>
          <a:xfrm>
            <a:off x="6446520" y="4425696"/>
            <a:ext cx="109728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34" name="Text 30"/>
          <p:cNvSpPr/>
          <p:nvPr/>
        </p:nvSpPr>
        <p:spPr>
          <a:xfrm>
            <a:off x="7589520" y="4425696"/>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Mauricio Rocha A.</a:t>
            </a:r>
            <a:endParaRPr lang="en-US" sz="1050" dirty="0"/>
          </a:p>
        </p:txBody>
      </p:sp>
      <p:sp>
        <p:nvSpPr>
          <p:cNvPr id="35" name="Text 31"/>
          <p:cNvSpPr/>
          <p:nvPr/>
        </p:nvSpPr>
        <p:spPr>
          <a:xfrm>
            <a:off x="9006840" y="4425696"/>
            <a:ext cx="868680" cy="237744"/>
          </a:xfrm>
          <a:prstGeom prst="rect">
            <a:avLst/>
          </a:prstGeom>
          <a:noFill/>
          <a:ln/>
        </p:spPr>
        <p:txBody>
          <a:bodyPr wrap="square" lIns="0" tIns="0" rIns="0" bIns="0" rtlCol="0" anchor="ctr"/>
          <a:lstStyle/>
          <a:p>
            <a:pPr algn="l" indent="0" marL="0">
              <a:buNone/>
            </a:pPr>
            <a:r>
              <a:rPr lang="en-US" sz="1050" dirty="0">
                <a:solidFill>
                  <a:srgbClr val="C0392B"/>
                </a:solidFill>
                <a:latin typeface="Calibri" pitchFamily="34" charset="0"/>
                <a:ea typeface="Calibri" pitchFamily="34" charset="-122"/>
                <a:cs typeface="Calibri" pitchFamily="34" charset="-120"/>
              </a:rPr>
              <a:t>Iniciado</a:t>
            </a:r>
            <a:endParaRPr lang="en-US" sz="1050" dirty="0"/>
          </a:p>
        </p:txBody>
      </p:sp>
      <p:sp>
        <p:nvSpPr>
          <p:cNvPr id="36" name="Text 32"/>
          <p:cNvSpPr/>
          <p:nvPr/>
        </p:nvSpPr>
        <p:spPr>
          <a:xfrm>
            <a:off x="9921240" y="4425696"/>
            <a:ext cx="1828800" cy="237744"/>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Rollos de geomembrana KRAH …</a:t>
            </a:r>
            <a:endParaRPr lang="en-US" sz="1000" dirty="0"/>
          </a:p>
        </p:txBody>
      </p:sp>
      <p:sp>
        <p:nvSpPr>
          <p:cNvPr id="37" name="Shape 33"/>
          <p:cNvSpPr/>
          <p:nvPr/>
        </p:nvSpPr>
        <p:spPr>
          <a:xfrm>
            <a:off x="502920" y="4700016"/>
            <a:ext cx="11247120" cy="0"/>
          </a:xfrm>
          <a:prstGeom prst="line">
            <a:avLst/>
          </a:prstGeom>
          <a:noFill/>
          <a:ln w="9525">
            <a:solidFill>
              <a:srgbClr val="D9DFE6"/>
            </a:solidFill>
            <a:prstDash val="solid"/>
          </a:ln>
        </p:spPr>
      </p:sp>
      <p:sp>
        <p:nvSpPr>
          <p:cNvPr id="38" name="Shape 34"/>
          <p:cNvSpPr/>
          <p:nvPr/>
        </p:nvSpPr>
        <p:spPr>
          <a:xfrm>
            <a:off x="457200" y="4709160"/>
            <a:ext cx="11292840" cy="329184"/>
          </a:xfrm>
          <a:prstGeom prst="rect">
            <a:avLst/>
          </a:prstGeom>
          <a:solidFill>
            <a:srgbClr val="FFFFFF"/>
          </a:solidFill>
          <a:ln/>
        </p:spPr>
      </p:sp>
      <p:sp>
        <p:nvSpPr>
          <p:cNvPr id="39" name="Text 35"/>
          <p:cNvSpPr/>
          <p:nvPr/>
        </p:nvSpPr>
        <p:spPr>
          <a:xfrm>
            <a:off x="502920" y="4754880"/>
            <a:ext cx="8229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10-08-2026</a:t>
            </a:r>
            <a:endParaRPr lang="en-US" sz="1050" dirty="0"/>
          </a:p>
        </p:txBody>
      </p:sp>
      <p:sp>
        <p:nvSpPr>
          <p:cNvPr id="40" name="Text 36"/>
          <p:cNvSpPr/>
          <p:nvPr/>
        </p:nvSpPr>
        <p:spPr>
          <a:xfrm>
            <a:off x="1371600" y="4754880"/>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Talabre</a:t>
            </a:r>
            <a:endParaRPr lang="en-US" sz="1050" dirty="0"/>
          </a:p>
        </p:txBody>
      </p:sp>
      <p:sp>
        <p:nvSpPr>
          <p:cNvPr id="41" name="Text 37"/>
          <p:cNvSpPr/>
          <p:nvPr/>
        </p:nvSpPr>
        <p:spPr>
          <a:xfrm>
            <a:off x="2468880" y="4754880"/>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244 · RNC N°454</a:t>
            </a:r>
            <a:endParaRPr lang="en-US" sz="1050" dirty="0"/>
          </a:p>
        </p:txBody>
      </p:sp>
      <p:sp>
        <p:nvSpPr>
          <p:cNvPr id="42" name="Text 38"/>
          <p:cNvSpPr/>
          <p:nvPr/>
        </p:nvSpPr>
        <p:spPr>
          <a:xfrm>
            <a:off x="3566160" y="4754880"/>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43" name="Text 39"/>
          <p:cNvSpPr/>
          <p:nvPr/>
        </p:nvSpPr>
        <p:spPr>
          <a:xfrm>
            <a:off x="4983480" y="4754880"/>
            <a:ext cx="1417320" cy="237744"/>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44" name="Text 40"/>
          <p:cNvSpPr/>
          <p:nvPr/>
        </p:nvSpPr>
        <p:spPr>
          <a:xfrm>
            <a:off x="6446520" y="4754880"/>
            <a:ext cx="109728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45" name="Text 41"/>
          <p:cNvSpPr/>
          <p:nvPr/>
        </p:nvSpPr>
        <p:spPr>
          <a:xfrm>
            <a:off x="7589520" y="4754880"/>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Mauricio Rocha A.</a:t>
            </a:r>
            <a:endParaRPr lang="en-US" sz="1050" dirty="0"/>
          </a:p>
        </p:txBody>
      </p:sp>
      <p:sp>
        <p:nvSpPr>
          <p:cNvPr id="46" name="Text 42"/>
          <p:cNvSpPr/>
          <p:nvPr/>
        </p:nvSpPr>
        <p:spPr>
          <a:xfrm>
            <a:off x="9006840" y="4754880"/>
            <a:ext cx="868680" cy="237744"/>
          </a:xfrm>
          <a:prstGeom prst="rect">
            <a:avLst/>
          </a:prstGeom>
          <a:noFill/>
          <a:ln/>
        </p:spPr>
        <p:txBody>
          <a:bodyPr wrap="square" lIns="0" tIns="0" rIns="0" bIns="0" rtlCol="0" anchor="ctr"/>
          <a:lstStyle/>
          <a:p>
            <a:pPr algn="l" indent="0" marL="0">
              <a:buNone/>
            </a:pPr>
            <a:r>
              <a:rPr lang="en-US" sz="1050" dirty="0">
                <a:solidFill>
                  <a:srgbClr val="C0392B"/>
                </a:solidFill>
                <a:latin typeface="Calibri" pitchFamily="34" charset="0"/>
                <a:ea typeface="Calibri" pitchFamily="34" charset="-122"/>
                <a:cs typeface="Calibri" pitchFamily="34" charset="-120"/>
              </a:rPr>
              <a:t>Iniciado</a:t>
            </a:r>
            <a:endParaRPr lang="en-US" sz="1050" dirty="0"/>
          </a:p>
        </p:txBody>
      </p:sp>
      <p:sp>
        <p:nvSpPr>
          <p:cNvPr id="47" name="Text 43"/>
          <p:cNvSpPr/>
          <p:nvPr/>
        </p:nvSpPr>
        <p:spPr>
          <a:xfrm>
            <a:off x="9921240" y="4754880"/>
            <a:ext cx="1828800" cy="237744"/>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En Piscina Quebrada Sur, se…</a:t>
            </a:r>
            <a:endParaRPr lang="en-US" sz="1000" dirty="0"/>
          </a:p>
        </p:txBody>
      </p:sp>
      <p:sp>
        <p:nvSpPr>
          <p:cNvPr id="48" name="Shape 44"/>
          <p:cNvSpPr/>
          <p:nvPr/>
        </p:nvSpPr>
        <p:spPr>
          <a:xfrm>
            <a:off x="502920" y="5029200"/>
            <a:ext cx="11247120" cy="0"/>
          </a:xfrm>
          <a:prstGeom prst="line">
            <a:avLst/>
          </a:prstGeom>
          <a:noFill/>
          <a:ln w="9525">
            <a:solidFill>
              <a:srgbClr val="D9DFE6"/>
            </a:solidFill>
            <a:prstDash val="solid"/>
          </a:ln>
        </p:spPr>
      </p:sp>
      <p:sp>
        <p:nvSpPr>
          <p:cNvPr id="49" name="Text 45"/>
          <p:cNvSpPr/>
          <p:nvPr/>
        </p:nvSpPr>
        <p:spPr>
          <a:xfrm>
            <a:off x="502920" y="5084064"/>
            <a:ext cx="8229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11-08-2026</a:t>
            </a:r>
            <a:endParaRPr lang="en-US" sz="1050" dirty="0"/>
          </a:p>
        </p:txBody>
      </p:sp>
      <p:sp>
        <p:nvSpPr>
          <p:cNvPr id="50" name="Text 46"/>
          <p:cNvSpPr/>
          <p:nvPr/>
        </p:nvSpPr>
        <p:spPr>
          <a:xfrm>
            <a:off x="1371600" y="5084064"/>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Talabre</a:t>
            </a:r>
            <a:endParaRPr lang="en-US" sz="1050" dirty="0"/>
          </a:p>
        </p:txBody>
      </p:sp>
      <p:sp>
        <p:nvSpPr>
          <p:cNvPr id="51" name="Text 47"/>
          <p:cNvSpPr/>
          <p:nvPr/>
        </p:nvSpPr>
        <p:spPr>
          <a:xfrm>
            <a:off x="2468880" y="5084064"/>
            <a:ext cx="105156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245 · RNC N°455</a:t>
            </a:r>
            <a:endParaRPr lang="en-US" sz="1050" dirty="0"/>
          </a:p>
        </p:txBody>
      </p:sp>
      <p:sp>
        <p:nvSpPr>
          <p:cNvPr id="52" name="Text 48"/>
          <p:cNvSpPr/>
          <p:nvPr/>
        </p:nvSpPr>
        <p:spPr>
          <a:xfrm>
            <a:off x="3566160" y="5084064"/>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53" name="Text 49"/>
          <p:cNvSpPr/>
          <p:nvPr/>
        </p:nvSpPr>
        <p:spPr>
          <a:xfrm>
            <a:off x="4983480" y="5084064"/>
            <a:ext cx="1417320" cy="237744"/>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54" name="Text 50"/>
          <p:cNvSpPr/>
          <p:nvPr/>
        </p:nvSpPr>
        <p:spPr>
          <a:xfrm>
            <a:off x="6446520" y="5084064"/>
            <a:ext cx="109728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55" name="Text 51"/>
          <p:cNvSpPr/>
          <p:nvPr/>
        </p:nvSpPr>
        <p:spPr>
          <a:xfrm>
            <a:off x="7589520" y="5084064"/>
            <a:ext cx="1371600" cy="237744"/>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Sebastián Ramos</a:t>
            </a:r>
            <a:endParaRPr lang="en-US" sz="1050" dirty="0"/>
          </a:p>
        </p:txBody>
      </p:sp>
      <p:sp>
        <p:nvSpPr>
          <p:cNvPr id="56" name="Text 52"/>
          <p:cNvSpPr/>
          <p:nvPr/>
        </p:nvSpPr>
        <p:spPr>
          <a:xfrm>
            <a:off x="9006840" y="5084064"/>
            <a:ext cx="868680" cy="237744"/>
          </a:xfrm>
          <a:prstGeom prst="rect">
            <a:avLst/>
          </a:prstGeom>
          <a:noFill/>
          <a:ln/>
        </p:spPr>
        <p:txBody>
          <a:bodyPr wrap="square" lIns="0" tIns="0" rIns="0" bIns="0" rtlCol="0" anchor="ctr"/>
          <a:lstStyle/>
          <a:p>
            <a:pPr algn="l" indent="0" marL="0">
              <a:buNone/>
            </a:pPr>
            <a:r>
              <a:rPr lang="en-US" sz="1050" dirty="0">
                <a:solidFill>
                  <a:srgbClr val="1F7A44"/>
                </a:solidFill>
                <a:latin typeface="Calibri" pitchFamily="34" charset="0"/>
                <a:ea typeface="Calibri" pitchFamily="34" charset="-122"/>
                <a:cs typeface="Calibri" pitchFamily="34" charset="-120"/>
              </a:rPr>
              <a:t>Cerrado</a:t>
            </a:r>
            <a:endParaRPr lang="en-US" sz="1050" dirty="0"/>
          </a:p>
        </p:txBody>
      </p:sp>
      <p:sp>
        <p:nvSpPr>
          <p:cNvPr id="57" name="Text 53"/>
          <p:cNvSpPr/>
          <p:nvPr/>
        </p:nvSpPr>
        <p:spPr>
          <a:xfrm>
            <a:off x="9921240" y="5084064"/>
            <a:ext cx="1828800" cy="237744"/>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Se utilizó la Solicitud de …</a:t>
            </a:r>
            <a:endParaRPr lang="en-US" sz="1000" dirty="0"/>
          </a:p>
        </p:txBody>
      </p:sp>
      <p:sp>
        <p:nvSpPr>
          <p:cNvPr id="58" name="Shape 54"/>
          <p:cNvSpPr/>
          <p:nvPr/>
        </p:nvSpPr>
        <p:spPr>
          <a:xfrm>
            <a:off x="502920" y="5358384"/>
            <a:ext cx="11247120" cy="0"/>
          </a:xfrm>
          <a:prstGeom prst="line">
            <a:avLst/>
          </a:prstGeom>
          <a:noFill/>
          <a:ln w="9525">
            <a:solidFill>
              <a:srgbClr val="D9DFE6"/>
            </a:solidFill>
            <a:prstDash val="solid"/>
          </a:ln>
        </p:spPr>
      </p:sp>
      <p:sp>
        <p:nvSpPr>
          <p:cNvPr id="59" name="Text 55"/>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60" name="Text 56"/>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61" name="Text 5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ORIGEN DEL HALLAZGO</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Quién levanta las no conformidades</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Interna es autodetección: la levanta Besalco antes que nadie. Externa la levanta el cliente —compromete el contrato— o un subcontrato. Autodetección global: 32,5%.</a:t>
            </a:r>
            <a:endParaRPr lang="en-US" sz="1350" dirty="0"/>
          </a:p>
        </p:txBody>
      </p:sp>
      <p:graphicFrame>
        <p:nvGraphicFramePr>
          <p:cNvPr id="6" name="Chart 0" descr=""/>
          <p:cNvGraphicFramePr/>
          <p:nvPr/>
        </p:nvGraphicFramePr>
        <p:xfrm>
          <a:off x="457200" y="1828800"/>
          <a:ext cx="6035040" cy="224028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502920" y="4160520"/>
            <a:ext cx="6400800" cy="274320"/>
          </a:xfrm>
          <a:prstGeom prst="rect">
            <a:avLst/>
          </a:prstGeom>
          <a:noFill/>
          <a:ln/>
        </p:spPr>
        <p:txBody>
          <a:bodyPr wrap="square" lIns="0" tIns="0" rIns="0" bIns="0" rtlCol="0" anchor="ctr"/>
          <a:lstStyle/>
          <a:p>
            <a:pPr indent="0" marL="0">
              <a:buNone/>
            </a:pPr>
            <a:r>
              <a:rPr lang="en-US" sz="900" b="1" spc="60" kern="0" dirty="0">
                <a:solidFill>
                  <a:srgbClr val="C87A32"/>
                </a:solidFill>
                <a:latin typeface="Calibri" pitchFamily="34" charset="0"/>
                <a:ea typeface="Calibri" pitchFamily="34" charset="-122"/>
                <a:cs typeface="Calibri" pitchFamily="34" charset="-120"/>
              </a:rPr>
              <a:t>ESTADO DE CADA VÍA  ·  atrasada = abierta que pasó los 10 días de plazo  ·  promedio en respuesta = días de emisión a cierre, solo sobre las cerradas</a:t>
            </a:r>
            <a:endParaRPr lang="en-US" sz="900" dirty="0"/>
          </a:p>
        </p:txBody>
      </p:sp>
      <p:sp>
        <p:nvSpPr>
          <p:cNvPr id="8" name="Text 4"/>
          <p:cNvSpPr/>
          <p:nvPr/>
        </p:nvSpPr>
        <p:spPr>
          <a:xfrm>
            <a:off x="502920" y="4462272"/>
            <a:ext cx="14630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VÍA DE EMISIÓN</a:t>
            </a:r>
            <a:endParaRPr lang="en-US" sz="950" dirty="0"/>
          </a:p>
        </p:txBody>
      </p:sp>
      <p:sp>
        <p:nvSpPr>
          <p:cNvPr id="9" name="Text 5"/>
          <p:cNvSpPr/>
          <p:nvPr/>
        </p:nvSpPr>
        <p:spPr>
          <a:xfrm>
            <a:off x="2011680" y="4462272"/>
            <a:ext cx="73152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LEVANT.</a:t>
            </a:r>
            <a:endParaRPr lang="en-US" sz="950" dirty="0"/>
          </a:p>
        </p:txBody>
      </p:sp>
      <p:sp>
        <p:nvSpPr>
          <p:cNvPr id="10" name="Text 6"/>
          <p:cNvSpPr/>
          <p:nvPr/>
        </p:nvSpPr>
        <p:spPr>
          <a:xfrm>
            <a:off x="2788920" y="4462272"/>
            <a:ext cx="73152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CERRADAS</a:t>
            </a:r>
            <a:endParaRPr lang="en-US" sz="950" dirty="0"/>
          </a:p>
        </p:txBody>
      </p:sp>
      <p:sp>
        <p:nvSpPr>
          <p:cNvPr id="11" name="Text 7"/>
          <p:cNvSpPr/>
          <p:nvPr/>
        </p:nvSpPr>
        <p:spPr>
          <a:xfrm>
            <a:off x="3566160" y="4462272"/>
            <a:ext cx="73152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 CIERRE</a:t>
            </a:r>
            <a:endParaRPr lang="en-US" sz="950" dirty="0"/>
          </a:p>
        </p:txBody>
      </p:sp>
      <p:sp>
        <p:nvSpPr>
          <p:cNvPr id="12" name="Text 8"/>
          <p:cNvSpPr/>
          <p:nvPr/>
        </p:nvSpPr>
        <p:spPr>
          <a:xfrm>
            <a:off x="4343400" y="4462272"/>
            <a:ext cx="73152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ABIERTAS</a:t>
            </a:r>
            <a:endParaRPr lang="en-US" sz="950" dirty="0"/>
          </a:p>
        </p:txBody>
      </p:sp>
      <p:sp>
        <p:nvSpPr>
          <p:cNvPr id="13" name="Text 9"/>
          <p:cNvSpPr/>
          <p:nvPr/>
        </p:nvSpPr>
        <p:spPr>
          <a:xfrm>
            <a:off x="5120640" y="4462272"/>
            <a:ext cx="77724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ATRASADAS</a:t>
            </a:r>
            <a:endParaRPr lang="en-US" sz="950" dirty="0"/>
          </a:p>
        </p:txBody>
      </p:sp>
      <p:sp>
        <p:nvSpPr>
          <p:cNvPr id="14" name="Text 10"/>
          <p:cNvSpPr/>
          <p:nvPr/>
        </p:nvSpPr>
        <p:spPr>
          <a:xfrm>
            <a:off x="5806440" y="4462272"/>
            <a:ext cx="105156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PROM. RESPUESTA</a:t>
            </a:r>
            <a:endParaRPr lang="en-US" sz="950" dirty="0"/>
          </a:p>
        </p:txBody>
      </p:sp>
      <p:sp>
        <p:nvSpPr>
          <p:cNvPr id="15" name="Shape 11"/>
          <p:cNvSpPr/>
          <p:nvPr/>
        </p:nvSpPr>
        <p:spPr>
          <a:xfrm>
            <a:off x="502920" y="4773168"/>
            <a:ext cx="6355080" cy="0"/>
          </a:xfrm>
          <a:prstGeom prst="line">
            <a:avLst/>
          </a:prstGeom>
          <a:noFill/>
          <a:ln w="12700">
            <a:solidFill>
              <a:srgbClr val="6E8CA8"/>
            </a:solidFill>
            <a:prstDash val="solid"/>
          </a:ln>
        </p:spPr>
      </p:sp>
      <p:sp>
        <p:nvSpPr>
          <p:cNvPr id="16" name="Text 12"/>
          <p:cNvSpPr/>
          <p:nvPr/>
        </p:nvSpPr>
        <p:spPr>
          <a:xfrm>
            <a:off x="502920" y="4901184"/>
            <a:ext cx="1463040" cy="192024"/>
          </a:xfrm>
          <a:prstGeom prst="rect">
            <a:avLst/>
          </a:prstGeom>
          <a:noFill/>
          <a:ln/>
        </p:spPr>
        <p:txBody>
          <a:bodyPr wrap="square" lIns="0" tIns="0" rIns="0" bIns="0" rtlCol="0" anchor="ctr"/>
          <a:lstStyle/>
          <a:p>
            <a:pPr algn="l" indent="0" marL="0">
              <a:buNone/>
            </a:pPr>
            <a:r>
              <a:rPr lang="en-US" sz="1050" dirty="0">
                <a:solidFill>
                  <a:srgbClr val="2E6FB5"/>
                </a:solidFill>
                <a:latin typeface="Calibri" pitchFamily="34" charset="0"/>
                <a:ea typeface="Calibri" pitchFamily="34" charset="-122"/>
                <a:cs typeface="Calibri" pitchFamily="34" charset="-120"/>
              </a:rPr>
              <a:t>Interna (Besalco)</a:t>
            </a:r>
            <a:endParaRPr lang="en-US" sz="1050" dirty="0"/>
          </a:p>
        </p:txBody>
      </p:sp>
      <p:sp>
        <p:nvSpPr>
          <p:cNvPr id="17" name="Text 13"/>
          <p:cNvSpPr/>
          <p:nvPr/>
        </p:nvSpPr>
        <p:spPr>
          <a:xfrm>
            <a:off x="2011680" y="4901184"/>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159</a:t>
            </a:r>
            <a:endParaRPr lang="en-US" sz="1050" dirty="0"/>
          </a:p>
        </p:txBody>
      </p:sp>
      <p:sp>
        <p:nvSpPr>
          <p:cNvPr id="18" name="Text 14"/>
          <p:cNvSpPr/>
          <p:nvPr/>
        </p:nvSpPr>
        <p:spPr>
          <a:xfrm>
            <a:off x="2788920" y="4901184"/>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154</a:t>
            </a:r>
            <a:endParaRPr lang="en-US" sz="1050" dirty="0"/>
          </a:p>
        </p:txBody>
      </p:sp>
      <p:sp>
        <p:nvSpPr>
          <p:cNvPr id="19" name="Text 15"/>
          <p:cNvSpPr/>
          <p:nvPr/>
        </p:nvSpPr>
        <p:spPr>
          <a:xfrm>
            <a:off x="3566160" y="4901184"/>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96,9%</a:t>
            </a:r>
            <a:endParaRPr lang="en-US" sz="1050" dirty="0"/>
          </a:p>
        </p:txBody>
      </p:sp>
      <p:sp>
        <p:nvSpPr>
          <p:cNvPr id="20" name="Text 16"/>
          <p:cNvSpPr/>
          <p:nvPr/>
        </p:nvSpPr>
        <p:spPr>
          <a:xfrm>
            <a:off x="4343400" y="4901184"/>
            <a:ext cx="731520" cy="192024"/>
          </a:xfrm>
          <a:prstGeom prst="rect">
            <a:avLst/>
          </a:prstGeom>
          <a:noFill/>
          <a:ln/>
        </p:spPr>
        <p:txBody>
          <a:bodyPr wrap="square" lIns="0" tIns="0" rIns="0" bIns="0" rtlCol="0" anchor="ctr"/>
          <a:lstStyle/>
          <a:p>
            <a:pPr algn="r" indent="0" marL="0">
              <a:buNone/>
            </a:pPr>
            <a:r>
              <a:rPr lang="en-US" sz="1050" dirty="0">
                <a:solidFill>
                  <a:srgbClr val="C0392B"/>
                </a:solidFill>
                <a:latin typeface="Calibri" pitchFamily="34" charset="0"/>
                <a:ea typeface="Calibri" pitchFamily="34" charset="-122"/>
                <a:cs typeface="Calibri" pitchFamily="34" charset="-120"/>
              </a:rPr>
              <a:t>5</a:t>
            </a:r>
            <a:endParaRPr lang="en-US" sz="1050" dirty="0"/>
          </a:p>
        </p:txBody>
      </p:sp>
      <p:sp>
        <p:nvSpPr>
          <p:cNvPr id="21" name="Text 17"/>
          <p:cNvSpPr/>
          <p:nvPr/>
        </p:nvSpPr>
        <p:spPr>
          <a:xfrm>
            <a:off x="5120640" y="4901184"/>
            <a:ext cx="777240" cy="192024"/>
          </a:xfrm>
          <a:prstGeom prst="rect">
            <a:avLst/>
          </a:prstGeom>
          <a:noFill/>
          <a:ln/>
        </p:spPr>
        <p:txBody>
          <a:bodyPr wrap="square" lIns="0" tIns="0" rIns="0" bIns="0" rtlCol="0" anchor="ctr"/>
          <a:lstStyle/>
          <a:p>
            <a:pPr algn="r" indent="0" marL="0">
              <a:buNone/>
            </a:pPr>
            <a:r>
              <a:rPr lang="en-US" sz="1050" dirty="0">
                <a:solidFill>
                  <a:srgbClr val="C0392B"/>
                </a:solidFill>
                <a:latin typeface="Calibri" pitchFamily="34" charset="0"/>
                <a:ea typeface="Calibri" pitchFamily="34" charset="-122"/>
                <a:cs typeface="Calibri" pitchFamily="34" charset="-120"/>
              </a:rPr>
              <a:t>5</a:t>
            </a:r>
            <a:endParaRPr lang="en-US" sz="1050" dirty="0"/>
          </a:p>
        </p:txBody>
      </p:sp>
      <p:sp>
        <p:nvSpPr>
          <p:cNvPr id="22" name="Text 18"/>
          <p:cNvSpPr/>
          <p:nvPr/>
        </p:nvSpPr>
        <p:spPr>
          <a:xfrm>
            <a:off x="5806440" y="4901184"/>
            <a:ext cx="105156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64 días</a:t>
            </a:r>
            <a:endParaRPr lang="en-US" sz="1050" dirty="0"/>
          </a:p>
        </p:txBody>
      </p:sp>
      <p:sp>
        <p:nvSpPr>
          <p:cNvPr id="23" name="Shape 19"/>
          <p:cNvSpPr/>
          <p:nvPr/>
        </p:nvSpPr>
        <p:spPr>
          <a:xfrm>
            <a:off x="502920" y="5129784"/>
            <a:ext cx="6355080" cy="0"/>
          </a:xfrm>
          <a:prstGeom prst="line">
            <a:avLst/>
          </a:prstGeom>
          <a:noFill/>
          <a:ln w="9525">
            <a:solidFill>
              <a:srgbClr val="D9DFE6"/>
            </a:solidFill>
            <a:prstDash val="solid"/>
          </a:ln>
        </p:spPr>
      </p:sp>
      <p:sp>
        <p:nvSpPr>
          <p:cNvPr id="24" name="Shape 20"/>
          <p:cNvSpPr/>
          <p:nvPr/>
        </p:nvSpPr>
        <p:spPr>
          <a:xfrm>
            <a:off x="457200" y="5138928"/>
            <a:ext cx="6400800" cy="283464"/>
          </a:xfrm>
          <a:prstGeom prst="rect">
            <a:avLst/>
          </a:prstGeom>
          <a:solidFill>
            <a:srgbClr val="FFFFFF"/>
          </a:solidFill>
          <a:ln/>
        </p:spPr>
      </p:sp>
      <p:sp>
        <p:nvSpPr>
          <p:cNvPr id="25" name="Text 21"/>
          <p:cNvSpPr/>
          <p:nvPr/>
        </p:nvSpPr>
        <p:spPr>
          <a:xfrm>
            <a:off x="502920" y="5184648"/>
            <a:ext cx="1463040" cy="192024"/>
          </a:xfrm>
          <a:prstGeom prst="rect">
            <a:avLst/>
          </a:prstGeom>
          <a:noFill/>
          <a:ln/>
        </p:spPr>
        <p:txBody>
          <a:bodyPr wrap="square" lIns="0" tIns="0" rIns="0" bIns="0" rtlCol="0" anchor="ctr"/>
          <a:lstStyle/>
          <a:p>
            <a:pPr algn="l" indent="0" marL="0">
              <a:buNone/>
            </a:pPr>
            <a:r>
              <a:rPr lang="en-US" sz="1050" dirty="0">
                <a:solidFill>
                  <a:srgbClr val="9A6B0F"/>
                </a:solidFill>
                <a:latin typeface="Calibri" pitchFamily="34" charset="0"/>
                <a:ea typeface="Calibri" pitchFamily="34" charset="-122"/>
                <a:cs typeface="Calibri" pitchFamily="34" charset="-120"/>
              </a:rPr>
              <a:t>Externa · Cliente</a:t>
            </a:r>
            <a:endParaRPr lang="en-US" sz="1050" dirty="0"/>
          </a:p>
        </p:txBody>
      </p:sp>
      <p:sp>
        <p:nvSpPr>
          <p:cNvPr id="26" name="Text 22"/>
          <p:cNvSpPr/>
          <p:nvPr/>
        </p:nvSpPr>
        <p:spPr>
          <a:xfrm>
            <a:off x="2011680" y="5184648"/>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282</a:t>
            </a:r>
            <a:endParaRPr lang="en-US" sz="1050" dirty="0"/>
          </a:p>
        </p:txBody>
      </p:sp>
      <p:sp>
        <p:nvSpPr>
          <p:cNvPr id="27" name="Text 23"/>
          <p:cNvSpPr/>
          <p:nvPr/>
        </p:nvSpPr>
        <p:spPr>
          <a:xfrm>
            <a:off x="2788920" y="5184648"/>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235</a:t>
            </a:r>
            <a:endParaRPr lang="en-US" sz="1050" dirty="0"/>
          </a:p>
        </p:txBody>
      </p:sp>
      <p:sp>
        <p:nvSpPr>
          <p:cNvPr id="28" name="Text 24"/>
          <p:cNvSpPr/>
          <p:nvPr/>
        </p:nvSpPr>
        <p:spPr>
          <a:xfrm>
            <a:off x="3566160" y="5184648"/>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83,3%</a:t>
            </a:r>
            <a:endParaRPr lang="en-US" sz="1050" dirty="0"/>
          </a:p>
        </p:txBody>
      </p:sp>
      <p:sp>
        <p:nvSpPr>
          <p:cNvPr id="29" name="Text 25"/>
          <p:cNvSpPr/>
          <p:nvPr/>
        </p:nvSpPr>
        <p:spPr>
          <a:xfrm>
            <a:off x="4343400" y="5184648"/>
            <a:ext cx="731520" cy="192024"/>
          </a:xfrm>
          <a:prstGeom prst="rect">
            <a:avLst/>
          </a:prstGeom>
          <a:noFill/>
          <a:ln/>
        </p:spPr>
        <p:txBody>
          <a:bodyPr wrap="square" lIns="0" tIns="0" rIns="0" bIns="0" rtlCol="0" anchor="ctr"/>
          <a:lstStyle/>
          <a:p>
            <a:pPr algn="r" indent="0" marL="0">
              <a:buNone/>
            </a:pPr>
            <a:r>
              <a:rPr lang="en-US" sz="1050" dirty="0">
                <a:solidFill>
                  <a:srgbClr val="C0392B"/>
                </a:solidFill>
                <a:latin typeface="Calibri" pitchFamily="34" charset="0"/>
                <a:ea typeface="Calibri" pitchFamily="34" charset="-122"/>
                <a:cs typeface="Calibri" pitchFamily="34" charset="-120"/>
              </a:rPr>
              <a:t>47</a:t>
            </a:r>
            <a:endParaRPr lang="en-US" sz="1050" dirty="0"/>
          </a:p>
        </p:txBody>
      </p:sp>
      <p:sp>
        <p:nvSpPr>
          <p:cNvPr id="30" name="Text 26"/>
          <p:cNvSpPr/>
          <p:nvPr/>
        </p:nvSpPr>
        <p:spPr>
          <a:xfrm>
            <a:off x="5120640" y="5184648"/>
            <a:ext cx="777240" cy="192024"/>
          </a:xfrm>
          <a:prstGeom prst="rect">
            <a:avLst/>
          </a:prstGeom>
          <a:noFill/>
          <a:ln/>
        </p:spPr>
        <p:txBody>
          <a:bodyPr wrap="square" lIns="0" tIns="0" rIns="0" bIns="0" rtlCol="0" anchor="ctr"/>
          <a:lstStyle/>
          <a:p>
            <a:pPr algn="r" indent="0" marL="0">
              <a:buNone/>
            </a:pPr>
            <a:r>
              <a:rPr lang="en-US" sz="1050" dirty="0">
                <a:solidFill>
                  <a:srgbClr val="C0392B"/>
                </a:solidFill>
                <a:latin typeface="Calibri" pitchFamily="34" charset="0"/>
                <a:ea typeface="Calibri" pitchFamily="34" charset="-122"/>
                <a:cs typeface="Calibri" pitchFamily="34" charset="-120"/>
              </a:rPr>
              <a:t>45</a:t>
            </a:r>
            <a:endParaRPr lang="en-US" sz="1050" dirty="0"/>
          </a:p>
        </p:txBody>
      </p:sp>
      <p:sp>
        <p:nvSpPr>
          <p:cNvPr id="31" name="Text 27"/>
          <p:cNvSpPr/>
          <p:nvPr/>
        </p:nvSpPr>
        <p:spPr>
          <a:xfrm>
            <a:off x="5806440" y="5184648"/>
            <a:ext cx="105156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49 días</a:t>
            </a:r>
            <a:endParaRPr lang="en-US" sz="1050" dirty="0"/>
          </a:p>
        </p:txBody>
      </p:sp>
      <p:sp>
        <p:nvSpPr>
          <p:cNvPr id="32" name="Shape 28"/>
          <p:cNvSpPr/>
          <p:nvPr/>
        </p:nvSpPr>
        <p:spPr>
          <a:xfrm>
            <a:off x="502920" y="5413248"/>
            <a:ext cx="6355080" cy="0"/>
          </a:xfrm>
          <a:prstGeom prst="line">
            <a:avLst/>
          </a:prstGeom>
          <a:noFill/>
          <a:ln w="9525">
            <a:solidFill>
              <a:srgbClr val="D9DFE6"/>
            </a:solidFill>
            <a:prstDash val="solid"/>
          </a:ln>
        </p:spPr>
      </p:sp>
      <p:sp>
        <p:nvSpPr>
          <p:cNvPr id="33" name="Text 29"/>
          <p:cNvSpPr/>
          <p:nvPr/>
        </p:nvSpPr>
        <p:spPr>
          <a:xfrm>
            <a:off x="502920" y="5468112"/>
            <a:ext cx="1463040" cy="192024"/>
          </a:xfrm>
          <a:prstGeom prst="rect">
            <a:avLst/>
          </a:prstGeom>
          <a:noFill/>
          <a:ln/>
        </p:spPr>
        <p:txBody>
          <a:bodyPr wrap="square" lIns="0" tIns="0" rIns="0" bIns="0" rtlCol="0" anchor="ctr"/>
          <a:lstStyle/>
          <a:p>
            <a:pPr algn="l" indent="0" marL="0">
              <a:buNone/>
            </a:pPr>
            <a:r>
              <a:rPr lang="en-US" sz="1050" dirty="0">
                <a:solidFill>
                  <a:srgbClr val="8A5520"/>
                </a:solidFill>
                <a:latin typeface="Calibri" pitchFamily="34" charset="0"/>
                <a:ea typeface="Calibri" pitchFamily="34" charset="-122"/>
                <a:cs typeface="Calibri" pitchFamily="34" charset="-120"/>
              </a:rPr>
              <a:t>Externa · Subcontrato</a:t>
            </a:r>
            <a:endParaRPr lang="en-US" sz="1050" dirty="0"/>
          </a:p>
        </p:txBody>
      </p:sp>
      <p:sp>
        <p:nvSpPr>
          <p:cNvPr id="34" name="Text 30"/>
          <p:cNvSpPr/>
          <p:nvPr/>
        </p:nvSpPr>
        <p:spPr>
          <a:xfrm>
            <a:off x="2011680" y="5468112"/>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48</a:t>
            </a:r>
            <a:endParaRPr lang="en-US" sz="1050" dirty="0"/>
          </a:p>
        </p:txBody>
      </p:sp>
      <p:sp>
        <p:nvSpPr>
          <p:cNvPr id="35" name="Text 31"/>
          <p:cNvSpPr/>
          <p:nvPr/>
        </p:nvSpPr>
        <p:spPr>
          <a:xfrm>
            <a:off x="2788920" y="5468112"/>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48</a:t>
            </a:r>
            <a:endParaRPr lang="en-US" sz="1050" dirty="0"/>
          </a:p>
        </p:txBody>
      </p:sp>
      <p:sp>
        <p:nvSpPr>
          <p:cNvPr id="36" name="Text 32"/>
          <p:cNvSpPr/>
          <p:nvPr/>
        </p:nvSpPr>
        <p:spPr>
          <a:xfrm>
            <a:off x="3566160" y="5468112"/>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100%</a:t>
            </a:r>
            <a:endParaRPr lang="en-US" sz="1050" dirty="0"/>
          </a:p>
        </p:txBody>
      </p:sp>
      <p:sp>
        <p:nvSpPr>
          <p:cNvPr id="37" name="Text 33"/>
          <p:cNvSpPr/>
          <p:nvPr/>
        </p:nvSpPr>
        <p:spPr>
          <a:xfrm>
            <a:off x="4343400" y="5468112"/>
            <a:ext cx="731520" cy="192024"/>
          </a:xfrm>
          <a:prstGeom prst="rect">
            <a:avLst/>
          </a:prstGeom>
          <a:noFill/>
          <a:ln/>
        </p:spPr>
        <p:txBody>
          <a:bodyPr wrap="square" lIns="0" tIns="0" rIns="0" bIns="0" rtlCol="0" anchor="ctr"/>
          <a:lstStyle/>
          <a:p>
            <a:pPr algn="r" indent="0" marL="0">
              <a:buNone/>
            </a:pPr>
            <a:r>
              <a:rPr lang="en-US" sz="1050" dirty="0">
                <a:solidFill>
                  <a:srgbClr val="56606E"/>
                </a:solidFill>
                <a:latin typeface="Calibri" pitchFamily="34" charset="0"/>
                <a:ea typeface="Calibri" pitchFamily="34" charset="-122"/>
                <a:cs typeface="Calibri" pitchFamily="34" charset="-120"/>
              </a:rPr>
              <a:t>—</a:t>
            </a:r>
            <a:endParaRPr lang="en-US" sz="1050" dirty="0"/>
          </a:p>
        </p:txBody>
      </p:sp>
      <p:sp>
        <p:nvSpPr>
          <p:cNvPr id="38" name="Text 34"/>
          <p:cNvSpPr/>
          <p:nvPr/>
        </p:nvSpPr>
        <p:spPr>
          <a:xfrm>
            <a:off x="5120640" y="5468112"/>
            <a:ext cx="777240" cy="192024"/>
          </a:xfrm>
          <a:prstGeom prst="rect">
            <a:avLst/>
          </a:prstGeom>
          <a:noFill/>
          <a:ln/>
        </p:spPr>
        <p:txBody>
          <a:bodyPr wrap="square" lIns="0" tIns="0" rIns="0" bIns="0" rtlCol="0" anchor="ctr"/>
          <a:lstStyle/>
          <a:p>
            <a:pPr algn="r" indent="0" marL="0">
              <a:buNone/>
            </a:pPr>
            <a:r>
              <a:rPr lang="en-US" sz="1050" dirty="0">
                <a:solidFill>
                  <a:srgbClr val="56606E"/>
                </a:solidFill>
                <a:latin typeface="Calibri" pitchFamily="34" charset="0"/>
                <a:ea typeface="Calibri" pitchFamily="34" charset="-122"/>
                <a:cs typeface="Calibri" pitchFamily="34" charset="-120"/>
              </a:rPr>
              <a:t>—</a:t>
            </a:r>
            <a:endParaRPr lang="en-US" sz="1050" dirty="0"/>
          </a:p>
        </p:txBody>
      </p:sp>
      <p:sp>
        <p:nvSpPr>
          <p:cNvPr id="39" name="Text 35"/>
          <p:cNvSpPr/>
          <p:nvPr/>
        </p:nvSpPr>
        <p:spPr>
          <a:xfrm>
            <a:off x="5806440" y="5468112"/>
            <a:ext cx="105156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179 días</a:t>
            </a:r>
            <a:endParaRPr lang="en-US" sz="1050" dirty="0"/>
          </a:p>
        </p:txBody>
      </p:sp>
      <p:sp>
        <p:nvSpPr>
          <p:cNvPr id="40" name="Shape 36"/>
          <p:cNvSpPr/>
          <p:nvPr/>
        </p:nvSpPr>
        <p:spPr>
          <a:xfrm>
            <a:off x="502920" y="5696712"/>
            <a:ext cx="6355080" cy="0"/>
          </a:xfrm>
          <a:prstGeom prst="line">
            <a:avLst/>
          </a:prstGeom>
          <a:noFill/>
          <a:ln w="9525">
            <a:solidFill>
              <a:srgbClr val="D9DFE6"/>
            </a:solidFill>
            <a:prstDash val="solid"/>
          </a:ln>
        </p:spPr>
      </p:sp>
      <p:sp>
        <p:nvSpPr>
          <p:cNvPr id="41" name="Shape 37"/>
          <p:cNvSpPr/>
          <p:nvPr/>
        </p:nvSpPr>
        <p:spPr>
          <a:xfrm>
            <a:off x="457200" y="5705856"/>
            <a:ext cx="6400800" cy="283464"/>
          </a:xfrm>
          <a:prstGeom prst="rect">
            <a:avLst/>
          </a:prstGeom>
          <a:solidFill>
            <a:srgbClr val="FFFFFF"/>
          </a:solidFill>
          <a:ln/>
        </p:spPr>
      </p:sp>
      <p:sp>
        <p:nvSpPr>
          <p:cNvPr id="42" name="Text 38"/>
          <p:cNvSpPr/>
          <p:nvPr/>
        </p:nvSpPr>
        <p:spPr>
          <a:xfrm>
            <a:off x="502920" y="5751576"/>
            <a:ext cx="1463040" cy="192024"/>
          </a:xfrm>
          <a:prstGeom prst="rect">
            <a:avLst/>
          </a:prstGeom>
          <a:noFill/>
          <a:ln/>
        </p:spPr>
        <p:txBody>
          <a:bodyPr wrap="square" lIns="0" tIns="0" rIns="0" bIns="0" rtlCol="0" anchor="ctr"/>
          <a:lstStyle/>
          <a:p>
            <a:pPr algn="l" indent="0" marL="0">
              <a:buNone/>
            </a:pPr>
            <a:r>
              <a:rPr lang="en-US" sz="1050" dirty="0">
                <a:solidFill>
                  <a:srgbClr val="5B6B7C"/>
                </a:solidFill>
                <a:latin typeface="Calibri" pitchFamily="34" charset="0"/>
                <a:ea typeface="Calibri" pitchFamily="34" charset="-122"/>
                <a:cs typeface="Calibri" pitchFamily="34" charset="-120"/>
              </a:rPr>
              <a:t>Sin clasificar</a:t>
            </a:r>
            <a:endParaRPr lang="en-US" sz="1050" dirty="0"/>
          </a:p>
        </p:txBody>
      </p:sp>
      <p:sp>
        <p:nvSpPr>
          <p:cNvPr id="43" name="Text 39"/>
          <p:cNvSpPr/>
          <p:nvPr/>
        </p:nvSpPr>
        <p:spPr>
          <a:xfrm>
            <a:off x="2011680" y="5751576"/>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p>
        </p:txBody>
      </p:sp>
      <p:sp>
        <p:nvSpPr>
          <p:cNvPr id="44" name="Text 40"/>
          <p:cNvSpPr/>
          <p:nvPr/>
        </p:nvSpPr>
        <p:spPr>
          <a:xfrm>
            <a:off x="2788920" y="5751576"/>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p>
        </p:txBody>
      </p:sp>
      <p:sp>
        <p:nvSpPr>
          <p:cNvPr id="45" name="Text 41"/>
          <p:cNvSpPr/>
          <p:nvPr/>
        </p:nvSpPr>
        <p:spPr>
          <a:xfrm>
            <a:off x="3566160" y="5751576"/>
            <a:ext cx="73152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100%</a:t>
            </a:r>
            <a:endParaRPr lang="en-US" sz="1050" dirty="0"/>
          </a:p>
        </p:txBody>
      </p:sp>
      <p:sp>
        <p:nvSpPr>
          <p:cNvPr id="46" name="Text 42"/>
          <p:cNvSpPr/>
          <p:nvPr/>
        </p:nvSpPr>
        <p:spPr>
          <a:xfrm>
            <a:off x="4343400" y="5751576"/>
            <a:ext cx="731520" cy="192024"/>
          </a:xfrm>
          <a:prstGeom prst="rect">
            <a:avLst/>
          </a:prstGeom>
          <a:noFill/>
          <a:ln/>
        </p:spPr>
        <p:txBody>
          <a:bodyPr wrap="square" lIns="0" tIns="0" rIns="0" bIns="0" rtlCol="0" anchor="ctr"/>
          <a:lstStyle/>
          <a:p>
            <a:pPr algn="r" indent="0" marL="0">
              <a:buNone/>
            </a:pPr>
            <a:r>
              <a:rPr lang="en-US" sz="1050" dirty="0">
                <a:solidFill>
                  <a:srgbClr val="56606E"/>
                </a:solidFill>
                <a:latin typeface="Calibri" pitchFamily="34" charset="0"/>
                <a:ea typeface="Calibri" pitchFamily="34" charset="-122"/>
                <a:cs typeface="Calibri" pitchFamily="34" charset="-120"/>
              </a:rPr>
              <a:t>—</a:t>
            </a:r>
            <a:endParaRPr lang="en-US" sz="1050" dirty="0"/>
          </a:p>
        </p:txBody>
      </p:sp>
      <p:sp>
        <p:nvSpPr>
          <p:cNvPr id="47" name="Text 43"/>
          <p:cNvSpPr/>
          <p:nvPr/>
        </p:nvSpPr>
        <p:spPr>
          <a:xfrm>
            <a:off x="5120640" y="5751576"/>
            <a:ext cx="777240" cy="192024"/>
          </a:xfrm>
          <a:prstGeom prst="rect">
            <a:avLst/>
          </a:prstGeom>
          <a:noFill/>
          <a:ln/>
        </p:spPr>
        <p:txBody>
          <a:bodyPr wrap="square" lIns="0" tIns="0" rIns="0" bIns="0" rtlCol="0" anchor="ctr"/>
          <a:lstStyle/>
          <a:p>
            <a:pPr algn="r" indent="0" marL="0">
              <a:buNone/>
            </a:pPr>
            <a:r>
              <a:rPr lang="en-US" sz="1050" dirty="0">
                <a:solidFill>
                  <a:srgbClr val="56606E"/>
                </a:solidFill>
                <a:latin typeface="Calibri" pitchFamily="34" charset="0"/>
                <a:ea typeface="Calibri" pitchFamily="34" charset="-122"/>
                <a:cs typeface="Calibri" pitchFamily="34" charset="-120"/>
              </a:rPr>
              <a:t>—</a:t>
            </a:r>
            <a:endParaRPr lang="en-US" sz="1050" dirty="0"/>
          </a:p>
        </p:txBody>
      </p:sp>
      <p:sp>
        <p:nvSpPr>
          <p:cNvPr id="48" name="Text 44"/>
          <p:cNvSpPr/>
          <p:nvPr/>
        </p:nvSpPr>
        <p:spPr>
          <a:xfrm>
            <a:off x="5806440" y="5751576"/>
            <a:ext cx="1051560" cy="192024"/>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64 días</a:t>
            </a:r>
            <a:endParaRPr lang="en-US" sz="1050" dirty="0"/>
          </a:p>
        </p:txBody>
      </p:sp>
      <p:sp>
        <p:nvSpPr>
          <p:cNvPr id="49" name="Shape 45"/>
          <p:cNvSpPr/>
          <p:nvPr/>
        </p:nvSpPr>
        <p:spPr>
          <a:xfrm>
            <a:off x="502920" y="5980176"/>
            <a:ext cx="6355080" cy="0"/>
          </a:xfrm>
          <a:prstGeom prst="line">
            <a:avLst/>
          </a:prstGeom>
          <a:noFill/>
          <a:ln w="9525">
            <a:solidFill>
              <a:srgbClr val="D9DFE6"/>
            </a:solidFill>
            <a:prstDash val="solid"/>
          </a:ln>
        </p:spPr>
      </p:sp>
      <p:sp>
        <p:nvSpPr>
          <p:cNvPr id="50" name="Text 46"/>
          <p:cNvSpPr/>
          <p:nvPr/>
        </p:nvSpPr>
        <p:spPr>
          <a:xfrm>
            <a:off x="502920" y="6035040"/>
            <a:ext cx="1463040" cy="192024"/>
          </a:xfrm>
          <a:prstGeom prst="rect">
            <a:avLst/>
          </a:prstGeom>
          <a:noFill/>
          <a:ln/>
        </p:spPr>
        <p:txBody>
          <a:bodyPr wrap="square" lIns="0" tIns="0" rIns="0" bIns="0" rtlCol="0" anchor="ctr"/>
          <a:lstStyle/>
          <a:p>
            <a:pPr algn="l" indent="0" marL="0">
              <a:buNone/>
            </a:pPr>
            <a:r>
              <a:rPr lang="en-US" sz="1050" b="1" dirty="0">
                <a:solidFill>
                  <a:srgbClr val="1A2433"/>
                </a:solidFill>
                <a:latin typeface="Calibri" pitchFamily="34" charset="0"/>
                <a:ea typeface="Calibri" pitchFamily="34" charset="-122"/>
                <a:cs typeface="Calibri" pitchFamily="34" charset="-120"/>
              </a:rPr>
              <a:t>Todas las vías</a:t>
            </a:r>
            <a:endParaRPr lang="en-US" sz="1050" dirty="0"/>
          </a:p>
        </p:txBody>
      </p:sp>
      <p:sp>
        <p:nvSpPr>
          <p:cNvPr id="51" name="Text 47"/>
          <p:cNvSpPr/>
          <p:nvPr/>
        </p:nvSpPr>
        <p:spPr>
          <a:xfrm>
            <a:off x="2011680" y="6035040"/>
            <a:ext cx="731520" cy="192024"/>
          </a:xfrm>
          <a:prstGeom prst="rect">
            <a:avLst/>
          </a:prstGeom>
          <a:noFill/>
          <a:ln/>
        </p:spPr>
        <p:txBody>
          <a:bodyPr wrap="square" lIns="0" tIns="0" rIns="0" bIns="0" rtlCol="0" anchor="ctr"/>
          <a:lstStyle/>
          <a:p>
            <a:pPr algn="r" indent="0" marL="0">
              <a:buNone/>
            </a:pPr>
            <a:r>
              <a:rPr lang="en-US" sz="1050" b="1" dirty="0">
                <a:solidFill>
                  <a:srgbClr val="1A2433"/>
                </a:solidFill>
                <a:latin typeface="Calibri" pitchFamily="34" charset="0"/>
                <a:ea typeface="Calibri" pitchFamily="34" charset="-122"/>
                <a:cs typeface="Calibri" pitchFamily="34" charset="-120"/>
              </a:rPr>
              <a:t>498</a:t>
            </a:r>
            <a:endParaRPr lang="en-US" sz="1050" dirty="0"/>
          </a:p>
        </p:txBody>
      </p:sp>
      <p:sp>
        <p:nvSpPr>
          <p:cNvPr id="52" name="Text 48"/>
          <p:cNvSpPr/>
          <p:nvPr/>
        </p:nvSpPr>
        <p:spPr>
          <a:xfrm>
            <a:off x="2788920" y="6035040"/>
            <a:ext cx="731520" cy="192024"/>
          </a:xfrm>
          <a:prstGeom prst="rect">
            <a:avLst/>
          </a:prstGeom>
          <a:noFill/>
          <a:ln/>
        </p:spPr>
        <p:txBody>
          <a:bodyPr wrap="square" lIns="0" tIns="0" rIns="0" bIns="0" rtlCol="0" anchor="ctr"/>
          <a:lstStyle/>
          <a:p>
            <a:pPr algn="r" indent="0" marL="0">
              <a:buNone/>
            </a:pPr>
            <a:r>
              <a:rPr lang="en-US" sz="1050" b="1" dirty="0">
                <a:solidFill>
                  <a:srgbClr val="1A2433"/>
                </a:solidFill>
                <a:latin typeface="Calibri" pitchFamily="34" charset="0"/>
                <a:ea typeface="Calibri" pitchFamily="34" charset="-122"/>
                <a:cs typeface="Calibri" pitchFamily="34" charset="-120"/>
              </a:rPr>
              <a:t>446</a:t>
            </a:r>
            <a:endParaRPr lang="en-US" sz="1050" dirty="0"/>
          </a:p>
        </p:txBody>
      </p:sp>
      <p:sp>
        <p:nvSpPr>
          <p:cNvPr id="53" name="Text 49"/>
          <p:cNvSpPr/>
          <p:nvPr/>
        </p:nvSpPr>
        <p:spPr>
          <a:xfrm>
            <a:off x="3566160" y="6035040"/>
            <a:ext cx="731520" cy="192024"/>
          </a:xfrm>
          <a:prstGeom prst="rect">
            <a:avLst/>
          </a:prstGeom>
          <a:noFill/>
          <a:ln/>
        </p:spPr>
        <p:txBody>
          <a:bodyPr wrap="square" lIns="0" tIns="0" rIns="0" bIns="0" rtlCol="0" anchor="ctr"/>
          <a:lstStyle/>
          <a:p>
            <a:pPr algn="r" indent="0" marL="0">
              <a:buNone/>
            </a:pPr>
            <a:r>
              <a:rPr lang="en-US" sz="1050" b="1" dirty="0">
                <a:solidFill>
                  <a:srgbClr val="1A2433"/>
                </a:solidFill>
                <a:latin typeface="Calibri" pitchFamily="34" charset="0"/>
                <a:ea typeface="Calibri" pitchFamily="34" charset="-122"/>
                <a:cs typeface="Calibri" pitchFamily="34" charset="-120"/>
              </a:rPr>
              <a:t>89,6%</a:t>
            </a:r>
            <a:endParaRPr lang="en-US" sz="1050" dirty="0"/>
          </a:p>
        </p:txBody>
      </p:sp>
      <p:sp>
        <p:nvSpPr>
          <p:cNvPr id="54" name="Text 50"/>
          <p:cNvSpPr/>
          <p:nvPr/>
        </p:nvSpPr>
        <p:spPr>
          <a:xfrm>
            <a:off x="4343400" y="6035040"/>
            <a:ext cx="731520" cy="192024"/>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52</a:t>
            </a:r>
            <a:endParaRPr lang="en-US" sz="1050" dirty="0"/>
          </a:p>
        </p:txBody>
      </p:sp>
      <p:sp>
        <p:nvSpPr>
          <p:cNvPr id="55" name="Text 51"/>
          <p:cNvSpPr/>
          <p:nvPr/>
        </p:nvSpPr>
        <p:spPr>
          <a:xfrm>
            <a:off x="5120640" y="6035040"/>
            <a:ext cx="777240" cy="192024"/>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50</a:t>
            </a:r>
            <a:endParaRPr lang="en-US" sz="1050" dirty="0"/>
          </a:p>
        </p:txBody>
      </p:sp>
      <p:sp>
        <p:nvSpPr>
          <p:cNvPr id="56" name="Text 52"/>
          <p:cNvSpPr/>
          <p:nvPr/>
        </p:nvSpPr>
        <p:spPr>
          <a:xfrm>
            <a:off x="5806440" y="6035040"/>
            <a:ext cx="1051560" cy="192024"/>
          </a:xfrm>
          <a:prstGeom prst="rect">
            <a:avLst/>
          </a:prstGeom>
          <a:noFill/>
          <a:ln/>
        </p:spPr>
        <p:txBody>
          <a:bodyPr wrap="square" lIns="0" tIns="0" rIns="0" bIns="0" rtlCol="0" anchor="ctr"/>
          <a:lstStyle/>
          <a:p>
            <a:pPr algn="r" indent="0" marL="0">
              <a:buNone/>
            </a:pPr>
            <a:r>
              <a:rPr lang="en-US" sz="1050" b="1" dirty="0">
                <a:solidFill>
                  <a:srgbClr val="1A2433"/>
                </a:solidFill>
                <a:latin typeface="Calibri" pitchFamily="34" charset="0"/>
                <a:ea typeface="Calibri" pitchFamily="34" charset="-122"/>
                <a:cs typeface="Calibri" pitchFamily="34" charset="-120"/>
              </a:rPr>
              <a:t>69 días</a:t>
            </a:r>
            <a:endParaRPr lang="en-US" sz="1050" dirty="0"/>
          </a:p>
        </p:txBody>
      </p:sp>
      <p:sp>
        <p:nvSpPr>
          <p:cNvPr id="57" name="Shape 53"/>
          <p:cNvSpPr/>
          <p:nvPr/>
        </p:nvSpPr>
        <p:spPr>
          <a:xfrm>
            <a:off x="502920" y="6263640"/>
            <a:ext cx="6355080" cy="0"/>
          </a:xfrm>
          <a:prstGeom prst="line">
            <a:avLst/>
          </a:prstGeom>
          <a:noFill/>
          <a:ln w="9525">
            <a:solidFill>
              <a:srgbClr val="D9DFE6"/>
            </a:solidFill>
            <a:prstDash val="solid"/>
          </a:ln>
        </p:spPr>
      </p:sp>
      <p:graphicFrame>
        <p:nvGraphicFramePr>
          <p:cNvPr id="58" name="Chart 1" descr=""/>
          <p:cNvGraphicFramePr/>
          <p:nvPr/>
        </p:nvGraphicFramePr>
        <p:xfrm>
          <a:off x="6675120" y="1828800"/>
          <a:ext cx="5056632" cy="2606040"/>
        </p:xfrm>
        <a:graphic xmlns:a="http://schemas.openxmlformats.org/drawingml/2006/main">
          <a:graphicData uri="http://schemas.openxmlformats.org/drawingml/2006/chart">
            <c:chart xmlns:c="http://schemas.openxmlformats.org/drawingml/2006/chart" r:id="rId3"/>
          </a:graphicData>
        </a:graphic>
      </p:graphicFrame>
      <p:sp>
        <p:nvSpPr>
          <p:cNvPr id="59" name="Shape 54"/>
          <p:cNvSpPr/>
          <p:nvPr/>
        </p:nvSpPr>
        <p:spPr>
          <a:xfrm>
            <a:off x="6675120" y="4572000"/>
            <a:ext cx="5056632" cy="1280160"/>
          </a:xfrm>
          <a:prstGeom prst="roundRect">
            <a:avLst>
              <a:gd name="adj" fmla="val 4286"/>
            </a:avLst>
          </a:prstGeom>
          <a:solidFill>
            <a:srgbClr val="12233B"/>
          </a:solidFill>
          <a:ln/>
        </p:spPr>
      </p:sp>
      <p:sp>
        <p:nvSpPr>
          <p:cNvPr id="60" name="Text 55"/>
          <p:cNvSpPr/>
          <p:nvPr/>
        </p:nvSpPr>
        <p:spPr>
          <a:xfrm>
            <a:off x="6949440" y="4700016"/>
            <a:ext cx="4572000" cy="274320"/>
          </a:xfrm>
          <a:prstGeom prst="rect">
            <a:avLst/>
          </a:prstGeom>
          <a:noFill/>
          <a:ln/>
        </p:spPr>
        <p:txBody>
          <a:bodyPr wrap="square" lIns="0" tIns="0" rIns="0" bIns="0" rtlCol="0" anchor="ctr"/>
          <a:lstStyle/>
          <a:p>
            <a:pPr indent="0" marL="0">
              <a:buNone/>
            </a:pPr>
            <a:r>
              <a:rPr lang="en-US" sz="1050" b="1" spc="120" kern="0" dirty="0">
                <a:solidFill>
                  <a:srgbClr val="E3A55B"/>
                </a:solidFill>
                <a:latin typeface="Calibri" pitchFamily="34" charset="0"/>
                <a:ea typeface="Calibri" pitchFamily="34" charset="-122"/>
                <a:cs typeface="Calibri" pitchFamily="34" charset="-120"/>
              </a:rPr>
              <a:t>AUTODETECCIÓN POR FRENTE</a:t>
            </a:r>
            <a:endParaRPr lang="en-US" sz="1050" dirty="0"/>
          </a:p>
        </p:txBody>
      </p:sp>
      <p:sp>
        <p:nvSpPr>
          <p:cNvPr id="61" name="Text 56"/>
          <p:cNvSpPr/>
          <p:nvPr/>
        </p:nvSpPr>
        <p:spPr>
          <a:xfrm>
            <a:off x="6949440" y="4992624"/>
            <a:ext cx="14630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66,7%</a:t>
            </a:r>
            <a:endParaRPr lang="en-US" sz="2400" dirty="0"/>
          </a:p>
        </p:txBody>
      </p:sp>
      <p:sp>
        <p:nvSpPr>
          <p:cNvPr id="62" name="Text 57"/>
          <p:cNvSpPr/>
          <p:nvPr/>
        </p:nvSpPr>
        <p:spPr>
          <a:xfrm>
            <a:off x="6949440" y="5449824"/>
            <a:ext cx="1463040" cy="27432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Desaladora</a:t>
            </a:r>
            <a:endParaRPr lang="en-US" sz="1050" dirty="0"/>
          </a:p>
        </p:txBody>
      </p:sp>
      <p:sp>
        <p:nvSpPr>
          <p:cNvPr id="63" name="Text 58"/>
          <p:cNvSpPr/>
          <p:nvPr/>
        </p:nvSpPr>
        <p:spPr>
          <a:xfrm>
            <a:off x="8522208" y="4992624"/>
            <a:ext cx="1463040" cy="457200"/>
          </a:xfrm>
          <a:prstGeom prst="rect">
            <a:avLst/>
          </a:prstGeom>
          <a:noFill/>
          <a:ln/>
        </p:spPr>
        <p:txBody>
          <a:bodyPr wrap="square" lIns="0" tIns="0" rIns="0" bIns="0" rtlCol="0" anchor="ctr"/>
          <a:lstStyle/>
          <a:p>
            <a:pPr indent="0" marL="0">
              <a:buNone/>
            </a:pPr>
            <a:r>
              <a:rPr lang="en-US" sz="2400" b="1" dirty="0">
                <a:solidFill>
                  <a:srgbClr val="E3A55B"/>
                </a:solidFill>
                <a:latin typeface="Cambria" pitchFamily="34" charset="0"/>
                <a:ea typeface="Cambria" pitchFamily="34" charset="-122"/>
                <a:cs typeface="Cambria" pitchFamily="34" charset="-120"/>
              </a:rPr>
              <a:t>21,3%</a:t>
            </a:r>
            <a:endParaRPr lang="en-US" sz="2400" dirty="0"/>
          </a:p>
        </p:txBody>
      </p:sp>
      <p:sp>
        <p:nvSpPr>
          <p:cNvPr id="64" name="Text 59"/>
          <p:cNvSpPr/>
          <p:nvPr/>
        </p:nvSpPr>
        <p:spPr>
          <a:xfrm>
            <a:off x="8522208" y="5449824"/>
            <a:ext cx="1463040" cy="27432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Talabre</a:t>
            </a:r>
            <a:endParaRPr lang="en-US" sz="1050" dirty="0"/>
          </a:p>
        </p:txBody>
      </p:sp>
      <p:sp>
        <p:nvSpPr>
          <p:cNvPr id="65" name="Text 60"/>
          <p:cNvSpPr/>
          <p:nvPr/>
        </p:nvSpPr>
        <p:spPr>
          <a:xfrm>
            <a:off x="10094976" y="4992624"/>
            <a:ext cx="14630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32,3%</a:t>
            </a:r>
            <a:endParaRPr lang="en-US" sz="2400" dirty="0"/>
          </a:p>
        </p:txBody>
      </p:sp>
      <p:sp>
        <p:nvSpPr>
          <p:cNvPr id="66" name="Text 61"/>
          <p:cNvSpPr/>
          <p:nvPr/>
        </p:nvSpPr>
        <p:spPr>
          <a:xfrm>
            <a:off x="10094976" y="5449824"/>
            <a:ext cx="1463040" cy="27432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Arqueros</a:t>
            </a:r>
            <a:endParaRPr lang="en-US" sz="1050" dirty="0"/>
          </a:p>
        </p:txBody>
      </p:sp>
      <p:sp>
        <p:nvSpPr>
          <p:cNvPr id="67" name="Text 62"/>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68" name="Text 63"/>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69" name="Text 64"/>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LO QUE SIGUE ABIERTO</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Antigüedad y velocidad de corrección</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De los 52 hallazgos abiertos, 19 llevan más de 180 días desde que se levantaron y 4 más de un año. La mediana de cierre global es de 30 días.</a:t>
            </a:r>
            <a:endParaRPr lang="en-US" sz="1350" dirty="0"/>
          </a:p>
        </p:txBody>
      </p:sp>
      <p:graphicFrame>
        <p:nvGraphicFramePr>
          <p:cNvPr id="6" name="Chart 0" descr=""/>
          <p:cNvGraphicFramePr/>
          <p:nvPr/>
        </p:nvGraphicFramePr>
        <p:xfrm>
          <a:off x="457200" y="18745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675120" y="1874520"/>
            <a:ext cx="5056632" cy="2377440"/>
          </a:xfrm>
          <a:prstGeom prst="roundRect">
            <a:avLst>
              <a:gd name="adj" fmla="val 2308"/>
            </a:avLst>
          </a:prstGeom>
          <a:solidFill>
            <a:srgbClr val="12233B"/>
          </a:solidFill>
          <a:ln/>
        </p:spPr>
      </p:sp>
      <p:sp>
        <p:nvSpPr>
          <p:cNvPr id="8" name="Text 4"/>
          <p:cNvSpPr/>
          <p:nvPr/>
        </p:nvSpPr>
        <p:spPr>
          <a:xfrm>
            <a:off x="6949440" y="2029968"/>
            <a:ext cx="4572000" cy="274320"/>
          </a:xfrm>
          <a:prstGeom prst="rect">
            <a:avLst/>
          </a:prstGeom>
          <a:noFill/>
          <a:ln/>
        </p:spPr>
        <p:txBody>
          <a:bodyPr wrap="square" lIns="0" tIns="0" rIns="0" bIns="0" rtlCol="0" anchor="ctr"/>
          <a:lstStyle/>
          <a:p>
            <a:pPr indent="0" marL="0">
              <a:buNone/>
            </a:pPr>
            <a:r>
              <a:rPr lang="en-US" sz="1100" b="1" spc="150" kern="0" dirty="0">
                <a:solidFill>
                  <a:srgbClr val="C0392B"/>
                </a:solidFill>
                <a:latin typeface="Calibri" pitchFamily="34" charset="0"/>
                <a:ea typeface="Calibri" pitchFamily="34" charset="-122"/>
                <a:cs typeface="Calibri" pitchFamily="34" charset="-120"/>
              </a:rPr>
              <a:t>FUERA DE PLAZO DE RESPUESTA</a:t>
            </a:r>
            <a:endParaRPr lang="en-US" sz="1100" dirty="0"/>
          </a:p>
        </p:txBody>
      </p:sp>
      <p:sp>
        <p:nvSpPr>
          <p:cNvPr id="9" name="Text 5"/>
          <p:cNvSpPr/>
          <p:nvPr/>
        </p:nvSpPr>
        <p:spPr>
          <a:xfrm>
            <a:off x="6949440" y="2359152"/>
            <a:ext cx="4526280" cy="1371600"/>
          </a:xfrm>
          <a:prstGeom prst="rect">
            <a:avLst/>
          </a:prstGeom>
          <a:noFill/>
          <a:ln/>
        </p:spPr>
        <p:txBody>
          <a:bodyPr wrap="square" lIns="0" tIns="0" rIns="0" bIns="0" rtlCol="0" anchor="t"/>
          <a:lstStyle/>
          <a:p>
            <a:pPr indent="0" marL="0">
              <a:lnSpc>
                <a:spcPts val="1500"/>
              </a:lnSpc>
              <a:buNone/>
            </a:pPr>
            <a:r>
              <a:rPr lang="en-US" sz="1150" dirty="0">
                <a:solidFill>
                  <a:srgbClr val="DCE6F0"/>
                </a:solidFill>
                <a:latin typeface="Calibri" pitchFamily="34" charset="0"/>
                <a:ea typeface="Calibri" pitchFamily="34" charset="-122"/>
                <a:cs typeface="Calibri" pitchFamily="34" charset="-120"/>
              </a:rPr>
              <a:t>La regla del proyecto es: 10 días para responder una NC desde que se emite; del día 11 en adelante corre atraso.
</a:t>
            </a:r>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Al corte hay 50 hallazgos fuera de plazo de los 52 abiertos.</a:t>
            </a:r>
            <a:endParaRPr lang="en-US" sz="1150" dirty="0"/>
          </a:p>
        </p:txBody>
      </p:sp>
      <p:sp>
        <p:nvSpPr>
          <p:cNvPr id="10" name="Text 6"/>
          <p:cNvSpPr/>
          <p:nvPr/>
        </p:nvSpPr>
        <p:spPr>
          <a:xfrm>
            <a:off x="6949440" y="3703320"/>
            <a:ext cx="4526280" cy="457200"/>
          </a:xfrm>
          <a:prstGeom prst="rect">
            <a:avLst/>
          </a:prstGeom>
          <a:noFill/>
          <a:ln/>
        </p:spPr>
        <p:txBody>
          <a:bodyPr wrap="square" lIns="0" tIns="0" rIns="0" bIns="0" rtlCol="0" anchor="t"/>
          <a:lstStyle/>
          <a:p>
            <a:pPr indent="0" marL="0">
              <a:buNone/>
            </a:pPr>
            <a:r>
              <a:rPr lang="en-US" sz="1000" i="1" dirty="0">
                <a:solidFill>
                  <a:srgbClr val="6E8CA8"/>
                </a:solidFill>
                <a:latin typeface="Calibri" pitchFamily="34" charset="0"/>
                <a:ea typeface="Calibri" pitchFamily="34" charset="-122"/>
                <a:cs typeface="Calibri" pitchFamily="34" charset="-120"/>
              </a:rPr>
              <a:t>Se mide sobre la fecha de emisión: el Excel no declara una fecha comprometida de cierre —esa columna solo se llena al cerrar—.</a:t>
            </a:r>
            <a:endParaRPr lang="en-US" sz="1000" dirty="0"/>
          </a:p>
        </p:txBody>
      </p:sp>
      <p:sp>
        <p:nvSpPr>
          <p:cNvPr id="11" name="Text 7"/>
          <p:cNvSpPr/>
          <p:nvPr/>
        </p:nvSpPr>
        <p:spPr>
          <a:xfrm>
            <a:off x="502920" y="4343400"/>
            <a:ext cx="7315200" cy="274320"/>
          </a:xfrm>
          <a:prstGeom prst="rect">
            <a:avLst/>
          </a:prstGeom>
          <a:noFill/>
          <a:ln/>
        </p:spPr>
        <p:txBody>
          <a:bodyPr wrap="square" lIns="0" tIns="0" rIns="0" bIns="0" rtlCol="0" anchor="ctr"/>
          <a:lstStyle/>
          <a:p>
            <a:pPr indent="0" marL="0">
              <a:buNone/>
            </a:pPr>
            <a:r>
              <a:rPr lang="en-US" sz="1100" b="1" spc="150" kern="0" dirty="0">
                <a:solidFill>
                  <a:srgbClr val="C87A32"/>
                </a:solidFill>
                <a:latin typeface="Calibri" pitchFamily="34" charset="0"/>
                <a:ea typeface="Calibri" pitchFamily="34" charset="-122"/>
                <a:cs typeface="Calibri" pitchFamily="34" charset="-120"/>
              </a:rPr>
              <a:t>VELOCIDAD DE CIERRE POR FRENTE</a:t>
            </a:r>
            <a:endParaRPr lang="en-US" sz="1100" dirty="0"/>
          </a:p>
        </p:txBody>
      </p:sp>
      <p:sp>
        <p:nvSpPr>
          <p:cNvPr id="12" name="Text 8"/>
          <p:cNvSpPr/>
          <p:nvPr/>
        </p:nvSpPr>
        <p:spPr>
          <a:xfrm>
            <a:off x="502920" y="4663440"/>
            <a:ext cx="23774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FRENTE</a:t>
            </a:r>
            <a:endParaRPr lang="en-US" sz="950" dirty="0"/>
          </a:p>
        </p:txBody>
      </p:sp>
      <p:sp>
        <p:nvSpPr>
          <p:cNvPr id="13" name="Text 9"/>
          <p:cNvSpPr/>
          <p:nvPr/>
        </p:nvSpPr>
        <p:spPr>
          <a:xfrm>
            <a:off x="3017520" y="4663440"/>
            <a:ext cx="10972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CERRADOS</a:t>
            </a:r>
            <a:endParaRPr lang="en-US" sz="950" dirty="0"/>
          </a:p>
        </p:txBody>
      </p:sp>
      <p:sp>
        <p:nvSpPr>
          <p:cNvPr id="14" name="Text 10"/>
          <p:cNvSpPr/>
          <p:nvPr/>
        </p:nvSpPr>
        <p:spPr>
          <a:xfrm>
            <a:off x="4297680" y="4663440"/>
            <a:ext cx="10972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MEDIANA</a:t>
            </a:r>
            <a:endParaRPr lang="en-US" sz="950" dirty="0"/>
          </a:p>
        </p:txBody>
      </p:sp>
      <p:sp>
        <p:nvSpPr>
          <p:cNvPr id="15" name="Text 11"/>
          <p:cNvSpPr/>
          <p:nvPr/>
        </p:nvSpPr>
        <p:spPr>
          <a:xfrm>
            <a:off x="5577840" y="4663440"/>
            <a:ext cx="118872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MÁS LENTO</a:t>
            </a:r>
            <a:endParaRPr lang="en-US" sz="950" dirty="0"/>
          </a:p>
        </p:txBody>
      </p:sp>
      <p:sp>
        <p:nvSpPr>
          <p:cNvPr id="16" name="Text 12"/>
          <p:cNvSpPr/>
          <p:nvPr/>
        </p:nvSpPr>
        <p:spPr>
          <a:xfrm>
            <a:off x="6949440" y="4663440"/>
            <a:ext cx="10972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ABIERTOS</a:t>
            </a:r>
            <a:endParaRPr lang="en-US" sz="950" dirty="0"/>
          </a:p>
        </p:txBody>
      </p:sp>
      <p:sp>
        <p:nvSpPr>
          <p:cNvPr id="17" name="Text 13"/>
          <p:cNvSpPr/>
          <p:nvPr/>
        </p:nvSpPr>
        <p:spPr>
          <a:xfrm>
            <a:off x="8229600" y="4663440"/>
            <a:ext cx="35204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LECTURA</a:t>
            </a:r>
            <a:endParaRPr lang="en-US" sz="950" dirty="0"/>
          </a:p>
        </p:txBody>
      </p:sp>
      <p:sp>
        <p:nvSpPr>
          <p:cNvPr id="18" name="Shape 14"/>
          <p:cNvSpPr/>
          <p:nvPr/>
        </p:nvSpPr>
        <p:spPr>
          <a:xfrm>
            <a:off x="502920" y="4974336"/>
            <a:ext cx="11247120" cy="0"/>
          </a:xfrm>
          <a:prstGeom prst="line">
            <a:avLst/>
          </a:prstGeom>
          <a:noFill/>
          <a:ln w="12700">
            <a:solidFill>
              <a:srgbClr val="6E8CA8"/>
            </a:solidFill>
            <a:prstDash val="solid"/>
          </a:ln>
        </p:spPr>
      </p:sp>
      <p:sp>
        <p:nvSpPr>
          <p:cNvPr id="19" name="Text 15"/>
          <p:cNvSpPr/>
          <p:nvPr/>
        </p:nvSpPr>
        <p:spPr>
          <a:xfrm>
            <a:off x="502920" y="5102352"/>
            <a:ext cx="2377440" cy="228600"/>
          </a:xfrm>
          <a:prstGeom prst="rect">
            <a:avLst/>
          </a:prstGeom>
          <a:noFill/>
          <a:ln/>
        </p:spPr>
        <p:txBody>
          <a:bodyPr wrap="square" lIns="0" tIns="0" rIns="0" bIns="0" rtlCol="0" anchor="ctr"/>
          <a:lstStyle/>
          <a:p>
            <a:pPr algn="l" indent="0" marL="0">
              <a:buNone/>
            </a:pPr>
            <a:r>
              <a:rPr lang="en-US" sz="1150" b="1" dirty="0">
                <a:solidFill>
                  <a:srgbClr val="1A2433"/>
                </a:solidFill>
                <a:latin typeface="Calibri" pitchFamily="34" charset="0"/>
                <a:ea typeface="Calibri" pitchFamily="34" charset="-122"/>
                <a:cs typeface="Calibri" pitchFamily="34" charset="-120"/>
              </a:rPr>
              <a:t>Desaladora</a:t>
            </a:r>
            <a:endParaRPr lang="en-US" sz="1150" dirty="0"/>
          </a:p>
        </p:txBody>
      </p:sp>
      <p:sp>
        <p:nvSpPr>
          <p:cNvPr id="20" name="Text 16"/>
          <p:cNvSpPr/>
          <p:nvPr/>
        </p:nvSpPr>
        <p:spPr>
          <a:xfrm>
            <a:off x="3017520" y="510235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81</a:t>
            </a:r>
            <a:endParaRPr lang="en-US" sz="1150" dirty="0"/>
          </a:p>
        </p:txBody>
      </p:sp>
      <p:sp>
        <p:nvSpPr>
          <p:cNvPr id="21" name="Text 17"/>
          <p:cNvSpPr/>
          <p:nvPr/>
        </p:nvSpPr>
        <p:spPr>
          <a:xfrm>
            <a:off x="4297680" y="510235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18 d</a:t>
            </a:r>
            <a:endParaRPr lang="en-US" sz="1150" dirty="0"/>
          </a:p>
        </p:txBody>
      </p:sp>
      <p:sp>
        <p:nvSpPr>
          <p:cNvPr id="22" name="Text 18"/>
          <p:cNvSpPr/>
          <p:nvPr/>
        </p:nvSpPr>
        <p:spPr>
          <a:xfrm>
            <a:off x="5577840" y="5102352"/>
            <a:ext cx="118872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250 d</a:t>
            </a:r>
            <a:endParaRPr lang="en-US" sz="1150" dirty="0"/>
          </a:p>
        </p:txBody>
      </p:sp>
      <p:sp>
        <p:nvSpPr>
          <p:cNvPr id="23" name="Text 19"/>
          <p:cNvSpPr/>
          <p:nvPr/>
        </p:nvSpPr>
        <p:spPr>
          <a:xfrm>
            <a:off x="6949440" y="510235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a:t>
            </a:r>
            <a:endParaRPr lang="en-US" sz="1150" dirty="0"/>
          </a:p>
        </p:txBody>
      </p:sp>
      <p:sp>
        <p:nvSpPr>
          <p:cNvPr id="24" name="Text 20"/>
          <p:cNvSpPr/>
          <p:nvPr/>
        </p:nvSpPr>
        <p:spPr>
          <a:xfrm>
            <a:off x="8229600" y="5102352"/>
            <a:ext cx="3520440" cy="228600"/>
          </a:xfrm>
          <a:prstGeom prst="rect">
            <a:avLst/>
          </a:prstGeom>
          <a:noFill/>
          <a:ln/>
        </p:spPr>
        <p:txBody>
          <a:bodyPr wrap="square" lIns="0" tIns="0" rIns="0" bIns="0" rtlCol="0" anchor="ctr"/>
          <a:lstStyle/>
          <a:p>
            <a:pPr algn="l" indent="0" marL="0">
              <a:buNone/>
            </a:pPr>
            <a:endParaRPr lang="en-US" sz="1150" dirty="0"/>
          </a:p>
        </p:txBody>
      </p:sp>
      <p:sp>
        <p:nvSpPr>
          <p:cNvPr id="25" name="Shape 21"/>
          <p:cNvSpPr/>
          <p:nvPr/>
        </p:nvSpPr>
        <p:spPr>
          <a:xfrm>
            <a:off x="502920" y="5367528"/>
            <a:ext cx="11247120" cy="0"/>
          </a:xfrm>
          <a:prstGeom prst="line">
            <a:avLst/>
          </a:prstGeom>
          <a:noFill/>
          <a:ln w="9525">
            <a:solidFill>
              <a:srgbClr val="D9DFE6"/>
            </a:solidFill>
            <a:prstDash val="solid"/>
          </a:ln>
        </p:spPr>
      </p:sp>
      <p:sp>
        <p:nvSpPr>
          <p:cNvPr id="26" name="Shape 22"/>
          <p:cNvSpPr/>
          <p:nvPr/>
        </p:nvSpPr>
        <p:spPr>
          <a:xfrm>
            <a:off x="457200" y="5376672"/>
            <a:ext cx="11292840" cy="320040"/>
          </a:xfrm>
          <a:prstGeom prst="rect">
            <a:avLst/>
          </a:prstGeom>
          <a:solidFill>
            <a:srgbClr val="FFFFFF"/>
          </a:solidFill>
          <a:ln/>
        </p:spPr>
      </p:sp>
      <p:sp>
        <p:nvSpPr>
          <p:cNvPr id="27" name="Text 23"/>
          <p:cNvSpPr/>
          <p:nvPr/>
        </p:nvSpPr>
        <p:spPr>
          <a:xfrm>
            <a:off x="502920" y="5422392"/>
            <a:ext cx="2377440" cy="228600"/>
          </a:xfrm>
          <a:prstGeom prst="rect">
            <a:avLst/>
          </a:prstGeom>
          <a:noFill/>
          <a:ln/>
        </p:spPr>
        <p:txBody>
          <a:bodyPr wrap="square" lIns="0" tIns="0" rIns="0" bIns="0" rtlCol="0" anchor="ctr"/>
          <a:lstStyle/>
          <a:p>
            <a:pPr algn="l" indent="0" marL="0">
              <a:buNone/>
            </a:pPr>
            <a:r>
              <a:rPr lang="en-US" sz="1150" b="1" dirty="0">
                <a:solidFill>
                  <a:srgbClr val="1A2433"/>
                </a:solidFill>
                <a:latin typeface="Calibri" pitchFamily="34" charset="0"/>
                <a:ea typeface="Calibri" pitchFamily="34" charset="-122"/>
                <a:cs typeface="Calibri" pitchFamily="34" charset="-120"/>
              </a:rPr>
              <a:t>Talabre</a:t>
            </a:r>
            <a:endParaRPr lang="en-US" sz="1150" dirty="0"/>
          </a:p>
        </p:txBody>
      </p:sp>
      <p:sp>
        <p:nvSpPr>
          <p:cNvPr id="28" name="Text 24"/>
          <p:cNvSpPr/>
          <p:nvPr/>
        </p:nvSpPr>
        <p:spPr>
          <a:xfrm>
            <a:off x="3017520" y="542239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230</a:t>
            </a:r>
            <a:endParaRPr lang="en-US" sz="1150" dirty="0"/>
          </a:p>
        </p:txBody>
      </p:sp>
      <p:sp>
        <p:nvSpPr>
          <p:cNvPr id="29" name="Text 25"/>
          <p:cNvSpPr/>
          <p:nvPr/>
        </p:nvSpPr>
        <p:spPr>
          <a:xfrm>
            <a:off x="4297680" y="542239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23 d</a:t>
            </a:r>
            <a:endParaRPr lang="en-US" sz="1150" dirty="0"/>
          </a:p>
        </p:txBody>
      </p:sp>
      <p:sp>
        <p:nvSpPr>
          <p:cNvPr id="30" name="Text 26"/>
          <p:cNvSpPr/>
          <p:nvPr/>
        </p:nvSpPr>
        <p:spPr>
          <a:xfrm>
            <a:off x="5577840" y="5422392"/>
            <a:ext cx="118872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389 d</a:t>
            </a:r>
            <a:endParaRPr lang="en-US" sz="1150" dirty="0"/>
          </a:p>
        </p:txBody>
      </p:sp>
      <p:sp>
        <p:nvSpPr>
          <p:cNvPr id="31" name="Text 27"/>
          <p:cNvSpPr/>
          <p:nvPr/>
        </p:nvSpPr>
        <p:spPr>
          <a:xfrm>
            <a:off x="6949440" y="542239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14</a:t>
            </a:r>
            <a:endParaRPr lang="en-US" sz="1150" dirty="0"/>
          </a:p>
        </p:txBody>
      </p:sp>
      <p:sp>
        <p:nvSpPr>
          <p:cNvPr id="32" name="Text 28"/>
          <p:cNvSpPr/>
          <p:nvPr/>
        </p:nvSpPr>
        <p:spPr>
          <a:xfrm>
            <a:off x="8229600" y="5422392"/>
            <a:ext cx="3520440" cy="228600"/>
          </a:xfrm>
          <a:prstGeom prst="rect">
            <a:avLst/>
          </a:prstGeom>
          <a:noFill/>
          <a:ln/>
        </p:spPr>
        <p:txBody>
          <a:bodyPr wrap="square" lIns="0" tIns="0" rIns="0" bIns="0" rtlCol="0" anchor="ctr"/>
          <a:lstStyle/>
          <a:p>
            <a:pPr algn="l" indent="0" marL="0">
              <a:buNone/>
            </a:pPr>
            <a:endParaRPr lang="en-US" sz="1150" dirty="0"/>
          </a:p>
        </p:txBody>
      </p:sp>
      <p:sp>
        <p:nvSpPr>
          <p:cNvPr id="33" name="Shape 29"/>
          <p:cNvSpPr/>
          <p:nvPr/>
        </p:nvSpPr>
        <p:spPr>
          <a:xfrm>
            <a:off x="502920" y="5687568"/>
            <a:ext cx="11247120" cy="0"/>
          </a:xfrm>
          <a:prstGeom prst="line">
            <a:avLst/>
          </a:prstGeom>
          <a:noFill/>
          <a:ln w="9525">
            <a:solidFill>
              <a:srgbClr val="D9DFE6"/>
            </a:solidFill>
            <a:prstDash val="solid"/>
          </a:ln>
        </p:spPr>
      </p:sp>
      <p:sp>
        <p:nvSpPr>
          <p:cNvPr id="34" name="Text 30"/>
          <p:cNvSpPr/>
          <p:nvPr/>
        </p:nvSpPr>
        <p:spPr>
          <a:xfrm>
            <a:off x="502920" y="5742432"/>
            <a:ext cx="2377440" cy="228600"/>
          </a:xfrm>
          <a:prstGeom prst="rect">
            <a:avLst/>
          </a:prstGeom>
          <a:noFill/>
          <a:ln/>
        </p:spPr>
        <p:txBody>
          <a:bodyPr wrap="square" lIns="0" tIns="0" rIns="0" bIns="0" rtlCol="0" anchor="ctr"/>
          <a:lstStyle/>
          <a:p>
            <a:pPr algn="l" indent="0" marL="0">
              <a:buNone/>
            </a:pPr>
            <a:r>
              <a:rPr lang="en-US" sz="1150" b="1" dirty="0">
                <a:solidFill>
                  <a:srgbClr val="1A2433"/>
                </a:solidFill>
                <a:latin typeface="Calibri" pitchFamily="34" charset="0"/>
                <a:ea typeface="Calibri" pitchFamily="34" charset="-122"/>
                <a:cs typeface="Calibri" pitchFamily="34" charset="-120"/>
              </a:rPr>
              <a:t>Arqueros</a:t>
            </a:r>
            <a:endParaRPr lang="en-US" sz="1150" dirty="0"/>
          </a:p>
        </p:txBody>
      </p:sp>
      <p:sp>
        <p:nvSpPr>
          <p:cNvPr id="35" name="Text 31"/>
          <p:cNvSpPr/>
          <p:nvPr/>
        </p:nvSpPr>
        <p:spPr>
          <a:xfrm>
            <a:off x="3017520" y="574243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127</a:t>
            </a:r>
            <a:endParaRPr lang="en-US" sz="1150" dirty="0"/>
          </a:p>
        </p:txBody>
      </p:sp>
      <p:sp>
        <p:nvSpPr>
          <p:cNvPr id="36" name="Text 32"/>
          <p:cNvSpPr/>
          <p:nvPr/>
        </p:nvSpPr>
        <p:spPr>
          <a:xfrm>
            <a:off x="4297680" y="574243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129 d</a:t>
            </a:r>
            <a:endParaRPr lang="en-US" sz="1150" dirty="0"/>
          </a:p>
        </p:txBody>
      </p:sp>
      <p:sp>
        <p:nvSpPr>
          <p:cNvPr id="37" name="Text 33"/>
          <p:cNvSpPr/>
          <p:nvPr/>
        </p:nvSpPr>
        <p:spPr>
          <a:xfrm>
            <a:off x="5577840" y="5742432"/>
            <a:ext cx="118872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313 d</a:t>
            </a:r>
            <a:endParaRPr lang="en-US" sz="1150" dirty="0"/>
          </a:p>
        </p:txBody>
      </p:sp>
      <p:sp>
        <p:nvSpPr>
          <p:cNvPr id="38" name="Text 34"/>
          <p:cNvSpPr/>
          <p:nvPr/>
        </p:nvSpPr>
        <p:spPr>
          <a:xfrm>
            <a:off x="6949440" y="5742432"/>
            <a:ext cx="1097280" cy="228600"/>
          </a:xfrm>
          <a:prstGeom prst="rect">
            <a:avLst/>
          </a:prstGeom>
          <a:noFill/>
          <a:ln/>
        </p:spPr>
        <p:txBody>
          <a:bodyPr wrap="square" lIns="0" tIns="0" rIns="0" bIns="0" rtlCol="0" anchor="ctr"/>
          <a:lstStyle/>
          <a:p>
            <a:pPr algn="r" indent="0" marL="0">
              <a:buNone/>
            </a:pPr>
            <a:r>
              <a:rPr lang="en-US" sz="1150" dirty="0">
                <a:solidFill>
                  <a:srgbClr val="C0392B"/>
                </a:solidFill>
                <a:latin typeface="Calibri" pitchFamily="34" charset="0"/>
                <a:ea typeface="Calibri" pitchFamily="34" charset="-122"/>
                <a:cs typeface="Calibri" pitchFamily="34" charset="-120"/>
              </a:rPr>
              <a:t>37</a:t>
            </a:r>
            <a:endParaRPr lang="en-US" sz="1150" dirty="0"/>
          </a:p>
        </p:txBody>
      </p:sp>
      <p:sp>
        <p:nvSpPr>
          <p:cNvPr id="39" name="Text 35"/>
          <p:cNvSpPr/>
          <p:nvPr/>
        </p:nvSpPr>
        <p:spPr>
          <a:xfrm>
            <a:off x="8229600" y="5742432"/>
            <a:ext cx="3520440" cy="228600"/>
          </a:xfrm>
          <a:prstGeom prst="rect">
            <a:avLst/>
          </a:prstGeom>
          <a:noFill/>
          <a:ln/>
        </p:spPr>
        <p:txBody>
          <a:bodyPr wrap="square" lIns="0" tIns="0" rIns="0" bIns="0" rtlCol="0" anchor="ctr"/>
          <a:lstStyle/>
          <a:p>
            <a:pPr algn="l" indent="0" marL="0">
              <a:buNone/>
            </a:pPr>
            <a:r>
              <a:rPr lang="en-US" sz="1150" dirty="0">
                <a:solidFill>
                  <a:srgbClr val="C0392B"/>
                </a:solidFill>
                <a:latin typeface="Calibri" pitchFamily="34" charset="0"/>
                <a:ea typeface="Calibri" pitchFamily="34" charset="-122"/>
                <a:cs typeface="Calibri" pitchFamily="34" charset="-120"/>
              </a:rPr>
              <a:t>7× más lento que el mejor frente</a:t>
            </a:r>
            <a:endParaRPr lang="en-US" sz="1150" dirty="0"/>
          </a:p>
        </p:txBody>
      </p:sp>
      <p:sp>
        <p:nvSpPr>
          <p:cNvPr id="40" name="Shape 36"/>
          <p:cNvSpPr/>
          <p:nvPr/>
        </p:nvSpPr>
        <p:spPr>
          <a:xfrm>
            <a:off x="502920" y="6007608"/>
            <a:ext cx="11247120" cy="0"/>
          </a:xfrm>
          <a:prstGeom prst="line">
            <a:avLst/>
          </a:prstGeom>
          <a:noFill/>
          <a:ln w="9525">
            <a:solidFill>
              <a:srgbClr val="D9DFE6"/>
            </a:solidFill>
            <a:prstDash val="solid"/>
          </a:ln>
        </p:spPr>
      </p:sp>
      <p:sp>
        <p:nvSpPr>
          <p:cNvPr id="41" name="Shape 37"/>
          <p:cNvSpPr/>
          <p:nvPr/>
        </p:nvSpPr>
        <p:spPr>
          <a:xfrm>
            <a:off x="457200" y="6016752"/>
            <a:ext cx="11292840" cy="320040"/>
          </a:xfrm>
          <a:prstGeom prst="rect">
            <a:avLst/>
          </a:prstGeom>
          <a:solidFill>
            <a:srgbClr val="FFFFFF"/>
          </a:solidFill>
          <a:ln/>
        </p:spPr>
      </p:sp>
      <p:sp>
        <p:nvSpPr>
          <p:cNvPr id="42" name="Text 38"/>
          <p:cNvSpPr/>
          <p:nvPr/>
        </p:nvSpPr>
        <p:spPr>
          <a:xfrm>
            <a:off x="502920" y="6062472"/>
            <a:ext cx="2377440" cy="228600"/>
          </a:xfrm>
          <a:prstGeom prst="rect">
            <a:avLst/>
          </a:prstGeom>
          <a:noFill/>
          <a:ln/>
        </p:spPr>
        <p:txBody>
          <a:bodyPr wrap="square" lIns="0" tIns="0" rIns="0" bIns="0" rtlCol="0" anchor="ctr"/>
          <a:lstStyle/>
          <a:p>
            <a:pPr algn="l" indent="0" marL="0">
              <a:buNone/>
            </a:pPr>
            <a:r>
              <a:rPr lang="en-US" sz="1150" b="1" dirty="0">
                <a:solidFill>
                  <a:srgbClr val="1A2433"/>
                </a:solidFill>
                <a:latin typeface="Calibri" pitchFamily="34" charset="0"/>
                <a:ea typeface="Calibri" pitchFamily="34" charset="-122"/>
                <a:cs typeface="Calibri" pitchFamily="34" charset="-120"/>
              </a:rPr>
              <a:t>Oficina Central</a:t>
            </a:r>
            <a:endParaRPr lang="en-US" sz="1150" dirty="0"/>
          </a:p>
        </p:txBody>
      </p:sp>
      <p:sp>
        <p:nvSpPr>
          <p:cNvPr id="43" name="Text 39"/>
          <p:cNvSpPr/>
          <p:nvPr/>
        </p:nvSpPr>
        <p:spPr>
          <a:xfrm>
            <a:off x="3017520" y="606247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8</a:t>
            </a:r>
            <a:endParaRPr lang="en-US" sz="1150" dirty="0"/>
          </a:p>
        </p:txBody>
      </p:sp>
      <p:sp>
        <p:nvSpPr>
          <p:cNvPr id="44" name="Text 40"/>
          <p:cNvSpPr/>
          <p:nvPr/>
        </p:nvSpPr>
        <p:spPr>
          <a:xfrm>
            <a:off x="4297680" y="606247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77 d</a:t>
            </a:r>
            <a:endParaRPr lang="en-US" sz="1150" dirty="0"/>
          </a:p>
        </p:txBody>
      </p:sp>
      <p:sp>
        <p:nvSpPr>
          <p:cNvPr id="45" name="Text 41"/>
          <p:cNvSpPr/>
          <p:nvPr/>
        </p:nvSpPr>
        <p:spPr>
          <a:xfrm>
            <a:off x="5577840" y="6062472"/>
            <a:ext cx="118872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146 d</a:t>
            </a:r>
            <a:endParaRPr lang="en-US" sz="1150" dirty="0"/>
          </a:p>
        </p:txBody>
      </p:sp>
      <p:sp>
        <p:nvSpPr>
          <p:cNvPr id="46" name="Text 42"/>
          <p:cNvSpPr/>
          <p:nvPr/>
        </p:nvSpPr>
        <p:spPr>
          <a:xfrm>
            <a:off x="6949440" y="6062472"/>
            <a:ext cx="1097280" cy="228600"/>
          </a:xfrm>
          <a:prstGeom prst="rect">
            <a:avLst/>
          </a:prstGeom>
          <a:noFill/>
          <a:ln/>
        </p:spPr>
        <p:txBody>
          <a:bodyPr wrap="square" lIns="0" tIns="0" rIns="0" bIns="0" rtlCol="0" anchor="ctr"/>
          <a:lstStyle/>
          <a:p>
            <a:pPr algn="r" indent="0" marL="0">
              <a:buNone/>
            </a:pPr>
            <a:r>
              <a:rPr lang="en-US" sz="1150" dirty="0">
                <a:solidFill>
                  <a:srgbClr val="1A2433"/>
                </a:solidFill>
                <a:latin typeface="Calibri" pitchFamily="34" charset="0"/>
                <a:ea typeface="Calibri" pitchFamily="34" charset="-122"/>
                <a:cs typeface="Calibri" pitchFamily="34" charset="-120"/>
              </a:rPr>
              <a:t>0</a:t>
            </a:r>
            <a:endParaRPr lang="en-US" sz="1150" dirty="0"/>
          </a:p>
        </p:txBody>
      </p:sp>
      <p:sp>
        <p:nvSpPr>
          <p:cNvPr id="47" name="Text 43"/>
          <p:cNvSpPr/>
          <p:nvPr/>
        </p:nvSpPr>
        <p:spPr>
          <a:xfrm>
            <a:off x="8229600" y="6062472"/>
            <a:ext cx="3520440" cy="228600"/>
          </a:xfrm>
          <a:prstGeom prst="rect">
            <a:avLst/>
          </a:prstGeom>
          <a:noFill/>
          <a:ln/>
        </p:spPr>
        <p:txBody>
          <a:bodyPr wrap="square" lIns="0" tIns="0" rIns="0" bIns="0" rtlCol="0" anchor="ctr"/>
          <a:lstStyle/>
          <a:p>
            <a:pPr algn="l" indent="0" marL="0">
              <a:buNone/>
            </a:pPr>
            <a:r>
              <a:rPr lang="en-US" sz="1150" dirty="0">
                <a:solidFill>
                  <a:srgbClr val="C0392B"/>
                </a:solidFill>
                <a:latin typeface="Calibri" pitchFamily="34" charset="0"/>
                <a:ea typeface="Calibri" pitchFamily="34" charset="-122"/>
                <a:cs typeface="Calibri" pitchFamily="34" charset="-120"/>
              </a:rPr>
              <a:t>4× más lento que el mejor frente</a:t>
            </a:r>
            <a:endParaRPr lang="en-US" sz="1150" dirty="0"/>
          </a:p>
        </p:txBody>
      </p:sp>
      <p:sp>
        <p:nvSpPr>
          <p:cNvPr id="48" name="Shape 44"/>
          <p:cNvSpPr/>
          <p:nvPr/>
        </p:nvSpPr>
        <p:spPr>
          <a:xfrm>
            <a:off x="502920" y="6327648"/>
            <a:ext cx="11247120" cy="0"/>
          </a:xfrm>
          <a:prstGeom prst="line">
            <a:avLst/>
          </a:prstGeom>
          <a:noFill/>
          <a:ln w="9525">
            <a:solidFill>
              <a:srgbClr val="D9DFE6"/>
            </a:solidFill>
            <a:prstDash val="solid"/>
          </a:ln>
        </p:spPr>
      </p:sp>
      <p:sp>
        <p:nvSpPr>
          <p:cNvPr id="49" name="Text 45"/>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50" name="Text 46"/>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51" name="Text 4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COSTO DE LA NO CONFORMIDAD</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Costo mensual por disciplina</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3.346 UF declaradas en los últimos 12 meses —10.613 UF en todo el registro—, imputadas al mes en que se levantó cada hallazgo. Las declaran 50 de 288 hallazgos del período.</a:t>
            </a:r>
            <a:endParaRPr lang="en-US" sz="1350" dirty="0"/>
          </a:p>
        </p:txBody>
      </p:sp>
      <p:graphicFrame>
        <p:nvGraphicFramePr>
          <p:cNvPr id="6" name="Chart 0" descr=""/>
          <p:cNvGraphicFramePr/>
          <p:nvPr/>
        </p:nvGraphicFramePr>
        <p:xfrm>
          <a:off x="457200" y="1783080"/>
          <a:ext cx="7818120" cy="37033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8503920" y="1783080"/>
            <a:ext cx="3227832" cy="3703320"/>
          </a:xfrm>
          <a:prstGeom prst="roundRect">
            <a:avLst>
              <a:gd name="adj" fmla="val 1700"/>
            </a:avLst>
          </a:prstGeom>
          <a:solidFill>
            <a:srgbClr val="12233B"/>
          </a:solidFill>
          <a:ln/>
        </p:spPr>
      </p:sp>
      <p:sp>
        <p:nvSpPr>
          <p:cNvPr id="8" name="Text 4"/>
          <p:cNvSpPr/>
          <p:nvPr/>
        </p:nvSpPr>
        <p:spPr>
          <a:xfrm>
            <a:off x="8732520" y="1938528"/>
            <a:ext cx="2834640" cy="274320"/>
          </a:xfrm>
          <a:prstGeom prst="rect">
            <a:avLst/>
          </a:prstGeom>
          <a:noFill/>
          <a:ln/>
        </p:spPr>
        <p:txBody>
          <a:bodyPr wrap="square" lIns="0" tIns="0" rIns="0" bIns="0" rtlCol="0" anchor="ctr"/>
          <a:lstStyle/>
          <a:p>
            <a:pPr indent="0" marL="0">
              <a:buNone/>
            </a:pPr>
            <a:r>
              <a:rPr lang="en-US" sz="950" b="1" spc="120" kern="0" dirty="0">
                <a:solidFill>
                  <a:srgbClr val="E3A55B"/>
                </a:solidFill>
                <a:latin typeface="Calibri" pitchFamily="34" charset="0"/>
                <a:ea typeface="Calibri" pitchFamily="34" charset="-122"/>
                <a:cs typeface="Calibri" pitchFamily="34" charset="-120"/>
              </a:rPr>
              <a:t>QUÉ TAN COMPLETO ESTÁ EL DATO</a:t>
            </a:r>
            <a:endParaRPr lang="en-US" sz="950" dirty="0"/>
          </a:p>
        </p:txBody>
      </p:sp>
      <p:sp>
        <p:nvSpPr>
          <p:cNvPr id="9" name="Text 5"/>
          <p:cNvSpPr/>
          <p:nvPr/>
        </p:nvSpPr>
        <p:spPr>
          <a:xfrm>
            <a:off x="8732520" y="2286000"/>
            <a:ext cx="2788920" cy="1325880"/>
          </a:xfrm>
          <a:prstGeom prst="rect">
            <a:avLst/>
          </a:prstGeom>
          <a:noFill/>
          <a:ln/>
        </p:spPr>
        <p:txBody>
          <a:bodyPr wrap="square" lIns="0" tIns="0" rIns="0" bIns="0" rtlCol="0" anchor="t"/>
          <a:lstStyle/>
          <a:p>
            <a:pPr indent="0" marL="0">
              <a:lnSpc>
                <a:spcPts val="1500"/>
              </a:lnSpc>
              <a:buNone/>
            </a:pPr>
            <a:r>
              <a:rPr lang="en-US" sz="1400" b="1" dirty="0">
                <a:solidFill>
                  <a:srgbClr val="FFFFFF"/>
                </a:solidFill>
                <a:latin typeface="Calibri" pitchFamily="34" charset="0"/>
                <a:ea typeface="Calibri" pitchFamily="34" charset="-122"/>
                <a:cs typeface="Calibri" pitchFamily="34" charset="-120"/>
              </a:rPr>
              <a:t>108 </a:t>
            </a:r>
            <a:pPr indent="0" marL="0">
              <a:lnSpc>
                <a:spcPts val="1500"/>
              </a:lnSpc>
              <a:buNone/>
            </a:pPr>
            <a:r>
              <a:rPr lang="en-US" sz="1050" dirty="0">
                <a:solidFill>
                  <a:srgbClr val="DCE6F0"/>
                </a:solidFill>
                <a:latin typeface="Calibri" pitchFamily="34" charset="0"/>
                <a:ea typeface="Calibri" pitchFamily="34" charset="-122"/>
                <a:cs typeface="Calibri" pitchFamily="34" charset="-120"/>
              </a:rPr>
              <a:t>declaran un monto
</a:t>
            </a:r>
            <a:pPr indent="0" marL="0">
              <a:lnSpc>
                <a:spcPts val="1500"/>
              </a:lnSpc>
              <a:buNone/>
            </a:pPr>
            <a:r>
              <a:rPr lang="en-US" sz="1400" b="1" dirty="0">
                <a:solidFill>
                  <a:srgbClr val="FFFFFF"/>
                </a:solidFill>
                <a:latin typeface="Calibri" pitchFamily="34" charset="0"/>
                <a:ea typeface="Calibri" pitchFamily="34" charset="-122"/>
                <a:cs typeface="Calibri" pitchFamily="34" charset="-120"/>
              </a:rPr>
              <a:t>143 </a:t>
            </a:r>
            <a:pPr indent="0" marL="0">
              <a:lnSpc>
                <a:spcPts val="1500"/>
              </a:lnSpc>
              <a:buNone/>
            </a:pPr>
            <a:r>
              <a:rPr lang="en-US" sz="1050" dirty="0">
                <a:solidFill>
                  <a:srgbClr val="DCE6F0"/>
                </a:solidFill>
                <a:latin typeface="Calibri" pitchFamily="34" charset="0"/>
                <a:ea typeface="Calibri" pitchFamily="34" charset="-122"/>
                <a:cs typeface="Calibri" pitchFamily="34" charset="-120"/>
              </a:rPr>
              <a:t>declaran 0 — afirman que no costó
</a:t>
            </a:r>
            <a:pPr indent="0" marL="0">
              <a:lnSpc>
                <a:spcPts val="1500"/>
              </a:lnSpc>
              <a:buNone/>
            </a:pPr>
            <a:r>
              <a:rPr lang="en-US" sz="1400" b="1" dirty="0">
                <a:solidFill>
                  <a:srgbClr val="E3A55B"/>
                </a:solidFill>
                <a:latin typeface="Calibri" pitchFamily="34" charset="0"/>
                <a:ea typeface="Calibri" pitchFamily="34" charset="-122"/>
                <a:cs typeface="Calibri" pitchFamily="34" charset="-120"/>
              </a:rPr>
              <a:t>247 </a:t>
            </a:r>
            <a:pPr indent="0" marL="0">
              <a:lnSpc>
                <a:spcPts val="1500"/>
              </a:lnSpc>
              <a:buNone/>
            </a:pPr>
            <a:r>
              <a:rPr lang="en-US" sz="1050" dirty="0">
                <a:solidFill>
                  <a:srgbClr val="DCE6F0"/>
                </a:solidFill>
                <a:latin typeface="Calibri" pitchFamily="34" charset="0"/>
                <a:ea typeface="Calibri" pitchFamily="34" charset="-122"/>
                <a:cs typeface="Calibri" pitchFamily="34" charset="-120"/>
              </a:rPr>
              <a:t>dejan la casilla vacía: no se sabe</a:t>
            </a:r>
            <a:endParaRPr lang="en-US" sz="1050" dirty="0"/>
          </a:p>
        </p:txBody>
      </p:sp>
      <p:sp>
        <p:nvSpPr>
          <p:cNvPr id="10" name="Text 6"/>
          <p:cNvSpPr/>
          <p:nvPr/>
        </p:nvSpPr>
        <p:spPr>
          <a:xfrm>
            <a:off x="8732520" y="3639312"/>
            <a:ext cx="2834640" cy="274320"/>
          </a:xfrm>
          <a:prstGeom prst="rect">
            <a:avLst/>
          </a:prstGeom>
          <a:noFill/>
          <a:ln/>
        </p:spPr>
        <p:txBody>
          <a:bodyPr wrap="square" lIns="0" tIns="0" rIns="0" bIns="0" rtlCol="0" anchor="ctr"/>
          <a:lstStyle/>
          <a:p>
            <a:pPr indent="0" marL="0">
              <a:buNone/>
            </a:pPr>
            <a:r>
              <a:rPr lang="en-US" sz="950" b="1" spc="120" kern="0" dirty="0">
                <a:solidFill>
                  <a:srgbClr val="E3A55B"/>
                </a:solidFill>
                <a:latin typeface="Calibri" pitchFamily="34" charset="0"/>
                <a:ea typeface="Calibri" pitchFamily="34" charset="-122"/>
                <a:cs typeface="Calibri" pitchFamily="34" charset="-120"/>
              </a:rPr>
              <a:t>ACUMULADO POR DISCIPLINA · UF</a:t>
            </a:r>
            <a:endParaRPr lang="en-US" sz="950" dirty="0"/>
          </a:p>
        </p:txBody>
      </p:sp>
      <p:sp>
        <p:nvSpPr>
          <p:cNvPr id="11" name="Shape 7"/>
          <p:cNvSpPr/>
          <p:nvPr/>
        </p:nvSpPr>
        <p:spPr>
          <a:xfrm>
            <a:off x="8732520" y="3986784"/>
            <a:ext cx="109728" cy="109728"/>
          </a:xfrm>
          <a:prstGeom prst="rect">
            <a:avLst/>
          </a:prstGeom>
          <a:solidFill>
            <a:srgbClr val="C0392B"/>
          </a:solidFill>
          <a:ln/>
        </p:spPr>
      </p:sp>
      <p:sp>
        <p:nvSpPr>
          <p:cNvPr id="12" name="Text 8"/>
          <p:cNvSpPr/>
          <p:nvPr/>
        </p:nvSpPr>
        <p:spPr>
          <a:xfrm>
            <a:off x="8924544" y="3913632"/>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CALIDAD</a:t>
            </a:r>
            <a:endParaRPr lang="en-US" sz="1050" dirty="0"/>
          </a:p>
        </p:txBody>
      </p:sp>
      <p:sp>
        <p:nvSpPr>
          <p:cNvPr id="13" name="Text 9"/>
          <p:cNvSpPr/>
          <p:nvPr/>
        </p:nvSpPr>
        <p:spPr>
          <a:xfrm>
            <a:off x="10753344" y="3913632"/>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4.000</a:t>
            </a:r>
            <a:endParaRPr lang="en-US" sz="1050" dirty="0"/>
          </a:p>
        </p:txBody>
      </p:sp>
      <p:sp>
        <p:nvSpPr>
          <p:cNvPr id="14" name="Shape 10"/>
          <p:cNvSpPr/>
          <p:nvPr/>
        </p:nvSpPr>
        <p:spPr>
          <a:xfrm>
            <a:off x="8732520" y="4242816"/>
            <a:ext cx="109728" cy="109728"/>
          </a:xfrm>
          <a:prstGeom prst="rect">
            <a:avLst/>
          </a:prstGeom>
          <a:solidFill>
            <a:srgbClr val="8A5520"/>
          </a:solidFill>
          <a:ln/>
        </p:spPr>
      </p:sp>
      <p:sp>
        <p:nvSpPr>
          <p:cNvPr id="15" name="Text 11"/>
          <p:cNvSpPr/>
          <p:nvPr/>
        </p:nvSpPr>
        <p:spPr>
          <a:xfrm>
            <a:off x="8924544" y="4169664"/>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OO.CC</a:t>
            </a:r>
            <a:endParaRPr lang="en-US" sz="1050" dirty="0"/>
          </a:p>
        </p:txBody>
      </p:sp>
      <p:sp>
        <p:nvSpPr>
          <p:cNvPr id="16" name="Text 12"/>
          <p:cNvSpPr/>
          <p:nvPr/>
        </p:nvSpPr>
        <p:spPr>
          <a:xfrm>
            <a:off x="10753344" y="4169664"/>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2.631</a:t>
            </a:r>
            <a:endParaRPr lang="en-US" sz="1050" dirty="0"/>
          </a:p>
        </p:txBody>
      </p:sp>
      <p:sp>
        <p:nvSpPr>
          <p:cNvPr id="17" name="Shape 13"/>
          <p:cNvSpPr/>
          <p:nvPr/>
        </p:nvSpPr>
        <p:spPr>
          <a:xfrm>
            <a:off x="8732520" y="4498848"/>
            <a:ext cx="109728" cy="109728"/>
          </a:xfrm>
          <a:prstGeom prst="rect">
            <a:avLst/>
          </a:prstGeom>
          <a:solidFill>
            <a:srgbClr val="9A6B0F"/>
          </a:solidFill>
          <a:ln/>
        </p:spPr>
      </p:sp>
      <p:sp>
        <p:nvSpPr>
          <p:cNvPr id="18" name="Text 14"/>
          <p:cNvSpPr/>
          <p:nvPr/>
        </p:nvSpPr>
        <p:spPr>
          <a:xfrm>
            <a:off x="8924544" y="4425696"/>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EXPEDITORÍA</a:t>
            </a:r>
            <a:endParaRPr lang="en-US" sz="1050" dirty="0"/>
          </a:p>
        </p:txBody>
      </p:sp>
      <p:sp>
        <p:nvSpPr>
          <p:cNvPr id="19" name="Text 15"/>
          <p:cNvSpPr/>
          <p:nvPr/>
        </p:nvSpPr>
        <p:spPr>
          <a:xfrm>
            <a:off x="10753344" y="4425696"/>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2.176</a:t>
            </a:r>
            <a:endParaRPr lang="en-US" sz="1050" dirty="0"/>
          </a:p>
        </p:txBody>
      </p:sp>
      <p:sp>
        <p:nvSpPr>
          <p:cNvPr id="20" name="Shape 16"/>
          <p:cNvSpPr/>
          <p:nvPr/>
        </p:nvSpPr>
        <p:spPr>
          <a:xfrm>
            <a:off x="8732520" y="4754880"/>
            <a:ext cx="109728" cy="109728"/>
          </a:xfrm>
          <a:prstGeom prst="rect">
            <a:avLst/>
          </a:prstGeom>
          <a:solidFill>
            <a:srgbClr val="2E6FB5"/>
          </a:solidFill>
          <a:ln/>
        </p:spPr>
      </p:sp>
      <p:sp>
        <p:nvSpPr>
          <p:cNvPr id="21" name="Text 17"/>
          <p:cNvSpPr/>
          <p:nvPr/>
        </p:nvSpPr>
        <p:spPr>
          <a:xfrm>
            <a:off x="8924544" y="4681728"/>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SUBCONTRATO</a:t>
            </a:r>
            <a:endParaRPr lang="en-US" sz="1050" dirty="0"/>
          </a:p>
        </p:txBody>
      </p:sp>
      <p:sp>
        <p:nvSpPr>
          <p:cNvPr id="22" name="Text 18"/>
          <p:cNvSpPr/>
          <p:nvPr/>
        </p:nvSpPr>
        <p:spPr>
          <a:xfrm>
            <a:off x="10753344" y="4681728"/>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1.335</a:t>
            </a:r>
            <a:endParaRPr lang="en-US" sz="1050" dirty="0"/>
          </a:p>
        </p:txBody>
      </p:sp>
      <p:sp>
        <p:nvSpPr>
          <p:cNvPr id="23" name="Shape 19"/>
          <p:cNvSpPr/>
          <p:nvPr/>
        </p:nvSpPr>
        <p:spPr>
          <a:xfrm>
            <a:off x="8732520" y="5010912"/>
            <a:ext cx="109728" cy="109728"/>
          </a:xfrm>
          <a:prstGeom prst="rect">
            <a:avLst/>
          </a:prstGeom>
          <a:solidFill>
            <a:srgbClr val="1F7A44"/>
          </a:solidFill>
          <a:ln/>
        </p:spPr>
      </p:sp>
      <p:sp>
        <p:nvSpPr>
          <p:cNvPr id="24" name="Text 20"/>
          <p:cNvSpPr/>
          <p:nvPr/>
        </p:nvSpPr>
        <p:spPr>
          <a:xfrm>
            <a:off x="8924544" y="4937760"/>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ELÉCTRICA</a:t>
            </a:r>
            <a:endParaRPr lang="en-US" sz="1050" dirty="0"/>
          </a:p>
        </p:txBody>
      </p:sp>
      <p:sp>
        <p:nvSpPr>
          <p:cNvPr id="25" name="Text 21"/>
          <p:cNvSpPr/>
          <p:nvPr/>
        </p:nvSpPr>
        <p:spPr>
          <a:xfrm>
            <a:off x="10753344" y="4937760"/>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250</a:t>
            </a:r>
            <a:endParaRPr lang="en-US" sz="1050" dirty="0"/>
          </a:p>
        </p:txBody>
      </p:sp>
      <p:sp>
        <p:nvSpPr>
          <p:cNvPr id="26" name="Shape 22"/>
          <p:cNvSpPr/>
          <p:nvPr/>
        </p:nvSpPr>
        <p:spPr>
          <a:xfrm>
            <a:off x="8732520" y="5266944"/>
            <a:ext cx="109728" cy="109728"/>
          </a:xfrm>
          <a:prstGeom prst="rect">
            <a:avLst/>
          </a:prstGeom>
          <a:solidFill>
            <a:srgbClr val="5B6B7C"/>
          </a:solidFill>
          <a:ln/>
        </p:spPr>
      </p:sp>
      <p:sp>
        <p:nvSpPr>
          <p:cNvPr id="27" name="Text 23"/>
          <p:cNvSpPr/>
          <p:nvPr/>
        </p:nvSpPr>
        <p:spPr>
          <a:xfrm>
            <a:off x="8924544" y="5193792"/>
            <a:ext cx="1828800" cy="237744"/>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Otras disciplinas</a:t>
            </a:r>
            <a:endParaRPr lang="en-US" sz="1050" dirty="0"/>
          </a:p>
        </p:txBody>
      </p:sp>
      <p:sp>
        <p:nvSpPr>
          <p:cNvPr id="28" name="Text 24"/>
          <p:cNvSpPr/>
          <p:nvPr/>
        </p:nvSpPr>
        <p:spPr>
          <a:xfrm>
            <a:off x="10753344" y="5193792"/>
            <a:ext cx="786384" cy="237744"/>
          </a:xfrm>
          <a:prstGeom prst="rect">
            <a:avLst/>
          </a:prstGeom>
          <a:noFill/>
          <a:ln/>
        </p:spPr>
        <p:txBody>
          <a:bodyPr wrap="square" lIns="0" tIns="0" rIns="0" bIns="0" rtlCol="0" anchor="ctr"/>
          <a:lstStyle/>
          <a:p>
            <a:pPr algn="r" indent="0" marL="0">
              <a:buNone/>
            </a:pPr>
            <a:r>
              <a:rPr lang="en-US" sz="1050" b="1" dirty="0">
                <a:solidFill>
                  <a:srgbClr val="FFFFFF"/>
                </a:solidFill>
                <a:latin typeface="Calibri" pitchFamily="34" charset="0"/>
                <a:ea typeface="Calibri" pitchFamily="34" charset="-122"/>
                <a:cs typeface="Calibri" pitchFamily="34" charset="-120"/>
              </a:rPr>
              <a:t>221</a:t>
            </a:r>
            <a:endParaRPr lang="en-US" sz="1050" dirty="0"/>
          </a:p>
        </p:txBody>
      </p:sp>
      <p:sp>
        <p:nvSpPr>
          <p:cNvPr id="29" name="Text 25"/>
          <p:cNvSpPr/>
          <p:nvPr/>
        </p:nvSpPr>
        <p:spPr>
          <a:xfrm>
            <a:off x="457200" y="5650992"/>
            <a:ext cx="11247120" cy="502920"/>
          </a:xfrm>
          <a:prstGeom prst="rect">
            <a:avLst/>
          </a:prstGeom>
          <a:noFill/>
          <a:ln/>
        </p:spPr>
        <p:txBody>
          <a:bodyPr wrap="square" lIns="0" tIns="0" rIns="0" bIns="0" rtlCol="0" anchor="t"/>
          <a:lstStyle/>
          <a:p>
            <a:pPr indent="0" marL="0">
              <a:buNone/>
            </a:pPr>
            <a:r>
              <a:rPr lang="en-US" sz="950" i="1" dirty="0">
                <a:solidFill>
                  <a:srgbClr val="56606E"/>
                </a:solidFill>
                <a:latin typeface="Calibri" pitchFamily="34" charset="0"/>
                <a:ea typeface="Calibri" pitchFamily="34" charset="-122"/>
                <a:cs typeface="Calibri" pitchFamily="34" charset="-120"/>
              </a:rPr>
              <a:t>El costo se imputa al mes de emisión: la columna «Costo De La No Conformidad» no trae fecha propia. 4 de los últimos 12 meses no tienen ningún monto declarado, y un mes en blanco es «sin declarar», no «sin costo». La serie es un piso del costo real, no el costo real.</a:t>
            </a:r>
            <a:endParaRPr lang="en-US" sz="950" dirty="0"/>
          </a:p>
        </p:txBody>
      </p:sp>
      <p:sp>
        <p:nvSpPr>
          <p:cNvPr id="30" name="Text 26"/>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31" name="Text 27"/>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CONSOLIDADO</a:t>
            </a:r>
            <a:endParaRPr lang="en-US" sz="850" dirty="0"/>
          </a:p>
        </p:txBody>
      </p:sp>
      <p:sp>
        <p:nvSpPr>
          <p:cNvPr id="32" name="Text 28"/>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3B"/>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8357616" y="420624"/>
            <a:ext cx="3547872" cy="768096"/>
          </a:xfrm>
          <a:prstGeom prst="rect">
            <a:avLst/>
          </a:prstGeom>
        </p:spPr>
      </p:pic>
      <p:sp>
        <p:nvSpPr>
          <p:cNvPr id="3" name="Shape 0"/>
          <p:cNvSpPr/>
          <p:nvPr/>
        </p:nvSpPr>
        <p:spPr>
          <a:xfrm>
            <a:off x="9875520" y="-1645920"/>
            <a:ext cx="4206240" cy="4206240"/>
          </a:xfrm>
          <a:prstGeom prst="ellipse">
            <a:avLst/>
          </a:prstGeom>
          <a:solidFill>
            <a:srgbClr val="1B3252"/>
          </a:solidFill>
          <a:ln/>
        </p:spPr>
      </p:sp>
      <p:sp>
        <p:nvSpPr>
          <p:cNvPr id="4" name="Text 1"/>
          <p:cNvSpPr/>
          <p:nvPr/>
        </p:nvSpPr>
        <p:spPr>
          <a:xfrm>
            <a:off x="457200" y="457200"/>
            <a:ext cx="7315200" cy="256032"/>
          </a:xfrm>
          <a:prstGeom prst="rect">
            <a:avLst/>
          </a:prstGeom>
          <a:noFill/>
          <a:ln/>
        </p:spPr>
        <p:txBody>
          <a:bodyPr wrap="square" lIns="0" tIns="0" rIns="0" bIns="0" rtlCol="0" anchor="ctr"/>
          <a:lstStyle/>
          <a:p>
            <a:pPr algn="l" indent="0" marL="0">
              <a:buNone/>
            </a:pPr>
            <a:r>
              <a:rPr lang="en-US" sz="1100" b="1" spc="200" kern="0" dirty="0">
                <a:solidFill>
                  <a:srgbClr val="E3A55B"/>
                </a:solidFill>
                <a:latin typeface="Calibri" pitchFamily="34" charset="0"/>
                <a:ea typeface="Calibri" pitchFamily="34" charset="-122"/>
                <a:cs typeface="Calibri" pitchFamily="34" charset="-120"/>
              </a:rPr>
              <a:t>FOCO DE GESTIÓN</a:t>
            </a:r>
            <a:endParaRPr lang="en-US" sz="1100" dirty="0"/>
          </a:p>
        </p:txBody>
      </p:sp>
      <p:sp>
        <p:nvSpPr>
          <p:cNvPr id="5" name="Text 2"/>
          <p:cNvSpPr/>
          <p:nvPr/>
        </p:nvSpPr>
        <p:spPr>
          <a:xfrm>
            <a:off x="457200" y="713232"/>
            <a:ext cx="109728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Dónde poner el esfuerzo esta semana</a:t>
            </a:r>
            <a:endParaRPr lang="en-US" sz="3000" dirty="0"/>
          </a:p>
        </p:txBody>
      </p:sp>
      <p:sp>
        <p:nvSpPr>
          <p:cNvPr id="6" name="Shape 3"/>
          <p:cNvSpPr/>
          <p:nvPr/>
        </p:nvSpPr>
        <p:spPr>
          <a:xfrm>
            <a:off x="457200" y="1600200"/>
            <a:ext cx="5486400" cy="1920240"/>
          </a:xfrm>
          <a:prstGeom prst="roundRect">
            <a:avLst>
              <a:gd name="adj" fmla="val 3333"/>
            </a:avLst>
          </a:prstGeom>
          <a:solidFill>
            <a:srgbClr val="1B3252"/>
          </a:solidFill>
          <a:ln/>
        </p:spPr>
      </p:sp>
      <p:sp>
        <p:nvSpPr>
          <p:cNvPr id="7" name="Text 4"/>
          <p:cNvSpPr/>
          <p:nvPr/>
        </p:nvSpPr>
        <p:spPr>
          <a:xfrm>
            <a:off x="731520" y="1801368"/>
            <a:ext cx="1005840" cy="640080"/>
          </a:xfrm>
          <a:prstGeom prst="rect">
            <a:avLst/>
          </a:prstGeom>
          <a:noFill/>
          <a:ln/>
        </p:spPr>
        <p:txBody>
          <a:bodyPr wrap="square" lIns="0" tIns="0" rIns="0" bIns="0" rtlCol="0" anchor="ctr"/>
          <a:lstStyle/>
          <a:p>
            <a:pPr indent="0" marL="0">
              <a:buNone/>
            </a:pPr>
            <a:r>
              <a:rPr lang="en-US" sz="3400" b="1" dirty="0">
                <a:solidFill>
                  <a:srgbClr val="C0392B"/>
                </a:solidFill>
                <a:latin typeface="Cambria" pitchFamily="34" charset="0"/>
                <a:ea typeface="Cambria" pitchFamily="34" charset="-122"/>
                <a:cs typeface="Cambria" pitchFamily="34" charset="-120"/>
              </a:rPr>
              <a:t>01</a:t>
            </a:r>
            <a:endParaRPr lang="en-US" sz="3400" dirty="0"/>
          </a:p>
        </p:txBody>
      </p:sp>
      <p:sp>
        <p:nvSpPr>
          <p:cNvPr id="8" name="Text 5"/>
          <p:cNvSpPr/>
          <p:nvPr/>
        </p:nvSpPr>
        <p:spPr>
          <a:xfrm>
            <a:off x="1691640" y="1783080"/>
            <a:ext cx="4023360"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Cerrar el pendiente de Arqueros</a:t>
            </a:r>
            <a:endParaRPr lang="en-US" sz="1400" dirty="0"/>
          </a:p>
        </p:txBody>
      </p:sp>
      <p:sp>
        <p:nvSpPr>
          <p:cNvPr id="9" name="Text 6"/>
          <p:cNvSpPr/>
          <p:nvPr/>
        </p:nvSpPr>
        <p:spPr>
          <a:xfrm>
            <a:off x="1691640" y="2404872"/>
            <a:ext cx="3977640" cy="1005840"/>
          </a:xfrm>
          <a:prstGeom prst="rect">
            <a:avLst/>
          </a:prstGeom>
          <a:noFill/>
          <a:ln/>
        </p:spPr>
        <p:txBody>
          <a:bodyPr wrap="square" lIns="0" tIns="0" rIns="0" bIns="0" rtlCol="0" anchor="t"/>
          <a:lstStyle/>
          <a:p>
            <a:pPr indent="0" marL="0">
              <a:lnSpc>
                <a:spcPts val="1400"/>
              </a:lnSpc>
              <a:buNone/>
            </a:pPr>
            <a:r>
              <a:rPr lang="en-US" sz="1100" dirty="0">
                <a:solidFill>
                  <a:srgbClr val="DCE6F0"/>
                </a:solidFill>
                <a:latin typeface="Calibri" pitchFamily="34" charset="0"/>
                <a:ea typeface="Calibri" pitchFamily="34" charset="-122"/>
                <a:cs typeface="Calibri" pitchFamily="34" charset="-120"/>
              </a:rPr>
              <a:t>37 de los 52 hallazgos abiertos (71,2%) y 77,4% de cierre, contra 89,6% global. Es la ruta crítica del módulo.</a:t>
            </a:r>
            <a:endParaRPr lang="en-US" sz="1100" dirty="0"/>
          </a:p>
        </p:txBody>
      </p:sp>
      <p:sp>
        <p:nvSpPr>
          <p:cNvPr id="10" name="Shape 7"/>
          <p:cNvSpPr/>
          <p:nvPr/>
        </p:nvSpPr>
        <p:spPr>
          <a:xfrm>
            <a:off x="6245352" y="1600200"/>
            <a:ext cx="5486400" cy="1920240"/>
          </a:xfrm>
          <a:prstGeom prst="roundRect">
            <a:avLst>
              <a:gd name="adj" fmla="val 3333"/>
            </a:avLst>
          </a:prstGeom>
          <a:solidFill>
            <a:srgbClr val="1B3252"/>
          </a:solidFill>
          <a:ln/>
        </p:spPr>
      </p:sp>
      <p:sp>
        <p:nvSpPr>
          <p:cNvPr id="11" name="Text 8"/>
          <p:cNvSpPr/>
          <p:nvPr/>
        </p:nvSpPr>
        <p:spPr>
          <a:xfrm>
            <a:off x="6519672" y="1801368"/>
            <a:ext cx="1005840" cy="640080"/>
          </a:xfrm>
          <a:prstGeom prst="rect">
            <a:avLst/>
          </a:prstGeom>
          <a:noFill/>
          <a:ln/>
        </p:spPr>
        <p:txBody>
          <a:bodyPr wrap="square" lIns="0" tIns="0" rIns="0" bIns="0" rtlCol="0" anchor="ctr"/>
          <a:lstStyle/>
          <a:p>
            <a:pPr indent="0" marL="0">
              <a:buNone/>
            </a:pPr>
            <a:r>
              <a:rPr lang="en-US" sz="3400" b="1" dirty="0">
                <a:solidFill>
                  <a:srgbClr val="C87A32"/>
                </a:solidFill>
                <a:latin typeface="Cambria" pitchFamily="34" charset="0"/>
                <a:ea typeface="Cambria" pitchFamily="34" charset="-122"/>
                <a:cs typeface="Cambria" pitchFamily="34" charset="-120"/>
              </a:rPr>
              <a:t>02</a:t>
            </a:r>
            <a:endParaRPr lang="en-US" sz="3400" dirty="0"/>
          </a:p>
        </p:txBody>
      </p:sp>
      <p:sp>
        <p:nvSpPr>
          <p:cNvPr id="12" name="Text 9"/>
          <p:cNvSpPr/>
          <p:nvPr/>
        </p:nvSpPr>
        <p:spPr>
          <a:xfrm>
            <a:off x="7479792" y="1783080"/>
            <a:ext cx="4023360"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Levantar la autodetección de Talabre</a:t>
            </a:r>
            <a:endParaRPr lang="en-US" sz="1400" dirty="0"/>
          </a:p>
        </p:txBody>
      </p:sp>
      <p:sp>
        <p:nvSpPr>
          <p:cNvPr id="13" name="Text 10"/>
          <p:cNvSpPr/>
          <p:nvPr/>
        </p:nvSpPr>
        <p:spPr>
          <a:xfrm>
            <a:off x="7479792" y="2404872"/>
            <a:ext cx="3977640" cy="1005840"/>
          </a:xfrm>
          <a:prstGeom prst="rect">
            <a:avLst/>
          </a:prstGeom>
          <a:noFill/>
          <a:ln/>
        </p:spPr>
        <p:txBody>
          <a:bodyPr wrap="square" lIns="0" tIns="0" rIns="0" bIns="0" rtlCol="0" anchor="t"/>
          <a:lstStyle/>
          <a:p>
            <a:pPr indent="0" marL="0">
              <a:lnSpc>
                <a:spcPts val="1400"/>
              </a:lnSpc>
              <a:buNone/>
            </a:pPr>
            <a:r>
              <a:rPr lang="en-US" sz="1100" dirty="0">
                <a:solidFill>
                  <a:srgbClr val="DCE6F0"/>
                </a:solidFill>
                <a:latin typeface="Calibri" pitchFamily="34" charset="0"/>
                <a:ea typeface="Calibri" pitchFamily="34" charset="-122"/>
                <a:cs typeface="Calibri" pitchFamily="34" charset="-120"/>
              </a:rPr>
              <a:t>Solo 21,3% de sus hallazgos los detecta Besalco; el mejor frente va en 66,7%. Lo que no se detecta adentro llega como observación del cliente.</a:t>
            </a:r>
            <a:endParaRPr lang="en-US" sz="1100" dirty="0"/>
          </a:p>
        </p:txBody>
      </p:sp>
      <p:sp>
        <p:nvSpPr>
          <p:cNvPr id="14" name="Shape 11"/>
          <p:cNvSpPr/>
          <p:nvPr/>
        </p:nvSpPr>
        <p:spPr>
          <a:xfrm>
            <a:off x="457200" y="3749040"/>
            <a:ext cx="5486400" cy="1920240"/>
          </a:xfrm>
          <a:prstGeom prst="roundRect">
            <a:avLst>
              <a:gd name="adj" fmla="val 3333"/>
            </a:avLst>
          </a:prstGeom>
          <a:solidFill>
            <a:srgbClr val="1B3252"/>
          </a:solidFill>
          <a:ln/>
        </p:spPr>
      </p:sp>
      <p:sp>
        <p:nvSpPr>
          <p:cNvPr id="15" name="Text 12"/>
          <p:cNvSpPr/>
          <p:nvPr/>
        </p:nvSpPr>
        <p:spPr>
          <a:xfrm>
            <a:off x="731520" y="3950208"/>
            <a:ext cx="1005840" cy="640080"/>
          </a:xfrm>
          <a:prstGeom prst="rect">
            <a:avLst/>
          </a:prstGeom>
          <a:noFill/>
          <a:ln/>
        </p:spPr>
        <p:txBody>
          <a:bodyPr wrap="square" lIns="0" tIns="0" rIns="0" bIns="0" rtlCol="0" anchor="ctr"/>
          <a:lstStyle/>
          <a:p>
            <a:pPr indent="0" marL="0">
              <a:buNone/>
            </a:pPr>
            <a:r>
              <a:rPr lang="en-US" sz="3400" b="1" dirty="0">
                <a:solidFill>
                  <a:srgbClr val="E0A32E"/>
                </a:solidFill>
                <a:latin typeface="Cambria" pitchFamily="34" charset="0"/>
                <a:ea typeface="Cambria" pitchFamily="34" charset="-122"/>
                <a:cs typeface="Cambria" pitchFamily="34" charset="-120"/>
              </a:rPr>
              <a:t>03</a:t>
            </a:r>
            <a:endParaRPr lang="en-US" sz="3400" dirty="0"/>
          </a:p>
        </p:txBody>
      </p:sp>
      <p:sp>
        <p:nvSpPr>
          <p:cNvPr id="16" name="Text 13"/>
          <p:cNvSpPr/>
          <p:nvPr/>
        </p:nvSpPr>
        <p:spPr>
          <a:xfrm>
            <a:off x="1691640" y="3931920"/>
            <a:ext cx="4023360"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Sacar los 19 hallazgos sobre 180 días</a:t>
            </a:r>
            <a:endParaRPr lang="en-US" sz="1400" dirty="0"/>
          </a:p>
        </p:txBody>
      </p:sp>
      <p:sp>
        <p:nvSpPr>
          <p:cNvPr id="17" name="Text 14"/>
          <p:cNvSpPr/>
          <p:nvPr/>
        </p:nvSpPr>
        <p:spPr>
          <a:xfrm>
            <a:off x="1691640" y="4553712"/>
            <a:ext cx="3977640" cy="1005840"/>
          </a:xfrm>
          <a:prstGeom prst="rect">
            <a:avLst/>
          </a:prstGeom>
          <a:noFill/>
          <a:ln/>
        </p:spPr>
        <p:txBody>
          <a:bodyPr wrap="square" lIns="0" tIns="0" rIns="0" bIns="0" rtlCol="0" anchor="t"/>
          <a:lstStyle/>
          <a:p>
            <a:pPr indent="0" marL="0">
              <a:lnSpc>
                <a:spcPts val="1400"/>
              </a:lnSpc>
              <a:buNone/>
            </a:pPr>
            <a:r>
              <a:rPr lang="en-US" sz="1100" dirty="0">
                <a:solidFill>
                  <a:srgbClr val="DCE6F0"/>
                </a:solidFill>
                <a:latin typeface="Calibri" pitchFamily="34" charset="0"/>
                <a:ea typeface="Calibri" pitchFamily="34" charset="-122"/>
                <a:cs typeface="Calibri" pitchFamily="34" charset="-120"/>
              </a:rPr>
              <a:t>4 de ellos superan el año abiertos. Los tienen a cargo Sin asignar (16), Alvaro Cortés V. (3). Es deuda antigua que no se cierra sola.</a:t>
            </a:r>
            <a:endParaRPr lang="en-US" sz="1100" dirty="0"/>
          </a:p>
        </p:txBody>
      </p:sp>
      <p:sp>
        <p:nvSpPr>
          <p:cNvPr id="18" name="Shape 15"/>
          <p:cNvSpPr/>
          <p:nvPr/>
        </p:nvSpPr>
        <p:spPr>
          <a:xfrm>
            <a:off x="6245352" y="3749040"/>
            <a:ext cx="5486400" cy="1920240"/>
          </a:xfrm>
          <a:prstGeom prst="roundRect">
            <a:avLst>
              <a:gd name="adj" fmla="val 3333"/>
            </a:avLst>
          </a:prstGeom>
          <a:solidFill>
            <a:srgbClr val="1B3252"/>
          </a:solidFill>
          <a:ln/>
        </p:spPr>
      </p:sp>
      <p:sp>
        <p:nvSpPr>
          <p:cNvPr id="19" name="Text 16"/>
          <p:cNvSpPr/>
          <p:nvPr/>
        </p:nvSpPr>
        <p:spPr>
          <a:xfrm>
            <a:off x="6519672" y="3950208"/>
            <a:ext cx="1005840" cy="64008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04</a:t>
            </a:r>
            <a:endParaRPr lang="en-US" sz="3400" dirty="0"/>
          </a:p>
        </p:txBody>
      </p:sp>
      <p:sp>
        <p:nvSpPr>
          <p:cNvPr id="20" name="Text 17"/>
          <p:cNvSpPr/>
          <p:nvPr/>
        </p:nvSpPr>
        <p:spPr>
          <a:xfrm>
            <a:off x="7479792" y="3931920"/>
            <a:ext cx="4023360"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Responder las 50 que pasaron el plazo</a:t>
            </a:r>
            <a:endParaRPr lang="en-US" sz="1400" dirty="0"/>
          </a:p>
        </p:txBody>
      </p:sp>
      <p:sp>
        <p:nvSpPr>
          <p:cNvPr id="21" name="Text 18"/>
          <p:cNvSpPr/>
          <p:nvPr/>
        </p:nvSpPr>
        <p:spPr>
          <a:xfrm>
            <a:off x="7479792" y="4553712"/>
            <a:ext cx="3977640" cy="1005840"/>
          </a:xfrm>
          <a:prstGeom prst="rect">
            <a:avLst/>
          </a:prstGeom>
          <a:noFill/>
          <a:ln/>
        </p:spPr>
        <p:txBody>
          <a:bodyPr wrap="square" lIns="0" tIns="0" rIns="0" bIns="0" rtlCol="0" anchor="t"/>
          <a:lstStyle/>
          <a:p>
            <a:pPr indent="0" marL="0">
              <a:lnSpc>
                <a:spcPts val="1400"/>
              </a:lnSpc>
              <a:buNone/>
            </a:pPr>
            <a:r>
              <a:rPr lang="en-US" sz="1100" dirty="0">
                <a:solidFill>
                  <a:srgbClr val="DCE6F0"/>
                </a:solidFill>
                <a:latin typeface="Calibri" pitchFamily="34" charset="0"/>
                <a:ea typeface="Calibri" pitchFamily="34" charset="-122"/>
                <a:cs typeface="Calibri" pitchFamily="34" charset="-120"/>
              </a:rPr>
              <a:t>El plazo es de 10 días desde la emisión y hoy lo incumplen 96,2% de los abiertos. Solo 2 siguen dentro de plazo.</a:t>
            </a:r>
            <a:endParaRPr lang="en-US" sz="1100" dirty="0"/>
          </a:p>
        </p:txBody>
      </p:sp>
      <p:sp>
        <p:nvSpPr>
          <p:cNvPr id="22" name="Text 19"/>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6E8CA8"/>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3" name="Text 20"/>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6E8CA8"/>
                </a:solidFill>
                <a:latin typeface="Calibri" pitchFamily="34" charset="0"/>
                <a:ea typeface="Calibri" pitchFamily="34" charset="-122"/>
                <a:cs typeface="Calibri" pitchFamily="34" charset="-120"/>
              </a:rPr>
              <a:t>PROYECTO CONSOLIDADO</a:t>
            </a:r>
            <a:endParaRPr lang="en-US" sz="850" dirty="0"/>
          </a:p>
        </p:txBody>
      </p:sp>
      <p:sp>
        <p:nvSpPr>
          <p:cNvPr id="24"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6E8CA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3B"/>
        </a:solidFill>
      </p:bgPr>
    </p:bg>
    <p:spTree>
      <p:nvGrpSpPr>
        <p:cNvPr id="1" name=""/>
        <p:cNvGrpSpPr/>
        <p:nvPr/>
      </p:nvGrpSpPr>
      <p:grpSpPr>
        <a:xfrm>
          <a:off x="0" y="0"/>
          <a:ext cx="0" cy="0"/>
          <a:chOff x="0" y="0"/>
          <a:chExt cx="0" cy="0"/>
        </a:xfrm>
      </p:grpSpPr>
      <p:sp>
        <p:nvSpPr>
          <p:cNvPr id="2" name="Shape 0"/>
          <p:cNvSpPr/>
          <p:nvPr/>
        </p:nvSpPr>
        <p:spPr>
          <a:xfrm>
            <a:off x="10058400" y="-1463040"/>
            <a:ext cx="3840480" cy="3840480"/>
          </a:xfrm>
          <a:prstGeom prst="ellipse">
            <a:avLst/>
          </a:prstGeom>
          <a:solidFill>
            <a:srgbClr val="1B3252"/>
          </a:solidFill>
          <a:ln/>
        </p:spPr>
      </p:sp>
      <p:sp>
        <p:nvSpPr>
          <p:cNvPr id="3" name="Shape 1"/>
          <p:cNvSpPr/>
          <p:nvPr/>
        </p:nvSpPr>
        <p:spPr>
          <a:xfrm>
            <a:off x="11064240" y="4572000"/>
            <a:ext cx="2743200" cy="2743200"/>
          </a:xfrm>
          <a:prstGeom prst="ellipse">
            <a:avLst/>
          </a:prstGeom>
          <a:solidFill>
            <a:srgbClr val="1B3252"/>
          </a:solidFill>
          <a:ln/>
        </p:spPr>
      </p:sp>
      <p:pic>
        <p:nvPicPr>
          <p:cNvPr id="4" name="Image 0" descr="/workspace/dashboard-hseq/panel_control_TOP_P1/besalco_logo.png">    </p:cNvPr>
          <p:cNvPicPr>
            <a:picLocks noChangeAspect="1"/>
          </p:cNvPicPr>
          <p:nvPr/>
        </p:nvPicPr>
        <p:blipFill>
          <a:blip r:embed="rId1"/>
          <a:stretch>
            <a:fillRect/>
          </a:stretch>
        </p:blipFill>
        <p:spPr>
          <a:xfrm>
            <a:off x="8357616" y="420624"/>
            <a:ext cx="3547872" cy="768096"/>
          </a:xfrm>
          <a:prstGeom prst="rect">
            <a:avLst/>
          </a:prstGeom>
        </p:spPr>
      </p:pic>
      <p:sp>
        <p:nvSpPr>
          <p:cNvPr id="5" name="Shape 2"/>
          <p:cNvSpPr/>
          <p:nvPr/>
        </p:nvSpPr>
        <p:spPr>
          <a:xfrm>
            <a:off x="502920" y="1234440"/>
            <a:ext cx="201168" cy="201168"/>
          </a:xfrm>
          <a:prstGeom prst="ellipse">
            <a:avLst/>
          </a:prstGeom>
          <a:solidFill>
            <a:srgbClr val="C87A32"/>
          </a:solidFill>
          <a:ln/>
        </p:spPr>
      </p:sp>
      <p:sp>
        <p:nvSpPr>
          <p:cNvPr id="6" name="Text 3"/>
          <p:cNvSpPr/>
          <p:nvPr/>
        </p:nvSpPr>
        <p:spPr>
          <a:xfrm>
            <a:off x="777240" y="1097280"/>
            <a:ext cx="9144000" cy="365760"/>
          </a:xfrm>
          <a:prstGeom prst="rect">
            <a:avLst/>
          </a:prstGeom>
          <a:noFill/>
          <a:ln/>
        </p:spPr>
        <p:txBody>
          <a:bodyPr wrap="square" lIns="0" tIns="0" rIns="0" bIns="0" rtlCol="0" anchor="ctr"/>
          <a:lstStyle/>
          <a:p>
            <a:pPr indent="0" marL="0">
              <a:buNone/>
            </a:pPr>
            <a:r>
              <a:rPr lang="en-US" sz="1300" b="1" spc="300" kern="0" dirty="0">
                <a:solidFill>
                  <a:srgbClr val="E3A55B"/>
                </a:solidFill>
                <a:latin typeface="Calibri" pitchFamily="34" charset="0"/>
                <a:ea typeface="Calibri" pitchFamily="34" charset="-122"/>
                <a:cs typeface="Calibri" pitchFamily="34" charset="-120"/>
              </a:rPr>
              <a:t>PROYECTO 01 · P2416</a:t>
            </a:r>
            <a:endParaRPr lang="en-US" sz="1300" dirty="0"/>
          </a:p>
        </p:txBody>
      </p:sp>
      <p:sp>
        <p:nvSpPr>
          <p:cNvPr id="7" name="Text 4"/>
          <p:cNvSpPr/>
          <p:nvPr/>
        </p:nvSpPr>
        <p:spPr>
          <a:xfrm>
            <a:off x="749808" y="1572768"/>
            <a:ext cx="1060704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Desaladora</a:t>
            </a:r>
            <a:endParaRPr lang="en-US" sz="4600" dirty="0"/>
          </a:p>
        </p:txBody>
      </p:sp>
      <p:sp>
        <p:nvSpPr>
          <p:cNvPr id="8" name="Text 5"/>
          <p:cNvSpPr/>
          <p:nvPr/>
        </p:nvSpPr>
        <p:spPr>
          <a:xfrm>
            <a:off x="777240" y="2651760"/>
            <a:ext cx="9601200"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ANTOFAGASTA MINERALS · Hallazgos de calidad y su corrección</a:t>
            </a:r>
            <a:endParaRPr lang="en-US" sz="1600" dirty="0"/>
          </a:p>
        </p:txBody>
      </p:sp>
      <p:sp>
        <p:nvSpPr>
          <p:cNvPr id="9" name="Text 6"/>
          <p:cNvSpPr/>
          <p:nvPr/>
        </p:nvSpPr>
        <p:spPr>
          <a:xfrm>
            <a:off x="777240" y="3154680"/>
            <a:ext cx="8778240" cy="1371600"/>
          </a:xfrm>
          <a:prstGeom prst="rect">
            <a:avLst/>
          </a:prstGeom>
          <a:noFill/>
          <a:ln/>
        </p:spPr>
        <p:txBody>
          <a:bodyPr wrap="square" lIns="0" tIns="0" rIns="0" bIns="0" rtlCol="0" anchor="t"/>
          <a:lstStyle/>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82 hallazgos levantados · 54 internas · 19 del cliente · 8 de subcontrato · 18 especialidades involucradas.</a:t>
            </a:r>
            <a:endParaRPr lang="en-US" sz="1350" dirty="0"/>
          </a:p>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Estado de cierre, antigüedad de lo que sigue abierto y novedades de la última semana.</a:t>
            </a:r>
            <a:endParaRPr lang="en-US" sz="1350" dirty="0"/>
          </a:p>
        </p:txBody>
      </p:sp>
      <p:sp>
        <p:nvSpPr>
          <p:cNvPr id="10" name="Text 7"/>
          <p:cNvSpPr/>
          <p:nvPr/>
        </p:nvSpPr>
        <p:spPr>
          <a:xfrm>
            <a:off x="7772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98,8%</a:t>
            </a:r>
            <a:endParaRPr lang="en-US" sz="3400" dirty="0"/>
          </a:p>
        </p:txBody>
      </p:sp>
      <p:sp>
        <p:nvSpPr>
          <p:cNvPr id="11" name="Text 8"/>
          <p:cNvSpPr/>
          <p:nvPr/>
        </p:nvSpPr>
        <p:spPr>
          <a:xfrm>
            <a:off x="7772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Hallazgos cerrados</a:t>
            </a:r>
            <a:endParaRPr lang="en-US" sz="1150" dirty="0"/>
          </a:p>
        </p:txBody>
      </p:sp>
      <p:sp>
        <p:nvSpPr>
          <p:cNvPr id="12" name="Text 9"/>
          <p:cNvSpPr/>
          <p:nvPr/>
        </p:nvSpPr>
        <p:spPr>
          <a:xfrm>
            <a:off x="35204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1</a:t>
            </a:r>
            <a:endParaRPr lang="en-US" sz="3400" dirty="0"/>
          </a:p>
        </p:txBody>
      </p:sp>
      <p:sp>
        <p:nvSpPr>
          <p:cNvPr id="13" name="Text 10"/>
          <p:cNvSpPr/>
          <p:nvPr/>
        </p:nvSpPr>
        <p:spPr>
          <a:xfrm>
            <a:off x="35204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Siguen abiertos</a:t>
            </a:r>
            <a:endParaRPr lang="en-US" sz="1150" dirty="0"/>
          </a:p>
        </p:txBody>
      </p:sp>
      <p:sp>
        <p:nvSpPr>
          <p:cNvPr id="14" name="Text 11"/>
          <p:cNvSpPr/>
          <p:nvPr/>
        </p:nvSpPr>
        <p:spPr>
          <a:xfrm>
            <a:off x="62636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18 d</a:t>
            </a:r>
            <a:endParaRPr lang="en-US" sz="3400" dirty="0"/>
          </a:p>
        </p:txBody>
      </p:sp>
      <p:sp>
        <p:nvSpPr>
          <p:cNvPr id="15" name="Text 12"/>
          <p:cNvSpPr/>
          <p:nvPr/>
        </p:nvSpPr>
        <p:spPr>
          <a:xfrm>
            <a:off x="62636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Mediana de cierre</a:t>
            </a:r>
            <a:endParaRPr lang="en-US" sz="1150" dirty="0"/>
          </a:p>
        </p:txBody>
      </p:sp>
      <p:sp>
        <p:nvSpPr>
          <p:cNvPr id="16" name="Text 13"/>
          <p:cNvSpPr/>
          <p:nvPr/>
        </p:nvSpPr>
        <p:spPr>
          <a:xfrm>
            <a:off x="90068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66,7%</a:t>
            </a:r>
            <a:endParaRPr lang="en-US" sz="3400" dirty="0"/>
          </a:p>
        </p:txBody>
      </p:sp>
      <p:sp>
        <p:nvSpPr>
          <p:cNvPr id="17" name="Text 14"/>
          <p:cNvSpPr/>
          <p:nvPr/>
        </p:nvSpPr>
        <p:spPr>
          <a:xfrm>
            <a:off x="90068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Autodetección</a:t>
            </a:r>
            <a:endParaRPr lang="en-US" sz="1150" dirty="0"/>
          </a:p>
        </p:txBody>
      </p:sp>
      <p:sp>
        <p:nvSpPr>
          <p:cNvPr id="18" name="Text 15"/>
          <p:cNvSpPr/>
          <p:nvPr/>
        </p:nvSpPr>
        <p:spPr>
          <a:xfrm>
            <a:off x="777240" y="6172200"/>
            <a:ext cx="7315200" cy="274320"/>
          </a:xfrm>
          <a:prstGeom prst="rect">
            <a:avLst/>
          </a:prstGeom>
          <a:noFill/>
          <a:ln/>
        </p:spPr>
        <p:txBody>
          <a:bodyPr wrap="square" lIns="0" tIns="0" rIns="0" bIns="0" rtlCol="0" anchor="ctr"/>
          <a:lstStyle/>
          <a:p>
            <a:pPr indent="0" marL="0">
              <a:buNone/>
            </a:pPr>
            <a:r>
              <a:rPr lang="en-US" sz="1100" i="1" dirty="0">
                <a:solidFill>
                  <a:srgbClr val="6E8CA8"/>
                </a:solidFill>
                <a:latin typeface="Calibri" pitchFamily="34" charset="0"/>
                <a:ea typeface="Calibri" pitchFamily="34" charset="-122"/>
                <a:cs typeface="Calibri" pitchFamily="34" charset="-120"/>
              </a:rPr>
              <a:t>Corte: 17-08-2026</a:t>
            </a:r>
            <a:endParaRPr lang="en-US" sz="1100" dirty="0"/>
          </a:p>
        </p:txBody>
      </p:sp>
      <p:sp>
        <p:nvSpPr>
          <p:cNvPr id="19" name="Text 16"/>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6E8CA8"/>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0" name="Text 1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6E8CA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DESALADORA · ESTADO DE LOS HALLAZGOS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Cierre, disciplina y origen</a:t>
            </a:r>
            <a:endParaRPr lang="en-US" sz="3000" dirty="0"/>
          </a:p>
        </p:txBody>
      </p:sp>
      <p:sp>
        <p:nvSpPr>
          <p:cNvPr id="5" name="Shape 2"/>
          <p:cNvSpPr/>
          <p:nvPr/>
        </p:nvSpPr>
        <p:spPr>
          <a:xfrm>
            <a:off x="457200"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6" name="Shape 3"/>
          <p:cNvSpPr/>
          <p:nvPr/>
        </p:nvSpPr>
        <p:spPr>
          <a:xfrm>
            <a:off x="713232" y="1719072"/>
            <a:ext cx="146304" cy="146304"/>
          </a:xfrm>
          <a:prstGeom prst="ellipse">
            <a:avLst/>
          </a:prstGeom>
          <a:solidFill>
            <a:srgbClr val="2E6FB5"/>
          </a:solidFill>
          <a:ln/>
        </p:spPr>
      </p:sp>
      <p:sp>
        <p:nvSpPr>
          <p:cNvPr id="7" name="Text 4"/>
          <p:cNvSpPr/>
          <p:nvPr/>
        </p:nvSpPr>
        <p:spPr>
          <a:xfrm>
            <a:off x="713232" y="1938528"/>
            <a:ext cx="2286000" cy="749808"/>
          </a:xfrm>
          <a:prstGeom prst="rect">
            <a:avLst/>
          </a:prstGeom>
          <a:noFill/>
          <a:ln/>
        </p:spPr>
        <p:txBody>
          <a:bodyPr wrap="square" lIns="0" tIns="0" rIns="0" bIns="0" rtlCol="0" anchor="ctr"/>
          <a:lstStyle/>
          <a:p>
            <a:pPr indent="0" marL="0">
              <a:buNone/>
            </a:pPr>
            <a:r>
              <a:rPr lang="en-US" sz="4000" b="1" dirty="0">
                <a:solidFill>
                  <a:srgbClr val="2E6FB5"/>
                </a:solidFill>
                <a:latin typeface="Cambria" pitchFamily="34" charset="0"/>
                <a:ea typeface="Cambria" pitchFamily="34" charset="-122"/>
                <a:cs typeface="Cambria" pitchFamily="34" charset="-120"/>
              </a:rPr>
              <a:t>82</a:t>
            </a:r>
            <a:endParaRPr lang="en-US" sz="4000" dirty="0"/>
          </a:p>
        </p:txBody>
      </p:sp>
      <p:sp>
        <p:nvSpPr>
          <p:cNvPr id="8" name="Text 5"/>
          <p:cNvSpPr/>
          <p:nvPr/>
        </p:nvSpPr>
        <p:spPr>
          <a:xfrm>
            <a:off x="731520"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81 cerrados</a:t>
            </a:r>
            <a:endParaRPr lang="en-US" sz="1400" dirty="0"/>
          </a:p>
        </p:txBody>
      </p:sp>
      <p:sp>
        <p:nvSpPr>
          <p:cNvPr id="9" name="Text 6"/>
          <p:cNvSpPr/>
          <p:nvPr/>
        </p:nvSpPr>
        <p:spPr>
          <a:xfrm>
            <a:off x="731520"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Hallazgos levantados</a:t>
            </a:r>
            <a:endParaRPr lang="en-US" sz="1200" dirty="0"/>
          </a:p>
        </p:txBody>
      </p:sp>
      <p:sp>
        <p:nvSpPr>
          <p:cNvPr id="10" name="Text 7"/>
          <p:cNvSpPr/>
          <p:nvPr/>
        </p:nvSpPr>
        <p:spPr>
          <a:xfrm>
            <a:off x="731520"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54 internas · 19 del cliente · 8 de subcontrato</a:t>
            </a:r>
            <a:endParaRPr lang="en-US" sz="950" dirty="0"/>
          </a:p>
        </p:txBody>
      </p:sp>
      <p:sp>
        <p:nvSpPr>
          <p:cNvPr id="11" name="Shape 8"/>
          <p:cNvSpPr/>
          <p:nvPr/>
        </p:nvSpPr>
        <p:spPr>
          <a:xfrm>
            <a:off x="3319272"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2" name="Shape 9"/>
          <p:cNvSpPr/>
          <p:nvPr/>
        </p:nvSpPr>
        <p:spPr>
          <a:xfrm>
            <a:off x="3575304" y="1719072"/>
            <a:ext cx="146304" cy="146304"/>
          </a:xfrm>
          <a:prstGeom prst="ellipse">
            <a:avLst/>
          </a:prstGeom>
          <a:solidFill>
            <a:srgbClr val="1F7A44"/>
          </a:solidFill>
          <a:ln/>
        </p:spPr>
      </p:sp>
      <p:sp>
        <p:nvSpPr>
          <p:cNvPr id="13" name="Text 10"/>
          <p:cNvSpPr/>
          <p:nvPr/>
        </p:nvSpPr>
        <p:spPr>
          <a:xfrm>
            <a:off x="3575304" y="1938528"/>
            <a:ext cx="2286000" cy="749808"/>
          </a:xfrm>
          <a:prstGeom prst="rect">
            <a:avLst/>
          </a:prstGeom>
          <a:noFill/>
          <a:ln/>
        </p:spPr>
        <p:txBody>
          <a:bodyPr wrap="square" lIns="0" tIns="0" rIns="0" bIns="0" rtlCol="0" anchor="ctr"/>
          <a:lstStyle/>
          <a:p>
            <a:pPr indent="0" marL="0">
              <a:buNone/>
            </a:pPr>
            <a:r>
              <a:rPr lang="en-US" sz="4000" b="1" dirty="0">
                <a:solidFill>
                  <a:srgbClr val="1F7A44"/>
                </a:solidFill>
                <a:latin typeface="Cambria" pitchFamily="34" charset="0"/>
                <a:ea typeface="Cambria" pitchFamily="34" charset="-122"/>
                <a:cs typeface="Cambria" pitchFamily="34" charset="-120"/>
              </a:rPr>
              <a:t>98,8%</a:t>
            </a:r>
            <a:endParaRPr lang="en-US" sz="4000" dirty="0"/>
          </a:p>
        </p:txBody>
      </p:sp>
      <p:sp>
        <p:nvSpPr>
          <p:cNvPr id="14" name="Text 11"/>
          <p:cNvSpPr/>
          <p:nvPr/>
        </p:nvSpPr>
        <p:spPr>
          <a:xfrm>
            <a:off x="3593592"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81/82</a:t>
            </a:r>
            <a:endParaRPr lang="en-US" sz="1400" dirty="0"/>
          </a:p>
        </p:txBody>
      </p:sp>
      <p:sp>
        <p:nvSpPr>
          <p:cNvPr id="15" name="Text 12"/>
          <p:cNvSpPr/>
          <p:nvPr/>
        </p:nvSpPr>
        <p:spPr>
          <a:xfrm>
            <a:off x="3593592"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Cierre de hallazgos</a:t>
            </a:r>
            <a:endParaRPr lang="en-US" sz="1200" dirty="0"/>
          </a:p>
        </p:txBody>
      </p:sp>
      <p:sp>
        <p:nvSpPr>
          <p:cNvPr id="16" name="Text 13"/>
          <p:cNvSpPr/>
          <p:nvPr/>
        </p:nvSpPr>
        <p:spPr>
          <a:xfrm>
            <a:off x="3593592"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Global del módulo: 89,6%</a:t>
            </a:r>
            <a:endParaRPr lang="en-US" sz="950" dirty="0"/>
          </a:p>
        </p:txBody>
      </p:sp>
      <p:sp>
        <p:nvSpPr>
          <p:cNvPr id="17" name="Shape 14"/>
          <p:cNvSpPr/>
          <p:nvPr/>
        </p:nvSpPr>
        <p:spPr>
          <a:xfrm>
            <a:off x="6181344"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8" name="Shape 15"/>
          <p:cNvSpPr/>
          <p:nvPr/>
        </p:nvSpPr>
        <p:spPr>
          <a:xfrm>
            <a:off x="6437376" y="1719072"/>
            <a:ext cx="146304" cy="146304"/>
          </a:xfrm>
          <a:prstGeom prst="ellipse">
            <a:avLst/>
          </a:prstGeom>
          <a:solidFill>
            <a:srgbClr val="C0392B"/>
          </a:solidFill>
          <a:ln/>
        </p:spPr>
      </p:sp>
      <p:sp>
        <p:nvSpPr>
          <p:cNvPr id="19" name="Text 16"/>
          <p:cNvSpPr/>
          <p:nvPr/>
        </p:nvSpPr>
        <p:spPr>
          <a:xfrm>
            <a:off x="6437376" y="1938528"/>
            <a:ext cx="2286000" cy="749808"/>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1</a:t>
            </a:r>
            <a:endParaRPr lang="en-US" sz="4000" dirty="0"/>
          </a:p>
        </p:txBody>
      </p:sp>
      <p:sp>
        <p:nvSpPr>
          <p:cNvPr id="20" name="Text 17"/>
          <p:cNvSpPr/>
          <p:nvPr/>
        </p:nvSpPr>
        <p:spPr>
          <a:xfrm>
            <a:off x="6455664"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hallazgo abierto</a:t>
            </a:r>
            <a:endParaRPr lang="en-US" sz="1400" dirty="0"/>
          </a:p>
        </p:txBody>
      </p:sp>
      <p:sp>
        <p:nvSpPr>
          <p:cNvPr id="21" name="Text 18"/>
          <p:cNvSpPr/>
          <p:nvPr/>
        </p:nvSpPr>
        <p:spPr>
          <a:xfrm>
            <a:off x="6455664"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Siguen abiertos</a:t>
            </a:r>
            <a:endParaRPr lang="en-US" sz="1200" dirty="0"/>
          </a:p>
        </p:txBody>
      </p:sp>
      <p:sp>
        <p:nvSpPr>
          <p:cNvPr id="22" name="Text 19"/>
          <p:cNvSpPr/>
          <p:nvPr/>
        </p:nvSpPr>
        <p:spPr>
          <a:xfrm>
            <a:off x="6455664"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1 listo para revisión</a:t>
            </a:r>
            <a:endParaRPr lang="en-US" sz="950" dirty="0"/>
          </a:p>
        </p:txBody>
      </p:sp>
      <p:sp>
        <p:nvSpPr>
          <p:cNvPr id="23" name="Shape 20"/>
          <p:cNvSpPr/>
          <p:nvPr/>
        </p:nvSpPr>
        <p:spPr>
          <a:xfrm>
            <a:off x="9043416"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24" name="Shape 21"/>
          <p:cNvSpPr/>
          <p:nvPr/>
        </p:nvSpPr>
        <p:spPr>
          <a:xfrm>
            <a:off x="9299448" y="1719072"/>
            <a:ext cx="146304" cy="146304"/>
          </a:xfrm>
          <a:prstGeom prst="ellipse">
            <a:avLst/>
          </a:prstGeom>
          <a:solidFill>
            <a:srgbClr val="C87A32"/>
          </a:solidFill>
          <a:ln/>
        </p:spPr>
      </p:sp>
      <p:sp>
        <p:nvSpPr>
          <p:cNvPr id="25" name="Text 22"/>
          <p:cNvSpPr/>
          <p:nvPr/>
        </p:nvSpPr>
        <p:spPr>
          <a:xfrm>
            <a:off x="9299448" y="1938528"/>
            <a:ext cx="2286000" cy="749808"/>
          </a:xfrm>
          <a:prstGeom prst="rect">
            <a:avLst/>
          </a:prstGeom>
          <a:noFill/>
          <a:ln/>
        </p:spPr>
        <p:txBody>
          <a:bodyPr wrap="square" lIns="0" tIns="0" rIns="0" bIns="0" rtlCol="0" anchor="ctr"/>
          <a:lstStyle/>
          <a:p>
            <a:pPr indent="0" marL="0">
              <a:buNone/>
            </a:pPr>
            <a:r>
              <a:rPr lang="en-US" sz="4000" b="1" dirty="0">
                <a:solidFill>
                  <a:srgbClr val="C87A32"/>
                </a:solidFill>
                <a:latin typeface="Cambria" pitchFamily="34" charset="0"/>
                <a:ea typeface="Cambria" pitchFamily="34" charset="-122"/>
                <a:cs typeface="Cambria" pitchFamily="34" charset="-120"/>
              </a:rPr>
              <a:t>18</a:t>
            </a:r>
            <a:endParaRPr lang="en-US" sz="4000" dirty="0"/>
          </a:p>
        </p:txBody>
      </p:sp>
      <p:sp>
        <p:nvSpPr>
          <p:cNvPr id="26" name="Text 23"/>
          <p:cNvSpPr/>
          <p:nvPr/>
        </p:nvSpPr>
        <p:spPr>
          <a:xfrm>
            <a:off x="9317736"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días (mediana)</a:t>
            </a:r>
            <a:endParaRPr lang="en-US" sz="1400" dirty="0"/>
          </a:p>
        </p:txBody>
      </p:sp>
      <p:sp>
        <p:nvSpPr>
          <p:cNvPr id="27" name="Text 24"/>
          <p:cNvSpPr/>
          <p:nvPr/>
        </p:nvSpPr>
        <p:spPr>
          <a:xfrm>
            <a:off x="9317736"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Velocidad de cierre</a:t>
            </a:r>
            <a:endParaRPr lang="en-US" sz="1200" dirty="0"/>
          </a:p>
        </p:txBody>
      </p:sp>
      <p:sp>
        <p:nvSpPr>
          <p:cNvPr id="28" name="Text 25"/>
          <p:cNvSpPr/>
          <p:nvPr/>
        </p:nvSpPr>
        <p:spPr>
          <a:xfrm>
            <a:off x="9317736"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el más lento tomó 250 días</a:t>
            </a:r>
            <a:endParaRPr lang="en-US" sz="950" dirty="0"/>
          </a:p>
        </p:txBody>
      </p:sp>
      <p:graphicFrame>
        <p:nvGraphicFramePr>
          <p:cNvPr id="29" name="Chart 0" descr=""/>
          <p:cNvGraphicFramePr/>
          <p:nvPr/>
        </p:nvGraphicFramePr>
        <p:xfrm>
          <a:off x="457200" y="3886200"/>
          <a:ext cx="6949440" cy="2468880"/>
        </p:xfrm>
        <a:graphic xmlns:a="http://schemas.openxmlformats.org/drawingml/2006/main">
          <a:graphicData uri="http://schemas.openxmlformats.org/drawingml/2006/chart">
            <c:chart xmlns:c="http://schemas.openxmlformats.org/drawingml/2006/chart" r:id="rId2"/>
          </a:graphicData>
        </a:graphic>
      </p:graphicFrame>
      <p:sp>
        <p:nvSpPr>
          <p:cNvPr id="30" name="Shape 26"/>
          <p:cNvSpPr/>
          <p:nvPr/>
        </p:nvSpPr>
        <p:spPr>
          <a:xfrm>
            <a:off x="7635240" y="3886200"/>
            <a:ext cx="4096512" cy="2468880"/>
          </a:xfrm>
          <a:prstGeom prst="roundRect">
            <a:avLst>
              <a:gd name="adj" fmla="val 2222"/>
            </a:avLst>
          </a:prstGeom>
          <a:solidFill>
            <a:srgbClr val="12233B"/>
          </a:solidFill>
          <a:ln/>
        </p:spPr>
      </p:sp>
      <p:sp>
        <p:nvSpPr>
          <p:cNvPr id="31" name="Text 27"/>
          <p:cNvSpPr/>
          <p:nvPr/>
        </p:nvSpPr>
        <p:spPr>
          <a:xfrm>
            <a:off x="7882128" y="4005072"/>
            <a:ext cx="3657600" cy="274320"/>
          </a:xfrm>
          <a:prstGeom prst="rect">
            <a:avLst/>
          </a:prstGeom>
          <a:noFill/>
          <a:ln/>
        </p:spPr>
        <p:txBody>
          <a:bodyPr wrap="square" lIns="0" tIns="0" rIns="0" bIns="0" rtlCol="0" anchor="ctr"/>
          <a:lstStyle/>
          <a:p>
            <a:pPr indent="0" marL="0">
              <a:buNone/>
            </a:pPr>
            <a:r>
              <a:rPr lang="en-US" sz="1050" b="1" spc="120" kern="0" dirty="0">
                <a:solidFill>
                  <a:srgbClr val="E3A55B"/>
                </a:solidFill>
                <a:latin typeface="Calibri" pitchFamily="34" charset="0"/>
                <a:ea typeface="Calibri" pitchFamily="34" charset="-122"/>
                <a:cs typeface="Calibri" pitchFamily="34" charset="-120"/>
              </a:rPr>
              <a:t>ORIGEN DEL HALLAZGO</a:t>
            </a:r>
            <a:endParaRPr lang="en-US" sz="1050" dirty="0"/>
          </a:p>
        </p:txBody>
      </p:sp>
      <p:sp>
        <p:nvSpPr>
          <p:cNvPr id="32" name="Text 28"/>
          <p:cNvSpPr/>
          <p:nvPr/>
        </p:nvSpPr>
        <p:spPr>
          <a:xfrm>
            <a:off x="7882128" y="4261104"/>
            <a:ext cx="118872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66,7%</a:t>
            </a:r>
            <a:endParaRPr lang="en-US" sz="2600" dirty="0"/>
          </a:p>
        </p:txBody>
      </p:sp>
      <p:sp>
        <p:nvSpPr>
          <p:cNvPr id="33" name="Text 29"/>
          <p:cNvSpPr/>
          <p:nvPr/>
        </p:nvSpPr>
        <p:spPr>
          <a:xfrm>
            <a:off x="9098280" y="4261104"/>
            <a:ext cx="2468880" cy="457200"/>
          </a:xfrm>
          <a:prstGeom prst="rect">
            <a:avLst/>
          </a:prstGeom>
          <a:noFill/>
          <a:ln/>
        </p:spPr>
        <p:txBody>
          <a:bodyPr wrap="square" lIns="0" tIns="0" rIns="0" bIns="0" rtlCol="0" anchor="ctr"/>
          <a:lstStyle/>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de autodetección</a:t>
            </a:r>
            <a:endParaRPr lang="en-US" sz="1000" dirty="0"/>
          </a:p>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global del módulo 32,5%</a:t>
            </a:r>
            <a:endParaRPr lang="en-US" sz="1000" dirty="0"/>
          </a:p>
        </p:txBody>
      </p:sp>
      <p:sp>
        <p:nvSpPr>
          <p:cNvPr id="34" name="Shape 30"/>
          <p:cNvSpPr/>
          <p:nvPr/>
        </p:nvSpPr>
        <p:spPr>
          <a:xfrm>
            <a:off x="7882128" y="4791456"/>
            <a:ext cx="3657600" cy="0"/>
          </a:xfrm>
          <a:prstGeom prst="line">
            <a:avLst/>
          </a:prstGeom>
          <a:noFill/>
          <a:ln w="12700">
            <a:solidFill>
              <a:srgbClr val="1B3252"/>
            </a:solidFill>
            <a:prstDash val="solid"/>
          </a:ln>
        </p:spPr>
      </p:sp>
      <p:sp>
        <p:nvSpPr>
          <p:cNvPr id="35" name="Shape 31"/>
          <p:cNvSpPr/>
          <p:nvPr/>
        </p:nvSpPr>
        <p:spPr>
          <a:xfrm>
            <a:off x="7900416" y="4974336"/>
            <a:ext cx="164592" cy="164592"/>
          </a:xfrm>
          <a:prstGeom prst="ellipse">
            <a:avLst/>
          </a:prstGeom>
          <a:solidFill>
            <a:srgbClr val="2E6FB5"/>
          </a:solidFill>
          <a:ln/>
        </p:spPr>
      </p:sp>
      <p:sp>
        <p:nvSpPr>
          <p:cNvPr id="36" name="Text 32"/>
          <p:cNvSpPr/>
          <p:nvPr/>
        </p:nvSpPr>
        <p:spPr>
          <a:xfrm>
            <a:off x="8156448" y="488289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Interna (Besalco)</a:t>
            </a:r>
            <a:endParaRPr lang="en-US" sz="1100" dirty="0"/>
          </a:p>
        </p:txBody>
      </p:sp>
      <p:sp>
        <p:nvSpPr>
          <p:cNvPr id="37" name="Text 33"/>
          <p:cNvSpPr/>
          <p:nvPr/>
        </p:nvSpPr>
        <p:spPr>
          <a:xfrm>
            <a:off x="10287000" y="4882896"/>
            <a:ext cx="685800" cy="347472"/>
          </a:xfrm>
          <a:prstGeom prst="rect">
            <a:avLst/>
          </a:prstGeom>
          <a:noFill/>
          <a:ln/>
        </p:spPr>
        <p:txBody>
          <a:bodyPr wrap="square" lIns="0" tIns="0" rIns="0" bIns="0" rtlCol="0" anchor="ctr"/>
          <a:lstStyle/>
          <a:p>
            <a:pPr algn="r" indent="0" marL="0">
              <a:buNone/>
            </a:pPr>
            <a:r>
              <a:rPr lang="en-US" sz="950" dirty="0">
                <a:solidFill>
                  <a:srgbClr val="E3A55B"/>
                </a:solidFill>
                <a:latin typeface="Calibri" pitchFamily="34" charset="0"/>
                <a:ea typeface="Calibri" pitchFamily="34" charset="-122"/>
                <a:cs typeface="Calibri" pitchFamily="34" charset="-120"/>
              </a:rPr>
              <a:t>1 ab.</a:t>
            </a:r>
            <a:endParaRPr lang="en-US" sz="950" dirty="0"/>
          </a:p>
        </p:txBody>
      </p:sp>
      <p:sp>
        <p:nvSpPr>
          <p:cNvPr id="38" name="Text 34"/>
          <p:cNvSpPr/>
          <p:nvPr/>
        </p:nvSpPr>
        <p:spPr>
          <a:xfrm>
            <a:off x="10972800" y="488289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54</a:t>
            </a:r>
            <a:endParaRPr lang="en-US" sz="1600" dirty="0"/>
          </a:p>
        </p:txBody>
      </p:sp>
      <p:sp>
        <p:nvSpPr>
          <p:cNvPr id="39" name="Shape 35"/>
          <p:cNvSpPr/>
          <p:nvPr/>
        </p:nvSpPr>
        <p:spPr>
          <a:xfrm>
            <a:off x="7900416" y="5340096"/>
            <a:ext cx="164592" cy="164592"/>
          </a:xfrm>
          <a:prstGeom prst="ellipse">
            <a:avLst/>
          </a:prstGeom>
          <a:solidFill>
            <a:srgbClr val="9A6B0F"/>
          </a:solidFill>
          <a:ln/>
        </p:spPr>
      </p:sp>
      <p:sp>
        <p:nvSpPr>
          <p:cNvPr id="40" name="Text 36"/>
          <p:cNvSpPr/>
          <p:nvPr/>
        </p:nvSpPr>
        <p:spPr>
          <a:xfrm>
            <a:off x="8156448" y="524865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Externa · Cliente</a:t>
            </a:r>
            <a:endParaRPr lang="en-US" sz="1100" dirty="0"/>
          </a:p>
        </p:txBody>
      </p:sp>
      <p:sp>
        <p:nvSpPr>
          <p:cNvPr id="41" name="Text 37"/>
          <p:cNvSpPr/>
          <p:nvPr/>
        </p:nvSpPr>
        <p:spPr>
          <a:xfrm>
            <a:off x="10287000" y="5248656"/>
            <a:ext cx="685800" cy="347472"/>
          </a:xfrm>
          <a:prstGeom prst="rect">
            <a:avLst/>
          </a:prstGeom>
          <a:noFill/>
          <a:ln/>
        </p:spPr>
        <p:txBody>
          <a:bodyPr wrap="square" lIns="0" tIns="0" rIns="0" bIns="0" rtlCol="0" anchor="ctr"/>
          <a:lstStyle/>
          <a:p>
            <a:pPr algn="r" indent="0" marL="0">
              <a:buNone/>
            </a:pPr>
            <a:r>
              <a:rPr lang="en-US" sz="950" dirty="0">
                <a:solidFill>
                  <a:srgbClr val="6E8CA8"/>
                </a:solidFill>
                <a:latin typeface="Calibri" pitchFamily="34" charset="0"/>
                <a:ea typeface="Calibri" pitchFamily="34" charset="-122"/>
                <a:cs typeface="Calibri" pitchFamily="34" charset="-120"/>
              </a:rPr>
              <a:t>0 ab.</a:t>
            </a:r>
            <a:endParaRPr lang="en-US" sz="950" dirty="0"/>
          </a:p>
        </p:txBody>
      </p:sp>
      <p:sp>
        <p:nvSpPr>
          <p:cNvPr id="42" name="Text 38"/>
          <p:cNvSpPr/>
          <p:nvPr/>
        </p:nvSpPr>
        <p:spPr>
          <a:xfrm>
            <a:off x="10972800" y="524865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19</a:t>
            </a:r>
            <a:endParaRPr lang="en-US" sz="1600" dirty="0"/>
          </a:p>
        </p:txBody>
      </p:sp>
      <p:sp>
        <p:nvSpPr>
          <p:cNvPr id="43" name="Shape 39"/>
          <p:cNvSpPr/>
          <p:nvPr/>
        </p:nvSpPr>
        <p:spPr>
          <a:xfrm>
            <a:off x="7900416" y="5705856"/>
            <a:ext cx="164592" cy="164592"/>
          </a:xfrm>
          <a:prstGeom prst="ellipse">
            <a:avLst/>
          </a:prstGeom>
          <a:solidFill>
            <a:srgbClr val="8A5520"/>
          </a:solidFill>
          <a:ln/>
        </p:spPr>
      </p:sp>
      <p:sp>
        <p:nvSpPr>
          <p:cNvPr id="44" name="Text 40"/>
          <p:cNvSpPr/>
          <p:nvPr/>
        </p:nvSpPr>
        <p:spPr>
          <a:xfrm>
            <a:off x="8156448" y="561441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Externa · Subcontrato</a:t>
            </a:r>
            <a:endParaRPr lang="en-US" sz="1100" dirty="0"/>
          </a:p>
        </p:txBody>
      </p:sp>
      <p:sp>
        <p:nvSpPr>
          <p:cNvPr id="45" name="Text 41"/>
          <p:cNvSpPr/>
          <p:nvPr/>
        </p:nvSpPr>
        <p:spPr>
          <a:xfrm>
            <a:off x="10287000" y="5614416"/>
            <a:ext cx="685800" cy="347472"/>
          </a:xfrm>
          <a:prstGeom prst="rect">
            <a:avLst/>
          </a:prstGeom>
          <a:noFill/>
          <a:ln/>
        </p:spPr>
        <p:txBody>
          <a:bodyPr wrap="square" lIns="0" tIns="0" rIns="0" bIns="0" rtlCol="0" anchor="ctr"/>
          <a:lstStyle/>
          <a:p>
            <a:pPr algn="r" indent="0" marL="0">
              <a:buNone/>
            </a:pPr>
            <a:r>
              <a:rPr lang="en-US" sz="950" dirty="0">
                <a:solidFill>
                  <a:srgbClr val="6E8CA8"/>
                </a:solidFill>
                <a:latin typeface="Calibri" pitchFamily="34" charset="0"/>
                <a:ea typeface="Calibri" pitchFamily="34" charset="-122"/>
                <a:cs typeface="Calibri" pitchFamily="34" charset="-120"/>
              </a:rPr>
              <a:t>0 ab.</a:t>
            </a:r>
            <a:endParaRPr lang="en-US" sz="950" dirty="0"/>
          </a:p>
        </p:txBody>
      </p:sp>
      <p:sp>
        <p:nvSpPr>
          <p:cNvPr id="46" name="Text 42"/>
          <p:cNvSpPr/>
          <p:nvPr/>
        </p:nvSpPr>
        <p:spPr>
          <a:xfrm>
            <a:off x="10972800" y="561441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47" name="Shape 43"/>
          <p:cNvSpPr/>
          <p:nvPr/>
        </p:nvSpPr>
        <p:spPr>
          <a:xfrm>
            <a:off x="7900416" y="6071616"/>
            <a:ext cx="164592" cy="164592"/>
          </a:xfrm>
          <a:prstGeom prst="ellipse">
            <a:avLst/>
          </a:prstGeom>
          <a:solidFill>
            <a:srgbClr val="5B6B7C"/>
          </a:solidFill>
          <a:ln/>
        </p:spPr>
      </p:sp>
      <p:sp>
        <p:nvSpPr>
          <p:cNvPr id="48" name="Text 44"/>
          <p:cNvSpPr/>
          <p:nvPr/>
        </p:nvSpPr>
        <p:spPr>
          <a:xfrm>
            <a:off x="8156448" y="598017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Sin clasificar</a:t>
            </a:r>
            <a:endParaRPr lang="en-US" sz="1100" dirty="0"/>
          </a:p>
        </p:txBody>
      </p:sp>
      <p:sp>
        <p:nvSpPr>
          <p:cNvPr id="49" name="Text 45"/>
          <p:cNvSpPr/>
          <p:nvPr/>
        </p:nvSpPr>
        <p:spPr>
          <a:xfrm>
            <a:off x="10287000" y="5980176"/>
            <a:ext cx="685800" cy="347472"/>
          </a:xfrm>
          <a:prstGeom prst="rect">
            <a:avLst/>
          </a:prstGeom>
          <a:noFill/>
          <a:ln/>
        </p:spPr>
        <p:txBody>
          <a:bodyPr wrap="square" lIns="0" tIns="0" rIns="0" bIns="0" rtlCol="0" anchor="ctr"/>
          <a:lstStyle/>
          <a:p>
            <a:pPr algn="r" indent="0" marL="0">
              <a:buNone/>
            </a:pPr>
            <a:r>
              <a:rPr lang="en-US" sz="950" dirty="0">
                <a:solidFill>
                  <a:srgbClr val="6E8CA8"/>
                </a:solidFill>
                <a:latin typeface="Calibri" pitchFamily="34" charset="0"/>
                <a:ea typeface="Calibri" pitchFamily="34" charset="-122"/>
                <a:cs typeface="Calibri" pitchFamily="34" charset="-120"/>
              </a:rPr>
              <a:t>0 ab.</a:t>
            </a:r>
            <a:endParaRPr lang="en-US" sz="950" dirty="0"/>
          </a:p>
        </p:txBody>
      </p:sp>
      <p:sp>
        <p:nvSpPr>
          <p:cNvPr id="50" name="Text 46"/>
          <p:cNvSpPr/>
          <p:nvPr/>
        </p:nvSpPr>
        <p:spPr>
          <a:xfrm>
            <a:off x="10972800" y="598017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1" name="Text 47"/>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52" name="Text 48"/>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DESALADORA</a:t>
            </a:r>
            <a:endParaRPr lang="en-US" sz="850" dirty="0"/>
          </a:p>
        </p:txBody>
      </p:sp>
      <p:sp>
        <p:nvSpPr>
          <p:cNvPr id="53" name="Text 4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DESALADORA · PENDIENTE Y NOVEDADES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Hallazgos abiertos y lo levantado en la semana</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1 hallazgo sigue abierto; 0 con más de 180 días. Se listan del más antiguo al más reciente.</a:t>
            </a:r>
            <a:endParaRPr lang="en-US" sz="1350" dirty="0"/>
          </a:p>
        </p:txBody>
      </p:sp>
      <p:sp>
        <p:nvSpPr>
          <p:cNvPr id="6" name="Text 3"/>
          <p:cNvSpPr/>
          <p:nvPr/>
        </p:nvSpPr>
        <p:spPr>
          <a:xfrm>
            <a:off x="502920" y="1874520"/>
            <a:ext cx="8229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N°</a:t>
            </a:r>
            <a:endParaRPr lang="en-US" sz="950" dirty="0"/>
          </a:p>
        </p:txBody>
      </p:sp>
      <p:sp>
        <p:nvSpPr>
          <p:cNvPr id="7" name="Text 4"/>
          <p:cNvSpPr/>
          <p:nvPr/>
        </p:nvSpPr>
        <p:spPr>
          <a:xfrm>
            <a:off x="137160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TIPO</a:t>
            </a:r>
            <a:endParaRPr lang="en-US" sz="950" dirty="0"/>
          </a:p>
        </p:txBody>
      </p:sp>
      <p:sp>
        <p:nvSpPr>
          <p:cNvPr id="8" name="Text 5"/>
          <p:cNvSpPr/>
          <p:nvPr/>
        </p:nvSpPr>
        <p:spPr>
          <a:xfrm>
            <a:off x="2926080" y="1874520"/>
            <a:ext cx="14630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ORIGEN</a:t>
            </a:r>
            <a:endParaRPr lang="en-US" sz="950" dirty="0"/>
          </a:p>
        </p:txBody>
      </p:sp>
      <p:sp>
        <p:nvSpPr>
          <p:cNvPr id="9" name="Text 6"/>
          <p:cNvSpPr/>
          <p:nvPr/>
        </p:nvSpPr>
        <p:spPr>
          <a:xfrm>
            <a:off x="4434840" y="1874520"/>
            <a:ext cx="12801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DISCIPLINA</a:t>
            </a:r>
            <a:endParaRPr lang="en-US" sz="950" dirty="0"/>
          </a:p>
        </p:txBody>
      </p:sp>
      <p:sp>
        <p:nvSpPr>
          <p:cNvPr id="10" name="Text 7"/>
          <p:cNvSpPr/>
          <p:nvPr/>
        </p:nvSpPr>
        <p:spPr>
          <a:xfrm>
            <a:off x="576072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RESPONSABLE</a:t>
            </a:r>
            <a:endParaRPr lang="en-US" sz="950" dirty="0"/>
          </a:p>
        </p:txBody>
      </p:sp>
      <p:sp>
        <p:nvSpPr>
          <p:cNvPr id="11" name="Text 8"/>
          <p:cNvSpPr/>
          <p:nvPr/>
        </p:nvSpPr>
        <p:spPr>
          <a:xfrm>
            <a:off x="7315200" y="1874520"/>
            <a:ext cx="132588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ESTATUS</a:t>
            </a:r>
            <a:endParaRPr lang="en-US" sz="950" dirty="0"/>
          </a:p>
        </p:txBody>
      </p:sp>
      <p:sp>
        <p:nvSpPr>
          <p:cNvPr id="12" name="Text 9"/>
          <p:cNvSpPr/>
          <p:nvPr/>
        </p:nvSpPr>
        <p:spPr>
          <a:xfrm>
            <a:off x="8686800" y="1874520"/>
            <a:ext cx="6400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DÍAS</a:t>
            </a:r>
            <a:endParaRPr lang="en-US" sz="950" dirty="0"/>
          </a:p>
        </p:txBody>
      </p:sp>
      <p:sp>
        <p:nvSpPr>
          <p:cNvPr id="13" name="Text 10"/>
          <p:cNvSpPr/>
          <p:nvPr/>
        </p:nvSpPr>
        <p:spPr>
          <a:xfrm>
            <a:off x="9464040" y="1874520"/>
            <a:ext cx="22860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TÍTULO</a:t>
            </a:r>
            <a:endParaRPr lang="en-US" sz="950" dirty="0"/>
          </a:p>
        </p:txBody>
      </p:sp>
      <p:sp>
        <p:nvSpPr>
          <p:cNvPr id="14" name="Shape 11"/>
          <p:cNvSpPr/>
          <p:nvPr/>
        </p:nvSpPr>
        <p:spPr>
          <a:xfrm>
            <a:off x="502920" y="2185416"/>
            <a:ext cx="11247120" cy="0"/>
          </a:xfrm>
          <a:prstGeom prst="line">
            <a:avLst/>
          </a:prstGeom>
          <a:noFill/>
          <a:ln w="12700">
            <a:solidFill>
              <a:srgbClr val="6E8CA8"/>
            </a:solidFill>
            <a:prstDash val="solid"/>
          </a:ln>
        </p:spPr>
      </p:sp>
      <p:sp>
        <p:nvSpPr>
          <p:cNvPr id="15" name="Text 12"/>
          <p:cNvSpPr/>
          <p:nvPr/>
        </p:nvSpPr>
        <p:spPr>
          <a:xfrm>
            <a:off x="502920" y="2313432"/>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89</a:t>
            </a:r>
            <a:endParaRPr lang="en-US" sz="1050" dirty="0"/>
          </a:p>
        </p:txBody>
      </p:sp>
      <p:sp>
        <p:nvSpPr>
          <p:cNvPr id="16" name="Text 13"/>
          <p:cNvSpPr/>
          <p:nvPr/>
        </p:nvSpPr>
        <p:spPr>
          <a:xfrm>
            <a:off x="137160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17" name="Text 14"/>
          <p:cNvSpPr/>
          <p:nvPr/>
        </p:nvSpPr>
        <p:spPr>
          <a:xfrm>
            <a:off x="2926080" y="2313432"/>
            <a:ext cx="1463040" cy="256032"/>
          </a:xfrm>
          <a:prstGeom prst="rect">
            <a:avLst/>
          </a:prstGeom>
          <a:noFill/>
          <a:ln/>
        </p:spPr>
        <p:txBody>
          <a:bodyPr wrap="square" lIns="0" tIns="0" rIns="0" bIns="0" rtlCol="0" anchor="ctr"/>
          <a:lstStyle/>
          <a:p>
            <a:pPr algn="l" indent="0" marL="0">
              <a:buNone/>
            </a:pPr>
            <a:r>
              <a:rPr lang="en-US" sz="1050" b="1" dirty="0">
                <a:solidFill>
                  <a:srgbClr val="2E6FB5"/>
                </a:solidFill>
                <a:latin typeface="Calibri" pitchFamily="34" charset="0"/>
                <a:ea typeface="Calibri" pitchFamily="34" charset="-122"/>
                <a:cs typeface="Calibri" pitchFamily="34" charset="-120"/>
              </a:rPr>
              <a:t>Interna (Besalco)</a:t>
            </a:r>
            <a:endParaRPr lang="en-US" sz="1050" dirty="0"/>
          </a:p>
        </p:txBody>
      </p:sp>
      <p:sp>
        <p:nvSpPr>
          <p:cNvPr id="18" name="Text 15"/>
          <p:cNvSpPr/>
          <p:nvPr/>
        </p:nvSpPr>
        <p:spPr>
          <a:xfrm>
            <a:off x="4434840" y="2313432"/>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EXPEDITORÍA</a:t>
            </a:r>
            <a:endParaRPr lang="en-US" sz="1050" dirty="0"/>
          </a:p>
        </p:txBody>
      </p:sp>
      <p:sp>
        <p:nvSpPr>
          <p:cNvPr id="19" name="Text 16"/>
          <p:cNvSpPr/>
          <p:nvPr/>
        </p:nvSpPr>
        <p:spPr>
          <a:xfrm>
            <a:off x="576072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Ariel Flores U.</a:t>
            </a:r>
            <a:endParaRPr lang="en-US" sz="1050" dirty="0"/>
          </a:p>
        </p:txBody>
      </p:sp>
      <p:sp>
        <p:nvSpPr>
          <p:cNvPr id="20" name="Text 17"/>
          <p:cNvSpPr/>
          <p:nvPr/>
        </p:nvSpPr>
        <p:spPr>
          <a:xfrm>
            <a:off x="7315200" y="2313432"/>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21" name="Text 18"/>
          <p:cNvSpPr/>
          <p:nvPr/>
        </p:nvSpPr>
        <p:spPr>
          <a:xfrm>
            <a:off x="8686800" y="2313432"/>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97</a:t>
            </a:r>
            <a:endParaRPr lang="en-US" sz="1050" dirty="0"/>
          </a:p>
        </p:txBody>
      </p:sp>
      <p:sp>
        <p:nvSpPr>
          <p:cNvPr id="22" name="Text 19"/>
          <p:cNvSpPr/>
          <p:nvPr/>
        </p:nvSpPr>
        <p:spPr>
          <a:xfrm>
            <a:off x="9464040" y="2313432"/>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Daño en manilla de válvula 4515-HV-…</a:t>
            </a:r>
            <a:endParaRPr lang="en-US" sz="1000" dirty="0"/>
          </a:p>
        </p:txBody>
      </p:sp>
      <p:sp>
        <p:nvSpPr>
          <p:cNvPr id="23" name="Shape 20"/>
          <p:cNvSpPr/>
          <p:nvPr/>
        </p:nvSpPr>
        <p:spPr>
          <a:xfrm>
            <a:off x="502920" y="2606040"/>
            <a:ext cx="11247120" cy="0"/>
          </a:xfrm>
          <a:prstGeom prst="line">
            <a:avLst/>
          </a:prstGeom>
          <a:noFill/>
          <a:ln w="9525">
            <a:solidFill>
              <a:srgbClr val="D9DFE6"/>
            </a:solidFill>
            <a:prstDash val="solid"/>
          </a:ln>
        </p:spPr>
      </p:sp>
      <p:sp>
        <p:nvSpPr>
          <p:cNvPr id="24" name="Shape 21"/>
          <p:cNvSpPr/>
          <p:nvPr/>
        </p:nvSpPr>
        <p:spPr>
          <a:xfrm>
            <a:off x="457200" y="5806440"/>
            <a:ext cx="11274552" cy="566928"/>
          </a:xfrm>
          <a:prstGeom prst="roundRect">
            <a:avLst>
              <a:gd name="adj" fmla="val 9677"/>
            </a:avLst>
          </a:prstGeom>
          <a:solidFill>
            <a:srgbClr val="E9EDF2"/>
          </a:solidFill>
          <a:ln/>
        </p:spPr>
      </p:sp>
      <p:sp>
        <p:nvSpPr>
          <p:cNvPr id="25" name="Text 22"/>
          <p:cNvSpPr/>
          <p:nvPr/>
        </p:nvSpPr>
        <p:spPr>
          <a:xfrm>
            <a:off x="713232" y="5806440"/>
            <a:ext cx="2468880" cy="566928"/>
          </a:xfrm>
          <a:prstGeom prst="rect">
            <a:avLst/>
          </a:prstGeom>
          <a:noFill/>
          <a:ln/>
        </p:spPr>
        <p:txBody>
          <a:bodyPr wrap="square" lIns="0" tIns="0" rIns="0" bIns="0" rtlCol="0" anchor="ctr"/>
          <a:lstStyle/>
          <a:p>
            <a:pPr indent="0" marL="0">
              <a:buNone/>
            </a:pPr>
            <a:r>
              <a:rPr lang="en-US" sz="1000" b="1" spc="100" kern="0" dirty="0">
                <a:solidFill>
                  <a:srgbClr val="56606E"/>
                </a:solidFill>
                <a:latin typeface="Calibri" pitchFamily="34" charset="0"/>
                <a:ea typeface="Calibri" pitchFamily="34" charset="-122"/>
                <a:cs typeface="Calibri" pitchFamily="34" charset="-120"/>
              </a:rPr>
              <a:t>SEMANA 10-08-2026 — 16-08-2026</a:t>
            </a:r>
            <a:endParaRPr lang="en-US" sz="1000" dirty="0"/>
          </a:p>
        </p:txBody>
      </p:sp>
      <p:sp>
        <p:nvSpPr>
          <p:cNvPr id="26" name="Text 23"/>
          <p:cNvSpPr/>
          <p:nvPr/>
        </p:nvSpPr>
        <p:spPr>
          <a:xfrm>
            <a:off x="3200400" y="5806440"/>
            <a:ext cx="8321040" cy="566928"/>
          </a:xfrm>
          <a:prstGeom prst="rect">
            <a:avLst/>
          </a:prstGeom>
          <a:noFill/>
          <a:ln/>
        </p:spPr>
        <p:txBody>
          <a:bodyPr wrap="square" lIns="0" tIns="0" rIns="0" bIns="0" rtlCol="0" anchor="ctr"/>
          <a:lstStyle/>
          <a:p>
            <a:pPr indent="0" marL="0">
              <a:buNone/>
            </a:pPr>
            <a:r>
              <a:rPr lang="en-US" sz="1150" dirty="0">
                <a:solidFill>
                  <a:srgbClr val="56606E"/>
                </a:solidFill>
                <a:latin typeface="Calibri" pitchFamily="34" charset="0"/>
                <a:ea typeface="Calibri" pitchFamily="34" charset="-122"/>
                <a:cs typeface="Calibri" pitchFamily="34" charset="-120"/>
              </a:rPr>
              <a:t>Sin hallazgos nuevos en el período.</a:t>
            </a:r>
            <a:endParaRPr lang="en-US" sz="1150" dirty="0"/>
          </a:p>
        </p:txBody>
      </p:sp>
      <p:sp>
        <p:nvSpPr>
          <p:cNvPr id="27" name="Text 24"/>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8" name="Text 25"/>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DESALADORA</a:t>
            </a:r>
            <a:endParaRPr lang="en-US" sz="850" dirty="0"/>
          </a:p>
        </p:txBody>
      </p:sp>
      <p:sp>
        <p:nvSpPr>
          <p:cNvPr id="29" name="Text 2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3B"/>
        </a:solidFill>
      </p:bgPr>
    </p:bg>
    <p:spTree>
      <p:nvGrpSpPr>
        <p:cNvPr id="1" name=""/>
        <p:cNvGrpSpPr/>
        <p:nvPr/>
      </p:nvGrpSpPr>
      <p:grpSpPr>
        <a:xfrm>
          <a:off x="0" y="0"/>
          <a:ext cx="0" cy="0"/>
          <a:chOff x="0" y="0"/>
          <a:chExt cx="0" cy="0"/>
        </a:xfrm>
      </p:grpSpPr>
      <p:sp>
        <p:nvSpPr>
          <p:cNvPr id="2" name="Shape 0"/>
          <p:cNvSpPr/>
          <p:nvPr/>
        </p:nvSpPr>
        <p:spPr>
          <a:xfrm>
            <a:off x="10058400" y="-1463040"/>
            <a:ext cx="3840480" cy="3840480"/>
          </a:xfrm>
          <a:prstGeom prst="ellipse">
            <a:avLst/>
          </a:prstGeom>
          <a:solidFill>
            <a:srgbClr val="1B3252"/>
          </a:solidFill>
          <a:ln/>
        </p:spPr>
      </p:sp>
      <p:sp>
        <p:nvSpPr>
          <p:cNvPr id="3" name="Shape 1"/>
          <p:cNvSpPr/>
          <p:nvPr/>
        </p:nvSpPr>
        <p:spPr>
          <a:xfrm>
            <a:off x="11064240" y="4572000"/>
            <a:ext cx="2743200" cy="2743200"/>
          </a:xfrm>
          <a:prstGeom prst="ellipse">
            <a:avLst/>
          </a:prstGeom>
          <a:solidFill>
            <a:srgbClr val="1B3252"/>
          </a:solidFill>
          <a:ln/>
        </p:spPr>
      </p:sp>
      <p:pic>
        <p:nvPicPr>
          <p:cNvPr id="4" name="Image 0" descr="/workspace/dashboard-hseq/panel_control_TOP_P1/besalco_logo.png">    </p:cNvPr>
          <p:cNvPicPr>
            <a:picLocks noChangeAspect="1"/>
          </p:cNvPicPr>
          <p:nvPr/>
        </p:nvPicPr>
        <p:blipFill>
          <a:blip r:embed="rId1"/>
          <a:stretch>
            <a:fillRect/>
          </a:stretch>
        </p:blipFill>
        <p:spPr>
          <a:xfrm>
            <a:off x="8357616" y="420624"/>
            <a:ext cx="3547872" cy="768096"/>
          </a:xfrm>
          <a:prstGeom prst="rect">
            <a:avLst/>
          </a:prstGeom>
        </p:spPr>
      </p:pic>
      <p:sp>
        <p:nvSpPr>
          <p:cNvPr id="5" name="Shape 2"/>
          <p:cNvSpPr/>
          <p:nvPr/>
        </p:nvSpPr>
        <p:spPr>
          <a:xfrm>
            <a:off x="502920" y="1234440"/>
            <a:ext cx="201168" cy="201168"/>
          </a:xfrm>
          <a:prstGeom prst="ellipse">
            <a:avLst/>
          </a:prstGeom>
          <a:solidFill>
            <a:srgbClr val="C87A32"/>
          </a:solidFill>
          <a:ln/>
        </p:spPr>
      </p:sp>
      <p:sp>
        <p:nvSpPr>
          <p:cNvPr id="6" name="Text 3"/>
          <p:cNvSpPr/>
          <p:nvPr/>
        </p:nvSpPr>
        <p:spPr>
          <a:xfrm>
            <a:off x="777240" y="1097280"/>
            <a:ext cx="9144000" cy="365760"/>
          </a:xfrm>
          <a:prstGeom prst="rect">
            <a:avLst/>
          </a:prstGeom>
          <a:noFill/>
          <a:ln/>
        </p:spPr>
        <p:txBody>
          <a:bodyPr wrap="square" lIns="0" tIns="0" rIns="0" bIns="0" rtlCol="0" anchor="ctr"/>
          <a:lstStyle/>
          <a:p>
            <a:pPr indent="0" marL="0">
              <a:buNone/>
            </a:pPr>
            <a:r>
              <a:rPr lang="en-US" sz="1300" b="1" spc="300" kern="0" dirty="0">
                <a:solidFill>
                  <a:srgbClr val="E3A55B"/>
                </a:solidFill>
                <a:latin typeface="Calibri" pitchFamily="34" charset="0"/>
                <a:ea typeface="Calibri" pitchFamily="34" charset="-122"/>
                <a:cs typeface="Calibri" pitchFamily="34" charset="-120"/>
              </a:rPr>
              <a:t>PROYECTO 02 · P2407</a:t>
            </a:r>
            <a:endParaRPr lang="en-US" sz="1300" dirty="0"/>
          </a:p>
        </p:txBody>
      </p:sp>
      <p:sp>
        <p:nvSpPr>
          <p:cNvPr id="7" name="Text 4"/>
          <p:cNvSpPr/>
          <p:nvPr/>
        </p:nvSpPr>
        <p:spPr>
          <a:xfrm>
            <a:off x="749808" y="1572768"/>
            <a:ext cx="1060704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Talabre</a:t>
            </a:r>
            <a:endParaRPr lang="en-US" sz="4600" dirty="0"/>
          </a:p>
        </p:txBody>
      </p:sp>
      <p:sp>
        <p:nvSpPr>
          <p:cNvPr id="8" name="Text 5"/>
          <p:cNvSpPr/>
          <p:nvPr/>
        </p:nvSpPr>
        <p:spPr>
          <a:xfrm>
            <a:off x="777240" y="2651760"/>
            <a:ext cx="9601200"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CODELCO · Hallazgos de calidad y su corrección</a:t>
            </a:r>
            <a:endParaRPr lang="en-US" sz="1600" dirty="0"/>
          </a:p>
        </p:txBody>
      </p:sp>
      <p:sp>
        <p:nvSpPr>
          <p:cNvPr id="9" name="Text 6"/>
          <p:cNvSpPr/>
          <p:nvPr/>
        </p:nvSpPr>
        <p:spPr>
          <a:xfrm>
            <a:off x="777240" y="3154680"/>
            <a:ext cx="8778240" cy="1371600"/>
          </a:xfrm>
          <a:prstGeom prst="rect">
            <a:avLst/>
          </a:prstGeom>
          <a:noFill/>
          <a:ln/>
        </p:spPr>
        <p:txBody>
          <a:bodyPr wrap="square" lIns="0" tIns="0" rIns="0" bIns="0" rtlCol="0" anchor="t"/>
          <a:lstStyle/>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244 hallazgos levantados · 52 internas · 192 del cliente · 12 especialidades involucradas.</a:t>
            </a:r>
            <a:endParaRPr lang="en-US" sz="1350" dirty="0"/>
          </a:p>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Estado de cierre, antigüedad de lo que sigue abierto y novedades de la última semana.</a:t>
            </a:r>
            <a:endParaRPr lang="en-US" sz="1350" dirty="0"/>
          </a:p>
        </p:txBody>
      </p:sp>
      <p:sp>
        <p:nvSpPr>
          <p:cNvPr id="10" name="Text 7"/>
          <p:cNvSpPr/>
          <p:nvPr/>
        </p:nvSpPr>
        <p:spPr>
          <a:xfrm>
            <a:off x="7772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94,3%</a:t>
            </a:r>
            <a:endParaRPr lang="en-US" sz="3400" dirty="0"/>
          </a:p>
        </p:txBody>
      </p:sp>
      <p:sp>
        <p:nvSpPr>
          <p:cNvPr id="11" name="Text 8"/>
          <p:cNvSpPr/>
          <p:nvPr/>
        </p:nvSpPr>
        <p:spPr>
          <a:xfrm>
            <a:off x="7772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Hallazgos cerrados</a:t>
            </a:r>
            <a:endParaRPr lang="en-US" sz="1150" dirty="0"/>
          </a:p>
        </p:txBody>
      </p:sp>
      <p:sp>
        <p:nvSpPr>
          <p:cNvPr id="12" name="Text 9"/>
          <p:cNvSpPr/>
          <p:nvPr/>
        </p:nvSpPr>
        <p:spPr>
          <a:xfrm>
            <a:off x="35204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14</a:t>
            </a:r>
            <a:endParaRPr lang="en-US" sz="3400" dirty="0"/>
          </a:p>
        </p:txBody>
      </p:sp>
      <p:sp>
        <p:nvSpPr>
          <p:cNvPr id="13" name="Text 10"/>
          <p:cNvSpPr/>
          <p:nvPr/>
        </p:nvSpPr>
        <p:spPr>
          <a:xfrm>
            <a:off x="35204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Siguen abiertos</a:t>
            </a:r>
            <a:endParaRPr lang="en-US" sz="1150" dirty="0"/>
          </a:p>
        </p:txBody>
      </p:sp>
      <p:sp>
        <p:nvSpPr>
          <p:cNvPr id="14" name="Text 11"/>
          <p:cNvSpPr/>
          <p:nvPr/>
        </p:nvSpPr>
        <p:spPr>
          <a:xfrm>
            <a:off x="62636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23 d</a:t>
            </a:r>
            <a:endParaRPr lang="en-US" sz="3400" dirty="0"/>
          </a:p>
        </p:txBody>
      </p:sp>
      <p:sp>
        <p:nvSpPr>
          <p:cNvPr id="15" name="Text 12"/>
          <p:cNvSpPr/>
          <p:nvPr/>
        </p:nvSpPr>
        <p:spPr>
          <a:xfrm>
            <a:off x="62636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Mediana de cierre</a:t>
            </a:r>
            <a:endParaRPr lang="en-US" sz="1150" dirty="0"/>
          </a:p>
        </p:txBody>
      </p:sp>
      <p:sp>
        <p:nvSpPr>
          <p:cNvPr id="16" name="Text 13"/>
          <p:cNvSpPr/>
          <p:nvPr/>
        </p:nvSpPr>
        <p:spPr>
          <a:xfrm>
            <a:off x="90068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21,3%</a:t>
            </a:r>
            <a:endParaRPr lang="en-US" sz="3400" dirty="0"/>
          </a:p>
        </p:txBody>
      </p:sp>
      <p:sp>
        <p:nvSpPr>
          <p:cNvPr id="17" name="Text 14"/>
          <p:cNvSpPr/>
          <p:nvPr/>
        </p:nvSpPr>
        <p:spPr>
          <a:xfrm>
            <a:off x="90068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Autodetección</a:t>
            </a:r>
            <a:endParaRPr lang="en-US" sz="1150" dirty="0"/>
          </a:p>
        </p:txBody>
      </p:sp>
      <p:sp>
        <p:nvSpPr>
          <p:cNvPr id="18" name="Text 15"/>
          <p:cNvSpPr/>
          <p:nvPr/>
        </p:nvSpPr>
        <p:spPr>
          <a:xfrm>
            <a:off x="777240" y="6172200"/>
            <a:ext cx="7315200" cy="274320"/>
          </a:xfrm>
          <a:prstGeom prst="rect">
            <a:avLst/>
          </a:prstGeom>
          <a:noFill/>
          <a:ln/>
        </p:spPr>
        <p:txBody>
          <a:bodyPr wrap="square" lIns="0" tIns="0" rIns="0" bIns="0" rtlCol="0" anchor="ctr"/>
          <a:lstStyle/>
          <a:p>
            <a:pPr indent="0" marL="0">
              <a:buNone/>
            </a:pPr>
            <a:r>
              <a:rPr lang="en-US" sz="1100" i="1" dirty="0">
                <a:solidFill>
                  <a:srgbClr val="6E8CA8"/>
                </a:solidFill>
                <a:latin typeface="Calibri" pitchFamily="34" charset="0"/>
                <a:ea typeface="Calibri" pitchFamily="34" charset="-122"/>
                <a:cs typeface="Calibri" pitchFamily="34" charset="-120"/>
              </a:rPr>
              <a:t>Corte: 17-08-2026</a:t>
            </a:r>
            <a:endParaRPr lang="en-US" sz="1100" dirty="0"/>
          </a:p>
        </p:txBody>
      </p:sp>
      <p:sp>
        <p:nvSpPr>
          <p:cNvPr id="19" name="Text 16"/>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6E8CA8"/>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0" name="Text 1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6E8CA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TALABRE · ESTADO DE LOS HALLAZGOS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Cierre, disciplina y origen</a:t>
            </a:r>
            <a:endParaRPr lang="en-US" sz="3000" dirty="0"/>
          </a:p>
        </p:txBody>
      </p:sp>
      <p:sp>
        <p:nvSpPr>
          <p:cNvPr id="5" name="Shape 2"/>
          <p:cNvSpPr/>
          <p:nvPr/>
        </p:nvSpPr>
        <p:spPr>
          <a:xfrm>
            <a:off x="457200"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6" name="Shape 3"/>
          <p:cNvSpPr/>
          <p:nvPr/>
        </p:nvSpPr>
        <p:spPr>
          <a:xfrm>
            <a:off x="713232" y="1719072"/>
            <a:ext cx="146304" cy="146304"/>
          </a:xfrm>
          <a:prstGeom prst="ellipse">
            <a:avLst/>
          </a:prstGeom>
          <a:solidFill>
            <a:srgbClr val="2E6FB5"/>
          </a:solidFill>
          <a:ln/>
        </p:spPr>
      </p:sp>
      <p:sp>
        <p:nvSpPr>
          <p:cNvPr id="7" name="Text 4"/>
          <p:cNvSpPr/>
          <p:nvPr/>
        </p:nvSpPr>
        <p:spPr>
          <a:xfrm>
            <a:off x="713232" y="1938528"/>
            <a:ext cx="2286000" cy="749808"/>
          </a:xfrm>
          <a:prstGeom prst="rect">
            <a:avLst/>
          </a:prstGeom>
          <a:noFill/>
          <a:ln/>
        </p:spPr>
        <p:txBody>
          <a:bodyPr wrap="square" lIns="0" tIns="0" rIns="0" bIns="0" rtlCol="0" anchor="ctr"/>
          <a:lstStyle/>
          <a:p>
            <a:pPr indent="0" marL="0">
              <a:buNone/>
            </a:pPr>
            <a:r>
              <a:rPr lang="en-US" sz="4000" b="1" dirty="0">
                <a:solidFill>
                  <a:srgbClr val="2E6FB5"/>
                </a:solidFill>
                <a:latin typeface="Cambria" pitchFamily="34" charset="0"/>
                <a:ea typeface="Cambria" pitchFamily="34" charset="-122"/>
                <a:cs typeface="Cambria" pitchFamily="34" charset="-120"/>
              </a:rPr>
              <a:t>244</a:t>
            </a:r>
            <a:endParaRPr lang="en-US" sz="4000" dirty="0"/>
          </a:p>
        </p:txBody>
      </p:sp>
      <p:sp>
        <p:nvSpPr>
          <p:cNvPr id="8" name="Text 5"/>
          <p:cNvSpPr/>
          <p:nvPr/>
        </p:nvSpPr>
        <p:spPr>
          <a:xfrm>
            <a:off x="731520"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230 cerrados</a:t>
            </a:r>
            <a:endParaRPr lang="en-US" sz="1400" dirty="0"/>
          </a:p>
        </p:txBody>
      </p:sp>
      <p:sp>
        <p:nvSpPr>
          <p:cNvPr id="9" name="Text 6"/>
          <p:cNvSpPr/>
          <p:nvPr/>
        </p:nvSpPr>
        <p:spPr>
          <a:xfrm>
            <a:off x="731520"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Hallazgos levantados</a:t>
            </a:r>
            <a:endParaRPr lang="en-US" sz="1200" dirty="0"/>
          </a:p>
        </p:txBody>
      </p:sp>
      <p:sp>
        <p:nvSpPr>
          <p:cNvPr id="10" name="Text 7"/>
          <p:cNvSpPr/>
          <p:nvPr/>
        </p:nvSpPr>
        <p:spPr>
          <a:xfrm>
            <a:off x="731520"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52 internas · 192 del cliente</a:t>
            </a:r>
            <a:endParaRPr lang="en-US" sz="950" dirty="0"/>
          </a:p>
        </p:txBody>
      </p:sp>
      <p:sp>
        <p:nvSpPr>
          <p:cNvPr id="11" name="Shape 8"/>
          <p:cNvSpPr/>
          <p:nvPr/>
        </p:nvSpPr>
        <p:spPr>
          <a:xfrm>
            <a:off x="3319272"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2" name="Shape 9"/>
          <p:cNvSpPr/>
          <p:nvPr/>
        </p:nvSpPr>
        <p:spPr>
          <a:xfrm>
            <a:off x="3575304" y="1719072"/>
            <a:ext cx="146304" cy="146304"/>
          </a:xfrm>
          <a:prstGeom prst="ellipse">
            <a:avLst/>
          </a:prstGeom>
          <a:solidFill>
            <a:srgbClr val="1F7A44"/>
          </a:solidFill>
          <a:ln/>
        </p:spPr>
      </p:sp>
      <p:sp>
        <p:nvSpPr>
          <p:cNvPr id="13" name="Text 10"/>
          <p:cNvSpPr/>
          <p:nvPr/>
        </p:nvSpPr>
        <p:spPr>
          <a:xfrm>
            <a:off x="3575304" y="1938528"/>
            <a:ext cx="2286000" cy="749808"/>
          </a:xfrm>
          <a:prstGeom prst="rect">
            <a:avLst/>
          </a:prstGeom>
          <a:noFill/>
          <a:ln/>
        </p:spPr>
        <p:txBody>
          <a:bodyPr wrap="square" lIns="0" tIns="0" rIns="0" bIns="0" rtlCol="0" anchor="ctr"/>
          <a:lstStyle/>
          <a:p>
            <a:pPr indent="0" marL="0">
              <a:buNone/>
            </a:pPr>
            <a:r>
              <a:rPr lang="en-US" sz="4000" b="1" dirty="0">
                <a:solidFill>
                  <a:srgbClr val="1F7A44"/>
                </a:solidFill>
                <a:latin typeface="Cambria" pitchFamily="34" charset="0"/>
                <a:ea typeface="Cambria" pitchFamily="34" charset="-122"/>
                <a:cs typeface="Cambria" pitchFamily="34" charset="-120"/>
              </a:rPr>
              <a:t>94,3%</a:t>
            </a:r>
            <a:endParaRPr lang="en-US" sz="4000" dirty="0"/>
          </a:p>
        </p:txBody>
      </p:sp>
      <p:sp>
        <p:nvSpPr>
          <p:cNvPr id="14" name="Text 11"/>
          <p:cNvSpPr/>
          <p:nvPr/>
        </p:nvSpPr>
        <p:spPr>
          <a:xfrm>
            <a:off x="3593592"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230/244</a:t>
            </a:r>
            <a:endParaRPr lang="en-US" sz="1400" dirty="0"/>
          </a:p>
        </p:txBody>
      </p:sp>
      <p:sp>
        <p:nvSpPr>
          <p:cNvPr id="15" name="Text 12"/>
          <p:cNvSpPr/>
          <p:nvPr/>
        </p:nvSpPr>
        <p:spPr>
          <a:xfrm>
            <a:off x="3593592"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Cierre de hallazgos</a:t>
            </a:r>
            <a:endParaRPr lang="en-US" sz="1200" dirty="0"/>
          </a:p>
        </p:txBody>
      </p:sp>
      <p:sp>
        <p:nvSpPr>
          <p:cNvPr id="16" name="Text 13"/>
          <p:cNvSpPr/>
          <p:nvPr/>
        </p:nvSpPr>
        <p:spPr>
          <a:xfrm>
            <a:off x="3593592"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Global del módulo: 89,6%</a:t>
            </a:r>
            <a:endParaRPr lang="en-US" sz="950" dirty="0"/>
          </a:p>
        </p:txBody>
      </p:sp>
      <p:sp>
        <p:nvSpPr>
          <p:cNvPr id="17" name="Shape 14"/>
          <p:cNvSpPr/>
          <p:nvPr/>
        </p:nvSpPr>
        <p:spPr>
          <a:xfrm>
            <a:off x="6181344"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8" name="Shape 15"/>
          <p:cNvSpPr/>
          <p:nvPr/>
        </p:nvSpPr>
        <p:spPr>
          <a:xfrm>
            <a:off x="6437376" y="1719072"/>
            <a:ext cx="146304" cy="146304"/>
          </a:xfrm>
          <a:prstGeom prst="ellipse">
            <a:avLst/>
          </a:prstGeom>
          <a:solidFill>
            <a:srgbClr val="C0392B"/>
          </a:solidFill>
          <a:ln/>
        </p:spPr>
      </p:sp>
      <p:sp>
        <p:nvSpPr>
          <p:cNvPr id="19" name="Text 16"/>
          <p:cNvSpPr/>
          <p:nvPr/>
        </p:nvSpPr>
        <p:spPr>
          <a:xfrm>
            <a:off x="6437376" y="1938528"/>
            <a:ext cx="2286000" cy="749808"/>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14</a:t>
            </a:r>
            <a:endParaRPr lang="en-US" sz="4000" dirty="0"/>
          </a:p>
        </p:txBody>
      </p:sp>
      <p:sp>
        <p:nvSpPr>
          <p:cNvPr id="20" name="Text 17"/>
          <p:cNvSpPr/>
          <p:nvPr/>
        </p:nvSpPr>
        <p:spPr>
          <a:xfrm>
            <a:off x="6455664"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hallazgos abiertos</a:t>
            </a:r>
            <a:endParaRPr lang="en-US" sz="1400" dirty="0"/>
          </a:p>
        </p:txBody>
      </p:sp>
      <p:sp>
        <p:nvSpPr>
          <p:cNvPr id="21" name="Text 18"/>
          <p:cNvSpPr/>
          <p:nvPr/>
        </p:nvSpPr>
        <p:spPr>
          <a:xfrm>
            <a:off x="6455664"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Siguen abiertos</a:t>
            </a:r>
            <a:endParaRPr lang="en-US" sz="1200" dirty="0"/>
          </a:p>
        </p:txBody>
      </p:sp>
      <p:sp>
        <p:nvSpPr>
          <p:cNvPr id="22" name="Text 19"/>
          <p:cNvSpPr/>
          <p:nvPr/>
        </p:nvSpPr>
        <p:spPr>
          <a:xfrm>
            <a:off x="6455664"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13 iniciado · 1 no aceptado</a:t>
            </a:r>
            <a:endParaRPr lang="en-US" sz="950" dirty="0"/>
          </a:p>
        </p:txBody>
      </p:sp>
      <p:sp>
        <p:nvSpPr>
          <p:cNvPr id="23" name="Shape 20"/>
          <p:cNvSpPr/>
          <p:nvPr/>
        </p:nvSpPr>
        <p:spPr>
          <a:xfrm>
            <a:off x="9043416"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24" name="Shape 21"/>
          <p:cNvSpPr/>
          <p:nvPr/>
        </p:nvSpPr>
        <p:spPr>
          <a:xfrm>
            <a:off x="9299448" y="1719072"/>
            <a:ext cx="146304" cy="146304"/>
          </a:xfrm>
          <a:prstGeom prst="ellipse">
            <a:avLst/>
          </a:prstGeom>
          <a:solidFill>
            <a:srgbClr val="C87A32"/>
          </a:solidFill>
          <a:ln/>
        </p:spPr>
      </p:sp>
      <p:sp>
        <p:nvSpPr>
          <p:cNvPr id="25" name="Text 22"/>
          <p:cNvSpPr/>
          <p:nvPr/>
        </p:nvSpPr>
        <p:spPr>
          <a:xfrm>
            <a:off x="9299448" y="1938528"/>
            <a:ext cx="2286000" cy="749808"/>
          </a:xfrm>
          <a:prstGeom prst="rect">
            <a:avLst/>
          </a:prstGeom>
          <a:noFill/>
          <a:ln/>
        </p:spPr>
        <p:txBody>
          <a:bodyPr wrap="square" lIns="0" tIns="0" rIns="0" bIns="0" rtlCol="0" anchor="ctr"/>
          <a:lstStyle/>
          <a:p>
            <a:pPr indent="0" marL="0">
              <a:buNone/>
            </a:pPr>
            <a:r>
              <a:rPr lang="en-US" sz="4000" b="1" dirty="0">
                <a:solidFill>
                  <a:srgbClr val="C87A32"/>
                </a:solidFill>
                <a:latin typeface="Cambria" pitchFamily="34" charset="0"/>
                <a:ea typeface="Cambria" pitchFamily="34" charset="-122"/>
                <a:cs typeface="Cambria" pitchFamily="34" charset="-120"/>
              </a:rPr>
              <a:t>23</a:t>
            </a:r>
            <a:endParaRPr lang="en-US" sz="4000" dirty="0"/>
          </a:p>
        </p:txBody>
      </p:sp>
      <p:sp>
        <p:nvSpPr>
          <p:cNvPr id="26" name="Text 23"/>
          <p:cNvSpPr/>
          <p:nvPr/>
        </p:nvSpPr>
        <p:spPr>
          <a:xfrm>
            <a:off x="9317736"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días (mediana)</a:t>
            </a:r>
            <a:endParaRPr lang="en-US" sz="1400" dirty="0"/>
          </a:p>
        </p:txBody>
      </p:sp>
      <p:sp>
        <p:nvSpPr>
          <p:cNvPr id="27" name="Text 24"/>
          <p:cNvSpPr/>
          <p:nvPr/>
        </p:nvSpPr>
        <p:spPr>
          <a:xfrm>
            <a:off x="9317736"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Velocidad de cierre</a:t>
            </a:r>
            <a:endParaRPr lang="en-US" sz="1200" dirty="0"/>
          </a:p>
        </p:txBody>
      </p:sp>
      <p:sp>
        <p:nvSpPr>
          <p:cNvPr id="28" name="Text 25"/>
          <p:cNvSpPr/>
          <p:nvPr/>
        </p:nvSpPr>
        <p:spPr>
          <a:xfrm>
            <a:off x="9317736"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el más lento tomó 389 días</a:t>
            </a:r>
            <a:endParaRPr lang="en-US" sz="950" dirty="0"/>
          </a:p>
        </p:txBody>
      </p:sp>
      <p:graphicFrame>
        <p:nvGraphicFramePr>
          <p:cNvPr id="29" name="Chart 0" descr=""/>
          <p:cNvGraphicFramePr/>
          <p:nvPr/>
        </p:nvGraphicFramePr>
        <p:xfrm>
          <a:off x="457200" y="3886200"/>
          <a:ext cx="6949440" cy="2468880"/>
        </p:xfrm>
        <a:graphic xmlns:a="http://schemas.openxmlformats.org/drawingml/2006/main">
          <a:graphicData uri="http://schemas.openxmlformats.org/drawingml/2006/chart">
            <c:chart xmlns:c="http://schemas.openxmlformats.org/drawingml/2006/chart" r:id="rId2"/>
          </a:graphicData>
        </a:graphic>
      </p:graphicFrame>
      <p:sp>
        <p:nvSpPr>
          <p:cNvPr id="30" name="Shape 26"/>
          <p:cNvSpPr/>
          <p:nvPr/>
        </p:nvSpPr>
        <p:spPr>
          <a:xfrm>
            <a:off x="7635240" y="3886200"/>
            <a:ext cx="4096512" cy="2468880"/>
          </a:xfrm>
          <a:prstGeom prst="roundRect">
            <a:avLst>
              <a:gd name="adj" fmla="val 2222"/>
            </a:avLst>
          </a:prstGeom>
          <a:solidFill>
            <a:srgbClr val="12233B"/>
          </a:solidFill>
          <a:ln/>
        </p:spPr>
      </p:sp>
      <p:sp>
        <p:nvSpPr>
          <p:cNvPr id="31" name="Text 27"/>
          <p:cNvSpPr/>
          <p:nvPr/>
        </p:nvSpPr>
        <p:spPr>
          <a:xfrm>
            <a:off x="7882128" y="4005072"/>
            <a:ext cx="3657600" cy="274320"/>
          </a:xfrm>
          <a:prstGeom prst="rect">
            <a:avLst/>
          </a:prstGeom>
          <a:noFill/>
          <a:ln/>
        </p:spPr>
        <p:txBody>
          <a:bodyPr wrap="square" lIns="0" tIns="0" rIns="0" bIns="0" rtlCol="0" anchor="ctr"/>
          <a:lstStyle/>
          <a:p>
            <a:pPr indent="0" marL="0">
              <a:buNone/>
            </a:pPr>
            <a:r>
              <a:rPr lang="en-US" sz="1050" b="1" spc="120" kern="0" dirty="0">
                <a:solidFill>
                  <a:srgbClr val="E3A55B"/>
                </a:solidFill>
                <a:latin typeface="Calibri" pitchFamily="34" charset="0"/>
                <a:ea typeface="Calibri" pitchFamily="34" charset="-122"/>
                <a:cs typeface="Calibri" pitchFamily="34" charset="-120"/>
              </a:rPr>
              <a:t>ORIGEN DEL HALLAZGO</a:t>
            </a:r>
            <a:endParaRPr lang="en-US" sz="1050" dirty="0"/>
          </a:p>
        </p:txBody>
      </p:sp>
      <p:sp>
        <p:nvSpPr>
          <p:cNvPr id="32" name="Text 28"/>
          <p:cNvSpPr/>
          <p:nvPr/>
        </p:nvSpPr>
        <p:spPr>
          <a:xfrm>
            <a:off x="7882128" y="4261104"/>
            <a:ext cx="118872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21,3%</a:t>
            </a:r>
            <a:endParaRPr lang="en-US" sz="2600" dirty="0"/>
          </a:p>
        </p:txBody>
      </p:sp>
      <p:sp>
        <p:nvSpPr>
          <p:cNvPr id="33" name="Text 29"/>
          <p:cNvSpPr/>
          <p:nvPr/>
        </p:nvSpPr>
        <p:spPr>
          <a:xfrm>
            <a:off x="9098280" y="4261104"/>
            <a:ext cx="2468880" cy="457200"/>
          </a:xfrm>
          <a:prstGeom prst="rect">
            <a:avLst/>
          </a:prstGeom>
          <a:noFill/>
          <a:ln/>
        </p:spPr>
        <p:txBody>
          <a:bodyPr wrap="square" lIns="0" tIns="0" rIns="0" bIns="0" rtlCol="0" anchor="ctr"/>
          <a:lstStyle/>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de autodetección</a:t>
            </a:r>
            <a:endParaRPr lang="en-US" sz="1000" dirty="0"/>
          </a:p>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global del módulo 32,5%</a:t>
            </a:r>
            <a:endParaRPr lang="en-US" sz="1000" dirty="0"/>
          </a:p>
        </p:txBody>
      </p:sp>
      <p:sp>
        <p:nvSpPr>
          <p:cNvPr id="34" name="Shape 30"/>
          <p:cNvSpPr/>
          <p:nvPr/>
        </p:nvSpPr>
        <p:spPr>
          <a:xfrm>
            <a:off x="7882128" y="4791456"/>
            <a:ext cx="3657600" cy="0"/>
          </a:xfrm>
          <a:prstGeom prst="line">
            <a:avLst/>
          </a:prstGeom>
          <a:noFill/>
          <a:ln w="12700">
            <a:solidFill>
              <a:srgbClr val="1B3252"/>
            </a:solidFill>
            <a:prstDash val="solid"/>
          </a:ln>
        </p:spPr>
      </p:sp>
      <p:sp>
        <p:nvSpPr>
          <p:cNvPr id="35" name="Shape 31"/>
          <p:cNvSpPr/>
          <p:nvPr/>
        </p:nvSpPr>
        <p:spPr>
          <a:xfrm>
            <a:off x="7900416" y="4974336"/>
            <a:ext cx="164592" cy="164592"/>
          </a:xfrm>
          <a:prstGeom prst="ellipse">
            <a:avLst/>
          </a:prstGeom>
          <a:solidFill>
            <a:srgbClr val="2E6FB5"/>
          </a:solidFill>
          <a:ln/>
        </p:spPr>
      </p:sp>
      <p:sp>
        <p:nvSpPr>
          <p:cNvPr id="36" name="Text 32"/>
          <p:cNvSpPr/>
          <p:nvPr/>
        </p:nvSpPr>
        <p:spPr>
          <a:xfrm>
            <a:off x="8156448" y="488289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Interna (Besalco)</a:t>
            </a:r>
            <a:endParaRPr lang="en-US" sz="1100" dirty="0"/>
          </a:p>
        </p:txBody>
      </p:sp>
      <p:sp>
        <p:nvSpPr>
          <p:cNvPr id="37" name="Text 33"/>
          <p:cNvSpPr/>
          <p:nvPr/>
        </p:nvSpPr>
        <p:spPr>
          <a:xfrm>
            <a:off x="10287000" y="4882896"/>
            <a:ext cx="685800" cy="347472"/>
          </a:xfrm>
          <a:prstGeom prst="rect">
            <a:avLst/>
          </a:prstGeom>
          <a:noFill/>
          <a:ln/>
        </p:spPr>
        <p:txBody>
          <a:bodyPr wrap="square" lIns="0" tIns="0" rIns="0" bIns="0" rtlCol="0" anchor="ctr"/>
          <a:lstStyle/>
          <a:p>
            <a:pPr algn="r" indent="0" marL="0">
              <a:buNone/>
            </a:pPr>
            <a:r>
              <a:rPr lang="en-US" sz="950" dirty="0">
                <a:solidFill>
                  <a:srgbClr val="E3A55B"/>
                </a:solidFill>
                <a:latin typeface="Calibri" pitchFamily="34" charset="0"/>
                <a:ea typeface="Calibri" pitchFamily="34" charset="-122"/>
                <a:cs typeface="Calibri" pitchFamily="34" charset="-120"/>
              </a:rPr>
              <a:t>3 ab.</a:t>
            </a:r>
            <a:endParaRPr lang="en-US" sz="950" dirty="0"/>
          </a:p>
        </p:txBody>
      </p:sp>
      <p:sp>
        <p:nvSpPr>
          <p:cNvPr id="38" name="Text 34"/>
          <p:cNvSpPr/>
          <p:nvPr/>
        </p:nvSpPr>
        <p:spPr>
          <a:xfrm>
            <a:off x="10972800" y="488289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52</a:t>
            </a:r>
            <a:endParaRPr lang="en-US" sz="1600" dirty="0"/>
          </a:p>
        </p:txBody>
      </p:sp>
      <p:sp>
        <p:nvSpPr>
          <p:cNvPr id="39" name="Shape 35"/>
          <p:cNvSpPr/>
          <p:nvPr/>
        </p:nvSpPr>
        <p:spPr>
          <a:xfrm>
            <a:off x="7900416" y="5340096"/>
            <a:ext cx="164592" cy="164592"/>
          </a:xfrm>
          <a:prstGeom prst="ellipse">
            <a:avLst/>
          </a:prstGeom>
          <a:solidFill>
            <a:srgbClr val="9A6B0F"/>
          </a:solidFill>
          <a:ln/>
        </p:spPr>
      </p:sp>
      <p:sp>
        <p:nvSpPr>
          <p:cNvPr id="40" name="Text 36"/>
          <p:cNvSpPr/>
          <p:nvPr/>
        </p:nvSpPr>
        <p:spPr>
          <a:xfrm>
            <a:off x="8156448" y="524865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Externa · Cliente</a:t>
            </a:r>
            <a:endParaRPr lang="en-US" sz="1100" dirty="0"/>
          </a:p>
        </p:txBody>
      </p:sp>
      <p:sp>
        <p:nvSpPr>
          <p:cNvPr id="41" name="Text 37"/>
          <p:cNvSpPr/>
          <p:nvPr/>
        </p:nvSpPr>
        <p:spPr>
          <a:xfrm>
            <a:off x="10287000" y="5248656"/>
            <a:ext cx="685800" cy="347472"/>
          </a:xfrm>
          <a:prstGeom prst="rect">
            <a:avLst/>
          </a:prstGeom>
          <a:noFill/>
          <a:ln/>
        </p:spPr>
        <p:txBody>
          <a:bodyPr wrap="square" lIns="0" tIns="0" rIns="0" bIns="0" rtlCol="0" anchor="ctr"/>
          <a:lstStyle/>
          <a:p>
            <a:pPr algn="r" indent="0" marL="0">
              <a:buNone/>
            </a:pPr>
            <a:r>
              <a:rPr lang="en-US" sz="950" dirty="0">
                <a:solidFill>
                  <a:srgbClr val="E3A55B"/>
                </a:solidFill>
                <a:latin typeface="Calibri" pitchFamily="34" charset="0"/>
                <a:ea typeface="Calibri" pitchFamily="34" charset="-122"/>
                <a:cs typeface="Calibri" pitchFamily="34" charset="-120"/>
              </a:rPr>
              <a:t>11 ab.</a:t>
            </a:r>
            <a:endParaRPr lang="en-US" sz="950" dirty="0"/>
          </a:p>
        </p:txBody>
      </p:sp>
      <p:sp>
        <p:nvSpPr>
          <p:cNvPr id="42" name="Text 38"/>
          <p:cNvSpPr/>
          <p:nvPr/>
        </p:nvSpPr>
        <p:spPr>
          <a:xfrm>
            <a:off x="10972800" y="524865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192</a:t>
            </a:r>
            <a:endParaRPr lang="en-US" sz="1600" dirty="0"/>
          </a:p>
        </p:txBody>
      </p:sp>
      <p:sp>
        <p:nvSpPr>
          <p:cNvPr id="43" name="Text 39"/>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44" name="Text 40"/>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TALABRE</a:t>
            </a:r>
            <a:endParaRPr lang="en-US" sz="850" dirty="0"/>
          </a:p>
        </p:txBody>
      </p:sp>
      <p:sp>
        <p:nvSpPr>
          <p:cNvPr id="45" name="Text 4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TALABRE · PENDIENTE Y NOVEDADES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Hallazgos abiertos y lo levantado en la semana</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14 hallazgos siguen abiertos; 3 con más de 180 días. Se listan del más antiguo al más reciente.</a:t>
            </a:r>
            <a:endParaRPr lang="en-US" sz="1350" dirty="0"/>
          </a:p>
        </p:txBody>
      </p:sp>
      <p:sp>
        <p:nvSpPr>
          <p:cNvPr id="6" name="Text 3"/>
          <p:cNvSpPr/>
          <p:nvPr/>
        </p:nvSpPr>
        <p:spPr>
          <a:xfrm>
            <a:off x="502920" y="1874520"/>
            <a:ext cx="8229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N°</a:t>
            </a:r>
            <a:endParaRPr lang="en-US" sz="950" dirty="0"/>
          </a:p>
        </p:txBody>
      </p:sp>
      <p:sp>
        <p:nvSpPr>
          <p:cNvPr id="7" name="Text 4"/>
          <p:cNvSpPr/>
          <p:nvPr/>
        </p:nvSpPr>
        <p:spPr>
          <a:xfrm>
            <a:off x="137160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TIPO</a:t>
            </a:r>
            <a:endParaRPr lang="en-US" sz="950" dirty="0"/>
          </a:p>
        </p:txBody>
      </p:sp>
      <p:sp>
        <p:nvSpPr>
          <p:cNvPr id="8" name="Text 5"/>
          <p:cNvSpPr/>
          <p:nvPr/>
        </p:nvSpPr>
        <p:spPr>
          <a:xfrm>
            <a:off x="2926080" y="1874520"/>
            <a:ext cx="14630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ORIGEN</a:t>
            </a:r>
            <a:endParaRPr lang="en-US" sz="950" dirty="0"/>
          </a:p>
        </p:txBody>
      </p:sp>
      <p:sp>
        <p:nvSpPr>
          <p:cNvPr id="9" name="Text 6"/>
          <p:cNvSpPr/>
          <p:nvPr/>
        </p:nvSpPr>
        <p:spPr>
          <a:xfrm>
            <a:off x="4434840" y="1874520"/>
            <a:ext cx="12801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DISCIPLINA</a:t>
            </a:r>
            <a:endParaRPr lang="en-US" sz="950" dirty="0"/>
          </a:p>
        </p:txBody>
      </p:sp>
      <p:sp>
        <p:nvSpPr>
          <p:cNvPr id="10" name="Text 7"/>
          <p:cNvSpPr/>
          <p:nvPr/>
        </p:nvSpPr>
        <p:spPr>
          <a:xfrm>
            <a:off x="576072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RESPONSABLE</a:t>
            </a:r>
            <a:endParaRPr lang="en-US" sz="950" dirty="0"/>
          </a:p>
        </p:txBody>
      </p:sp>
      <p:sp>
        <p:nvSpPr>
          <p:cNvPr id="11" name="Text 8"/>
          <p:cNvSpPr/>
          <p:nvPr/>
        </p:nvSpPr>
        <p:spPr>
          <a:xfrm>
            <a:off x="7315200" y="1874520"/>
            <a:ext cx="132588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ESTATUS</a:t>
            </a:r>
            <a:endParaRPr lang="en-US" sz="950" dirty="0"/>
          </a:p>
        </p:txBody>
      </p:sp>
      <p:sp>
        <p:nvSpPr>
          <p:cNvPr id="12" name="Text 9"/>
          <p:cNvSpPr/>
          <p:nvPr/>
        </p:nvSpPr>
        <p:spPr>
          <a:xfrm>
            <a:off x="8686800" y="1874520"/>
            <a:ext cx="6400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DÍAS</a:t>
            </a:r>
            <a:endParaRPr lang="en-US" sz="950" dirty="0"/>
          </a:p>
        </p:txBody>
      </p:sp>
      <p:sp>
        <p:nvSpPr>
          <p:cNvPr id="13" name="Text 10"/>
          <p:cNvSpPr/>
          <p:nvPr/>
        </p:nvSpPr>
        <p:spPr>
          <a:xfrm>
            <a:off x="9464040" y="1874520"/>
            <a:ext cx="22860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TÍTULO</a:t>
            </a:r>
            <a:endParaRPr lang="en-US" sz="950" dirty="0"/>
          </a:p>
        </p:txBody>
      </p:sp>
      <p:sp>
        <p:nvSpPr>
          <p:cNvPr id="14" name="Shape 11"/>
          <p:cNvSpPr/>
          <p:nvPr/>
        </p:nvSpPr>
        <p:spPr>
          <a:xfrm>
            <a:off x="502920" y="2185416"/>
            <a:ext cx="11247120" cy="0"/>
          </a:xfrm>
          <a:prstGeom prst="line">
            <a:avLst/>
          </a:prstGeom>
          <a:noFill/>
          <a:ln w="12700">
            <a:solidFill>
              <a:srgbClr val="6E8CA8"/>
            </a:solidFill>
            <a:prstDash val="solid"/>
          </a:ln>
        </p:spPr>
      </p:sp>
      <p:sp>
        <p:nvSpPr>
          <p:cNvPr id="15" name="Text 12"/>
          <p:cNvSpPr/>
          <p:nvPr/>
        </p:nvSpPr>
        <p:spPr>
          <a:xfrm>
            <a:off x="502920" y="2313432"/>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21</a:t>
            </a:r>
            <a:endParaRPr lang="en-US" sz="1050" dirty="0"/>
          </a:p>
        </p:txBody>
      </p:sp>
      <p:sp>
        <p:nvSpPr>
          <p:cNvPr id="16" name="Text 13"/>
          <p:cNvSpPr/>
          <p:nvPr/>
        </p:nvSpPr>
        <p:spPr>
          <a:xfrm>
            <a:off x="137160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17" name="Text 14"/>
          <p:cNvSpPr/>
          <p:nvPr/>
        </p:nvSpPr>
        <p:spPr>
          <a:xfrm>
            <a:off x="2926080" y="2313432"/>
            <a:ext cx="1463040" cy="256032"/>
          </a:xfrm>
          <a:prstGeom prst="rect">
            <a:avLst/>
          </a:prstGeom>
          <a:noFill/>
          <a:ln/>
        </p:spPr>
        <p:txBody>
          <a:bodyPr wrap="square" lIns="0" tIns="0" rIns="0" bIns="0" rtlCol="0" anchor="ctr"/>
          <a:lstStyle/>
          <a:p>
            <a:pPr algn="l" indent="0" marL="0">
              <a:buNone/>
            </a:pPr>
            <a:r>
              <a:rPr lang="en-US" sz="1050" b="1" dirty="0">
                <a:solidFill>
                  <a:srgbClr val="2E6FB5"/>
                </a:solidFill>
                <a:latin typeface="Calibri" pitchFamily="34" charset="0"/>
                <a:ea typeface="Calibri" pitchFamily="34" charset="-122"/>
                <a:cs typeface="Calibri" pitchFamily="34" charset="-120"/>
              </a:rPr>
              <a:t>Interna (Besalco)</a:t>
            </a:r>
            <a:endParaRPr lang="en-US" sz="1050" dirty="0"/>
          </a:p>
        </p:txBody>
      </p:sp>
      <p:sp>
        <p:nvSpPr>
          <p:cNvPr id="18" name="Text 15"/>
          <p:cNvSpPr/>
          <p:nvPr/>
        </p:nvSpPr>
        <p:spPr>
          <a:xfrm>
            <a:off x="4434840" y="2313432"/>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EXPEDITORÍA</a:t>
            </a:r>
            <a:endParaRPr lang="en-US" sz="1050" dirty="0"/>
          </a:p>
        </p:txBody>
      </p:sp>
      <p:sp>
        <p:nvSpPr>
          <p:cNvPr id="19" name="Text 16"/>
          <p:cNvSpPr/>
          <p:nvPr/>
        </p:nvSpPr>
        <p:spPr>
          <a:xfrm>
            <a:off x="576072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Alvaro Cortés V.</a:t>
            </a:r>
            <a:endParaRPr lang="en-US" sz="1050" dirty="0"/>
          </a:p>
        </p:txBody>
      </p:sp>
      <p:sp>
        <p:nvSpPr>
          <p:cNvPr id="20" name="Text 17"/>
          <p:cNvSpPr/>
          <p:nvPr/>
        </p:nvSpPr>
        <p:spPr>
          <a:xfrm>
            <a:off x="7315200" y="2313432"/>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21" name="Text 18"/>
          <p:cNvSpPr/>
          <p:nvPr/>
        </p:nvSpPr>
        <p:spPr>
          <a:xfrm>
            <a:off x="8686800" y="2313432"/>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406</a:t>
            </a:r>
            <a:endParaRPr lang="en-US" sz="1050" dirty="0"/>
          </a:p>
        </p:txBody>
      </p:sp>
      <p:sp>
        <p:nvSpPr>
          <p:cNvPr id="22" name="Text 19"/>
          <p:cNvSpPr/>
          <p:nvPr/>
        </p:nvSpPr>
        <p:spPr>
          <a:xfrm>
            <a:off x="9464040" y="2313432"/>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Incumplimiento a Plan de Calidad de…</a:t>
            </a:r>
            <a:endParaRPr lang="en-US" sz="1000" dirty="0"/>
          </a:p>
        </p:txBody>
      </p:sp>
      <p:sp>
        <p:nvSpPr>
          <p:cNvPr id="23" name="Shape 20"/>
          <p:cNvSpPr/>
          <p:nvPr/>
        </p:nvSpPr>
        <p:spPr>
          <a:xfrm>
            <a:off x="502920" y="2606040"/>
            <a:ext cx="11247120" cy="0"/>
          </a:xfrm>
          <a:prstGeom prst="line">
            <a:avLst/>
          </a:prstGeom>
          <a:noFill/>
          <a:ln w="9525">
            <a:solidFill>
              <a:srgbClr val="D9DFE6"/>
            </a:solidFill>
            <a:prstDash val="solid"/>
          </a:ln>
        </p:spPr>
      </p:sp>
      <p:sp>
        <p:nvSpPr>
          <p:cNvPr id="24" name="Shape 21"/>
          <p:cNvSpPr/>
          <p:nvPr/>
        </p:nvSpPr>
        <p:spPr>
          <a:xfrm>
            <a:off x="457200" y="2615184"/>
            <a:ext cx="11292840" cy="347472"/>
          </a:xfrm>
          <a:prstGeom prst="rect">
            <a:avLst/>
          </a:prstGeom>
          <a:solidFill>
            <a:srgbClr val="FFFFFF"/>
          </a:solidFill>
          <a:ln/>
        </p:spPr>
      </p:sp>
      <p:sp>
        <p:nvSpPr>
          <p:cNvPr id="25" name="Text 22"/>
          <p:cNvSpPr/>
          <p:nvPr/>
        </p:nvSpPr>
        <p:spPr>
          <a:xfrm>
            <a:off x="502920" y="2660904"/>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72</a:t>
            </a:r>
            <a:endParaRPr lang="en-US" sz="1050" dirty="0"/>
          </a:p>
        </p:txBody>
      </p:sp>
      <p:sp>
        <p:nvSpPr>
          <p:cNvPr id="26" name="Text 23"/>
          <p:cNvSpPr/>
          <p:nvPr/>
        </p:nvSpPr>
        <p:spPr>
          <a:xfrm>
            <a:off x="1371600" y="266090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27" name="Text 24"/>
          <p:cNvSpPr/>
          <p:nvPr/>
        </p:nvSpPr>
        <p:spPr>
          <a:xfrm>
            <a:off x="2926080" y="2660904"/>
            <a:ext cx="1463040" cy="256032"/>
          </a:xfrm>
          <a:prstGeom prst="rect">
            <a:avLst/>
          </a:prstGeom>
          <a:noFill/>
          <a:ln/>
        </p:spPr>
        <p:txBody>
          <a:bodyPr wrap="square" lIns="0" tIns="0" rIns="0" bIns="0" rtlCol="0" anchor="ctr"/>
          <a:lstStyle/>
          <a:p>
            <a:pPr algn="l" indent="0" marL="0">
              <a:buNone/>
            </a:pPr>
            <a:r>
              <a:rPr lang="en-US" sz="1050" b="1" dirty="0">
                <a:solidFill>
                  <a:srgbClr val="2E6FB5"/>
                </a:solidFill>
                <a:latin typeface="Calibri" pitchFamily="34" charset="0"/>
                <a:ea typeface="Calibri" pitchFamily="34" charset="-122"/>
                <a:cs typeface="Calibri" pitchFamily="34" charset="-120"/>
              </a:rPr>
              <a:t>Interna (Besalco)</a:t>
            </a:r>
            <a:endParaRPr lang="en-US" sz="1050" dirty="0"/>
          </a:p>
        </p:txBody>
      </p:sp>
      <p:sp>
        <p:nvSpPr>
          <p:cNvPr id="28" name="Text 25"/>
          <p:cNvSpPr/>
          <p:nvPr/>
        </p:nvSpPr>
        <p:spPr>
          <a:xfrm>
            <a:off x="4434840" y="2660904"/>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EXPEDITORÍA</a:t>
            </a:r>
            <a:endParaRPr lang="en-US" sz="1050" dirty="0"/>
          </a:p>
        </p:txBody>
      </p:sp>
      <p:sp>
        <p:nvSpPr>
          <p:cNvPr id="29" name="Text 26"/>
          <p:cNvSpPr/>
          <p:nvPr/>
        </p:nvSpPr>
        <p:spPr>
          <a:xfrm>
            <a:off x="5760720" y="266090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Alvaro Cortés V.</a:t>
            </a:r>
            <a:endParaRPr lang="en-US" sz="1050" dirty="0"/>
          </a:p>
        </p:txBody>
      </p:sp>
      <p:sp>
        <p:nvSpPr>
          <p:cNvPr id="30" name="Text 27"/>
          <p:cNvSpPr/>
          <p:nvPr/>
        </p:nvSpPr>
        <p:spPr>
          <a:xfrm>
            <a:off x="7315200" y="2660904"/>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31" name="Text 28"/>
          <p:cNvSpPr/>
          <p:nvPr/>
        </p:nvSpPr>
        <p:spPr>
          <a:xfrm>
            <a:off x="8686800" y="2660904"/>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342</a:t>
            </a:r>
            <a:endParaRPr lang="en-US" sz="1050" dirty="0"/>
          </a:p>
        </p:txBody>
      </p:sp>
      <p:sp>
        <p:nvSpPr>
          <p:cNvPr id="32" name="Text 29"/>
          <p:cNvSpPr/>
          <p:nvPr/>
        </p:nvSpPr>
        <p:spPr>
          <a:xfrm>
            <a:off x="9464040" y="2660904"/>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Incumplimiento a la recepción de ma…</a:t>
            </a:r>
            <a:endParaRPr lang="en-US" sz="1000" dirty="0"/>
          </a:p>
        </p:txBody>
      </p:sp>
      <p:sp>
        <p:nvSpPr>
          <p:cNvPr id="33" name="Shape 30"/>
          <p:cNvSpPr/>
          <p:nvPr/>
        </p:nvSpPr>
        <p:spPr>
          <a:xfrm>
            <a:off x="502920" y="2953512"/>
            <a:ext cx="11247120" cy="0"/>
          </a:xfrm>
          <a:prstGeom prst="line">
            <a:avLst/>
          </a:prstGeom>
          <a:noFill/>
          <a:ln w="9525">
            <a:solidFill>
              <a:srgbClr val="D9DFE6"/>
            </a:solidFill>
            <a:prstDash val="solid"/>
          </a:ln>
        </p:spPr>
      </p:sp>
      <p:sp>
        <p:nvSpPr>
          <p:cNvPr id="34" name="Text 31"/>
          <p:cNvSpPr/>
          <p:nvPr/>
        </p:nvSpPr>
        <p:spPr>
          <a:xfrm>
            <a:off x="502920" y="3008376"/>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142</a:t>
            </a:r>
            <a:endParaRPr lang="en-US" sz="1050" dirty="0"/>
          </a:p>
        </p:txBody>
      </p:sp>
      <p:sp>
        <p:nvSpPr>
          <p:cNvPr id="35" name="Text 32"/>
          <p:cNvSpPr/>
          <p:nvPr/>
        </p:nvSpPr>
        <p:spPr>
          <a:xfrm>
            <a:off x="1371600" y="300837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36" name="Text 33"/>
          <p:cNvSpPr/>
          <p:nvPr/>
        </p:nvSpPr>
        <p:spPr>
          <a:xfrm>
            <a:off x="2926080" y="3008376"/>
            <a:ext cx="1463040" cy="256032"/>
          </a:xfrm>
          <a:prstGeom prst="rect">
            <a:avLst/>
          </a:prstGeom>
          <a:noFill/>
          <a:ln/>
        </p:spPr>
        <p:txBody>
          <a:bodyPr wrap="square" lIns="0" tIns="0" rIns="0" bIns="0" rtlCol="0" anchor="ctr"/>
          <a:lstStyle/>
          <a:p>
            <a:pPr algn="l" indent="0" marL="0">
              <a:buNone/>
            </a:pPr>
            <a:r>
              <a:rPr lang="en-US" sz="1050" b="1" dirty="0">
                <a:solidFill>
                  <a:srgbClr val="2E6FB5"/>
                </a:solidFill>
                <a:latin typeface="Calibri" pitchFamily="34" charset="0"/>
                <a:ea typeface="Calibri" pitchFamily="34" charset="-122"/>
                <a:cs typeface="Calibri" pitchFamily="34" charset="-120"/>
              </a:rPr>
              <a:t>Interna (Besalco)</a:t>
            </a:r>
            <a:endParaRPr lang="en-US" sz="1050" dirty="0"/>
          </a:p>
        </p:txBody>
      </p:sp>
      <p:sp>
        <p:nvSpPr>
          <p:cNvPr id="37" name="Text 34"/>
          <p:cNvSpPr/>
          <p:nvPr/>
        </p:nvSpPr>
        <p:spPr>
          <a:xfrm>
            <a:off x="4434840" y="3008376"/>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EXPEDITORÍA</a:t>
            </a:r>
            <a:endParaRPr lang="en-US" sz="1050" dirty="0"/>
          </a:p>
        </p:txBody>
      </p:sp>
      <p:sp>
        <p:nvSpPr>
          <p:cNvPr id="38" name="Text 35"/>
          <p:cNvSpPr/>
          <p:nvPr/>
        </p:nvSpPr>
        <p:spPr>
          <a:xfrm>
            <a:off x="5760720" y="300837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Alvaro Cortés V.</a:t>
            </a:r>
            <a:endParaRPr lang="en-US" sz="1050" dirty="0"/>
          </a:p>
        </p:txBody>
      </p:sp>
      <p:sp>
        <p:nvSpPr>
          <p:cNvPr id="39" name="Text 36"/>
          <p:cNvSpPr/>
          <p:nvPr/>
        </p:nvSpPr>
        <p:spPr>
          <a:xfrm>
            <a:off x="7315200" y="3008376"/>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40" name="Text 37"/>
          <p:cNvSpPr/>
          <p:nvPr/>
        </p:nvSpPr>
        <p:spPr>
          <a:xfrm>
            <a:off x="8686800" y="3008376"/>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238</a:t>
            </a:r>
            <a:endParaRPr lang="en-US" sz="1050" dirty="0"/>
          </a:p>
        </p:txBody>
      </p:sp>
      <p:sp>
        <p:nvSpPr>
          <p:cNvPr id="41" name="Text 38"/>
          <p:cNvSpPr/>
          <p:nvPr/>
        </p:nvSpPr>
        <p:spPr>
          <a:xfrm>
            <a:off x="9464040" y="3008376"/>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Daños manguerotes en recepción/desc…</a:t>
            </a:r>
            <a:endParaRPr lang="en-US" sz="1000" dirty="0"/>
          </a:p>
        </p:txBody>
      </p:sp>
      <p:sp>
        <p:nvSpPr>
          <p:cNvPr id="42" name="Shape 39"/>
          <p:cNvSpPr/>
          <p:nvPr/>
        </p:nvSpPr>
        <p:spPr>
          <a:xfrm>
            <a:off x="502920" y="3300984"/>
            <a:ext cx="11247120" cy="0"/>
          </a:xfrm>
          <a:prstGeom prst="line">
            <a:avLst/>
          </a:prstGeom>
          <a:noFill/>
          <a:ln w="9525">
            <a:solidFill>
              <a:srgbClr val="D9DFE6"/>
            </a:solidFill>
            <a:prstDash val="solid"/>
          </a:ln>
        </p:spPr>
      </p:sp>
      <p:sp>
        <p:nvSpPr>
          <p:cNvPr id="43" name="Shape 40"/>
          <p:cNvSpPr/>
          <p:nvPr/>
        </p:nvSpPr>
        <p:spPr>
          <a:xfrm>
            <a:off x="457200" y="3310128"/>
            <a:ext cx="11292840" cy="347472"/>
          </a:xfrm>
          <a:prstGeom prst="rect">
            <a:avLst/>
          </a:prstGeom>
          <a:solidFill>
            <a:srgbClr val="FFFFFF"/>
          </a:solidFill>
          <a:ln/>
        </p:spPr>
      </p:sp>
      <p:sp>
        <p:nvSpPr>
          <p:cNvPr id="44" name="Text 41"/>
          <p:cNvSpPr/>
          <p:nvPr/>
        </p:nvSpPr>
        <p:spPr>
          <a:xfrm>
            <a:off x="502920" y="3355848"/>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192</a:t>
            </a:r>
            <a:endParaRPr lang="en-US" sz="1050" dirty="0"/>
          </a:p>
        </p:txBody>
      </p:sp>
      <p:sp>
        <p:nvSpPr>
          <p:cNvPr id="45" name="Text 42"/>
          <p:cNvSpPr/>
          <p:nvPr/>
        </p:nvSpPr>
        <p:spPr>
          <a:xfrm>
            <a:off x="1371600" y="335584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46" name="Text 43"/>
          <p:cNvSpPr/>
          <p:nvPr/>
        </p:nvSpPr>
        <p:spPr>
          <a:xfrm>
            <a:off x="2926080" y="3355848"/>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47" name="Text 44"/>
          <p:cNvSpPr/>
          <p:nvPr/>
        </p:nvSpPr>
        <p:spPr>
          <a:xfrm>
            <a:off x="4434840" y="3355848"/>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48" name="Text 45"/>
          <p:cNvSpPr/>
          <p:nvPr/>
        </p:nvSpPr>
        <p:spPr>
          <a:xfrm>
            <a:off x="5760720" y="335584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Sebastián Ramos</a:t>
            </a:r>
            <a:endParaRPr lang="en-US" sz="1050" dirty="0"/>
          </a:p>
        </p:txBody>
      </p:sp>
      <p:sp>
        <p:nvSpPr>
          <p:cNvPr id="49" name="Text 46"/>
          <p:cNvSpPr/>
          <p:nvPr/>
        </p:nvSpPr>
        <p:spPr>
          <a:xfrm>
            <a:off x="7315200" y="3355848"/>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50" name="Text 47"/>
          <p:cNvSpPr/>
          <p:nvPr/>
        </p:nvSpPr>
        <p:spPr>
          <a:xfrm>
            <a:off x="8686800" y="3355848"/>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153</a:t>
            </a:r>
            <a:endParaRPr lang="en-US" sz="1050" dirty="0"/>
          </a:p>
        </p:txBody>
      </p:sp>
      <p:sp>
        <p:nvSpPr>
          <p:cNvPr id="51" name="Text 48"/>
          <p:cNvSpPr/>
          <p:nvPr/>
        </p:nvSpPr>
        <p:spPr>
          <a:xfrm>
            <a:off x="9464040" y="3355848"/>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Fundaciones sin relleno estructural…</a:t>
            </a:r>
            <a:endParaRPr lang="en-US" sz="1000" dirty="0"/>
          </a:p>
        </p:txBody>
      </p:sp>
      <p:sp>
        <p:nvSpPr>
          <p:cNvPr id="52" name="Shape 49"/>
          <p:cNvSpPr/>
          <p:nvPr/>
        </p:nvSpPr>
        <p:spPr>
          <a:xfrm>
            <a:off x="502920" y="3648456"/>
            <a:ext cx="11247120" cy="0"/>
          </a:xfrm>
          <a:prstGeom prst="line">
            <a:avLst/>
          </a:prstGeom>
          <a:noFill/>
          <a:ln w="9525">
            <a:solidFill>
              <a:srgbClr val="D9DFE6"/>
            </a:solidFill>
            <a:prstDash val="solid"/>
          </a:ln>
        </p:spPr>
      </p:sp>
      <p:sp>
        <p:nvSpPr>
          <p:cNvPr id="53" name="Text 50"/>
          <p:cNvSpPr/>
          <p:nvPr/>
        </p:nvSpPr>
        <p:spPr>
          <a:xfrm>
            <a:off x="502920" y="3703320"/>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198</a:t>
            </a:r>
            <a:endParaRPr lang="en-US" sz="1050" dirty="0"/>
          </a:p>
        </p:txBody>
      </p:sp>
      <p:sp>
        <p:nvSpPr>
          <p:cNvPr id="54" name="Text 51"/>
          <p:cNvSpPr/>
          <p:nvPr/>
        </p:nvSpPr>
        <p:spPr>
          <a:xfrm>
            <a:off x="1371600" y="3703320"/>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Producto No Conforme</a:t>
            </a:r>
            <a:endParaRPr lang="en-US" sz="1050" dirty="0"/>
          </a:p>
        </p:txBody>
      </p:sp>
      <p:sp>
        <p:nvSpPr>
          <p:cNvPr id="55" name="Text 52"/>
          <p:cNvSpPr/>
          <p:nvPr/>
        </p:nvSpPr>
        <p:spPr>
          <a:xfrm>
            <a:off x="2926080" y="3703320"/>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56" name="Text 53"/>
          <p:cNvSpPr/>
          <p:nvPr/>
        </p:nvSpPr>
        <p:spPr>
          <a:xfrm>
            <a:off x="4434840" y="3703320"/>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57" name="Text 54"/>
          <p:cNvSpPr/>
          <p:nvPr/>
        </p:nvSpPr>
        <p:spPr>
          <a:xfrm>
            <a:off x="5760720" y="3703320"/>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Wladimir Carvajal …</a:t>
            </a:r>
            <a:endParaRPr lang="en-US" sz="1050" dirty="0"/>
          </a:p>
        </p:txBody>
      </p:sp>
      <p:sp>
        <p:nvSpPr>
          <p:cNvPr id="58" name="Text 55"/>
          <p:cNvSpPr/>
          <p:nvPr/>
        </p:nvSpPr>
        <p:spPr>
          <a:xfrm>
            <a:off x="7315200" y="3703320"/>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59" name="Text 56"/>
          <p:cNvSpPr/>
          <p:nvPr/>
        </p:nvSpPr>
        <p:spPr>
          <a:xfrm>
            <a:off x="8686800" y="3703320"/>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147</a:t>
            </a:r>
            <a:endParaRPr lang="en-US" sz="1050" dirty="0"/>
          </a:p>
        </p:txBody>
      </p:sp>
      <p:sp>
        <p:nvSpPr>
          <p:cNvPr id="60" name="Text 57"/>
          <p:cNvSpPr/>
          <p:nvPr/>
        </p:nvSpPr>
        <p:spPr>
          <a:xfrm>
            <a:off x="9464040" y="3703320"/>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Corte en geomembrana HDPE instalada…</a:t>
            </a:r>
            <a:endParaRPr lang="en-US" sz="1000" dirty="0"/>
          </a:p>
        </p:txBody>
      </p:sp>
      <p:sp>
        <p:nvSpPr>
          <p:cNvPr id="61" name="Shape 58"/>
          <p:cNvSpPr/>
          <p:nvPr/>
        </p:nvSpPr>
        <p:spPr>
          <a:xfrm>
            <a:off x="502920" y="3995928"/>
            <a:ext cx="11247120" cy="0"/>
          </a:xfrm>
          <a:prstGeom prst="line">
            <a:avLst/>
          </a:prstGeom>
          <a:noFill/>
          <a:ln w="9525">
            <a:solidFill>
              <a:srgbClr val="D9DFE6"/>
            </a:solidFill>
            <a:prstDash val="solid"/>
          </a:ln>
        </p:spPr>
      </p:sp>
      <p:sp>
        <p:nvSpPr>
          <p:cNvPr id="62" name="Shape 59"/>
          <p:cNvSpPr/>
          <p:nvPr/>
        </p:nvSpPr>
        <p:spPr>
          <a:xfrm>
            <a:off x="457200" y="4005072"/>
            <a:ext cx="11292840" cy="347472"/>
          </a:xfrm>
          <a:prstGeom prst="rect">
            <a:avLst/>
          </a:prstGeom>
          <a:solidFill>
            <a:srgbClr val="FFFFFF"/>
          </a:solidFill>
          <a:ln/>
        </p:spPr>
      </p:sp>
      <p:sp>
        <p:nvSpPr>
          <p:cNvPr id="63" name="Text 60"/>
          <p:cNvSpPr/>
          <p:nvPr/>
        </p:nvSpPr>
        <p:spPr>
          <a:xfrm>
            <a:off x="502920" y="4050792"/>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205</a:t>
            </a:r>
            <a:endParaRPr lang="en-US" sz="1050" dirty="0"/>
          </a:p>
        </p:txBody>
      </p:sp>
      <p:sp>
        <p:nvSpPr>
          <p:cNvPr id="64" name="Text 61"/>
          <p:cNvSpPr/>
          <p:nvPr/>
        </p:nvSpPr>
        <p:spPr>
          <a:xfrm>
            <a:off x="1371600" y="405079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Producto No Conforme</a:t>
            </a:r>
            <a:endParaRPr lang="en-US" sz="1050" dirty="0"/>
          </a:p>
        </p:txBody>
      </p:sp>
      <p:sp>
        <p:nvSpPr>
          <p:cNvPr id="65" name="Text 62"/>
          <p:cNvSpPr/>
          <p:nvPr/>
        </p:nvSpPr>
        <p:spPr>
          <a:xfrm>
            <a:off x="2926080" y="4050792"/>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66" name="Text 63"/>
          <p:cNvSpPr/>
          <p:nvPr/>
        </p:nvSpPr>
        <p:spPr>
          <a:xfrm>
            <a:off x="4434840" y="4050792"/>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67" name="Text 64"/>
          <p:cNvSpPr/>
          <p:nvPr/>
        </p:nvSpPr>
        <p:spPr>
          <a:xfrm>
            <a:off x="5760720" y="405079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Sebastián Ramos</a:t>
            </a:r>
            <a:endParaRPr lang="en-US" sz="1050" dirty="0"/>
          </a:p>
        </p:txBody>
      </p:sp>
      <p:sp>
        <p:nvSpPr>
          <p:cNvPr id="68" name="Text 65"/>
          <p:cNvSpPr/>
          <p:nvPr/>
        </p:nvSpPr>
        <p:spPr>
          <a:xfrm>
            <a:off x="7315200" y="4050792"/>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aceptado</a:t>
            </a:r>
            <a:endParaRPr lang="en-US" sz="1050" dirty="0"/>
          </a:p>
        </p:txBody>
      </p:sp>
      <p:sp>
        <p:nvSpPr>
          <p:cNvPr id="69" name="Text 66"/>
          <p:cNvSpPr/>
          <p:nvPr/>
        </p:nvSpPr>
        <p:spPr>
          <a:xfrm>
            <a:off x="8686800" y="4050792"/>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133</a:t>
            </a:r>
            <a:endParaRPr lang="en-US" sz="1050" dirty="0"/>
          </a:p>
        </p:txBody>
      </p:sp>
      <p:sp>
        <p:nvSpPr>
          <p:cNvPr id="70" name="Text 67"/>
          <p:cNvSpPr/>
          <p:nvPr/>
        </p:nvSpPr>
        <p:spPr>
          <a:xfrm>
            <a:off x="9464040" y="4050792"/>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Solución proyectada asociada al ele…</a:t>
            </a:r>
            <a:endParaRPr lang="en-US" sz="1000" dirty="0"/>
          </a:p>
        </p:txBody>
      </p:sp>
      <p:sp>
        <p:nvSpPr>
          <p:cNvPr id="71" name="Shape 68"/>
          <p:cNvSpPr/>
          <p:nvPr/>
        </p:nvSpPr>
        <p:spPr>
          <a:xfrm>
            <a:off x="502920" y="4343400"/>
            <a:ext cx="11247120" cy="0"/>
          </a:xfrm>
          <a:prstGeom prst="line">
            <a:avLst/>
          </a:prstGeom>
          <a:noFill/>
          <a:ln w="9525">
            <a:solidFill>
              <a:srgbClr val="D9DFE6"/>
            </a:solidFill>
            <a:prstDash val="solid"/>
          </a:ln>
        </p:spPr>
      </p:sp>
      <p:sp>
        <p:nvSpPr>
          <p:cNvPr id="72" name="Text 69"/>
          <p:cNvSpPr/>
          <p:nvPr/>
        </p:nvSpPr>
        <p:spPr>
          <a:xfrm>
            <a:off x="502920" y="4398264"/>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209</a:t>
            </a:r>
            <a:endParaRPr lang="en-US" sz="1050" dirty="0"/>
          </a:p>
        </p:txBody>
      </p:sp>
      <p:sp>
        <p:nvSpPr>
          <p:cNvPr id="73" name="Text 70"/>
          <p:cNvSpPr/>
          <p:nvPr/>
        </p:nvSpPr>
        <p:spPr>
          <a:xfrm>
            <a:off x="1371600" y="439826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74" name="Text 71"/>
          <p:cNvSpPr/>
          <p:nvPr/>
        </p:nvSpPr>
        <p:spPr>
          <a:xfrm>
            <a:off x="2926080" y="4398264"/>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75" name="Text 72"/>
          <p:cNvSpPr/>
          <p:nvPr/>
        </p:nvSpPr>
        <p:spPr>
          <a:xfrm>
            <a:off x="4434840" y="4398264"/>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76" name="Text 73"/>
          <p:cNvSpPr/>
          <p:nvPr/>
        </p:nvSpPr>
        <p:spPr>
          <a:xfrm>
            <a:off x="5760720" y="439826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Sebastián Ramos</a:t>
            </a:r>
            <a:endParaRPr lang="en-US" sz="1050" dirty="0"/>
          </a:p>
        </p:txBody>
      </p:sp>
      <p:sp>
        <p:nvSpPr>
          <p:cNvPr id="77" name="Text 74"/>
          <p:cNvSpPr/>
          <p:nvPr/>
        </p:nvSpPr>
        <p:spPr>
          <a:xfrm>
            <a:off x="7315200" y="4398264"/>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78" name="Text 75"/>
          <p:cNvSpPr/>
          <p:nvPr/>
        </p:nvSpPr>
        <p:spPr>
          <a:xfrm>
            <a:off x="8686800" y="4398264"/>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125</a:t>
            </a:r>
            <a:endParaRPr lang="en-US" sz="1050" dirty="0"/>
          </a:p>
        </p:txBody>
      </p:sp>
      <p:sp>
        <p:nvSpPr>
          <p:cNvPr id="79" name="Text 76"/>
          <p:cNvSpPr/>
          <p:nvPr/>
        </p:nvSpPr>
        <p:spPr>
          <a:xfrm>
            <a:off x="9464040" y="4398264"/>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Sector Manifold EBMS, Fundaciones F…</a:t>
            </a:r>
            <a:endParaRPr lang="en-US" sz="1000" dirty="0"/>
          </a:p>
        </p:txBody>
      </p:sp>
      <p:sp>
        <p:nvSpPr>
          <p:cNvPr id="80" name="Shape 77"/>
          <p:cNvSpPr/>
          <p:nvPr/>
        </p:nvSpPr>
        <p:spPr>
          <a:xfrm>
            <a:off x="502920" y="4690872"/>
            <a:ext cx="11247120" cy="0"/>
          </a:xfrm>
          <a:prstGeom prst="line">
            <a:avLst/>
          </a:prstGeom>
          <a:noFill/>
          <a:ln w="9525">
            <a:solidFill>
              <a:srgbClr val="D9DFE6"/>
            </a:solidFill>
            <a:prstDash val="solid"/>
          </a:ln>
        </p:spPr>
      </p:sp>
      <p:sp>
        <p:nvSpPr>
          <p:cNvPr id="81" name="Shape 78"/>
          <p:cNvSpPr/>
          <p:nvPr/>
        </p:nvSpPr>
        <p:spPr>
          <a:xfrm>
            <a:off x="457200" y="4700016"/>
            <a:ext cx="11292840" cy="347472"/>
          </a:xfrm>
          <a:prstGeom prst="rect">
            <a:avLst/>
          </a:prstGeom>
          <a:solidFill>
            <a:srgbClr val="FFFFFF"/>
          </a:solidFill>
          <a:ln/>
        </p:spPr>
      </p:sp>
      <p:sp>
        <p:nvSpPr>
          <p:cNvPr id="82" name="Text 79"/>
          <p:cNvSpPr/>
          <p:nvPr/>
        </p:nvSpPr>
        <p:spPr>
          <a:xfrm>
            <a:off x="502920" y="4745736"/>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230</a:t>
            </a:r>
            <a:endParaRPr lang="en-US" sz="1050" dirty="0"/>
          </a:p>
        </p:txBody>
      </p:sp>
      <p:sp>
        <p:nvSpPr>
          <p:cNvPr id="83" name="Text 80"/>
          <p:cNvSpPr/>
          <p:nvPr/>
        </p:nvSpPr>
        <p:spPr>
          <a:xfrm>
            <a:off x="1371600" y="474573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84" name="Text 81"/>
          <p:cNvSpPr/>
          <p:nvPr/>
        </p:nvSpPr>
        <p:spPr>
          <a:xfrm>
            <a:off x="2926080" y="4745736"/>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85" name="Text 82"/>
          <p:cNvSpPr/>
          <p:nvPr/>
        </p:nvSpPr>
        <p:spPr>
          <a:xfrm>
            <a:off x="4434840" y="4745736"/>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CALIDAD</a:t>
            </a:r>
            <a:endParaRPr lang="en-US" sz="1050" dirty="0"/>
          </a:p>
        </p:txBody>
      </p:sp>
      <p:sp>
        <p:nvSpPr>
          <p:cNvPr id="86" name="Text 83"/>
          <p:cNvSpPr/>
          <p:nvPr/>
        </p:nvSpPr>
        <p:spPr>
          <a:xfrm>
            <a:off x="5760720" y="474573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Mauricio Soto B.</a:t>
            </a:r>
            <a:endParaRPr lang="en-US" sz="1050" dirty="0"/>
          </a:p>
        </p:txBody>
      </p:sp>
      <p:sp>
        <p:nvSpPr>
          <p:cNvPr id="87" name="Text 84"/>
          <p:cNvSpPr/>
          <p:nvPr/>
        </p:nvSpPr>
        <p:spPr>
          <a:xfrm>
            <a:off x="7315200" y="4745736"/>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88" name="Text 85"/>
          <p:cNvSpPr/>
          <p:nvPr/>
        </p:nvSpPr>
        <p:spPr>
          <a:xfrm>
            <a:off x="8686800" y="4745736"/>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69</a:t>
            </a:r>
            <a:endParaRPr lang="en-US" sz="1050" dirty="0"/>
          </a:p>
        </p:txBody>
      </p:sp>
      <p:sp>
        <p:nvSpPr>
          <p:cNvPr id="89" name="Text 86"/>
          <p:cNvSpPr/>
          <p:nvPr/>
        </p:nvSpPr>
        <p:spPr>
          <a:xfrm>
            <a:off x="9464040" y="4745736"/>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No se evidenció un Plan de Cierre d…</a:t>
            </a:r>
            <a:endParaRPr lang="en-US" sz="1000" dirty="0"/>
          </a:p>
        </p:txBody>
      </p:sp>
      <p:sp>
        <p:nvSpPr>
          <p:cNvPr id="90" name="Shape 87"/>
          <p:cNvSpPr/>
          <p:nvPr/>
        </p:nvSpPr>
        <p:spPr>
          <a:xfrm>
            <a:off x="502920" y="5038344"/>
            <a:ext cx="11247120" cy="0"/>
          </a:xfrm>
          <a:prstGeom prst="line">
            <a:avLst/>
          </a:prstGeom>
          <a:noFill/>
          <a:ln w="9525">
            <a:solidFill>
              <a:srgbClr val="D9DFE6"/>
            </a:solidFill>
            <a:prstDash val="solid"/>
          </a:ln>
        </p:spPr>
      </p:sp>
      <p:sp>
        <p:nvSpPr>
          <p:cNvPr id="91" name="Text 88"/>
          <p:cNvSpPr/>
          <p:nvPr/>
        </p:nvSpPr>
        <p:spPr>
          <a:xfrm>
            <a:off x="502920" y="5093208"/>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235</a:t>
            </a:r>
            <a:endParaRPr lang="en-US" sz="1050" dirty="0"/>
          </a:p>
        </p:txBody>
      </p:sp>
      <p:sp>
        <p:nvSpPr>
          <p:cNvPr id="92" name="Text 89"/>
          <p:cNvSpPr/>
          <p:nvPr/>
        </p:nvSpPr>
        <p:spPr>
          <a:xfrm>
            <a:off x="1371600" y="509320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93" name="Text 90"/>
          <p:cNvSpPr/>
          <p:nvPr/>
        </p:nvSpPr>
        <p:spPr>
          <a:xfrm>
            <a:off x="2926080" y="5093208"/>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94" name="Text 91"/>
          <p:cNvSpPr/>
          <p:nvPr/>
        </p:nvSpPr>
        <p:spPr>
          <a:xfrm>
            <a:off x="4434840" y="5093208"/>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OO.CC</a:t>
            </a:r>
            <a:endParaRPr lang="en-US" sz="1050" dirty="0"/>
          </a:p>
        </p:txBody>
      </p:sp>
      <p:sp>
        <p:nvSpPr>
          <p:cNvPr id="95" name="Text 92"/>
          <p:cNvSpPr/>
          <p:nvPr/>
        </p:nvSpPr>
        <p:spPr>
          <a:xfrm>
            <a:off x="5760720" y="509320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Mauricio Rocha A.</a:t>
            </a:r>
            <a:endParaRPr lang="en-US" sz="1050" dirty="0"/>
          </a:p>
        </p:txBody>
      </p:sp>
      <p:sp>
        <p:nvSpPr>
          <p:cNvPr id="96" name="Text 93"/>
          <p:cNvSpPr/>
          <p:nvPr/>
        </p:nvSpPr>
        <p:spPr>
          <a:xfrm>
            <a:off x="7315200" y="5093208"/>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Iniciado</a:t>
            </a:r>
            <a:endParaRPr lang="en-US" sz="1050" dirty="0"/>
          </a:p>
        </p:txBody>
      </p:sp>
      <p:sp>
        <p:nvSpPr>
          <p:cNvPr id="97" name="Text 94"/>
          <p:cNvSpPr/>
          <p:nvPr/>
        </p:nvSpPr>
        <p:spPr>
          <a:xfrm>
            <a:off x="8686800" y="5093208"/>
            <a:ext cx="640080" cy="256032"/>
          </a:xfrm>
          <a:prstGeom prst="rect">
            <a:avLst/>
          </a:prstGeom>
          <a:noFill/>
          <a:ln/>
        </p:spPr>
        <p:txBody>
          <a:bodyPr wrap="square" lIns="0" tIns="0" rIns="0" bIns="0" rtlCol="0" anchor="ctr"/>
          <a:lstStyle/>
          <a:p>
            <a:pPr algn="r" indent="0" marL="0">
              <a:buNone/>
            </a:pPr>
            <a:r>
              <a:rPr lang="en-US" sz="1050" dirty="0">
                <a:solidFill>
                  <a:srgbClr val="1A2433"/>
                </a:solidFill>
                <a:latin typeface="Calibri" pitchFamily="34" charset="0"/>
                <a:ea typeface="Calibri" pitchFamily="34" charset="-122"/>
                <a:cs typeface="Calibri" pitchFamily="34" charset="-120"/>
              </a:rPr>
              <a:t>48</a:t>
            </a:r>
            <a:endParaRPr lang="en-US" sz="1050" dirty="0"/>
          </a:p>
        </p:txBody>
      </p:sp>
      <p:sp>
        <p:nvSpPr>
          <p:cNvPr id="98" name="Text 95"/>
          <p:cNvSpPr/>
          <p:nvPr/>
        </p:nvSpPr>
        <p:spPr>
          <a:xfrm>
            <a:off x="9464040" y="5093208"/>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Geomembrana presenta sectores en lo…</a:t>
            </a:r>
            <a:endParaRPr lang="en-US" sz="1000" dirty="0"/>
          </a:p>
        </p:txBody>
      </p:sp>
      <p:sp>
        <p:nvSpPr>
          <p:cNvPr id="99" name="Shape 96"/>
          <p:cNvSpPr/>
          <p:nvPr/>
        </p:nvSpPr>
        <p:spPr>
          <a:xfrm>
            <a:off x="502920" y="5385816"/>
            <a:ext cx="11247120" cy="0"/>
          </a:xfrm>
          <a:prstGeom prst="line">
            <a:avLst/>
          </a:prstGeom>
          <a:noFill/>
          <a:ln w="9525">
            <a:solidFill>
              <a:srgbClr val="D9DFE6"/>
            </a:solidFill>
            <a:prstDash val="solid"/>
          </a:ln>
        </p:spPr>
      </p:sp>
      <p:sp>
        <p:nvSpPr>
          <p:cNvPr id="100" name="Text 97"/>
          <p:cNvSpPr/>
          <p:nvPr/>
        </p:nvSpPr>
        <p:spPr>
          <a:xfrm>
            <a:off x="502920" y="5440680"/>
            <a:ext cx="8229600" cy="256032"/>
          </a:xfrm>
          <a:prstGeom prst="rect">
            <a:avLst/>
          </a:prstGeom>
          <a:noFill/>
          <a:ln/>
        </p:spPr>
        <p:txBody>
          <a:bodyPr wrap="square" lIns="0" tIns="0" rIns="0" bIns="0" rtlCol="0" anchor="ctr"/>
          <a:lstStyle/>
          <a:p>
            <a:pPr indent="0" marL="0">
              <a:buNone/>
            </a:pPr>
            <a:r>
              <a:rPr lang="en-US" sz="950" i="1" dirty="0">
                <a:solidFill>
                  <a:srgbClr val="56606E"/>
                </a:solidFill>
                <a:latin typeface="Calibri" pitchFamily="34" charset="0"/>
                <a:ea typeface="Calibri" pitchFamily="34" charset="-122"/>
                <a:cs typeface="Calibri" pitchFamily="34" charset="-120"/>
              </a:rPr>
              <a:t>Se listan los 9 más antiguos de 14 abiertos; el detalle completo está en el panel.</a:t>
            </a:r>
            <a:endParaRPr lang="en-US" sz="950" dirty="0"/>
          </a:p>
        </p:txBody>
      </p:sp>
      <p:sp>
        <p:nvSpPr>
          <p:cNvPr id="101" name="Shape 98"/>
          <p:cNvSpPr/>
          <p:nvPr/>
        </p:nvSpPr>
        <p:spPr>
          <a:xfrm>
            <a:off x="457200" y="5806440"/>
            <a:ext cx="11274552" cy="566928"/>
          </a:xfrm>
          <a:prstGeom prst="roundRect">
            <a:avLst>
              <a:gd name="adj" fmla="val 9677"/>
            </a:avLst>
          </a:prstGeom>
          <a:solidFill>
            <a:srgbClr val="12233B"/>
          </a:solidFill>
          <a:ln/>
        </p:spPr>
      </p:sp>
      <p:sp>
        <p:nvSpPr>
          <p:cNvPr id="102" name="Text 99"/>
          <p:cNvSpPr/>
          <p:nvPr/>
        </p:nvSpPr>
        <p:spPr>
          <a:xfrm>
            <a:off x="713232" y="5806440"/>
            <a:ext cx="2468880" cy="566928"/>
          </a:xfrm>
          <a:prstGeom prst="rect">
            <a:avLst/>
          </a:prstGeom>
          <a:noFill/>
          <a:ln/>
        </p:spPr>
        <p:txBody>
          <a:bodyPr wrap="square" lIns="0" tIns="0" rIns="0" bIns="0" rtlCol="0" anchor="ctr"/>
          <a:lstStyle/>
          <a:p>
            <a:pPr indent="0" marL="0">
              <a:buNone/>
            </a:pPr>
            <a:r>
              <a:rPr lang="en-US" sz="1000" b="1" spc="100" kern="0" dirty="0">
                <a:solidFill>
                  <a:srgbClr val="E3A55B"/>
                </a:solidFill>
                <a:latin typeface="Calibri" pitchFamily="34" charset="0"/>
                <a:ea typeface="Calibri" pitchFamily="34" charset="-122"/>
                <a:cs typeface="Calibri" pitchFamily="34" charset="-120"/>
              </a:rPr>
              <a:t>SEMANA 10-08-2026 — 16-08-2026</a:t>
            </a:r>
            <a:endParaRPr lang="en-US" sz="1000" dirty="0"/>
          </a:p>
        </p:txBody>
      </p:sp>
      <p:sp>
        <p:nvSpPr>
          <p:cNvPr id="103" name="Text 100"/>
          <p:cNvSpPr/>
          <p:nvPr/>
        </p:nvSpPr>
        <p:spPr>
          <a:xfrm>
            <a:off x="3200400" y="5806440"/>
            <a:ext cx="8321040" cy="566928"/>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 hallazgos nuevos · 0 internas · 3 del cliente · OO.CC 3 · 2 siguen abiertos</a:t>
            </a:r>
            <a:endParaRPr lang="en-US" sz="1150" dirty="0"/>
          </a:p>
        </p:txBody>
      </p:sp>
      <p:sp>
        <p:nvSpPr>
          <p:cNvPr id="104" name="Text 101"/>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105" name="Text 102"/>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TALABRE</a:t>
            </a:r>
            <a:endParaRPr lang="en-US" sz="850" dirty="0"/>
          </a:p>
        </p:txBody>
      </p:sp>
      <p:sp>
        <p:nvSpPr>
          <p:cNvPr id="106" name="Text 103"/>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3B"/>
        </a:solidFill>
      </p:bgPr>
    </p:bg>
    <p:spTree>
      <p:nvGrpSpPr>
        <p:cNvPr id="1" name=""/>
        <p:cNvGrpSpPr/>
        <p:nvPr/>
      </p:nvGrpSpPr>
      <p:grpSpPr>
        <a:xfrm>
          <a:off x="0" y="0"/>
          <a:ext cx="0" cy="0"/>
          <a:chOff x="0" y="0"/>
          <a:chExt cx="0" cy="0"/>
        </a:xfrm>
      </p:grpSpPr>
      <p:sp>
        <p:nvSpPr>
          <p:cNvPr id="2" name="Shape 0"/>
          <p:cNvSpPr/>
          <p:nvPr/>
        </p:nvSpPr>
        <p:spPr>
          <a:xfrm>
            <a:off x="10058400" y="-1463040"/>
            <a:ext cx="3840480" cy="3840480"/>
          </a:xfrm>
          <a:prstGeom prst="ellipse">
            <a:avLst/>
          </a:prstGeom>
          <a:solidFill>
            <a:srgbClr val="1B3252"/>
          </a:solidFill>
          <a:ln/>
        </p:spPr>
      </p:sp>
      <p:sp>
        <p:nvSpPr>
          <p:cNvPr id="3" name="Shape 1"/>
          <p:cNvSpPr/>
          <p:nvPr/>
        </p:nvSpPr>
        <p:spPr>
          <a:xfrm>
            <a:off x="11064240" y="4572000"/>
            <a:ext cx="2743200" cy="2743200"/>
          </a:xfrm>
          <a:prstGeom prst="ellipse">
            <a:avLst/>
          </a:prstGeom>
          <a:solidFill>
            <a:srgbClr val="1B3252"/>
          </a:solidFill>
          <a:ln/>
        </p:spPr>
      </p:sp>
      <p:pic>
        <p:nvPicPr>
          <p:cNvPr id="4" name="Image 0" descr="/workspace/dashboard-hseq/panel_control_TOP_P1/besalco_logo.png">    </p:cNvPr>
          <p:cNvPicPr>
            <a:picLocks noChangeAspect="1"/>
          </p:cNvPicPr>
          <p:nvPr/>
        </p:nvPicPr>
        <p:blipFill>
          <a:blip r:embed="rId1"/>
          <a:stretch>
            <a:fillRect/>
          </a:stretch>
        </p:blipFill>
        <p:spPr>
          <a:xfrm>
            <a:off x="8357616" y="420624"/>
            <a:ext cx="3547872" cy="768096"/>
          </a:xfrm>
          <a:prstGeom prst="rect">
            <a:avLst/>
          </a:prstGeom>
        </p:spPr>
      </p:pic>
      <p:sp>
        <p:nvSpPr>
          <p:cNvPr id="5" name="Shape 2"/>
          <p:cNvSpPr/>
          <p:nvPr/>
        </p:nvSpPr>
        <p:spPr>
          <a:xfrm>
            <a:off x="502920" y="1234440"/>
            <a:ext cx="201168" cy="201168"/>
          </a:xfrm>
          <a:prstGeom prst="ellipse">
            <a:avLst/>
          </a:prstGeom>
          <a:solidFill>
            <a:srgbClr val="C87A32"/>
          </a:solidFill>
          <a:ln/>
        </p:spPr>
      </p:sp>
      <p:sp>
        <p:nvSpPr>
          <p:cNvPr id="6" name="Text 3"/>
          <p:cNvSpPr/>
          <p:nvPr/>
        </p:nvSpPr>
        <p:spPr>
          <a:xfrm>
            <a:off x="777240" y="1097280"/>
            <a:ext cx="9144000" cy="365760"/>
          </a:xfrm>
          <a:prstGeom prst="rect">
            <a:avLst/>
          </a:prstGeom>
          <a:noFill/>
          <a:ln/>
        </p:spPr>
        <p:txBody>
          <a:bodyPr wrap="square" lIns="0" tIns="0" rIns="0" bIns="0" rtlCol="0" anchor="ctr"/>
          <a:lstStyle/>
          <a:p>
            <a:pPr indent="0" marL="0">
              <a:buNone/>
            </a:pPr>
            <a:r>
              <a:rPr lang="en-US" sz="1300" b="1" spc="300" kern="0" dirty="0">
                <a:solidFill>
                  <a:srgbClr val="E3A55B"/>
                </a:solidFill>
                <a:latin typeface="Calibri" pitchFamily="34" charset="0"/>
                <a:ea typeface="Calibri" pitchFamily="34" charset="-122"/>
                <a:cs typeface="Calibri" pitchFamily="34" charset="-120"/>
              </a:rPr>
              <a:t>PROYECTO 03 · P2342</a:t>
            </a:r>
            <a:endParaRPr lang="en-US" sz="1300" dirty="0"/>
          </a:p>
        </p:txBody>
      </p:sp>
      <p:sp>
        <p:nvSpPr>
          <p:cNvPr id="7" name="Text 4"/>
          <p:cNvSpPr/>
          <p:nvPr/>
        </p:nvSpPr>
        <p:spPr>
          <a:xfrm>
            <a:off x="749808" y="1572768"/>
            <a:ext cx="1060704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Arqueros</a:t>
            </a:r>
            <a:endParaRPr lang="en-US" sz="4600" dirty="0"/>
          </a:p>
        </p:txBody>
      </p:sp>
      <p:sp>
        <p:nvSpPr>
          <p:cNvPr id="8" name="Text 5"/>
          <p:cNvSpPr/>
          <p:nvPr/>
        </p:nvSpPr>
        <p:spPr>
          <a:xfrm>
            <a:off x="777240" y="2651760"/>
            <a:ext cx="9601200"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MASA · Hallazgos de calidad y su corrección</a:t>
            </a:r>
            <a:endParaRPr lang="en-US" sz="1600" dirty="0"/>
          </a:p>
        </p:txBody>
      </p:sp>
      <p:sp>
        <p:nvSpPr>
          <p:cNvPr id="9" name="Text 6"/>
          <p:cNvSpPr/>
          <p:nvPr/>
        </p:nvSpPr>
        <p:spPr>
          <a:xfrm>
            <a:off x="777240" y="3154680"/>
            <a:ext cx="8778240" cy="1371600"/>
          </a:xfrm>
          <a:prstGeom prst="rect">
            <a:avLst/>
          </a:prstGeom>
          <a:noFill/>
          <a:ln/>
        </p:spPr>
        <p:txBody>
          <a:bodyPr wrap="square" lIns="0" tIns="0" rIns="0" bIns="0" rtlCol="0" anchor="t"/>
          <a:lstStyle/>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164 hallazgos levantados · 53 internas · 71 del cliente · 40 de subcontrato · 18 especialidades involucradas.</a:t>
            </a:r>
            <a:endParaRPr lang="en-US" sz="1350" dirty="0"/>
          </a:p>
          <a:p>
            <a:pPr indent="0" marL="0">
              <a:lnSpc>
                <a:spcPts val="2000"/>
              </a:lnSpc>
              <a:buNone/>
            </a:pPr>
            <a:r>
              <a:rPr lang="en-US" sz="1350" dirty="0">
                <a:solidFill>
                  <a:srgbClr val="6E8CA8"/>
                </a:solidFill>
                <a:latin typeface="Calibri" pitchFamily="34" charset="0"/>
                <a:ea typeface="Calibri" pitchFamily="34" charset="-122"/>
                <a:cs typeface="Calibri" pitchFamily="34" charset="-120"/>
              </a:rPr>
              <a:t>Estado de cierre, antigüedad de lo que sigue abierto y novedades de la última semana.</a:t>
            </a:r>
            <a:endParaRPr lang="en-US" sz="1350" dirty="0"/>
          </a:p>
        </p:txBody>
      </p:sp>
      <p:sp>
        <p:nvSpPr>
          <p:cNvPr id="10" name="Text 7"/>
          <p:cNvSpPr/>
          <p:nvPr/>
        </p:nvSpPr>
        <p:spPr>
          <a:xfrm>
            <a:off x="7772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77,4%</a:t>
            </a:r>
            <a:endParaRPr lang="en-US" sz="3400" dirty="0"/>
          </a:p>
        </p:txBody>
      </p:sp>
      <p:sp>
        <p:nvSpPr>
          <p:cNvPr id="11" name="Text 8"/>
          <p:cNvSpPr/>
          <p:nvPr/>
        </p:nvSpPr>
        <p:spPr>
          <a:xfrm>
            <a:off x="7772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Hallazgos cerrados</a:t>
            </a:r>
            <a:endParaRPr lang="en-US" sz="1150" dirty="0"/>
          </a:p>
        </p:txBody>
      </p:sp>
      <p:sp>
        <p:nvSpPr>
          <p:cNvPr id="12" name="Text 9"/>
          <p:cNvSpPr/>
          <p:nvPr/>
        </p:nvSpPr>
        <p:spPr>
          <a:xfrm>
            <a:off x="35204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37</a:t>
            </a:r>
            <a:endParaRPr lang="en-US" sz="3400" dirty="0"/>
          </a:p>
        </p:txBody>
      </p:sp>
      <p:sp>
        <p:nvSpPr>
          <p:cNvPr id="13" name="Text 10"/>
          <p:cNvSpPr/>
          <p:nvPr/>
        </p:nvSpPr>
        <p:spPr>
          <a:xfrm>
            <a:off x="35204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Siguen abiertos</a:t>
            </a:r>
            <a:endParaRPr lang="en-US" sz="1150" dirty="0"/>
          </a:p>
        </p:txBody>
      </p:sp>
      <p:sp>
        <p:nvSpPr>
          <p:cNvPr id="14" name="Text 11"/>
          <p:cNvSpPr/>
          <p:nvPr/>
        </p:nvSpPr>
        <p:spPr>
          <a:xfrm>
            <a:off x="62636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129 d</a:t>
            </a:r>
            <a:endParaRPr lang="en-US" sz="3400" dirty="0"/>
          </a:p>
        </p:txBody>
      </p:sp>
      <p:sp>
        <p:nvSpPr>
          <p:cNvPr id="15" name="Text 12"/>
          <p:cNvSpPr/>
          <p:nvPr/>
        </p:nvSpPr>
        <p:spPr>
          <a:xfrm>
            <a:off x="62636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Mediana de cierre</a:t>
            </a:r>
            <a:endParaRPr lang="en-US" sz="1150" dirty="0"/>
          </a:p>
        </p:txBody>
      </p:sp>
      <p:sp>
        <p:nvSpPr>
          <p:cNvPr id="16" name="Text 13"/>
          <p:cNvSpPr/>
          <p:nvPr/>
        </p:nvSpPr>
        <p:spPr>
          <a:xfrm>
            <a:off x="9006840" y="4846320"/>
            <a:ext cx="2651760" cy="640080"/>
          </a:xfrm>
          <a:prstGeom prst="rect">
            <a:avLst/>
          </a:prstGeom>
          <a:noFill/>
          <a:ln/>
        </p:spPr>
        <p:txBody>
          <a:bodyPr wrap="square" lIns="0" tIns="0" rIns="0" bIns="0" rtlCol="0" anchor="ctr"/>
          <a:lstStyle/>
          <a:p>
            <a:pPr indent="0" marL="0">
              <a:buNone/>
            </a:pPr>
            <a:r>
              <a:rPr lang="en-US" sz="3400" b="1" dirty="0">
                <a:solidFill>
                  <a:srgbClr val="E3A55B"/>
                </a:solidFill>
                <a:latin typeface="Cambria" pitchFamily="34" charset="0"/>
                <a:ea typeface="Cambria" pitchFamily="34" charset="-122"/>
                <a:cs typeface="Cambria" pitchFamily="34" charset="-120"/>
              </a:rPr>
              <a:t>32,3%</a:t>
            </a:r>
            <a:endParaRPr lang="en-US" sz="3400" dirty="0"/>
          </a:p>
        </p:txBody>
      </p:sp>
      <p:sp>
        <p:nvSpPr>
          <p:cNvPr id="17" name="Text 14"/>
          <p:cNvSpPr/>
          <p:nvPr/>
        </p:nvSpPr>
        <p:spPr>
          <a:xfrm>
            <a:off x="9006840" y="5486400"/>
            <a:ext cx="2651760" cy="502920"/>
          </a:xfrm>
          <a:prstGeom prst="rect">
            <a:avLst/>
          </a:prstGeom>
          <a:noFill/>
          <a:ln/>
        </p:spPr>
        <p:txBody>
          <a:bodyPr wrap="square" lIns="0" tIns="0" rIns="0" bIns="0" rtlCol="0" anchor="ctr"/>
          <a:lstStyle/>
          <a:p>
            <a:pPr indent="0" marL="0">
              <a:buNone/>
            </a:pPr>
            <a:r>
              <a:rPr lang="en-US" sz="1150" dirty="0">
                <a:solidFill>
                  <a:srgbClr val="DCE6F0"/>
                </a:solidFill>
                <a:latin typeface="Calibri" pitchFamily="34" charset="0"/>
                <a:ea typeface="Calibri" pitchFamily="34" charset="-122"/>
                <a:cs typeface="Calibri" pitchFamily="34" charset="-120"/>
              </a:rPr>
              <a:t>Autodetección</a:t>
            </a:r>
            <a:endParaRPr lang="en-US" sz="1150" dirty="0"/>
          </a:p>
        </p:txBody>
      </p:sp>
      <p:sp>
        <p:nvSpPr>
          <p:cNvPr id="18" name="Text 15"/>
          <p:cNvSpPr/>
          <p:nvPr/>
        </p:nvSpPr>
        <p:spPr>
          <a:xfrm>
            <a:off x="777240" y="6172200"/>
            <a:ext cx="7315200" cy="274320"/>
          </a:xfrm>
          <a:prstGeom prst="rect">
            <a:avLst/>
          </a:prstGeom>
          <a:noFill/>
          <a:ln/>
        </p:spPr>
        <p:txBody>
          <a:bodyPr wrap="square" lIns="0" tIns="0" rIns="0" bIns="0" rtlCol="0" anchor="ctr"/>
          <a:lstStyle/>
          <a:p>
            <a:pPr indent="0" marL="0">
              <a:buNone/>
            </a:pPr>
            <a:r>
              <a:rPr lang="en-US" sz="1100" i="1" dirty="0">
                <a:solidFill>
                  <a:srgbClr val="6E8CA8"/>
                </a:solidFill>
                <a:latin typeface="Calibri" pitchFamily="34" charset="0"/>
                <a:ea typeface="Calibri" pitchFamily="34" charset="-122"/>
                <a:cs typeface="Calibri" pitchFamily="34" charset="-120"/>
              </a:rPr>
              <a:t>Corte: 17-08-2026</a:t>
            </a:r>
            <a:endParaRPr lang="en-US" sz="1100" dirty="0"/>
          </a:p>
        </p:txBody>
      </p:sp>
      <p:sp>
        <p:nvSpPr>
          <p:cNvPr id="19" name="Text 16"/>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6E8CA8"/>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20" name="Text 1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6E8CA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ARQUEROS · ESTADO DE LOS HALLAZGOS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Cierre, disciplina y origen</a:t>
            </a:r>
            <a:endParaRPr lang="en-US" sz="3000" dirty="0"/>
          </a:p>
        </p:txBody>
      </p:sp>
      <p:sp>
        <p:nvSpPr>
          <p:cNvPr id="5" name="Shape 2"/>
          <p:cNvSpPr/>
          <p:nvPr/>
        </p:nvSpPr>
        <p:spPr>
          <a:xfrm>
            <a:off x="457200"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6" name="Shape 3"/>
          <p:cNvSpPr/>
          <p:nvPr/>
        </p:nvSpPr>
        <p:spPr>
          <a:xfrm>
            <a:off x="713232" y="1719072"/>
            <a:ext cx="146304" cy="146304"/>
          </a:xfrm>
          <a:prstGeom prst="ellipse">
            <a:avLst/>
          </a:prstGeom>
          <a:solidFill>
            <a:srgbClr val="2E6FB5"/>
          </a:solidFill>
          <a:ln/>
        </p:spPr>
      </p:sp>
      <p:sp>
        <p:nvSpPr>
          <p:cNvPr id="7" name="Text 4"/>
          <p:cNvSpPr/>
          <p:nvPr/>
        </p:nvSpPr>
        <p:spPr>
          <a:xfrm>
            <a:off x="713232" y="1938528"/>
            <a:ext cx="2286000" cy="749808"/>
          </a:xfrm>
          <a:prstGeom prst="rect">
            <a:avLst/>
          </a:prstGeom>
          <a:noFill/>
          <a:ln/>
        </p:spPr>
        <p:txBody>
          <a:bodyPr wrap="square" lIns="0" tIns="0" rIns="0" bIns="0" rtlCol="0" anchor="ctr"/>
          <a:lstStyle/>
          <a:p>
            <a:pPr indent="0" marL="0">
              <a:buNone/>
            </a:pPr>
            <a:r>
              <a:rPr lang="en-US" sz="4000" b="1" dirty="0">
                <a:solidFill>
                  <a:srgbClr val="2E6FB5"/>
                </a:solidFill>
                <a:latin typeface="Cambria" pitchFamily="34" charset="0"/>
                <a:ea typeface="Cambria" pitchFamily="34" charset="-122"/>
                <a:cs typeface="Cambria" pitchFamily="34" charset="-120"/>
              </a:rPr>
              <a:t>164</a:t>
            </a:r>
            <a:endParaRPr lang="en-US" sz="4000" dirty="0"/>
          </a:p>
        </p:txBody>
      </p:sp>
      <p:sp>
        <p:nvSpPr>
          <p:cNvPr id="8" name="Text 5"/>
          <p:cNvSpPr/>
          <p:nvPr/>
        </p:nvSpPr>
        <p:spPr>
          <a:xfrm>
            <a:off x="731520"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127 cerrados</a:t>
            </a:r>
            <a:endParaRPr lang="en-US" sz="1400" dirty="0"/>
          </a:p>
        </p:txBody>
      </p:sp>
      <p:sp>
        <p:nvSpPr>
          <p:cNvPr id="9" name="Text 6"/>
          <p:cNvSpPr/>
          <p:nvPr/>
        </p:nvSpPr>
        <p:spPr>
          <a:xfrm>
            <a:off x="731520"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Hallazgos levantados</a:t>
            </a:r>
            <a:endParaRPr lang="en-US" sz="1200" dirty="0"/>
          </a:p>
        </p:txBody>
      </p:sp>
      <p:sp>
        <p:nvSpPr>
          <p:cNvPr id="10" name="Text 7"/>
          <p:cNvSpPr/>
          <p:nvPr/>
        </p:nvSpPr>
        <p:spPr>
          <a:xfrm>
            <a:off x="731520"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53 internas · 71 del cliente · 40 de subcontrato</a:t>
            </a:r>
            <a:endParaRPr lang="en-US" sz="950" dirty="0"/>
          </a:p>
        </p:txBody>
      </p:sp>
      <p:sp>
        <p:nvSpPr>
          <p:cNvPr id="11" name="Shape 8"/>
          <p:cNvSpPr/>
          <p:nvPr/>
        </p:nvSpPr>
        <p:spPr>
          <a:xfrm>
            <a:off x="3319272"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2" name="Shape 9"/>
          <p:cNvSpPr/>
          <p:nvPr/>
        </p:nvSpPr>
        <p:spPr>
          <a:xfrm>
            <a:off x="3575304" y="1719072"/>
            <a:ext cx="146304" cy="146304"/>
          </a:xfrm>
          <a:prstGeom prst="ellipse">
            <a:avLst/>
          </a:prstGeom>
          <a:solidFill>
            <a:srgbClr val="1F7A44"/>
          </a:solidFill>
          <a:ln/>
        </p:spPr>
      </p:sp>
      <p:sp>
        <p:nvSpPr>
          <p:cNvPr id="13" name="Text 10"/>
          <p:cNvSpPr/>
          <p:nvPr/>
        </p:nvSpPr>
        <p:spPr>
          <a:xfrm>
            <a:off x="3575304" y="1938528"/>
            <a:ext cx="2286000" cy="749808"/>
          </a:xfrm>
          <a:prstGeom prst="rect">
            <a:avLst/>
          </a:prstGeom>
          <a:noFill/>
          <a:ln/>
        </p:spPr>
        <p:txBody>
          <a:bodyPr wrap="square" lIns="0" tIns="0" rIns="0" bIns="0" rtlCol="0" anchor="ctr"/>
          <a:lstStyle/>
          <a:p>
            <a:pPr indent="0" marL="0">
              <a:buNone/>
            </a:pPr>
            <a:r>
              <a:rPr lang="en-US" sz="4000" b="1" dirty="0">
                <a:solidFill>
                  <a:srgbClr val="1F7A44"/>
                </a:solidFill>
                <a:latin typeface="Cambria" pitchFamily="34" charset="0"/>
                <a:ea typeface="Cambria" pitchFamily="34" charset="-122"/>
                <a:cs typeface="Cambria" pitchFamily="34" charset="-120"/>
              </a:rPr>
              <a:t>77,4%</a:t>
            </a:r>
            <a:endParaRPr lang="en-US" sz="4000" dirty="0"/>
          </a:p>
        </p:txBody>
      </p:sp>
      <p:sp>
        <p:nvSpPr>
          <p:cNvPr id="14" name="Text 11"/>
          <p:cNvSpPr/>
          <p:nvPr/>
        </p:nvSpPr>
        <p:spPr>
          <a:xfrm>
            <a:off x="3593592"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127/164</a:t>
            </a:r>
            <a:endParaRPr lang="en-US" sz="1400" dirty="0"/>
          </a:p>
        </p:txBody>
      </p:sp>
      <p:sp>
        <p:nvSpPr>
          <p:cNvPr id="15" name="Text 12"/>
          <p:cNvSpPr/>
          <p:nvPr/>
        </p:nvSpPr>
        <p:spPr>
          <a:xfrm>
            <a:off x="3593592"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Cierre de hallazgos</a:t>
            </a:r>
            <a:endParaRPr lang="en-US" sz="1200" dirty="0"/>
          </a:p>
        </p:txBody>
      </p:sp>
      <p:sp>
        <p:nvSpPr>
          <p:cNvPr id="16" name="Text 13"/>
          <p:cNvSpPr/>
          <p:nvPr/>
        </p:nvSpPr>
        <p:spPr>
          <a:xfrm>
            <a:off x="3593592"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Global del módulo: 89,6%</a:t>
            </a:r>
            <a:endParaRPr lang="en-US" sz="950" dirty="0"/>
          </a:p>
        </p:txBody>
      </p:sp>
      <p:sp>
        <p:nvSpPr>
          <p:cNvPr id="17" name="Shape 14"/>
          <p:cNvSpPr/>
          <p:nvPr/>
        </p:nvSpPr>
        <p:spPr>
          <a:xfrm>
            <a:off x="6181344"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18" name="Shape 15"/>
          <p:cNvSpPr/>
          <p:nvPr/>
        </p:nvSpPr>
        <p:spPr>
          <a:xfrm>
            <a:off x="6437376" y="1719072"/>
            <a:ext cx="146304" cy="146304"/>
          </a:xfrm>
          <a:prstGeom prst="ellipse">
            <a:avLst/>
          </a:prstGeom>
          <a:solidFill>
            <a:srgbClr val="C0392B"/>
          </a:solidFill>
          <a:ln/>
        </p:spPr>
      </p:sp>
      <p:sp>
        <p:nvSpPr>
          <p:cNvPr id="19" name="Text 16"/>
          <p:cNvSpPr/>
          <p:nvPr/>
        </p:nvSpPr>
        <p:spPr>
          <a:xfrm>
            <a:off x="6437376" y="1938528"/>
            <a:ext cx="2286000" cy="749808"/>
          </a:xfrm>
          <a:prstGeom prst="rect">
            <a:avLst/>
          </a:prstGeom>
          <a:noFill/>
          <a:ln/>
        </p:spPr>
        <p:txBody>
          <a:bodyPr wrap="square" lIns="0" tIns="0" rIns="0" bIns="0" rtlCol="0" anchor="ctr"/>
          <a:lstStyle/>
          <a:p>
            <a:pPr indent="0" marL="0">
              <a:buNone/>
            </a:pPr>
            <a:r>
              <a:rPr lang="en-US" sz="4000" b="1" dirty="0">
                <a:solidFill>
                  <a:srgbClr val="C0392B"/>
                </a:solidFill>
                <a:latin typeface="Cambria" pitchFamily="34" charset="0"/>
                <a:ea typeface="Cambria" pitchFamily="34" charset="-122"/>
                <a:cs typeface="Cambria" pitchFamily="34" charset="-120"/>
              </a:rPr>
              <a:t>37</a:t>
            </a:r>
            <a:endParaRPr lang="en-US" sz="4000" dirty="0"/>
          </a:p>
        </p:txBody>
      </p:sp>
      <p:sp>
        <p:nvSpPr>
          <p:cNvPr id="20" name="Text 17"/>
          <p:cNvSpPr/>
          <p:nvPr/>
        </p:nvSpPr>
        <p:spPr>
          <a:xfrm>
            <a:off x="6455664"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hallazgos abiertos</a:t>
            </a:r>
            <a:endParaRPr lang="en-US" sz="1400" dirty="0"/>
          </a:p>
        </p:txBody>
      </p:sp>
      <p:sp>
        <p:nvSpPr>
          <p:cNvPr id="21" name="Text 18"/>
          <p:cNvSpPr/>
          <p:nvPr/>
        </p:nvSpPr>
        <p:spPr>
          <a:xfrm>
            <a:off x="6455664"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Siguen abiertos</a:t>
            </a:r>
            <a:endParaRPr lang="en-US" sz="1200" dirty="0"/>
          </a:p>
        </p:txBody>
      </p:sp>
      <p:sp>
        <p:nvSpPr>
          <p:cNvPr id="22" name="Text 19"/>
          <p:cNvSpPr/>
          <p:nvPr/>
        </p:nvSpPr>
        <p:spPr>
          <a:xfrm>
            <a:off x="6455664"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1 iniciado · 25 listo para revisión · 10 stand by · 1 observada</a:t>
            </a:r>
            <a:endParaRPr lang="en-US" sz="950" dirty="0"/>
          </a:p>
        </p:txBody>
      </p:sp>
      <p:sp>
        <p:nvSpPr>
          <p:cNvPr id="23" name="Shape 20"/>
          <p:cNvSpPr/>
          <p:nvPr/>
        </p:nvSpPr>
        <p:spPr>
          <a:xfrm>
            <a:off x="9043416" y="1463040"/>
            <a:ext cx="2743200" cy="2286000"/>
          </a:xfrm>
          <a:prstGeom prst="roundRect">
            <a:avLst>
              <a:gd name="adj" fmla="val 3200"/>
            </a:avLst>
          </a:prstGeom>
          <a:solidFill>
            <a:srgbClr val="FFFFFF"/>
          </a:solidFill>
          <a:ln w="12700">
            <a:solidFill>
              <a:srgbClr val="E4E9EF"/>
            </a:solidFill>
            <a:prstDash val="solid"/>
          </a:ln>
          <a:effectLst>
            <a:outerShdw sx="100000" sy="100000" kx="0" ky="0" algn="bl" rotWithShape="0" blurRad="88900" dist="25400" dir="5400000">
              <a:srgbClr val="9AA7B5">
                <a:alpha val="28000"/>
              </a:srgbClr>
            </a:outerShdw>
          </a:effectLst>
        </p:spPr>
      </p:sp>
      <p:sp>
        <p:nvSpPr>
          <p:cNvPr id="24" name="Shape 21"/>
          <p:cNvSpPr/>
          <p:nvPr/>
        </p:nvSpPr>
        <p:spPr>
          <a:xfrm>
            <a:off x="9299448" y="1719072"/>
            <a:ext cx="146304" cy="146304"/>
          </a:xfrm>
          <a:prstGeom prst="ellipse">
            <a:avLst/>
          </a:prstGeom>
          <a:solidFill>
            <a:srgbClr val="C87A32"/>
          </a:solidFill>
          <a:ln/>
        </p:spPr>
      </p:sp>
      <p:sp>
        <p:nvSpPr>
          <p:cNvPr id="25" name="Text 22"/>
          <p:cNvSpPr/>
          <p:nvPr/>
        </p:nvSpPr>
        <p:spPr>
          <a:xfrm>
            <a:off x="9299448" y="1938528"/>
            <a:ext cx="2286000" cy="749808"/>
          </a:xfrm>
          <a:prstGeom prst="rect">
            <a:avLst/>
          </a:prstGeom>
          <a:noFill/>
          <a:ln/>
        </p:spPr>
        <p:txBody>
          <a:bodyPr wrap="square" lIns="0" tIns="0" rIns="0" bIns="0" rtlCol="0" anchor="ctr"/>
          <a:lstStyle/>
          <a:p>
            <a:pPr indent="0" marL="0">
              <a:buNone/>
            </a:pPr>
            <a:r>
              <a:rPr lang="en-US" sz="4000" b="1" dirty="0">
                <a:solidFill>
                  <a:srgbClr val="C87A32"/>
                </a:solidFill>
                <a:latin typeface="Cambria" pitchFamily="34" charset="0"/>
                <a:ea typeface="Cambria" pitchFamily="34" charset="-122"/>
                <a:cs typeface="Cambria" pitchFamily="34" charset="-120"/>
              </a:rPr>
              <a:t>129</a:t>
            </a:r>
            <a:endParaRPr lang="en-US" sz="4000" dirty="0"/>
          </a:p>
        </p:txBody>
      </p:sp>
      <p:sp>
        <p:nvSpPr>
          <p:cNvPr id="26" name="Text 23"/>
          <p:cNvSpPr/>
          <p:nvPr/>
        </p:nvSpPr>
        <p:spPr>
          <a:xfrm>
            <a:off x="9317736" y="2697480"/>
            <a:ext cx="2286000" cy="292608"/>
          </a:xfrm>
          <a:prstGeom prst="rect">
            <a:avLst/>
          </a:prstGeom>
          <a:noFill/>
          <a:ln/>
        </p:spPr>
        <p:txBody>
          <a:bodyPr wrap="square" lIns="0" tIns="0" rIns="0" bIns="0" rtlCol="0" anchor="ctr"/>
          <a:lstStyle/>
          <a:p>
            <a:pPr indent="0" marL="0">
              <a:buNone/>
            </a:pPr>
            <a:r>
              <a:rPr lang="en-US" sz="1400" b="1" dirty="0">
                <a:solidFill>
                  <a:srgbClr val="1A2433"/>
                </a:solidFill>
                <a:latin typeface="Calibri" pitchFamily="34" charset="0"/>
                <a:ea typeface="Calibri" pitchFamily="34" charset="-122"/>
                <a:cs typeface="Calibri" pitchFamily="34" charset="-120"/>
              </a:rPr>
              <a:t>días (mediana)</a:t>
            </a:r>
            <a:endParaRPr lang="en-US" sz="1400" dirty="0"/>
          </a:p>
        </p:txBody>
      </p:sp>
      <p:sp>
        <p:nvSpPr>
          <p:cNvPr id="27" name="Text 24"/>
          <p:cNvSpPr/>
          <p:nvPr/>
        </p:nvSpPr>
        <p:spPr>
          <a:xfrm>
            <a:off x="9317736" y="2999232"/>
            <a:ext cx="2240280" cy="292608"/>
          </a:xfrm>
          <a:prstGeom prst="rect">
            <a:avLst/>
          </a:prstGeom>
          <a:noFill/>
          <a:ln/>
        </p:spPr>
        <p:txBody>
          <a:bodyPr wrap="square" lIns="0" tIns="0" rIns="0" bIns="0" rtlCol="0" anchor="ctr"/>
          <a:lstStyle/>
          <a:p>
            <a:pPr indent="0" marL="0">
              <a:buNone/>
            </a:pPr>
            <a:r>
              <a:rPr lang="en-US" sz="1200" dirty="0">
                <a:solidFill>
                  <a:srgbClr val="56606E"/>
                </a:solidFill>
                <a:latin typeface="Calibri" pitchFamily="34" charset="0"/>
                <a:ea typeface="Calibri" pitchFamily="34" charset="-122"/>
                <a:cs typeface="Calibri" pitchFamily="34" charset="-120"/>
              </a:rPr>
              <a:t>Velocidad de cierre</a:t>
            </a:r>
            <a:endParaRPr lang="en-US" sz="1200" dirty="0"/>
          </a:p>
        </p:txBody>
      </p:sp>
      <p:sp>
        <p:nvSpPr>
          <p:cNvPr id="28" name="Text 25"/>
          <p:cNvSpPr/>
          <p:nvPr/>
        </p:nvSpPr>
        <p:spPr>
          <a:xfrm>
            <a:off x="9317736" y="3291840"/>
            <a:ext cx="2240280" cy="384048"/>
          </a:xfrm>
          <a:prstGeom prst="rect">
            <a:avLst/>
          </a:prstGeom>
          <a:noFill/>
          <a:ln/>
        </p:spPr>
        <p:txBody>
          <a:bodyPr wrap="square" lIns="0" tIns="0" rIns="0" bIns="0" rtlCol="0" anchor="t"/>
          <a:lstStyle/>
          <a:p>
            <a:pPr indent="0" marL="0">
              <a:buNone/>
            </a:pPr>
            <a:r>
              <a:rPr lang="en-US" sz="950" dirty="0">
                <a:solidFill>
                  <a:srgbClr val="56606E"/>
                </a:solidFill>
                <a:latin typeface="Calibri" pitchFamily="34" charset="0"/>
                <a:ea typeface="Calibri" pitchFamily="34" charset="-122"/>
                <a:cs typeface="Calibri" pitchFamily="34" charset="-120"/>
              </a:rPr>
              <a:t>el más lento tomó 313 días</a:t>
            </a:r>
            <a:endParaRPr lang="en-US" sz="950" dirty="0"/>
          </a:p>
        </p:txBody>
      </p:sp>
      <p:graphicFrame>
        <p:nvGraphicFramePr>
          <p:cNvPr id="29" name="Chart 0" descr=""/>
          <p:cNvGraphicFramePr/>
          <p:nvPr/>
        </p:nvGraphicFramePr>
        <p:xfrm>
          <a:off x="457200" y="3886200"/>
          <a:ext cx="6949440" cy="2468880"/>
        </p:xfrm>
        <a:graphic xmlns:a="http://schemas.openxmlformats.org/drawingml/2006/main">
          <a:graphicData uri="http://schemas.openxmlformats.org/drawingml/2006/chart">
            <c:chart xmlns:c="http://schemas.openxmlformats.org/drawingml/2006/chart" r:id="rId2"/>
          </a:graphicData>
        </a:graphic>
      </p:graphicFrame>
      <p:sp>
        <p:nvSpPr>
          <p:cNvPr id="30" name="Shape 26"/>
          <p:cNvSpPr/>
          <p:nvPr/>
        </p:nvSpPr>
        <p:spPr>
          <a:xfrm>
            <a:off x="7635240" y="3886200"/>
            <a:ext cx="4096512" cy="2468880"/>
          </a:xfrm>
          <a:prstGeom prst="roundRect">
            <a:avLst>
              <a:gd name="adj" fmla="val 2222"/>
            </a:avLst>
          </a:prstGeom>
          <a:solidFill>
            <a:srgbClr val="12233B"/>
          </a:solidFill>
          <a:ln/>
        </p:spPr>
      </p:sp>
      <p:sp>
        <p:nvSpPr>
          <p:cNvPr id="31" name="Text 27"/>
          <p:cNvSpPr/>
          <p:nvPr/>
        </p:nvSpPr>
        <p:spPr>
          <a:xfrm>
            <a:off x="7882128" y="4005072"/>
            <a:ext cx="3657600" cy="274320"/>
          </a:xfrm>
          <a:prstGeom prst="rect">
            <a:avLst/>
          </a:prstGeom>
          <a:noFill/>
          <a:ln/>
        </p:spPr>
        <p:txBody>
          <a:bodyPr wrap="square" lIns="0" tIns="0" rIns="0" bIns="0" rtlCol="0" anchor="ctr"/>
          <a:lstStyle/>
          <a:p>
            <a:pPr indent="0" marL="0">
              <a:buNone/>
            </a:pPr>
            <a:r>
              <a:rPr lang="en-US" sz="1050" b="1" spc="120" kern="0" dirty="0">
                <a:solidFill>
                  <a:srgbClr val="E3A55B"/>
                </a:solidFill>
                <a:latin typeface="Calibri" pitchFamily="34" charset="0"/>
                <a:ea typeface="Calibri" pitchFamily="34" charset="-122"/>
                <a:cs typeface="Calibri" pitchFamily="34" charset="-120"/>
              </a:rPr>
              <a:t>ORIGEN DEL HALLAZGO</a:t>
            </a:r>
            <a:endParaRPr lang="en-US" sz="1050" dirty="0"/>
          </a:p>
        </p:txBody>
      </p:sp>
      <p:sp>
        <p:nvSpPr>
          <p:cNvPr id="32" name="Text 28"/>
          <p:cNvSpPr/>
          <p:nvPr/>
        </p:nvSpPr>
        <p:spPr>
          <a:xfrm>
            <a:off x="7882128" y="4261104"/>
            <a:ext cx="118872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32,3%</a:t>
            </a:r>
            <a:endParaRPr lang="en-US" sz="2600" dirty="0"/>
          </a:p>
        </p:txBody>
      </p:sp>
      <p:sp>
        <p:nvSpPr>
          <p:cNvPr id="33" name="Text 29"/>
          <p:cNvSpPr/>
          <p:nvPr/>
        </p:nvSpPr>
        <p:spPr>
          <a:xfrm>
            <a:off x="9098280" y="4261104"/>
            <a:ext cx="2468880" cy="457200"/>
          </a:xfrm>
          <a:prstGeom prst="rect">
            <a:avLst/>
          </a:prstGeom>
          <a:noFill/>
          <a:ln/>
        </p:spPr>
        <p:txBody>
          <a:bodyPr wrap="square" lIns="0" tIns="0" rIns="0" bIns="0" rtlCol="0" anchor="ctr"/>
          <a:lstStyle/>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de autodetección</a:t>
            </a:r>
            <a:endParaRPr lang="en-US" sz="1000" dirty="0"/>
          </a:p>
          <a:p>
            <a:pPr indent="0" marL="0">
              <a:lnSpc>
                <a:spcPts val="1200"/>
              </a:lnSpc>
              <a:buNone/>
            </a:pPr>
            <a:r>
              <a:rPr lang="en-US" sz="1000" dirty="0">
                <a:solidFill>
                  <a:srgbClr val="DCE6F0"/>
                </a:solidFill>
                <a:latin typeface="Calibri" pitchFamily="34" charset="0"/>
                <a:ea typeface="Calibri" pitchFamily="34" charset="-122"/>
                <a:cs typeface="Calibri" pitchFamily="34" charset="-120"/>
              </a:rPr>
              <a:t>global del módulo 32,5%</a:t>
            </a:r>
            <a:endParaRPr lang="en-US" sz="1000" dirty="0"/>
          </a:p>
        </p:txBody>
      </p:sp>
      <p:sp>
        <p:nvSpPr>
          <p:cNvPr id="34" name="Shape 30"/>
          <p:cNvSpPr/>
          <p:nvPr/>
        </p:nvSpPr>
        <p:spPr>
          <a:xfrm>
            <a:off x="7882128" y="4791456"/>
            <a:ext cx="3657600" cy="0"/>
          </a:xfrm>
          <a:prstGeom prst="line">
            <a:avLst/>
          </a:prstGeom>
          <a:noFill/>
          <a:ln w="12700">
            <a:solidFill>
              <a:srgbClr val="1B3252"/>
            </a:solidFill>
            <a:prstDash val="solid"/>
          </a:ln>
        </p:spPr>
      </p:sp>
      <p:sp>
        <p:nvSpPr>
          <p:cNvPr id="35" name="Shape 31"/>
          <p:cNvSpPr/>
          <p:nvPr/>
        </p:nvSpPr>
        <p:spPr>
          <a:xfrm>
            <a:off x="7900416" y="4974336"/>
            <a:ext cx="164592" cy="164592"/>
          </a:xfrm>
          <a:prstGeom prst="ellipse">
            <a:avLst/>
          </a:prstGeom>
          <a:solidFill>
            <a:srgbClr val="2E6FB5"/>
          </a:solidFill>
          <a:ln/>
        </p:spPr>
      </p:sp>
      <p:sp>
        <p:nvSpPr>
          <p:cNvPr id="36" name="Text 32"/>
          <p:cNvSpPr/>
          <p:nvPr/>
        </p:nvSpPr>
        <p:spPr>
          <a:xfrm>
            <a:off x="8156448" y="488289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Interna (Besalco)</a:t>
            </a:r>
            <a:endParaRPr lang="en-US" sz="1100" dirty="0"/>
          </a:p>
        </p:txBody>
      </p:sp>
      <p:sp>
        <p:nvSpPr>
          <p:cNvPr id="37" name="Text 33"/>
          <p:cNvSpPr/>
          <p:nvPr/>
        </p:nvSpPr>
        <p:spPr>
          <a:xfrm>
            <a:off x="10287000" y="4882896"/>
            <a:ext cx="685800" cy="347472"/>
          </a:xfrm>
          <a:prstGeom prst="rect">
            <a:avLst/>
          </a:prstGeom>
          <a:noFill/>
          <a:ln/>
        </p:spPr>
        <p:txBody>
          <a:bodyPr wrap="square" lIns="0" tIns="0" rIns="0" bIns="0" rtlCol="0" anchor="ctr"/>
          <a:lstStyle/>
          <a:p>
            <a:pPr algn="r" indent="0" marL="0">
              <a:buNone/>
            </a:pPr>
            <a:r>
              <a:rPr lang="en-US" sz="950" dirty="0">
                <a:solidFill>
                  <a:srgbClr val="E3A55B"/>
                </a:solidFill>
                <a:latin typeface="Calibri" pitchFamily="34" charset="0"/>
                <a:ea typeface="Calibri" pitchFamily="34" charset="-122"/>
                <a:cs typeface="Calibri" pitchFamily="34" charset="-120"/>
              </a:rPr>
              <a:t>1 ab.</a:t>
            </a:r>
            <a:endParaRPr lang="en-US" sz="950" dirty="0"/>
          </a:p>
        </p:txBody>
      </p:sp>
      <p:sp>
        <p:nvSpPr>
          <p:cNvPr id="38" name="Text 34"/>
          <p:cNvSpPr/>
          <p:nvPr/>
        </p:nvSpPr>
        <p:spPr>
          <a:xfrm>
            <a:off x="10972800" y="488289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53</a:t>
            </a:r>
            <a:endParaRPr lang="en-US" sz="1600" dirty="0"/>
          </a:p>
        </p:txBody>
      </p:sp>
      <p:sp>
        <p:nvSpPr>
          <p:cNvPr id="39" name="Shape 35"/>
          <p:cNvSpPr/>
          <p:nvPr/>
        </p:nvSpPr>
        <p:spPr>
          <a:xfrm>
            <a:off x="7900416" y="5340096"/>
            <a:ext cx="164592" cy="164592"/>
          </a:xfrm>
          <a:prstGeom prst="ellipse">
            <a:avLst/>
          </a:prstGeom>
          <a:solidFill>
            <a:srgbClr val="9A6B0F"/>
          </a:solidFill>
          <a:ln/>
        </p:spPr>
      </p:sp>
      <p:sp>
        <p:nvSpPr>
          <p:cNvPr id="40" name="Text 36"/>
          <p:cNvSpPr/>
          <p:nvPr/>
        </p:nvSpPr>
        <p:spPr>
          <a:xfrm>
            <a:off x="8156448" y="524865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Externa · Cliente</a:t>
            </a:r>
            <a:endParaRPr lang="en-US" sz="1100" dirty="0"/>
          </a:p>
        </p:txBody>
      </p:sp>
      <p:sp>
        <p:nvSpPr>
          <p:cNvPr id="41" name="Text 37"/>
          <p:cNvSpPr/>
          <p:nvPr/>
        </p:nvSpPr>
        <p:spPr>
          <a:xfrm>
            <a:off x="10287000" y="5248656"/>
            <a:ext cx="685800" cy="347472"/>
          </a:xfrm>
          <a:prstGeom prst="rect">
            <a:avLst/>
          </a:prstGeom>
          <a:noFill/>
          <a:ln/>
        </p:spPr>
        <p:txBody>
          <a:bodyPr wrap="square" lIns="0" tIns="0" rIns="0" bIns="0" rtlCol="0" anchor="ctr"/>
          <a:lstStyle/>
          <a:p>
            <a:pPr algn="r" indent="0" marL="0">
              <a:buNone/>
            </a:pPr>
            <a:r>
              <a:rPr lang="en-US" sz="950" dirty="0">
                <a:solidFill>
                  <a:srgbClr val="E3A55B"/>
                </a:solidFill>
                <a:latin typeface="Calibri" pitchFamily="34" charset="0"/>
                <a:ea typeface="Calibri" pitchFamily="34" charset="-122"/>
                <a:cs typeface="Calibri" pitchFamily="34" charset="-120"/>
              </a:rPr>
              <a:t>36 ab.</a:t>
            </a:r>
            <a:endParaRPr lang="en-US" sz="950" dirty="0"/>
          </a:p>
        </p:txBody>
      </p:sp>
      <p:sp>
        <p:nvSpPr>
          <p:cNvPr id="42" name="Text 38"/>
          <p:cNvSpPr/>
          <p:nvPr/>
        </p:nvSpPr>
        <p:spPr>
          <a:xfrm>
            <a:off x="10972800" y="524865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71</a:t>
            </a:r>
            <a:endParaRPr lang="en-US" sz="1600" dirty="0"/>
          </a:p>
        </p:txBody>
      </p:sp>
      <p:sp>
        <p:nvSpPr>
          <p:cNvPr id="43" name="Shape 39"/>
          <p:cNvSpPr/>
          <p:nvPr/>
        </p:nvSpPr>
        <p:spPr>
          <a:xfrm>
            <a:off x="7900416" y="5705856"/>
            <a:ext cx="164592" cy="164592"/>
          </a:xfrm>
          <a:prstGeom prst="ellipse">
            <a:avLst/>
          </a:prstGeom>
          <a:solidFill>
            <a:srgbClr val="8A5520"/>
          </a:solidFill>
          <a:ln/>
        </p:spPr>
      </p:sp>
      <p:sp>
        <p:nvSpPr>
          <p:cNvPr id="44" name="Text 40"/>
          <p:cNvSpPr/>
          <p:nvPr/>
        </p:nvSpPr>
        <p:spPr>
          <a:xfrm>
            <a:off x="8156448" y="5614416"/>
            <a:ext cx="2148840" cy="347472"/>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Externa · Subcontrato</a:t>
            </a:r>
            <a:endParaRPr lang="en-US" sz="1100" dirty="0"/>
          </a:p>
        </p:txBody>
      </p:sp>
      <p:sp>
        <p:nvSpPr>
          <p:cNvPr id="45" name="Text 41"/>
          <p:cNvSpPr/>
          <p:nvPr/>
        </p:nvSpPr>
        <p:spPr>
          <a:xfrm>
            <a:off x="10287000" y="5614416"/>
            <a:ext cx="685800" cy="347472"/>
          </a:xfrm>
          <a:prstGeom prst="rect">
            <a:avLst/>
          </a:prstGeom>
          <a:noFill/>
          <a:ln/>
        </p:spPr>
        <p:txBody>
          <a:bodyPr wrap="square" lIns="0" tIns="0" rIns="0" bIns="0" rtlCol="0" anchor="ctr"/>
          <a:lstStyle/>
          <a:p>
            <a:pPr algn="r" indent="0" marL="0">
              <a:buNone/>
            </a:pPr>
            <a:r>
              <a:rPr lang="en-US" sz="950" dirty="0">
                <a:solidFill>
                  <a:srgbClr val="6E8CA8"/>
                </a:solidFill>
                <a:latin typeface="Calibri" pitchFamily="34" charset="0"/>
                <a:ea typeface="Calibri" pitchFamily="34" charset="-122"/>
                <a:cs typeface="Calibri" pitchFamily="34" charset="-120"/>
              </a:rPr>
              <a:t>0 ab.</a:t>
            </a:r>
            <a:endParaRPr lang="en-US" sz="950" dirty="0"/>
          </a:p>
        </p:txBody>
      </p:sp>
      <p:sp>
        <p:nvSpPr>
          <p:cNvPr id="46" name="Text 42"/>
          <p:cNvSpPr/>
          <p:nvPr/>
        </p:nvSpPr>
        <p:spPr>
          <a:xfrm>
            <a:off x="10972800" y="5614416"/>
            <a:ext cx="594360" cy="347472"/>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40</a:t>
            </a:r>
            <a:endParaRPr lang="en-US" sz="1600" dirty="0"/>
          </a:p>
        </p:txBody>
      </p:sp>
      <p:sp>
        <p:nvSpPr>
          <p:cNvPr id="47" name="Text 43"/>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48" name="Text 44"/>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ARQUEROS</a:t>
            </a:r>
            <a:endParaRPr lang="en-US" sz="850" dirty="0"/>
          </a:p>
        </p:txBody>
      </p:sp>
      <p:sp>
        <p:nvSpPr>
          <p:cNvPr id="49" name="Text 45"/>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9"/>
        </a:solidFill>
      </p:bgPr>
    </p:bg>
    <p:spTree>
      <p:nvGrpSpPr>
        <p:cNvPr id="1" name=""/>
        <p:cNvGrpSpPr/>
        <p:nvPr/>
      </p:nvGrpSpPr>
      <p:grpSpPr>
        <a:xfrm>
          <a:off x="0" y="0"/>
          <a:ext cx="0" cy="0"/>
          <a:chOff x="0" y="0"/>
          <a:chExt cx="0" cy="0"/>
        </a:xfrm>
      </p:grpSpPr>
      <p:pic>
        <p:nvPicPr>
          <p:cNvPr id="2" name="Image 0" descr="/workspace/dashboard-hseq/panel_control_TOP_P1/besalco_logo.png">    </p:cNvPr>
          <p:cNvPicPr>
            <a:picLocks noChangeAspect="1"/>
          </p:cNvPicPr>
          <p:nvPr/>
        </p:nvPicPr>
        <p:blipFill>
          <a:blip r:embed="rId1"/>
          <a:stretch>
            <a:fillRect/>
          </a:stretch>
        </p:blipFill>
        <p:spPr>
          <a:xfrm>
            <a:off x="9116568" y="219456"/>
            <a:ext cx="2770632" cy="594360"/>
          </a:xfrm>
          <a:prstGeom prst="rect">
            <a:avLst/>
          </a:prstGeom>
        </p:spPr>
      </p:pic>
      <p:sp>
        <p:nvSpPr>
          <p:cNvPr id="3" name="Text 0"/>
          <p:cNvSpPr/>
          <p:nvPr/>
        </p:nvSpPr>
        <p:spPr>
          <a:xfrm>
            <a:off x="457200" y="411480"/>
            <a:ext cx="7315200" cy="256032"/>
          </a:xfrm>
          <a:prstGeom prst="rect">
            <a:avLst/>
          </a:prstGeom>
          <a:noFill/>
          <a:ln/>
        </p:spPr>
        <p:txBody>
          <a:bodyPr wrap="square" lIns="0" tIns="0" rIns="0" bIns="0" rtlCol="0" anchor="ctr"/>
          <a:lstStyle/>
          <a:p>
            <a:pPr algn="l" indent="0" marL="0">
              <a:buNone/>
            </a:pPr>
            <a:r>
              <a:rPr lang="en-US" sz="1100" b="1" spc="200" kern="0" dirty="0">
                <a:solidFill>
                  <a:srgbClr val="C87A32"/>
                </a:solidFill>
                <a:latin typeface="Calibri" pitchFamily="34" charset="0"/>
                <a:ea typeface="Calibri" pitchFamily="34" charset="-122"/>
                <a:cs typeface="Calibri" pitchFamily="34" charset="-120"/>
              </a:rPr>
              <a:t>ARQUEROS · PENDIENTE Y NOVEDADES</a:t>
            </a:r>
            <a:endParaRPr lang="en-US" sz="1100" dirty="0"/>
          </a:p>
        </p:txBody>
      </p:sp>
      <p:sp>
        <p:nvSpPr>
          <p:cNvPr id="4" name="Text 1"/>
          <p:cNvSpPr/>
          <p:nvPr/>
        </p:nvSpPr>
        <p:spPr>
          <a:xfrm>
            <a:off x="457200" y="658368"/>
            <a:ext cx="11247120" cy="548640"/>
          </a:xfrm>
          <a:prstGeom prst="rect">
            <a:avLst/>
          </a:prstGeom>
          <a:noFill/>
          <a:ln/>
        </p:spPr>
        <p:txBody>
          <a:bodyPr wrap="square" lIns="0" tIns="0" rIns="0" bIns="0" rtlCol="0" anchor="ctr"/>
          <a:lstStyle/>
          <a:p>
            <a:pPr indent="0" marL="0">
              <a:buNone/>
            </a:pPr>
            <a:r>
              <a:rPr lang="en-US" sz="3000" b="1" dirty="0">
                <a:solidFill>
                  <a:srgbClr val="1A2433"/>
                </a:solidFill>
                <a:latin typeface="Cambria" pitchFamily="34" charset="0"/>
                <a:ea typeface="Cambria" pitchFamily="34" charset="-122"/>
                <a:cs typeface="Cambria" pitchFamily="34" charset="-120"/>
              </a:rPr>
              <a:t>Hallazgos abiertos y lo levantado en la semana</a:t>
            </a:r>
            <a:endParaRPr lang="en-US" sz="3000" dirty="0"/>
          </a:p>
        </p:txBody>
      </p:sp>
      <p:sp>
        <p:nvSpPr>
          <p:cNvPr id="5" name="Text 2"/>
          <p:cNvSpPr/>
          <p:nvPr/>
        </p:nvSpPr>
        <p:spPr>
          <a:xfrm>
            <a:off x="457200" y="1234440"/>
            <a:ext cx="11247120" cy="502920"/>
          </a:xfrm>
          <a:prstGeom prst="rect">
            <a:avLst/>
          </a:prstGeom>
          <a:noFill/>
          <a:ln/>
        </p:spPr>
        <p:txBody>
          <a:bodyPr wrap="square" lIns="0" tIns="0" rIns="0" bIns="0" rtlCol="0" anchor="t"/>
          <a:lstStyle/>
          <a:p>
            <a:pPr indent="0" marL="0">
              <a:buNone/>
            </a:pPr>
            <a:r>
              <a:rPr lang="en-US" sz="1350" dirty="0">
                <a:solidFill>
                  <a:srgbClr val="56606E"/>
                </a:solidFill>
                <a:latin typeface="Calibri" pitchFamily="34" charset="0"/>
                <a:ea typeface="Calibri" pitchFamily="34" charset="-122"/>
                <a:cs typeface="Calibri" pitchFamily="34" charset="-120"/>
              </a:rPr>
              <a:t>37 hallazgos siguen abiertos; 16 con más de 180 días. Se listan del más antiguo al más reciente.</a:t>
            </a:r>
            <a:endParaRPr lang="en-US" sz="1350" dirty="0"/>
          </a:p>
        </p:txBody>
      </p:sp>
      <p:sp>
        <p:nvSpPr>
          <p:cNvPr id="6" name="Text 3"/>
          <p:cNvSpPr/>
          <p:nvPr/>
        </p:nvSpPr>
        <p:spPr>
          <a:xfrm>
            <a:off x="502920" y="1874520"/>
            <a:ext cx="8229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N°</a:t>
            </a:r>
            <a:endParaRPr lang="en-US" sz="950" dirty="0"/>
          </a:p>
        </p:txBody>
      </p:sp>
      <p:sp>
        <p:nvSpPr>
          <p:cNvPr id="7" name="Text 4"/>
          <p:cNvSpPr/>
          <p:nvPr/>
        </p:nvSpPr>
        <p:spPr>
          <a:xfrm>
            <a:off x="137160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TIPO</a:t>
            </a:r>
            <a:endParaRPr lang="en-US" sz="950" dirty="0"/>
          </a:p>
        </p:txBody>
      </p:sp>
      <p:sp>
        <p:nvSpPr>
          <p:cNvPr id="8" name="Text 5"/>
          <p:cNvSpPr/>
          <p:nvPr/>
        </p:nvSpPr>
        <p:spPr>
          <a:xfrm>
            <a:off x="2926080" y="1874520"/>
            <a:ext cx="146304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ORIGEN</a:t>
            </a:r>
            <a:endParaRPr lang="en-US" sz="950" dirty="0"/>
          </a:p>
        </p:txBody>
      </p:sp>
      <p:sp>
        <p:nvSpPr>
          <p:cNvPr id="9" name="Text 6"/>
          <p:cNvSpPr/>
          <p:nvPr/>
        </p:nvSpPr>
        <p:spPr>
          <a:xfrm>
            <a:off x="4434840" y="1874520"/>
            <a:ext cx="12801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DISCIPLINA</a:t>
            </a:r>
            <a:endParaRPr lang="en-US" sz="950" dirty="0"/>
          </a:p>
        </p:txBody>
      </p:sp>
      <p:sp>
        <p:nvSpPr>
          <p:cNvPr id="10" name="Text 7"/>
          <p:cNvSpPr/>
          <p:nvPr/>
        </p:nvSpPr>
        <p:spPr>
          <a:xfrm>
            <a:off x="5760720" y="1874520"/>
            <a:ext cx="150876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RESPONSABLE</a:t>
            </a:r>
            <a:endParaRPr lang="en-US" sz="950" dirty="0"/>
          </a:p>
        </p:txBody>
      </p:sp>
      <p:sp>
        <p:nvSpPr>
          <p:cNvPr id="11" name="Text 8"/>
          <p:cNvSpPr/>
          <p:nvPr/>
        </p:nvSpPr>
        <p:spPr>
          <a:xfrm>
            <a:off x="7315200" y="1874520"/>
            <a:ext cx="132588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ESTATUS</a:t>
            </a:r>
            <a:endParaRPr lang="en-US" sz="950" dirty="0"/>
          </a:p>
        </p:txBody>
      </p:sp>
      <p:sp>
        <p:nvSpPr>
          <p:cNvPr id="12" name="Text 9"/>
          <p:cNvSpPr/>
          <p:nvPr/>
        </p:nvSpPr>
        <p:spPr>
          <a:xfrm>
            <a:off x="8686800" y="1874520"/>
            <a:ext cx="640080" cy="274320"/>
          </a:xfrm>
          <a:prstGeom prst="rect">
            <a:avLst/>
          </a:prstGeom>
          <a:noFill/>
          <a:ln/>
        </p:spPr>
        <p:txBody>
          <a:bodyPr wrap="square" lIns="0" tIns="0" rIns="0" bIns="0" rtlCol="0" anchor="ctr"/>
          <a:lstStyle/>
          <a:p>
            <a:pPr algn="r" indent="0" marL="0">
              <a:buNone/>
            </a:pPr>
            <a:r>
              <a:rPr lang="en-US" sz="950" b="1" spc="50" kern="0" dirty="0">
                <a:solidFill>
                  <a:srgbClr val="56606E"/>
                </a:solidFill>
                <a:latin typeface="Calibri" pitchFamily="34" charset="0"/>
                <a:ea typeface="Calibri" pitchFamily="34" charset="-122"/>
                <a:cs typeface="Calibri" pitchFamily="34" charset="-120"/>
              </a:rPr>
              <a:t>DÍAS</a:t>
            </a:r>
            <a:endParaRPr lang="en-US" sz="950" dirty="0"/>
          </a:p>
        </p:txBody>
      </p:sp>
      <p:sp>
        <p:nvSpPr>
          <p:cNvPr id="13" name="Text 10"/>
          <p:cNvSpPr/>
          <p:nvPr/>
        </p:nvSpPr>
        <p:spPr>
          <a:xfrm>
            <a:off x="9464040" y="1874520"/>
            <a:ext cx="2286000" cy="274320"/>
          </a:xfrm>
          <a:prstGeom prst="rect">
            <a:avLst/>
          </a:prstGeom>
          <a:noFill/>
          <a:ln/>
        </p:spPr>
        <p:txBody>
          <a:bodyPr wrap="square" lIns="0" tIns="0" rIns="0" bIns="0" rtlCol="0" anchor="ctr"/>
          <a:lstStyle/>
          <a:p>
            <a:pPr algn="l" indent="0" marL="0">
              <a:buNone/>
            </a:pPr>
            <a:r>
              <a:rPr lang="en-US" sz="950" b="1" spc="50" kern="0" dirty="0">
                <a:solidFill>
                  <a:srgbClr val="56606E"/>
                </a:solidFill>
                <a:latin typeface="Calibri" pitchFamily="34" charset="0"/>
                <a:ea typeface="Calibri" pitchFamily="34" charset="-122"/>
                <a:cs typeface="Calibri" pitchFamily="34" charset="-120"/>
              </a:rPr>
              <a:t>TÍTULO</a:t>
            </a:r>
            <a:endParaRPr lang="en-US" sz="950" dirty="0"/>
          </a:p>
        </p:txBody>
      </p:sp>
      <p:sp>
        <p:nvSpPr>
          <p:cNvPr id="14" name="Shape 11"/>
          <p:cNvSpPr/>
          <p:nvPr/>
        </p:nvSpPr>
        <p:spPr>
          <a:xfrm>
            <a:off x="502920" y="2185416"/>
            <a:ext cx="11247120" cy="0"/>
          </a:xfrm>
          <a:prstGeom prst="line">
            <a:avLst/>
          </a:prstGeom>
          <a:noFill/>
          <a:ln w="12700">
            <a:solidFill>
              <a:srgbClr val="6E8CA8"/>
            </a:solidFill>
            <a:prstDash val="solid"/>
          </a:ln>
        </p:spPr>
      </p:sp>
      <p:sp>
        <p:nvSpPr>
          <p:cNvPr id="15" name="Text 12"/>
          <p:cNvSpPr/>
          <p:nvPr/>
        </p:nvSpPr>
        <p:spPr>
          <a:xfrm>
            <a:off x="502920" y="2313432"/>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MASA-4</a:t>
            </a:r>
            <a:endParaRPr lang="en-US" sz="1050" dirty="0"/>
          </a:p>
        </p:txBody>
      </p:sp>
      <p:sp>
        <p:nvSpPr>
          <p:cNvPr id="16" name="Text 13"/>
          <p:cNvSpPr/>
          <p:nvPr/>
        </p:nvSpPr>
        <p:spPr>
          <a:xfrm>
            <a:off x="137160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17" name="Text 14"/>
          <p:cNvSpPr/>
          <p:nvPr/>
        </p:nvSpPr>
        <p:spPr>
          <a:xfrm>
            <a:off x="2926080" y="2313432"/>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18" name="Text 15"/>
          <p:cNvSpPr/>
          <p:nvPr/>
        </p:nvSpPr>
        <p:spPr>
          <a:xfrm>
            <a:off x="4434840" y="2313432"/>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19" name="Text 16"/>
          <p:cNvSpPr/>
          <p:nvPr/>
        </p:nvSpPr>
        <p:spPr>
          <a:xfrm>
            <a:off x="5760720" y="231343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20" name="Text 17"/>
          <p:cNvSpPr/>
          <p:nvPr/>
        </p:nvSpPr>
        <p:spPr>
          <a:xfrm>
            <a:off x="7315200" y="2313432"/>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21" name="Text 18"/>
          <p:cNvSpPr/>
          <p:nvPr/>
        </p:nvSpPr>
        <p:spPr>
          <a:xfrm>
            <a:off x="8686800" y="2313432"/>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409</a:t>
            </a:r>
            <a:endParaRPr lang="en-US" sz="1050" dirty="0"/>
          </a:p>
        </p:txBody>
      </p:sp>
      <p:sp>
        <p:nvSpPr>
          <p:cNvPr id="22" name="Text 19"/>
          <p:cNvSpPr/>
          <p:nvPr/>
        </p:nvSpPr>
        <p:spPr>
          <a:xfrm>
            <a:off x="9464040" y="2313432"/>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Sistema de conexión desde chute 220…</a:t>
            </a:r>
            <a:endParaRPr lang="en-US" sz="1000" dirty="0"/>
          </a:p>
        </p:txBody>
      </p:sp>
      <p:sp>
        <p:nvSpPr>
          <p:cNvPr id="23" name="Shape 20"/>
          <p:cNvSpPr/>
          <p:nvPr/>
        </p:nvSpPr>
        <p:spPr>
          <a:xfrm>
            <a:off x="502920" y="2606040"/>
            <a:ext cx="11247120" cy="0"/>
          </a:xfrm>
          <a:prstGeom prst="line">
            <a:avLst/>
          </a:prstGeom>
          <a:noFill/>
          <a:ln w="9525">
            <a:solidFill>
              <a:srgbClr val="D9DFE6"/>
            </a:solidFill>
            <a:prstDash val="solid"/>
          </a:ln>
        </p:spPr>
      </p:sp>
      <p:sp>
        <p:nvSpPr>
          <p:cNvPr id="24" name="Shape 21"/>
          <p:cNvSpPr/>
          <p:nvPr/>
        </p:nvSpPr>
        <p:spPr>
          <a:xfrm>
            <a:off x="457200" y="2615184"/>
            <a:ext cx="11292840" cy="347472"/>
          </a:xfrm>
          <a:prstGeom prst="rect">
            <a:avLst/>
          </a:prstGeom>
          <a:solidFill>
            <a:srgbClr val="FFFFFF"/>
          </a:solidFill>
          <a:ln/>
        </p:spPr>
      </p:sp>
      <p:sp>
        <p:nvSpPr>
          <p:cNvPr id="25" name="Text 22"/>
          <p:cNvSpPr/>
          <p:nvPr/>
        </p:nvSpPr>
        <p:spPr>
          <a:xfrm>
            <a:off x="502920" y="2660904"/>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MASA-2</a:t>
            </a:r>
            <a:endParaRPr lang="en-US" sz="1050" dirty="0"/>
          </a:p>
        </p:txBody>
      </p:sp>
      <p:sp>
        <p:nvSpPr>
          <p:cNvPr id="26" name="Text 23"/>
          <p:cNvSpPr/>
          <p:nvPr/>
        </p:nvSpPr>
        <p:spPr>
          <a:xfrm>
            <a:off x="1371600" y="266090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27" name="Text 24"/>
          <p:cNvSpPr/>
          <p:nvPr/>
        </p:nvSpPr>
        <p:spPr>
          <a:xfrm>
            <a:off x="2926080" y="2660904"/>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28" name="Text 25"/>
          <p:cNvSpPr/>
          <p:nvPr/>
        </p:nvSpPr>
        <p:spPr>
          <a:xfrm>
            <a:off x="4434840" y="2660904"/>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29" name="Text 26"/>
          <p:cNvSpPr/>
          <p:nvPr/>
        </p:nvSpPr>
        <p:spPr>
          <a:xfrm>
            <a:off x="5760720" y="266090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30" name="Text 27"/>
          <p:cNvSpPr/>
          <p:nvPr/>
        </p:nvSpPr>
        <p:spPr>
          <a:xfrm>
            <a:off x="7315200" y="2660904"/>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31" name="Text 28"/>
          <p:cNvSpPr/>
          <p:nvPr/>
        </p:nvSpPr>
        <p:spPr>
          <a:xfrm>
            <a:off x="8686800" y="2660904"/>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406</a:t>
            </a:r>
            <a:endParaRPr lang="en-US" sz="1050" dirty="0"/>
          </a:p>
        </p:txBody>
      </p:sp>
      <p:sp>
        <p:nvSpPr>
          <p:cNvPr id="32" name="Text 29"/>
          <p:cNvSpPr/>
          <p:nvPr/>
        </p:nvSpPr>
        <p:spPr>
          <a:xfrm>
            <a:off x="9464040" y="2660904"/>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Uniones soldadas y touch-up en tolv…</a:t>
            </a:r>
            <a:endParaRPr lang="en-US" sz="1000" dirty="0"/>
          </a:p>
        </p:txBody>
      </p:sp>
      <p:sp>
        <p:nvSpPr>
          <p:cNvPr id="33" name="Shape 30"/>
          <p:cNvSpPr/>
          <p:nvPr/>
        </p:nvSpPr>
        <p:spPr>
          <a:xfrm>
            <a:off x="502920" y="2953512"/>
            <a:ext cx="11247120" cy="0"/>
          </a:xfrm>
          <a:prstGeom prst="line">
            <a:avLst/>
          </a:prstGeom>
          <a:noFill/>
          <a:ln w="9525">
            <a:solidFill>
              <a:srgbClr val="D9DFE6"/>
            </a:solidFill>
            <a:prstDash val="solid"/>
          </a:ln>
        </p:spPr>
      </p:sp>
      <p:sp>
        <p:nvSpPr>
          <p:cNvPr id="34" name="Text 31"/>
          <p:cNvSpPr/>
          <p:nvPr/>
        </p:nvSpPr>
        <p:spPr>
          <a:xfrm>
            <a:off x="502920" y="3008376"/>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MASA-6</a:t>
            </a:r>
            <a:endParaRPr lang="en-US" sz="1050" dirty="0"/>
          </a:p>
        </p:txBody>
      </p:sp>
      <p:sp>
        <p:nvSpPr>
          <p:cNvPr id="35" name="Text 32"/>
          <p:cNvSpPr/>
          <p:nvPr/>
        </p:nvSpPr>
        <p:spPr>
          <a:xfrm>
            <a:off x="1371600" y="300837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36" name="Text 33"/>
          <p:cNvSpPr/>
          <p:nvPr/>
        </p:nvSpPr>
        <p:spPr>
          <a:xfrm>
            <a:off x="2926080" y="3008376"/>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37" name="Text 34"/>
          <p:cNvSpPr/>
          <p:nvPr/>
        </p:nvSpPr>
        <p:spPr>
          <a:xfrm>
            <a:off x="4434840" y="3008376"/>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38" name="Text 35"/>
          <p:cNvSpPr/>
          <p:nvPr/>
        </p:nvSpPr>
        <p:spPr>
          <a:xfrm>
            <a:off x="5760720" y="300837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39" name="Text 36"/>
          <p:cNvSpPr/>
          <p:nvPr/>
        </p:nvSpPr>
        <p:spPr>
          <a:xfrm>
            <a:off x="7315200" y="3008376"/>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40" name="Text 37"/>
          <p:cNvSpPr/>
          <p:nvPr/>
        </p:nvSpPr>
        <p:spPr>
          <a:xfrm>
            <a:off x="8686800" y="3008376"/>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375</a:t>
            </a:r>
            <a:endParaRPr lang="en-US" sz="1050" dirty="0"/>
          </a:p>
        </p:txBody>
      </p:sp>
      <p:sp>
        <p:nvSpPr>
          <p:cNvPr id="41" name="Text 38"/>
          <p:cNvSpPr/>
          <p:nvPr/>
        </p:nvSpPr>
        <p:spPr>
          <a:xfrm>
            <a:off x="9464040" y="3008376"/>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Condición del grout de nivelación e…</a:t>
            </a:r>
            <a:endParaRPr lang="en-US" sz="1000" dirty="0"/>
          </a:p>
        </p:txBody>
      </p:sp>
      <p:sp>
        <p:nvSpPr>
          <p:cNvPr id="42" name="Shape 39"/>
          <p:cNvSpPr/>
          <p:nvPr/>
        </p:nvSpPr>
        <p:spPr>
          <a:xfrm>
            <a:off x="502920" y="3300984"/>
            <a:ext cx="11247120" cy="0"/>
          </a:xfrm>
          <a:prstGeom prst="line">
            <a:avLst/>
          </a:prstGeom>
          <a:noFill/>
          <a:ln w="9525">
            <a:solidFill>
              <a:srgbClr val="D9DFE6"/>
            </a:solidFill>
            <a:prstDash val="solid"/>
          </a:ln>
        </p:spPr>
      </p:sp>
      <p:sp>
        <p:nvSpPr>
          <p:cNvPr id="43" name="Shape 40"/>
          <p:cNvSpPr/>
          <p:nvPr/>
        </p:nvSpPr>
        <p:spPr>
          <a:xfrm>
            <a:off x="457200" y="3310128"/>
            <a:ext cx="11292840" cy="347472"/>
          </a:xfrm>
          <a:prstGeom prst="rect">
            <a:avLst/>
          </a:prstGeom>
          <a:solidFill>
            <a:srgbClr val="FFFFFF"/>
          </a:solidFill>
          <a:ln/>
        </p:spPr>
      </p:sp>
      <p:sp>
        <p:nvSpPr>
          <p:cNvPr id="44" name="Text 41"/>
          <p:cNvSpPr/>
          <p:nvPr/>
        </p:nvSpPr>
        <p:spPr>
          <a:xfrm>
            <a:off x="502920" y="3355848"/>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MASA-8</a:t>
            </a:r>
            <a:endParaRPr lang="en-US" sz="1050" dirty="0"/>
          </a:p>
        </p:txBody>
      </p:sp>
      <p:sp>
        <p:nvSpPr>
          <p:cNvPr id="45" name="Text 42"/>
          <p:cNvSpPr/>
          <p:nvPr/>
        </p:nvSpPr>
        <p:spPr>
          <a:xfrm>
            <a:off x="1371600" y="335584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46" name="Text 43"/>
          <p:cNvSpPr/>
          <p:nvPr/>
        </p:nvSpPr>
        <p:spPr>
          <a:xfrm>
            <a:off x="2926080" y="3355848"/>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47" name="Text 44"/>
          <p:cNvSpPr/>
          <p:nvPr/>
        </p:nvSpPr>
        <p:spPr>
          <a:xfrm>
            <a:off x="4434840" y="3355848"/>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48" name="Text 45"/>
          <p:cNvSpPr/>
          <p:nvPr/>
        </p:nvSpPr>
        <p:spPr>
          <a:xfrm>
            <a:off x="5760720" y="335584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49" name="Text 46"/>
          <p:cNvSpPr/>
          <p:nvPr/>
        </p:nvSpPr>
        <p:spPr>
          <a:xfrm>
            <a:off x="7315200" y="3355848"/>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50" name="Text 47"/>
          <p:cNvSpPr/>
          <p:nvPr/>
        </p:nvSpPr>
        <p:spPr>
          <a:xfrm>
            <a:off x="8686800" y="3355848"/>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363</a:t>
            </a:r>
            <a:endParaRPr lang="en-US" sz="1050" dirty="0"/>
          </a:p>
        </p:txBody>
      </p:sp>
      <p:sp>
        <p:nvSpPr>
          <p:cNvPr id="51" name="Text 48"/>
          <p:cNvSpPr/>
          <p:nvPr/>
        </p:nvSpPr>
        <p:spPr>
          <a:xfrm>
            <a:off x="9464040" y="3355848"/>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Montaje de estructura metálica sin …</a:t>
            </a:r>
            <a:endParaRPr lang="en-US" sz="1000" dirty="0"/>
          </a:p>
        </p:txBody>
      </p:sp>
      <p:sp>
        <p:nvSpPr>
          <p:cNvPr id="52" name="Shape 49"/>
          <p:cNvSpPr/>
          <p:nvPr/>
        </p:nvSpPr>
        <p:spPr>
          <a:xfrm>
            <a:off x="502920" y="3648456"/>
            <a:ext cx="11247120" cy="0"/>
          </a:xfrm>
          <a:prstGeom prst="line">
            <a:avLst/>
          </a:prstGeom>
          <a:noFill/>
          <a:ln w="9525">
            <a:solidFill>
              <a:srgbClr val="D9DFE6"/>
            </a:solidFill>
            <a:prstDash val="solid"/>
          </a:ln>
        </p:spPr>
      </p:sp>
      <p:sp>
        <p:nvSpPr>
          <p:cNvPr id="53" name="Text 50"/>
          <p:cNvSpPr/>
          <p:nvPr/>
        </p:nvSpPr>
        <p:spPr>
          <a:xfrm>
            <a:off x="502920" y="3703320"/>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MASA-10</a:t>
            </a:r>
            <a:endParaRPr lang="en-US" sz="1050" dirty="0"/>
          </a:p>
        </p:txBody>
      </p:sp>
      <p:sp>
        <p:nvSpPr>
          <p:cNvPr id="54" name="Text 51"/>
          <p:cNvSpPr/>
          <p:nvPr/>
        </p:nvSpPr>
        <p:spPr>
          <a:xfrm>
            <a:off x="1371600" y="3703320"/>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55" name="Text 52"/>
          <p:cNvSpPr/>
          <p:nvPr/>
        </p:nvSpPr>
        <p:spPr>
          <a:xfrm>
            <a:off x="2926080" y="3703320"/>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56" name="Text 53"/>
          <p:cNvSpPr/>
          <p:nvPr/>
        </p:nvSpPr>
        <p:spPr>
          <a:xfrm>
            <a:off x="4434840" y="3703320"/>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57" name="Text 54"/>
          <p:cNvSpPr/>
          <p:nvPr/>
        </p:nvSpPr>
        <p:spPr>
          <a:xfrm>
            <a:off x="5760720" y="3703320"/>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58" name="Text 55"/>
          <p:cNvSpPr/>
          <p:nvPr/>
        </p:nvSpPr>
        <p:spPr>
          <a:xfrm>
            <a:off x="7315200" y="3703320"/>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59" name="Text 56"/>
          <p:cNvSpPr/>
          <p:nvPr/>
        </p:nvSpPr>
        <p:spPr>
          <a:xfrm>
            <a:off x="8686800" y="3703320"/>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335</a:t>
            </a:r>
            <a:endParaRPr lang="en-US" sz="1050" dirty="0"/>
          </a:p>
        </p:txBody>
      </p:sp>
      <p:sp>
        <p:nvSpPr>
          <p:cNvPr id="60" name="Text 57"/>
          <p:cNvSpPr/>
          <p:nvPr/>
        </p:nvSpPr>
        <p:spPr>
          <a:xfrm>
            <a:off x="9464040" y="3703320"/>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Vigas (puntales) Montadas Fuera de …</a:t>
            </a:r>
            <a:endParaRPr lang="en-US" sz="1000" dirty="0"/>
          </a:p>
        </p:txBody>
      </p:sp>
      <p:sp>
        <p:nvSpPr>
          <p:cNvPr id="61" name="Shape 58"/>
          <p:cNvSpPr/>
          <p:nvPr/>
        </p:nvSpPr>
        <p:spPr>
          <a:xfrm>
            <a:off x="502920" y="3995928"/>
            <a:ext cx="11247120" cy="0"/>
          </a:xfrm>
          <a:prstGeom prst="line">
            <a:avLst/>
          </a:prstGeom>
          <a:noFill/>
          <a:ln w="9525">
            <a:solidFill>
              <a:srgbClr val="D9DFE6"/>
            </a:solidFill>
            <a:prstDash val="solid"/>
          </a:ln>
        </p:spPr>
      </p:sp>
      <p:sp>
        <p:nvSpPr>
          <p:cNvPr id="62" name="Shape 59"/>
          <p:cNvSpPr/>
          <p:nvPr/>
        </p:nvSpPr>
        <p:spPr>
          <a:xfrm>
            <a:off x="457200" y="4005072"/>
            <a:ext cx="11292840" cy="347472"/>
          </a:xfrm>
          <a:prstGeom prst="rect">
            <a:avLst/>
          </a:prstGeom>
          <a:solidFill>
            <a:srgbClr val="FFFFFF"/>
          </a:solidFill>
          <a:ln/>
        </p:spPr>
      </p:sp>
      <p:sp>
        <p:nvSpPr>
          <p:cNvPr id="63" name="Text 60"/>
          <p:cNvSpPr/>
          <p:nvPr/>
        </p:nvSpPr>
        <p:spPr>
          <a:xfrm>
            <a:off x="502920" y="4050792"/>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MASA-21</a:t>
            </a:r>
            <a:endParaRPr lang="en-US" sz="1050" dirty="0"/>
          </a:p>
        </p:txBody>
      </p:sp>
      <p:sp>
        <p:nvSpPr>
          <p:cNvPr id="64" name="Text 61"/>
          <p:cNvSpPr/>
          <p:nvPr/>
        </p:nvSpPr>
        <p:spPr>
          <a:xfrm>
            <a:off x="1371600" y="405079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65" name="Text 62"/>
          <p:cNvSpPr/>
          <p:nvPr/>
        </p:nvSpPr>
        <p:spPr>
          <a:xfrm>
            <a:off x="2926080" y="4050792"/>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66" name="Text 63"/>
          <p:cNvSpPr/>
          <p:nvPr/>
        </p:nvSpPr>
        <p:spPr>
          <a:xfrm>
            <a:off x="4434840" y="4050792"/>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67" name="Text 64"/>
          <p:cNvSpPr/>
          <p:nvPr/>
        </p:nvSpPr>
        <p:spPr>
          <a:xfrm>
            <a:off x="5760720" y="4050792"/>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68" name="Text 65"/>
          <p:cNvSpPr/>
          <p:nvPr/>
        </p:nvSpPr>
        <p:spPr>
          <a:xfrm>
            <a:off x="7315200" y="4050792"/>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69" name="Text 66"/>
          <p:cNvSpPr/>
          <p:nvPr/>
        </p:nvSpPr>
        <p:spPr>
          <a:xfrm>
            <a:off x="8686800" y="4050792"/>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305</a:t>
            </a:r>
            <a:endParaRPr lang="en-US" sz="1050" dirty="0"/>
          </a:p>
        </p:txBody>
      </p:sp>
      <p:sp>
        <p:nvSpPr>
          <p:cNvPr id="70" name="Text 67"/>
          <p:cNvSpPr/>
          <p:nvPr/>
        </p:nvSpPr>
        <p:spPr>
          <a:xfrm>
            <a:off x="9464040" y="4050792"/>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Informe Técnico de Inspección – Fis…</a:t>
            </a:r>
            <a:endParaRPr lang="en-US" sz="1000" dirty="0"/>
          </a:p>
        </p:txBody>
      </p:sp>
      <p:sp>
        <p:nvSpPr>
          <p:cNvPr id="71" name="Shape 68"/>
          <p:cNvSpPr/>
          <p:nvPr/>
        </p:nvSpPr>
        <p:spPr>
          <a:xfrm>
            <a:off x="502920" y="4343400"/>
            <a:ext cx="11247120" cy="0"/>
          </a:xfrm>
          <a:prstGeom prst="line">
            <a:avLst/>
          </a:prstGeom>
          <a:noFill/>
          <a:ln w="9525">
            <a:solidFill>
              <a:srgbClr val="D9DFE6"/>
            </a:solidFill>
            <a:prstDash val="solid"/>
          </a:ln>
        </p:spPr>
      </p:sp>
      <p:sp>
        <p:nvSpPr>
          <p:cNvPr id="72" name="Text 69"/>
          <p:cNvSpPr/>
          <p:nvPr/>
        </p:nvSpPr>
        <p:spPr>
          <a:xfrm>
            <a:off x="502920" y="4398264"/>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MASA-24</a:t>
            </a:r>
            <a:endParaRPr lang="en-US" sz="1050" dirty="0"/>
          </a:p>
        </p:txBody>
      </p:sp>
      <p:sp>
        <p:nvSpPr>
          <p:cNvPr id="73" name="Text 70"/>
          <p:cNvSpPr/>
          <p:nvPr/>
        </p:nvSpPr>
        <p:spPr>
          <a:xfrm>
            <a:off x="1371600" y="439826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No Conformidad</a:t>
            </a:r>
            <a:endParaRPr lang="en-US" sz="1050" dirty="0"/>
          </a:p>
        </p:txBody>
      </p:sp>
      <p:sp>
        <p:nvSpPr>
          <p:cNvPr id="74" name="Text 71"/>
          <p:cNvSpPr/>
          <p:nvPr/>
        </p:nvSpPr>
        <p:spPr>
          <a:xfrm>
            <a:off x="2926080" y="4398264"/>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75" name="Text 72"/>
          <p:cNvSpPr/>
          <p:nvPr/>
        </p:nvSpPr>
        <p:spPr>
          <a:xfrm>
            <a:off x="4434840" y="4398264"/>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76" name="Text 73"/>
          <p:cNvSpPr/>
          <p:nvPr/>
        </p:nvSpPr>
        <p:spPr>
          <a:xfrm>
            <a:off x="5760720" y="4398264"/>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77" name="Text 74"/>
          <p:cNvSpPr/>
          <p:nvPr/>
        </p:nvSpPr>
        <p:spPr>
          <a:xfrm>
            <a:off x="7315200" y="4398264"/>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Stand By</a:t>
            </a:r>
            <a:endParaRPr lang="en-US" sz="1050" dirty="0"/>
          </a:p>
        </p:txBody>
      </p:sp>
      <p:sp>
        <p:nvSpPr>
          <p:cNvPr id="78" name="Text 75"/>
          <p:cNvSpPr/>
          <p:nvPr/>
        </p:nvSpPr>
        <p:spPr>
          <a:xfrm>
            <a:off x="8686800" y="4398264"/>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305</a:t>
            </a:r>
            <a:endParaRPr lang="en-US" sz="1050" dirty="0"/>
          </a:p>
        </p:txBody>
      </p:sp>
      <p:sp>
        <p:nvSpPr>
          <p:cNvPr id="79" name="Text 76"/>
          <p:cNvSpPr/>
          <p:nvPr/>
        </p:nvSpPr>
        <p:spPr>
          <a:xfrm>
            <a:off x="9464040" y="4398264"/>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Inspección grout de los recesos de …</a:t>
            </a:r>
            <a:endParaRPr lang="en-US" sz="1000" dirty="0"/>
          </a:p>
        </p:txBody>
      </p:sp>
      <p:sp>
        <p:nvSpPr>
          <p:cNvPr id="80" name="Shape 77"/>
          <p:cNvSpPr/>
          <p:nvPr/>
        </p:nvSpPr>
        <p:spPr>
          <a:xfrm>
            <a:off x="502920" y="4690872"/>
            <a:ext cx="11247120" cy="0"/>
          </a:xfrm>
          <a:prstGeom prst="line">
            <a:avLst/>
          </a:prstGeom>
          <a:noFill/>
          <a:ln w="9525">
            <a:solidFill>
              <a:srgbClr val="D9DFE6"/>
            </a:solidFill>
            <a:prstDash val="solid"/>
          </a:ln>
        </p:spPr>
      </p:sp>
      <p:sp>
        <p:nvSpPr>
          <p:cNvPr id="81" name="Shape 78"/>
          <p:cNvSpPr/>
          <p:nvPr/>
        </p:nvSpPr>
        <p:spPr>
          <a:xfrm>
            <a:off x="457200" y="4700016"/>
            <a:ext cx="11292840" cy="347472"/>
          </a:xfrm>
          <a:prstGeom prst="rect">
            <a:avLst/>
          </a:prstGeom>
          <a:solidFill>
            <a:srgbClr val="FFFFFF"/>
          </a:solidFill>
          <a:ln/>
        </p:spPr>
      </p:sp>
      <p:sp>
        <p:nvSpPr>
          <p:cNvPr id="82" name="Text 79"/>
          <p:cNvSpPr/>
          <p:nvPr/>
        </p:nvSpPr>
        <p:spPr>
          <a:xfrm>
            <a:off x="502920" y="4745736"/>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MASA-28</a:t>
            </a:r>
            <a:endParaRPr lang="en-US" sz="1050" dirty="0"/>
          </a:p>
        </p:txBody>
      </p:sp>
      <p:sp>
        <p:nvSpPr>
          <p:cNvPr id="83" name="Text 80"/>
          <p:cNvSpPr/>
          <p:nvPr/>
        </p:nvSpPr>
        <p:spPr>
          <a:xfrm>
            <a:off x="1371600" y="474573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84" name="Text 81"/>
          <p:cNvSpPr/>
          <p:nvPr/>
        </p:nvSpPr>
        <p:spPr>
          <a:xfrm>
            <a:off x="2926080" y="4745736"/>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85" name="Text 82"/>
          <p:cNvSpPr/>
          <p:nvPr/>
        </p:nvSpPr>
        <p:spPr>
          <a:xfrm>
            <a:off x="4434840" y="4745736"/>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86" name="Text 83"/>
          <p:cNvSpPr/>
          <p:nvPr/>
        </p:nvSpPr>
        <p:spPr>
          <a:xfrm>
            <a:off x="5760720" y="4745736"/>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87" name="Text 84"/>
          <p:cNvSpPr/>
          <p:nvPr/>
        </p:nvSpPr>
        <p:spPr>
          <a:xfrm>
            <a:off x="7315200" y="4745736"/>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88" name="Text 85"/>
          <p:cNvSpPr/>
          <p:nvPr/>
        </p:nvSpPr>
        <p:spPr>
          <a:xfrm>
            <a:off x="8686800" y="4745736"/>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284</a:t>
            </a:r>
            <a:endParaRPr lang="en-US" sz="1050" dirty="0"/>
          </a:p>
        </p:txBody>
      </p:sp>
      <p:sp>
        <p:nvSpPr>
          <p:cNvPr id="89" name="Text 86"/>
          <p:cNvSpPr/>
          <p:nvPr/>
        </p:nvSpPr>
        <p:spPr>
          <a:xfrm>
            <a:off x="9464040" y="4745736"/>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Cámara 3700-MH-002, salida sala elé…</a:t>
            </a:r>
            <a:endParaRPr lang="en-US" sz="1000" dirty="0"/>
          </a:p>
        </p:txBody>
      </p:sp>
      <p:sp>
        <p:nvSpPr>
          <p:cNvPr id="90" name="Shape 87"/>
          <p:cNvSpPr/>
          <p:nvPr/>
        </p:nvSpPr>
        <p:spPr>
          <a:xfrm>
            <a:off x="502920" y="5038344"/>
            <a:ext cx="11247120" cy="0"/>
          </a:xfrm>
          <a:prstGeom prst="line">
            <a:avLst/>
          </a:prstGeom>
          <a:noFill/>
          <a:ln w="9525">
            <a:solidFill>
              <a:srgbClr val="D9DFE6"/>
            </a:solidFill>
            <a:prstDash val="solid"/>
          </a:ln>
        </p:spPr>
      </p:sp>
      <p:sp>
        <p:nvSpPr>
          <p:cNvPr id="91" name="Text 88"/>
          <p:cNvSpPr/>
          <p:nvPr/>
        </p:nvSpPr>
        <p:spPr>
          <a:xfrm>
            <a:off x="502920" y="5093208"/>
            <a:ext cx="8229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MASA-30</a:t>
            </a:r>
            <a:endParaRPr lang="en-US" sz="1050" dirty="0"/>
          </a:p>
        </p:txBody>
      </p:sp>
      <p:sp>
        <p:nvSpPr>
          <p:cNvPr id="92" name="Text 89"/>
          <p:cNvSpPr/>
          <p:nvPr/>
        </p:nvSpPr>
        <p:spPr>
          <a:xfrm>
            <a:off x="1371600" y="509320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Observación</a:t>
            </a:r>
            <a:endParaRPr lang="en-US" sz="1050" dirty="0"/>
          </a:p>
        </p:txBody>
      </p:sp>
      <p:sp>
        <p:nvSpPr>
          <p:cNvPr id="93" name="Text 90"/>
          <p:cNvSpPr/>
          <p:nvPr/>
        </p:nvSpPr>
        <p:spPr>
          <a:xfrm>
            <a:off x="2926080" y="5093208"/>
            <a:ext cx="1463040" cy="256032"/>
          </a:xfrm>
          <a:prstGeom prst="rect">
            <a:avLst/>
          </a:prstGeom>
          <a:noFill/>
          <a:ln/>
        </p:spPr>
        <p:txBody>
          <a:bodyPr wrap="square" lIns="0" tIns="0" rIns="0" bIns="0" rtlCol="0" anchor="ctr"/>
          <a:lstStyle/>
          <a:p>
            <a:pPr algn="l" indent="0" marL="0">
              <a:buNone/>
            </a:pPr>
            <a:r>
              <a:rPr lang="en-US" sz="1050" b="1" dirty="0">
                <a:solidFill>
                  <a:srgbClr val="C87A32"/>
                </a:solidFill>
                <a:latin typeface="Calibri" pitchFamily="34" charset="0"/>
                <a:ea typeface="Calibri" pitchFamily="34" charset="-122"/>
                <a:cs typeface="Calibri" pitchFamily="34" charset="-120"/>
              </a:rPr>
              <a:t>Externa · Cliente</a:t>
            </a:r>
            <a:endParaRPr lang="en-US" sz="1050" dirty="0"/>
          </a:p>
        </p:txBody>
      </p:sp>
      <p:sp>
        <p:nvSpPr>
          <p:cNvPr id="94" name="Text 91"/>
          <p:cNvSpPr/>
          <p:nvPr/>
        </p:nvSpPr>
        <p:spPr>
          <a:xfrm>
            <a:off x="4434840" y="5093208"/>
            <a:ext cx="12801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especialidad</a:t>
            </a:r>
            <a:endParaRPr lang="en-US" sz="1050" dirty="0"/>
          </a:p>
        </p:txBody>
      </p:sp>
      <p:sp>
        <p:nvSpPr>
          <p:cNvPr id="95" name="Text 92"/>
          <p:cNvSpPr/>
          <p:nvPr/>
        </p:nvSpPr>
        <p:spPr>
          <a:xfrm>
            <a:off x="5760720" y="5093208"/>
            <a:ext cx="150876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Sin asignar</a:t>
            </a:r>
            <a:endParaRPr lang="en-US" sz="1050" dirty="0"/>
          </a:p>
        </p:txBody>
      </p:sp>
      <p:sp>
        <p:nvSpPr>
          <p:cNvPr id="96" name="Text 93"/>
          <p:cNvSpPr/>
          <p:nvPr/>
        </p:nvSpPr>
        <p:spPr>
          <a:xfrm>
            <a:off x="7315200" y="5093208"/>
            <a:ext cx="1325880" cy="256032"/>
          </a:xfrm>
          <a:prstGeom prst="rect">
            <a:avLst/>
          </a:prstGeom>
          <a:noFill/>
          <a:ln/>
        </p:spPr>
        <p:txBody>
          <a:bodyPr wrap="square" lIns="0" tIns="0" rIns="0" bIns="0" rtlCol="0" anchor="ctr"/>
          <a:lstStyle/>
          <a:p>
            <a:pPr algn="l" indent="0" marL="0">
              <a:buNone/>
            </a:pPr>
            <a:r>
              <a:rPr lang="en-US" sz="1050" dirty="0">
                <a:solidFill>
                  <a:srgbClr val="1A2433"/>
                </a:solidFill>
                <a:latin typeface="Calibri" pitchFamily="34" charset="0"/>
                <a:ea typeface="Calibri" pitchFamily="34" charset="-122"/>
                <a:cs typeface="Calibri" pitchFamily="34" charset="-120"/>
              </a:rPr>
              <a:t>Listo para revisi…</a:t>
            </a:r>
            <a:endParaRPr lang="en-US" sz="1050" dirty="0"/>
          </a:p>
        </p:txBody>
      </p:sp>
      <p:sp>
        <p:nvSpPr>
          <p:cNvPr id="97" name="Text 94"/>
          <p:cNvSpPr/>
          <p:nvPr/>
        </p:nvSpPr>
        <p:spPr>
          <a:xfrm>
            <a:off x="8686800" y="5093208"/>
            <a:ext cx="640080" cy="256032"/>
          </a:xfrm>
          <a:prstGeom prst="rect">
            <a:avLst/>
          </a:prstGeom>
          <a:noFill/>
          <a:ln/>
        </p:spPr>
        <p:txBody>
          <a:bodyPr wrap="square" lIns="0" tIns="0" rIns="0" bIns="0" rtlCol="0" anchor="ctr"/>
          <a:lstStyle/>
          <a:p>
            <a:pPr algn="r" indent="0" marL="0">
              <a:buNone/>
            </a:pPr>
            <a:r>
              <a:rPr lang="en-US" sz="1050" b="1" dirty="0">
                <a:solidFill>
                  <a:srgbClr val="C0392B"/>
                </a:solidFill>
                <a:latin typeface="Calibri" pitchFamily="34" charset="0"/>
                <a:ea typeface="Calibri" pitchFamily="34" charset="-122"/>
                <a:cs typeface="Calibri" pitchFamily="34" charset="-120"/>
              </a:rPr>
              <a:t>280</a:t>
            </a:r>
            <a:endParaRPr lang="en-US" sz="1050" dirty="0"/>
          </a:p>
        </p:txBody>
      </p:sp>
      <p:sp>
        <p:nvSpPr>
          <p:cNvPr id="98" name="Text 95"/>
          <p:cNvSpPr/>
          <p:nvPr/>
        </p:nvSpPr>
        <p:spPr>
          <a:xfrm>
            <a:off x="9464040" y="5093208"/>
            <a:ext cx="2286000" cy="256032"/>
          </a:xfrm>
          <a:prstGeom prst="rect">
            <a:avLst/>
          </a:prstGeom>
          <a:noFill/>
          <a:ln/>
        </p:spPr>
        <p:txBody>
          <a:bodyPr wrap="square" lIns="0" tIns="0" rIns="0" bIns="0" rtlCol="0" anchor="ctr"/>
          <a:lstStyle/>
          <a:p>
            <a:pPr algn="l" indent="0" marL="0">
              <a:buNone/>
            </a:pPr>
            <a:r>
              <a:rPr lang="en-US" sz="1000" dirty="0">
                <a:solidFill>
                  <a:srgbClr val="1A2433"/>
                </a:solidFill>
                <a:latin typeface="Calibri" pitchFamily="34" charset="0"/>
                <a:ea typeface="Calibri" pitchFamily="34" charset="-122"/>
                <a:cs typeface="Calibri" pitchFamily="34" charset="-120"/>
              </a:rPr>
              <a:t>Fundaciones faltantes para apoyo de…</a:t>
            </a:r>
            <a:endParaRPr lang="en-US" sz="1000" dirty="0"/>
          </a:p>
        </p:txBody>
      </p:sp>
      <p:sp>
        <p:nvSpPr>
          <p:cNvPr id="99" name="Shape 96"/>
          <p:cNvSpPr/>
          <p:nvPr/>
        </p:nvSpPr>
        <p:spPr>
          <a:xfrm>
            <a:off x="502920" y="5385816"/>
            <a:ext cx="11247120" cy="0"/>
          </a:xfrm>
          <a:prstGeom prst="line">
            <a:avLst/>
          </a:prstGeom>
          <a:noFill/>
          <a:ln w="9525">
            <a:solidFill>
              <a:srgbClr val="D9DFE6"/>
            </a:solidFill>
            <a:prstDash val="solid"/>
          </a:ln>
        </p:spPr>
      </p:sp>
      <p:sp>
        <p:nvSpPr>
          <p:cNvPr id="100" name="Text 97"/>
          <p:cNvSpPr/>
          <p:nvPr/>
        </p:nvSpPr>
        <p:spPr>
          <a:xfrm>
            <a:off x="502920" y="5440680"/>
            <a:ext cx="8229600" cy="256032"/>
          </a:xfrm>
          <a:prstGeom prst="rect">
            <a:avLst/>
          </a:prstGeom>
          <a:noFill/>
          <a:ln/>
        </p:spPr>
        <p:txBody>
          <a:bodyPr wrap="square" lIns="0" tIns="0" rIns="0" bIns="0" rtlCol="0" anchor="ctr"/>
          <a:lstStyle/>
          <a:p>
            <a:pPr indent="0" marL="0">
              <a:buNone/>
            </a:pPr>
            <a:r>
              <a:rPr lang="en-US" sz="950" i="1" dirty="0">
                <a:solidFill>
                  <a:srgbClr val="56606E"/>
                </a:solidFill>
                <a:latin typeface="Calibri" pitchFamily="34" charset="0"/>
                <a:ea typeface="Calibri" pitchFamily="34" charset="-122"/>
                <a:cs typeface="Calibri" pitchFamily="34" charset="-120"/>
              </a:rPr>
              <a:t>Se listan los 9 más antiguos de 37 abiertos; el detalle completo está en el panel.</a:t>
            </a:r>
            <a:endParaRPr lang="en-US" sz="950" dirty="0"/>
          </a:p>
        </p:txBody>
      </p:sp>
      <p:sp>
        <p:nvSpPr>
          <p:cNvPr id="101" name="Shape 98"/>
          <p:cNvSpPr/>
          <p:nvPr/>
        </p:nvSpPr>
        <p:spPr>
          <a:xfrm>
            <a:off x="457200" y="5806440"/>
            <a:ext cx="11274552" cy="566928"/>
          </a:xfrm>
          <a:prstGeom prst="roundRect">
            <a:avLst>
              <a:gd name="adj" fmla="val 9677"/>
            </a:avLst>
          </a:prstGeom>
          <a:solidFill>
            <a:srgbClr val="E9EDF2"/>
          </a:solidFill>
          <a:ln/>
        </p:spPr>
      </p:sp>
      <p:sp>
        <p:nvSpPr>
          <p:cNvPr id="102" name="Text 99"/>
          <p:cNvSpPr/>
          <p:nvPr/>
        </p:nvSpPr>
        <p:spPr>
          <a:xfrm>
            <a:off x="713232" y="5806440"/>
            <a:ext cx="2468880" cy="566928"/>
          </a:xfrm>
          <a:prstGeom prst="rect">
            <a:avLst/>
          </a:prstGeom>
          <a:noFill/>
          <a:ln/>
        </p:spPr>
        <p:txBody>
          <a:bodyPr wrap="square" lIns="0" tIns="0" rIns="0" bIns="0" rtlCol="0" anchor="ctr"/>
          <a:lstStyle/>
          <a:p>
            <a:pPr indent="0" marL="0">
              <a:buNone/>
            </a:pPr>
            <a:r>
              <a:rPr lang="en-US" sz="1000" b="1" spc="100" kern="0" dirty="0">
                <a:solidFill>
                  <a:srgbClr val="56606E"/>
                </a:solidFill>
                <a:latin typeface="Calibri" pitchFamily="34" charset="0"/>
                <a:ea typeface="Calibri" pitchFamily="34" charset="-122"/>
                <a:cs typeface="Calibri" pitchFamily="34" charset="-120"/>
              </a:rPr>
              <a:t>SEMANA 10-08-2026 — 16-08-2026</a:t>
            </a:r>
            <a:endParaRPr lang="en-US" sz="1000" dirty="0"/>
          </a:p>
        </p:txBody>
      </p:sp>
      <p:sp>
        <p:nvSpPr>
          <p:cNvPr id="103" name="Text 100"/>
          <p:cNvSpPr/>
          <p:nvPr/>
        </p:nvSpPr>
        <p:spPr>
          <a:xfrm>
            <a:off x="3200400" y="5806440"/>
            <a:ext cx="8321040" cy="566928"/>
          </a:xfrm>
          <a:prstGeom prst="rect">
            <a:avLst/>
          </a:prstGeom>
          <a:noFill/>
          <a:ln/>
        </p:spPr>
        <p:txBody>
          <a:bodyPr wrap="square" lIns="0" tIns="0" rIns="0" bIns="0" rtlCol="0" anchor="ctr"/>
          <a:lstStyle/>
          <a:p>
            <a:pPr indent="0" marL="0">
              <a:buNone/>
            </a:pPr>
            <a:r>
              <a:rPr lang="en-US" sz="1150" dirty="0">
                <a:solidFill>
                  <a:srgbClr val="56606E"/>
                </a:solidFill>
                <a:latin typeface="Calibri" pitchFamily="34" charset="0"/>
                <a:ea typeface="Calibri" pitchFamily="34" charset="-122"/>
                <a:cs typeface="Calibri" pitchFamily="34" charset="-120"/>
              </a:rPr>
              <a:t>Sin hallazgos nuevos en el período.</a:t>
            </a:r>
            <a:endParaRPr lang="en-US" sz="1150" dirty="0"/>
          </a:p>
        </p:txBody>
      </p:sp>
      <p:sp>
        <p:nvSpPr>
          <p:cNvPr id="104" name="Text 101"/>
          <p:cNvSpPr/>
          <p:nvPr/>
        </p:nvSpPr>
        <p:spPr>
          <a:xfrm>
            <a:off x="457200" y="6473952"/>
            <a:ext cx="9692640" cy="274320"/>
          </a:xfrm>
          <a:prstGeom prst="rect">
            <a:avLst/>
          </a:prstGeom>
          <a:noFill/>
          <a:ln/>
        </p:spPr>
        <p:txBody>
          <a:bodyPr wrap="square" lIns="0" tIns="0" rIns="0" bIns="0" rtlCol="0" anchor="ctr"/>
          <a:lstStyle/>
          <a:p>
            <a:pPr algn="l" indent="0" marL="0">
              <a:buNone/>
            </a:pPr>
            <a:r>
              <a:rPr lang="en-US" sz="850" dirty="0">
                <a:solidFill>
                  <a:srgbClr val="56606E"/>
                </a:solidFill>
                <a:latin typeface="Calibri" pitchFamily="34" charset="0"/>
                <a:ea typeface="Calibri" pitchFamily="34" charset="-122"/>
                <a:cs typeface="Calibri" pitchFamily="34" charset="-120"/>
              </a:rPr>
              <a:t>Fuente: Data_NCR17082026.xlsx — hoja «Observaciones» · Corte 17-08-2026 · 498 registros desde 10-02-2023</a:t>
            </a:r>
            <a:endParaRPr lang="en-US" sz="850" dirty="0"/>
          </a:p>
        </p:txBody>
      </p:sp>
      <p:sp>
        <p:nvSpPr>
          <p:cNvPr id="105" name="Text 102"/>
          <p:cNvSpPr/>
          <p:nvPr/>
        </p:nvSpPr>
        <p:spPr>
          <a:xfrm>
            <a:off x="1828800" y="6483096"/>
            <a:ext cx="9756648" cy="274320"/>
          </a:xfrm>
          <a:prstGeom prst="rect">
            <a:avLst/>
          </a:prstGeom>
          <a:noFill/>
          <a:ln/>
        </p:spPr>
        <p:txBody>
          <a:bodyPr wrap="square" lIns="0" tIns="0" rIns="0" bIns="0" rtlCol="0" anchor="ctr"/>
          <a:lstStyle/>
          <a:p>
            <a:pPr algn="r" indent="0" marL="0">
              <a:buNone/>
            </a:pPr>
            <a:r>
              <a:rPr lang="en-US" sz="850" dirty="0">
                <a:solidFill>
                  <a:srgbClr val="56606E"/>
                </a:solidFill>
                <a:latin typeface="Calibri" pitchFamily="34" charset="0"/>
                <a:ea typeface="Calibri" pitchFamily="34" charset="-122"/>
                <a:cs typeface="Calibri" pitchFamily="34" charset="-120"/>
              </a:rPr>
              <a:t>PROYECTO ARQUEROS</a:t>
            </a:r>
            <a:endParaRPr lang="en-US" sz="850" dirty="0"/>
          </a:p>
        </p:txBody>
      </p:sp>
      <p:sp>
        <p:nvSpPr>
          <p:cNvPr id="106" name="Text 103"/>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6606E"/>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de No Conformidades — Gestión de Calidad</dc:title>
  <dc:subject>PptxGenJS Presentation</dc:subject>
  <dc:creator>Gestión de Calidad</dc:creator>
  <cp:lastModifiedBy>Gestión de Calidad</cp:lastModifiedBy>
  <cp:revision>1</cp:revision>
  <dcterms:created xsi:type="dcterms:W3CDTF">2026-08-17T21:44:48Z</dcterms:created>
  <dcterms:modified xsi:type="dcterms:W3CDTF">2026-08-17T21:44:48Z</dcterms:modified>
</cp:coreProperties>
</file>