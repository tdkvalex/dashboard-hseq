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20-07</c:v>
                  </c:pt>
                  <c:pt idx="2">
                    <c:v>27-07</c:v>
                  </c:pt>
                  <c:pt idx="3">
                    <c:v>03-08</c:v>
                  </c:pt>
                  <c:pt idx="4">
                    <c:v>10-08</c:v>
                  </c:pt>
                  <c:pt idx="5">
                    <c:v>17-08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/>
                </c:pt>
                <c:pt idx="2">
                  <c:v>2</c:v>
                </c:pt>
                <c:pt idx="3">
                  <c:v/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20-07</c:v>
                  </c:pt>
                  <c:pt idx="2">
                    <c:v>27-07</c:v>
                  </c:pt>
                  <c:pt idx="3">
                    <c:v>03-08</c:v>
                  </c:pt>
                  <c:pt idx="4">
                    <c:v>10-08</c:v>
                  </c:pt>
                  <c:pt idx="5">
                    <c:v>17-08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195</c:v>
                </c:pt>
                <c:pt idx="2">
                  <c:v>71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289</c:v>
                </c:pt>
                <c:pt idx="1">
                  <c:v>120</c:v>
                </c:pt>
                <c:pt idx="2">
                  <c:v>45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29</c:v>
                </c:pt>
                <c:pt idx="1">
                  <c:v>2</c:v>
                </c:pt>
                <c:pt idx="2">
                  <c:v>15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46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139</c:v>
                </c:pt>
                <c:pt idx="1">
                  <c:v>24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</c:v>
                </c:pt>
                <c:pt idx="1">
                  <c:v>2</c:v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</c:v>
                </c:pt>
                <c:pt idx="1">
                  <c:v>37</c:v>
                </c:pt>
                <c:pt idx="2">
                  <c:v>15</c:v>
                </c:pt>
                <c:pt idx="3">
                  <c:v>7</c:v>
                </c:pt>
                <c:pt idx="4">
                  <c:v>6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Sin especialidad</c:v>
                  </c:pt>
                  <c:pt idx="1">
                    <c:v>EXPEDITORÍA</c:v>
                  </c:pt>
                  <c:pt idx="2">
                    <c:v>OO.CC</c:v>
                  </c:pt>
                  <c:pt idx="3">
                    <c:v>BODEGA</c:v>
                  </c:pt>
                  <c:pt idx="4">
                    <c:v>SUBCONTRATO</c:v>
                  </c:pt>
                  <c:pt idx="5">
                    <c:v>TOPOGRAFÍA</c:v>
                  </c:pt>
                  <c:pt idx="6">
                    <c:v>ESTRUCTURA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35</c:v>
                </c:pt>
                <c:pt idx="1">
                  <c:v/>
                </c:pt>
                <c:pt idx="2">
                  <c:v>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501 hallazgos levantados entre 10-02-2023 y 19-08-2026 (Desaladora 82 · Talabre 247 · Arqueros 164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24-08-2026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Data_NCR24082026.xlsx — hoja «Observaciones» · Corte 24-08-2026 · 501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90,8%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455/501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abiertos · 17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501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iniciado · 1 no aceptado · 29 listo para revisión · 10 stand by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159/492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de 501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46 hallazgos abiertos (78,3%), y es uno de los frentes donde el cliente levanta más de lo que detecta Besalco (71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3 hallazgos nuevos,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17-08-2026 al 23-08-2026: 3 del cliente en OO.CC (2) y PIPING (1). 2 siguen abiertos; la semana anterior entraron 3.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de los 46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17 llevan más de 180 días abiertos y 3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Data_NCR24082026.xlsx — hoja «Observaciones» · Corte 24-08-2026 · 501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247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96,4%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493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447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90,7%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285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30 días · el hallazgo más lento tomó 409 días · 79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Data_NCR24082026.xlsx — hoja «Observaciones» · Corte 24-08-2026 · 501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17-08-2026 y el 23-08-2026 se levantaron 3 hallazgos: 0 internas · 3 del cliente. 2 siguen abiertos.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 2  ·  PIPING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3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3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2  ·  Producto No Conforme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18-08-2026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· PNC N°189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Ogalde H.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estructural en la pare…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7200" y="4709160"/>
            <a:ext cx="112928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5"/>
          <p:cNvSpPr/>
          <p:nvPr/>
        </p:nvSpPr>
        <p:spPr>
          <a:xfrm>
            <a:off x="502920" y="47548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19-08-2026</a:t>
            </a:r>
            <a:endParaRPr lang="en-US" sz="1050" dirty="0"/>
          </a:p>
        </p:txBody>
      </p:sp>
      <p:sp>
        <p:nvSpPr>
          <p:cNvPr id="40" name="Text 36"/>
          <p:cNvSpPr/>
          <p:nvPr/>
        </p:nvSpPr>
        <p:spPr>
          <a:xfrm>
            <a:off x="137160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2468880" y="475488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247 · RNC N°458</a:t>
            </a:r>
            <a:endParaRPr lang="en-US" sz="1050" dirty="0"/>
          </a:p>
        </p:txBody>
      </p:sp>
      <p:sp>
        <p:nvSpPr>
          <p:cNvPr id="42" name="Text 38"/>
          <p:cNvSpPr/>
          <p:nvPr/>
        </p:nvSpPr>
        <p:spPr>
          <a:xfrm>
            <a:off x="356616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4983480" y="475488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6446520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758952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Ogalde H.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9006840" y="47548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9921240" y="47548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FS-01 (10 eleme…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502920" y="50292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502920" y="508406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19-08-2026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137160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468880" y="5084064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248 · RNC N°463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356616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4983480" y="5084064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6446520" y="508406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7589520" y="50840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Nahuel P.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9006840" y="5084064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7" name="Text 53"/>
          <p:cNvSpPr/>
          <p:nvPr/>
        </p:nvSpPr>
        <p:spPr>
          <a:xfrm>
            <a:off x="9921240" y="50840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TAG N° 3716D-RW-24-H1…</a:t>
            </a:r>
            <a:endParaRPr lang="en-US" sz="1000" dirty="0"/>
          </a:p>
        </p:txBody>
      </p:sp>
      <p:sp>
        <p:nvSpPr>
          <p:cNvPr id="58" name="Shape 54"/>
          <p:cNvSpPr/>
          <p:nvPr/>
        </p:nvSpPr>
        <p:spPr>
          <a:xfrm>
            <a:off x="502920" y="53583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Data_NCR24082026.xlsx — hoja «Observaciones» · Corte 24-08-2026 · 501 registros desde 10-02-2023</a:t>
            </a:r>
            <a:endParaRPr lang="en-US" sz="850" dirty="0"/>
          </a:p>
        </p:txBody>
      </p:sp>
      <p:sp>
        <p:nvSpPr>
          <p:cNvPr id="60" name="Text 5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1" name="Text 5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32,3%.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98,7%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285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84,6%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501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455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90,8%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21,1%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Data_NCR24082026.xlsx — hoja «Observaciones» · Corte 24-08-2026 · 501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46 hallazgos abiertos, 17 llevan más de 180 días desde que se levantaron y 3 más de un año. La mediana de cierre global es de 30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44 hallazgos fuera de plazo de los 46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407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Data_NCR24082026.xlsx — hoja «Observaciones» · Corte 24-08-2026 · 501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LA NO CONFORMIDAD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mensual por disciplina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 UF declaradas entre nov-24 y ago-26, imputadas al mes en que se levantó cada hallazgo. Las declaran 108 de 490 hallazgos del período.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810512"/>
          <a:ext cx="1159459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8229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DISCIPLINA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OO.CC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2.631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EXPEDITORÍA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SUBCONTRATO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ELÉCTRICA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PROVEEDORES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INSTRUMENTACIÓN Y CONTROL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Otras (4 disciplinas)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DEL MES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4.382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 CON MONTO DECLARADO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11/36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7/33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108/490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48280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POR CELDA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1508760" y="4873752"/>
            <a:ext cx="128016" cy="128016"/>
          </a:xfrm>
          <a:prstGeom prst="rect">
            <a:avLst/>
          </a:prstGeom>
          <a:solidFill>
            <a:srgbClr val="BFDBFE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691640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2715768" y="4873752"/>
            <a:ext cx="128016" cy="128016"/>
          </a:xfrm>
          <a:prstGeom prst="rect">
            <a:avLst/>
          </a:prstGeom>
          <a:solidFill>
            <a:srgbClr val="93C5FD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98648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50–199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3922776" y="4873752"/>
            <a:ext cx="128016" cy="128016"/>
          </a:xfrm>
          <a:prstGeom prst="rect">
            <a:avLst/>
          </a:prstGeom>
          <a:solidFill>
            <a:srgbClr val="60A5FA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105656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200–499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129784" y="4873752"/>
            <a:ext cx="128016" cy="128016"/>
          </a:xfrm>
          <a:prstGeom prst="rect">
            <a:avLst/>
          </a:prstGeom>
          <a:solidFill>
            <a:srgbClr val="3B82F6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12664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500–1.499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336792" y="4873752"/>
            <a:ext cx="128016" cy="128016"/>
          </a:xfrm>
          <a:prstGeom prst="rect">
            <a:avLst/>
          </a:prstGeom>
          <a:solidFill>
            <a:srgbClr val="1E40AF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19672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1.500 o más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411480" y="5285232"/>
            <a:ext cx="41148" cy="566928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9" name="Text 15"/>
          <p:cNvSpPr/>
          <p:nvPr/>
        </p:nvSpPr>
        <p:spPr>
          <a:xfrm>
            <a:off x="55778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55778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un monto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206240" y="5285232"/>
            <a:ext cx="41148" cy="566928"/>
          </a:xfrm>
          <a:prstGeom prst="rect">
            <a:avLst/>
          </a:prstGeom>
          <a:solidFill>
            <a:srgbClr val="6E8CA8"/>
          </a:solidFill>
          <a:ln/>
        </p:spPr>
      </p:sp>
      <p:sp>
        <p:nvSpPr>
          <p:cNvPr id="22" name="Text 18"/>
          <p:cNvSpPr/>
          <p:nvPr/>
        </p:nvSpPr>
        <p:spPr>
          <a:xfrm>
            <a:off x="435254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2100" dirty="0"/>
          </a:p>
        </p:txBody>
      </p:sp>
      <p:sp>
        <p:nvSpPr>
          <p:cNvPr id="23" name="Text 19"/>
          <p:cNvSpPr/>
          <p:nvPr/>
        </p:nvSpPr>
        <p:spPr>
          <a:xfrm>
            <a:off x="435254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0 — afirman que no costó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8001000" y="5285232"/>
            <a:ext cx="41148" cy="5669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14730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</a:t>
            </a:r>
            <a:endParaRPr lang="en-US" sz="2100" dirty="0"/>
          </a:p>
        </p:txBody>
      </p:sp>
      <p:sp>
        <p:nvSpPr>
          <p:cNvPr id="26" name="Text 22"/>
          <p:cNvSpPr/>
          <p:nvPr/>
        </p:nvSpPr>
        <p:spPr>
          <a:xfrm>
            <a:off x="814730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dejan la casilla vacía: no se sabe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se imputa al mes de emisión: la columna «Costo De La No Conformidad» no trae fecha propia. El mes más caro es jul-25 con 4.382 UF. Los últimos 4 meses no traen ningún monto declarado —un mes en blanco es «sin declarar», no «sin costo»—. La cifra es un piso del costo real.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Data_NCR24082026.xlsx — hoja «Observaciones» · Corte 24-08-2026 · 501 registros desde 10-02-2023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de los 46 hallazgos abiertos (78,3%) y 78% de cierre, contra 90,8%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21,1%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17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ellos superan el año abiertos. Los tienen a cargo Sin asignar (17).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44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95,7% de los abiertos. Solo 2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Data_NCR24082026.xlsx — hoja «Observaciones» · Corte 24-08-2026 · 501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24-08-2026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Data_NCR24082026.xlsx — hoja «Observaciones» · Corte 24-08-2026 · 501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90,8%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32,3%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Data_NCR24082026.xlsx — hoja «Observaciones» · Corte 24-08-2026 · 501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17-08-2026 — 23-08-2026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Data_NCR24082026.xlsx — hoja «Observaciones» · Corte 24-08-2026 · 501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247 hallazgos levantados · 52 internas · 195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96,4%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24-08-2026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Data_NCR24082026.xlsx — hoja «Observaciones» · Corte 24-08-2026 · 501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247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195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96,4%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238/247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90,8%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iniciado · 1 no aceptado · 3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407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21,1%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32,3%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Data_NCR24082026.xlsx — hoja «Observaciones» · Corte 24-08-2026 · 501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Geomembrana presenta sectores en lo…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no contie…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243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Rollos de geomembrana KRAH (2 mm es…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Piscina Quebrada Sur, se evidenc…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247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Ogalde H.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FS-01 (10 elementos) no…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248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Oscar Nahuel P.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TAG N° 3716D-RW-24-H1-0425-N 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1" name="Text 98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17-08-2026 — 23-08-2026</a:t>
            </a:r>
            <a:endParaRPr lang="en-US" sz="1000" dirty="0"/>
          </a:p>
        </p:txBody>
      </p:sp>
      <p:sp>
        <p:nvSpPr>
          <p:cNvPr id="102" name="Text 99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nuevos · 0 internas · 3 del cliente · OO.CC 2 · PIPING 1 · 2 siguen abiertos</a:t>
            </a:r>
            <a:endParaRPr lang="en-US" sz="1150" dirty="0"/>
          </a:p>
        </p:txBody>
      </p:sp>
      <p:sp>
        <p:nvSpPr>
          <p:cNvPr id="103" name="Text 100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Data_NCR24082026.xlsx — hoja «Observaciones» · Corte 24-08-2026 · 501 registros desde 10-02-2023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hallazgos levantados · 53 internas · 71 del cliente · 40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24-08-2026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Data_NCR24082026.xlsx — hoja «Observaciones» · Corte 24-08-2026 · 501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71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128/164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90,8%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25 listo para revisión · 10 stand by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409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32,3%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32,3%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Data_NCR24082026.xlsx — hoja «Observaciones» · Corte 24-08-2026 · 501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hallazgos siguen abiertos; 17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416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conexión desde chute 220…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grout de nivelación 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MASA-8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370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estructura metálica sin 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MASA-10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342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Vigas (puntales) Montadas Fuera de 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MASA-21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312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de Inspección – Fis…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By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312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MASA-28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Cámara 3700-MH-002, salida sala elé…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MASA-30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287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faltantes para apoyo de…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MASA-37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especialidad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Tolerancia transversal en chutes de…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36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17-08-2026 — 23-08-2026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Data_NCR24082026.xlsx — hoja «Observaciones» · Corte 24-08-2026 · 501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2026-08-24T13:47:33Z</dcterms:created>
  <dcterms:modified xsi:type="dcterms:W3CDTF">2026-08-24T13:47:33Z</dcterms:modified>
</cp:coreProperties>
</file>