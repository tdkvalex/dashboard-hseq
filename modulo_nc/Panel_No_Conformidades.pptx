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03-08</c:v>
                  </c:pt>
                  <c:pt idx="2">
                    <c:v>10-08</c:v>
                  </c:pt>
                  <c:pt idx="3">
                    <c:v>17-08</c:v>
                  </c:pt>
                  <c:pt idx="4">
                    <c:v>24-08</c:v>
                  </c:pt>
                  <c:pt idx="5">
                    <c:v>31-08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>2</c:v>
                </c:pt>
                <c:pt idx="4">
                  <c:v>1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03-08</c:v>
                  </c:pt>
                  <c:pt idx="2">
                    <c:v>10-08</c:v>
                  </c:pt>
                  <c:pt idx="3">
                    <c:v>17-08</c:v>
                  </c:pt>
                  <c:pt idx="4">
                    <c:v>24-08</c:v>
                  </c:pt>
                  <c:pt idx="5">
                    <c:v>31-08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</c:v>
                </c:pt>
                <c:pt idx="2">
                  <c:v>3</c:v>
                </c:pt>
                <c:pt idx="3">
                  <c:v>1</c:v>
                </c:pt>
                <c:pt idx="4">
                  <c:v/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197</c:v>
                </c:pt>
                <c:pt idx="2">
                  <c:v>77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292</c:v>
                </c:pt>
                <c:pt idx="1">
                  <c:v>121</c:v>
                </c:pt>
                <c:pt idx="2">
                  <c:v>49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</c:v>
                </c:pt>
                <c:pt idx="1">
                  <c:v>2</c:v>
                </c:pt>
                <c:pt idx="2">
                  <c:v>11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46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142</c:v>
                </c:pt>
                <c:pt idx="1">
                  <c:v>25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40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37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509 hallazgos levantados entre 10-02-2023 y 03-09-2026 (Desaladora 82 · Talabre 249 · Arqueros 170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07-09-2026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463/509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509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iniciado · 23 listo para revisión · 9 stand by · 1 observada · 6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31,8%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159/500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509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de los 46 hallazgos abiertos (82,6%), y es uno de los frentes donde el cliente levanta más de lo que detecta Besalco (77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7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31-08-2026 al 06-09-2026: 7 del cliente en Sin especialidad (6) y OO.CC (1). Todos siguen abiertos; la semana anterior entraron 1.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de los 46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0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77,6%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501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455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90,8%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419 días · 85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31-08-2026 y el 06-09-2026 se levantaron 7 hallazgos: 0 internas · 7 del cliente.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 6  ·  OO.CC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6  ·  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7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7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 — SE LISTAN 6 DE 7; EL RESTO ESTÁ EN EL PANEL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01-09-2026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MASA-86 · EB-NE-1412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especial…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Perdida de torque en pernos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01-09-2026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MASA-87 · EB-NE-1412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especial…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Elevación bomba de cizalle.…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01-09-2026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MASA-88 · EB-NE-1412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especial…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en línea de succ…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457200" y="5367528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6"/>
          <p:cNvSpPr/>
          <p:nvPr/>
        </p:nvSpPr>
        <p:spPr>
          <a:xfrm>
            <a:off x="502920" y="54132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01-09-2026</a:t>
            </a:r>
            <a:endParaRPr lang="en-US" sz="1050" dirty="0"/>
          </a:p>
        </p:txBody>
      </p:sp>
      <p:sp>
        <p:nvSpPr>
          <p:cNvPr id="61" name="Text 57"/>
          <p:cNvSpPr/>
          <p:nvPr/>
        </p:nvSpPr>
        <p:spPr>
          <a:xfrm>
            <a:off x="137160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2" name="Text 58"/>
          <p:cNvSpPr/>
          <p:nvPr/>
        </p:nvSpPr>
        <p:spPr>
          <a:xfrm>
            <a:off x="246888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MASA-89 · EB-NE-1412</a:t>
            </a:r>
            <a:endParaRPr lang="en-US" sz="1050" dirty="0"/>
          </a:p>
        </p:txBody>
      </p:sp>
      <p:sp>
        <p:nvSpPr>
          <p:cNvPr id="63" name="Text 59"/>
          <p:cNvSpPr/>
          <p:nvPr/>
        </p:nvSpPr>
        <p:spPr>
          <a:xfrm>
            <a:off x="356616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4" name="Text 60"/>
          <p:cNvSpPr/>
          <p:nvPr/>
        </p:nvSpPr>
        <p:spPr>
          <a:xfrm>
            <a:off x="4983480" y="541324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5" name="Text 61"/>
          <p:cNvSpPr/>
          <p:nvPr/>
        </p:nvSpPr>
        <p:spPr>
          <a:xfrm>
            <a:off x="6446520" y="54132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especial…</a:t>
            </a:r>
            <a:endParaRPr lang="en-US" sz="1050" dirty="0"/>
          </a:p>
        </p:txBody>
      </p:sp>
      <p:sp>
        <p:nvSpPr>
          <p:cNvPr id="66" name="Text 62"/>
          <p:cNvSpPr/>
          <p:nvPr/>
        </p:nvSpPr>
        <p:spPr>
          <a:xfrm>
            <a:off x="758952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7" name="Text 63"/>
          <p:cNvSpPr/>
          <p:nvPr/>
        </p:nvSpPr>
        <p:spPr>
          <a:xfrm>
            <a:off x="9006840" y="54132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68" name="Text 64"/>
          <p:cNvSpPr/>
          <p:nvPr/>
        </p:nvSpPr>
        <p:spPr>
          <a:xfrm>
            <a:off x="992124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en alturagrado d…</a:t>
            </a:r>
            <a:endParaRPr lang="en-US" sz="1000" dirty="0"/>
          </a:p>
        </p:txBody>
      </p:sp>
      <p:sp>
        <p:nvSpPr>
          <p:cNvPr id="69" name="Shape 65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502920" y="57424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01-09-2026</a:t>
            </a:r>
            <a:endParaRPr lang="en-US" sz="1050" dirty="0"/>
          </a:p>
        </p:txBody>
      </p:sp>
      <p:sp>
        <p:nvSpPr>
          <p:cNvPr id="71" name="Text 67"/>
          <p:cNvSpPr/>
          <p:nvPr/>
        </p:nvSpPr>
        <p:spPr>
          <a:xfrm>
            <a:off x="1371600" y="574243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72" name="Text 68"/>
          <p:cNvSpPr/>
          <p:nvPr/>
        </p:nvSpPr>
        <p:spPr>
          <a:xfrm>
            <a:off x="2468880" y="574243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MASA-90 · EB-NE-1412</a:t>
            </a:r>
            <a:endParaRPr lang="en-US" sz="1050" dirty="0"/>
          </a:p>
        </p:txBody>
      </p:sp>
      <p:sp>
        <p:nvSpPr>
          <p:cNvPr id="73" name="Text 69"/>
          <p:cNvSpPr/>
          <p:nvPr/>
        </p:nvSpPr>
        <p:spPr>
          <a:xfrm>
            <a:off x="3566160" y="57424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0"/>
          <p:cNvSpPr/>
          <p:nvPr/>
        </p:nvSpPr>
        <p:spPr>
          <a:xfrm>
            <a:off x="4983480" y="574243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1"/>
          <p:cNvSpPr/>
          <p:nvPr/>
        </p:nvSpPr>
        <p:spPr>
          <a:xfrm>
            <a:off x="6446520" y="57424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especial…</a:t>
            </a:r>
            <a:endParaRPr lang="en-US" sz="1050" dirty="0"/>
          </a:p>
        </p:txBody>
      </p:sp>
      <p:sp>
        <p:nvSpPr>
          <p:cNvPr id="76" name="Text 72"/>
          <p:cNvSpPr/>
          <p:nvPr/>
        </p:nvSpPr>
        <p:spPr>
          <a:xfrm>
            <a:off x="7589520" y="57424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3"/>
          <p:cNvSpPr/>
          <p:nvPr/>
        </p:nvSpPr>
        <p:spPr>
          <a:xfrm>
            <a:off x="9006840" y="574243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78" name="Text 74"/>
          <p:cNvSpPr/>
          <p:nvPr/>
        </p:nvSpPr>
        <p:spPr>
          <a:xfrm>
            <a:off x="9921240" y="57424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en soportación d…</a:t>
            </a:r>
            <a:endParaRPr lang="en-US" sz="1000" dirty="0"/>
          </a:p>
        </p:txBody>
      </p:sp>
      <p:sp>
        <p:nvSpPr>
          <p:cNvPr id="79" name="Shape 75"/>
          <p:cNvSpPr/>
          <p:nvPr/>
        </p:nvSpPr>
        <p:spPr>
          <a:xfrm>
            <a:off x="502920" y="601675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457200" y="6025896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Text 77"/>
          <p:cNvSpPr/>
          <p:nvPr/>
        </p:nvSpPr>
        <p:spPr>
          <a:xfrm>
            <a:off x="502920" y="607161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01-09-2026</a:t>
            </a:r>
            <a:endParaRPr lang="en-US" sz="1050" dirty="0"/>
          </a:p>
        </p:txBody>
      </p:sp>
      <p:sp>
        <p:nvSpPr>
          <p:cNvPr id="82" name="Text 78"/>
          <p:cNvSpPr/>
          <p:nvPr/>
        </p:nvSpPr>
        <p:spPr>
          <a:xfrm>
            <a:off x="1371600" y="607161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83" name="Text 79"/>
          <p:cNvSpPr/>
          <p:nvPr/>
        </p:nvSpPr>
        <p:spPr>
          <a:xfrm>
            <a:off x="2468880" y="607161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MASA-91 · EB-NE-1412</a:t>
            </a:r>
            <a:endParaRPr lang="en-US" sz="1050" dirty="0"/>
          </a:p>
        </p:txBody>
      </p:sp>
      <p:sp>
        <p:nvSpPr>
          <p:cNvPr id="84" name="Text 80"/>
          <p:cNvSpPr/>
          <p:nvPr/>
        </p:nvSpPr>
        <p:spPr>
          <a:xfrm>
            <a:off x="3566160" y="60716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5" name="Text 81"/>
          <p:cNvSpPr/>
          <p:nvPr/>
        </p:nvSpPr>
        <p:spPr>
          <a:xfrm>
            <a:off x="4983480" y="607161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6" name="Text 82"/>
          <p:cNvSpPr/>
          <p:nvPr/>
        </p:nvSpPr>
        <p:spPr>
          <a:xfrm>
            <a:off x="6446520" y="607161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especial…</a:t>
            </a:r>
            <a:endParaRPr lang="en-US" sz="1050" dirty="0"/>
          </a:p>
        </p:txBody>
      </p:sp>
      <p:sp>
        <p:nvSpPr>
          <p:cNvPr id="87" name="Text 83"/>
          <p:cNvSpPr/>
          <p:nvPr/>
        </p:nvSpPr>
        <p:spPr>
          <a:xfrm>
            <a:off x="7589520" y="60716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8" name="Text 84"/>
          <p:cNvSpPr/>
          <p:nvPr/>
        </p:nvSpPr>
        <p:spPr>
          <a:xfrm>
            <a:off x="9006840" y="60716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89" name="Text 85"/>
          <p:cNvSpPr/>
          <p:nvPr/>
        </p:nvSpPr>
        <p:spPr>
          <a:xfrm>
            <a:off x="9921240" y="60716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en piping bombas celdas…</a:t>
            </a:r>
            <a:endParaRPr lang="en-US" sz="1000" dirty="0"/>
          </a:p>
        </p:txBody>
      </p:sp>
      <p:sp>
        <p:nvSpPr>
          <p:cNvPr id="90" name="Shape 86"/>
          <p:cNvSpPr/>
          <p:nvPr/>
        </p:nvSpPr>
        <p:spPr>
          <a:xfrm>
            <a:off x="502920" y="63459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92" name="Text 8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93" name="Text 8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31,8%.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509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463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31,2%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46 hallazgos abiertos, 17 llevan más de 180 días desde que se levantaron y 0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39 hallazgos fuera de plazo de los 46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419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 UF declaradas entre nov-24 y sep-26, imputadas al mes en que se levantó cada hallazgo. Las declaran 108 de 498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1996928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108/498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258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5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de los 46 hallazgos abiertos (82,6%) y 77,6% de cierre, contra 91%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20,9%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ellos superan el año abiertos. Los tienen a cargo Sin asignar (17).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39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84,8% de los abiertos. Solo 7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07-09-2026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31-08-2026 — 06-09-2026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hallazgos levantados · 52 internas · 197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07-09-2026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249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197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242/249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iniciado · 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407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no contie…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Ogalde H.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FS-01 (10 elementos) no…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TAG N° 3716D-RW-24-H1-0425-N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evidencia daño físico en la geom…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Determinadas actas de liberación y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82" name="Text 7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31-08-2026 — 06-09-2026</a:t>
            </a:r>
            <a:endParaRPr lang="en-US" sz="1000" dirty="0"/>
          </a:p>
        </p:txBody>
      </p:sp>
      <p:sp>
        <p:nvSpPr>
          <p:cNvPr id="83" name="Text 8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OO.CC 1 · 1 sigue abierto</a:t>
            </a:r>
            <a:endParaRPr lang="en-US" sz="1150" dirty="0"/>
          </a:p>
        </p:txBody>
      </p:sp>
      <p:sp>
        <p:nvSpPr>
          <p:cNvPr id="84" name="Text 8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85" name="Text 8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86" name="Text 8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 hallazgos levantados · 53 internas · 77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07-09-2026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77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132/170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21 listo para revisión · 9 stand by · 1 observada · 6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419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hallazgos siguen abiertos; 17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326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326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305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MASA-37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264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transversal en chutes de…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MASA-42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correa 2100-CV-001 mo…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MASA-43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Perforaciones faltantes en estructu…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MASA-45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Cable de comunicación dañado - 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MASA-48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FISURACIÓN DE RADIER CELDAS COLUMNA…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38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31-08-2026 — 06-09-2026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hallazgos nuevos · 0 internas · 6 del cliente · Sin especialidad 6 · 6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Data_NCR07092026.xlsx — hoja «Observaciones» · Corte 07-09-2026 · 509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2026-09-07T13:10:16Z</dcterms:created>
  <dcterms:modified xsi:type="dcterms:W3CDTF">2026-09-07T13:10:16Z</dcterms:modified>
</cp:coreProperties>
</file>