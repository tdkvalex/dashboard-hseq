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levantados en cada una de las últimas 8 semanas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Aún 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02-06</c:v>
                  </c:pt>
                  <c:pt idx="1">
                    <c:v>09-06</c:v>
                  </c:pt>
                  <c:pt idx="2">
                    <c:v>16-06</c:v>
                  </c:pt>
                  <c:pt idx="3">
                    <c:v>23-06</c:v>
                  </c:pt>
                  <c:pt idx="4">
                    <c:v>30-06</c:v>
                  </c:pt>
                  <c:pt idx="5">
                    <c:v>07-07</c:v>
                  </c:pt>
                  <c:pt idx="6">
                    <c:v>14-07</c:v>
                  </c:pt>
                  <c:pt idx="7">
                    <c:v>21-07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/>
                </c:pt>
                <c:pt idx="1">
                  <c:v>2</c:v>
                </c:pt>
                <c:pt idx="2">
                  <c:v/>
                </c:pt>
                <c:pt idx="3">
                  <c:v>1</c:v>
                </c:pt>
                <c:pt idx="4">
                  <c:v>4</c:v>
                </c:pt>
                <c:pt idx="5">
                  <c:v>1</c:v>
                </c:pt>
                <c:pt idx="6">
                  <c:v/>
                </c:pt>
                <c:pt idx="7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Ya 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02-06</c:v>
                  </c:pt>
                  <c:pt idx="1">
                    <c:v>09-06</c:v>
                  </c:pt>
                  <c:pt idx="2">
                    <c:v>16-06</c:v>
                  </c:pt>
                  <c:pt idx="3">
                    <c:v>23-06</c:v>
                  </c:pt>
                  <c:pt idx="4">
                    <c:v>30-06</c:v>
                  </c:pt>
                  <c:pt idx="5">
                    <c:v>07-07</c:v>
                  </c:pt>
                  <c:pt idx="6">
                    <c:v>14-07</c:v>
                  </c:pt>
                  <c:pt idx="7">
                    <c:v>21-07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/>
                </c:pt>
                <c:pt idx="3">
                  <c:v>1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frente y vía de emisión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Interna (Besalco)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</c:v>
                </c:pt>
                <c:pt idx="1">
                  <c:v>53</c:v>
                </c:pt>
                <c:pt idx="2">
                  <c:v>53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 · Cliente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30</c:v>
                </c:pt>
                <c:pt idx="1">
                  <c:v>186</c:v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Externa · Subcontrato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</c:v>
                </c:pt>
                <c:pt idx="1">
                  <c:v/>
                </c:pt>
                <c:pt idx="2">
                  <c:v>40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clasificar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tipo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Opción de Mejora</c:v>
                  </c:pt>
                  <c:pt idx="4">
                    <c:v>Reporte HSE Nivel Alto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255</c:v>
                </c:pt>
                <c:pt idx="1">
                  <c:v>114</c:v>
                </c:pt>
                <c:pt idx="2">
                  <c:v>23</c:v>
                </c:pt>
                <c:pt idx="3">
                  <c:v>13</c:v>
                </c:pt>
                <c:pt idx="4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Opción de Mejora</c:v>
                  </c:pt>
                  <c:pt idx="4">
                    <c:v>Reporte HSE Nivel Alto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24</c:v>
                </c:pt>
                <c:pt idx="1">
                  <c:v>5</c:v>
                </c:pt>
                <c:pt idx="2">
                  <c:v/>
                </c:pt>
                <c:pt idx="3">
                  <c:v>1</c:v>
                </c:pt>
                <c:pt idx="4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Antigüedad de los 30 hallazgos abiertos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1-30 días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31-90 días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91-180 días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181-365 días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Más de un año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OO.CC</c:v>
                  </c:pt>
                  <c:pt idx="2">
                    <c:v>ADMINISTRACIÓN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ESTRUCTURA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20</c:v>
                </c:pt>
                <c:pt idx="1">
                  <c:v>12</c:v>
                </c:pt>
                <c:pt idx="2">
                  <c:v>12</c:v>
                </c:pt>
                <c:pt idx="3">
                  <c:v>10</c:v>
                </c:pt>
                <c:pt idx="4">
                  <c:v>9</c:v>
                </c:pt>
                <c:pt idx="5">
                  <c:v>5</c:v>
                </c:pt>
                <c:pt idx="6">
                  <c:v>4</c:v>
                </c:pt>
                <c:pt idx="7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OO.CC</c:v>
                  </c:pt>
                  <c:pt idx="2">
                    <c:v>ADMINISTRACIÓN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ESTRUCTURA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127</c:v>
                </c:pt>
                <c:pt idx="1">
                  <c:v>23</c:v>
                </c:pt>
                <c:pt idx="2">
                  <c:v>15</c:v>
                </c:pt>
                <c:pt idx="3">
                  <c:v>10</c:v>
                </c:pt>
                <c:pt idx="4">
                  <c:v>9</c:v>
                </c:pt>
                <c:pt idx="5">
                  <c:v>7</c:v>
                </c:pt>
                <c:pt idx="6">
                  <c:v>2</c:v>
                </c:pt>
                <c:pt idx="7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12</c:v>
                </c:pt>
                <c:pt idx="1">
                  <c:v>2</c:v>
                </c:pt>
                <c:pt idx="2">
                  <c:v>1</c:v>
                </c:pt>
                <c:pt idx="3">
                  <c:v>1</c:v>
                </c:pt>
                <c:pt idx="4">
                  <c:v/>
                </c:pt>
                <c:pt idx="5">
                  <c:v>1</c:v>
                </c:pt>
                <c:pt idx="6">
                  <c:v>6</c:v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17)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EXPEDITORÍA</c:v>
                  </c:pt>
                  <c:pt idx="1">
                    <c:v>OO.CC</c:v>
                  </c:pt>
                  <c:pt idx="2">
                    <c:v>BODEGA</c:v>
                  </c:pt>
                  <c:pt idx="3">
                    <c:v>SUBCONTRATO</c:v>
                  </c:pt>
                  <c:pt idx="4">
                    <c:v>ESTRUCTURA</c:v>
                  </c:pt>
                  <c:pt idx="5">
                    <c:v>TOPOGRAFÍA</c:v>
                  </c:pt>
                  <c:pt idx="6">
                    <c:v>MECÁNICA</c:v>
                  </c:pt>
                  <c:pt idx="7">
                    <c:v>LOGÍSTICA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37</c:v>
                </c:pt>
                <c:pt idx="1">
                  <c:v>15</c:v>
                </c:pt>
                <c:pt idx="2">
                  <c:v>7</c:v>
                </c:pt>
                <c:pt idx="3">
                  <c:v>6</c:v>
                </c:pt>
                <c:pt idx="4">
                  <c:v>4</c:v>
                </c:pt>
                <c:pt idx="5">
                  <c:v>4</c:v>
                </c:pt>
                <c:pt idx="6">
                  <c:v>3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EXPEDITORÍA</c:v>
                  </c:pt>
                  <c:pt idx="1">
                    <c:v>OO.CC</c:v>
                  </c:pt>
                  <c:pt idx="2">
                    <c:v>BODEGA</c:v>
                  </c:pt>
                  <c:pt idx="3">
                    <c:v>SUBCONTRATO</c:v>
                  </c:pt>
                  <c:pt idx="4">
                    <c:v>ESTRUCTURA</c:v>
                  </c:pt>
                  <c:pt idx="5">
                    <c:v>TOPOGRAFÍA</c:v>
                  </c:pt>
                  <c:pt idx="6">
                    <c:v>MECÁNICA</c:v>
                  </c:pt>
                  <c:pt idx="7">
                    <c:v>LOGÍSTICA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CALIDAD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Conformidades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 calidad y su corrección · 3 proyectos y Oficina Central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436 hallazgos levantados entre 10-02-2023 y 27-07-2026 (Desaladora 95 · Talabre 239 · Arqueros 94 · Oficina Central 8).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 · origen interno y externo · antigüedad de lo que sigue abierto · velocidad de corrección por frente.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93,1%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10.783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declaradas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27-07-2026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cuatro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93,1%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406/436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abiertos · 7 con más de 180 días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436 levantados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no aceptado · 19 iniciado · 5 listo para revisión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37,9%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162/427 clasificados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levanta Besalco antes que el cliente o un subcontrato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10.783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 de 436 con costo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declarado (UF)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hallazgos no declaran costo: la cifra es un piso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31920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096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concentra el pendiente.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de los 30 hallazgos abiertos (86,7%), y es el único frente donde el cliente levanta más de lo que detecta Besalco (186 externas contra 53 internas).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822960" y="50474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9469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semana trajo 4 hallazgos nuevos, ninguno de autodetección.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21-07-2026 al 27-07-2026: 4 del cliente en OO.CC (3) y MECÁNICA (1). Todos siguen abiertos; la semana anterior entraron 0.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822960" y="559612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49554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no es medible con este archivo; se mide la antigüedad.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de los 30 abiertos trae fecha comprometida —la columna «Fecha De Cierre» solo se llena al cerrar—, así que se reporta la antigüedad: 7 llevan más de 180 días y 2 más de un año.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FRENTE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de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si hay más de 15 abiertas o el cierre baja de 85% · Atención si hay más de 3 abiertas o el cierre queda bajo 95% · Al día en caso contrario.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920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3429000" y="192024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LEVANTADOS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572000" y="192024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62356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62940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63524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4108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646920" y="19202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UF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083564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02920" y="22311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2920" y="235915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02920" y="266090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3429000" y="2432304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572000" y="243230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62356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62940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96,8%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63524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864108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9646920" y="243230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1.573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10835640" y="245059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6" name="Text 23"/>
          <p:cNvSpPr/>
          <p:nvPr/>
        </p:nvSpPr>
        <p:spPr>
          <a:xfrm>
            <a:off x="10835640" y="24597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02920" y="30632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57200" y="3063240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6"/>
          <p:cNvSpPr/>
          <p:nvPr/>
        </p:nvSpPr>
        <p:spPr>
          <a:xfrm>
            <a:off x="502920" y="31089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502920" y="341071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3429000" y="318211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239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4572000" y="318211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213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562356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62940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89,1%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763524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864108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186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9646920" y="318211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5.818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10835640" y="320040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9" name="Text 36"/>
          <p:cNvSpPr/>
          <p:nvPr/>
        </p:nvSpPr>
        <p:spPr>
          <a:xfrm>
            <a:off x="10835640" y="32095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502920" y="38130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02920" y="385876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400" dirty="0"/>
          </a:p>
        </p:txBody>
      </p:sp>
      <p:sp>
        <p:nvSpPr>
          <p:cNvPr id="42" name="Text 39"/>
          <p:cNvSpPr/>
          <p:nvPr/>
        </p:nvSpPr>
        <p:spPr>
          <a:xfrm>
            <a:off x="502920" y="41605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3429000" y="393192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</a:t>
            </a:r>
            <a:endParaRPr lang="en-US" sz="1300" dirty="0"/>
          </a:p>
        </p:txBody>
      </p:sp>
      <p:sp>
        <p:nvSpPr>
          <p:cNvPr id="44" name="Text 41"/>
          <p:cNvSpPr/>
          <p:nvPr/>
        </p:nvSpPr>
        <p:spPr>
          <a:xfrm>
            <a:off x="4572000" y="393192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</a:t>
            </a:r>
            <a:endParaRPr lang="en-US" sz="1300" dirty="0"/>
          </a:p>
        </p:txBody>
      </p:sp>
      <p:sp>
        <p:nvSpPr>
          <p:cNvPr id="45" name="Text 42"/>
          <p:cNvSpPr/>
          <p:nvPr/>
        </p:nvSpPr>
        <p:spPr>
          <a:xfrm>
            <a:off x="562356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662940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98,9%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763524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864108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9646920" y="3931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3.392</a:t>
            </a:r>
            <a:endParaRPr lang="en-US" sz="1300" dirty="0"/>
          </a:p>
        </p:txBody>
      </p:sp>
      <p:sp>
        <p:nvSpPr>
          <p:cNvPr id="50" name="Shape 47"/>
          <p:cNvSpPr/>
          <p:nvPr/>
        </p:nvSpPr>
        <p:spPr>
          <a:xfrm>
            <a:off x="10835640" y="395020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51" name="Text 48"/>
          <p:cNvSpPr/>
          <p:nvPr/>
        </p:nvSpPr>
        <p:spPr>
          <a:xfrm>
            <a:off x="10835640" y="395935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502920" y="45628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57200" y="4562856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1"/>
          <p:cNvSpPr/>
          <p:nvPr/>
        </p:nvSpPr>
        <p:spPr>
          <a:xfrm>
            <a:off x="502920" y="460857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400" dirty="0"/>
          </a:p>
        </p:txBody>
      </p:sp>
      <p:sp>
        <p:nvSpPr>
          <p:cNvPr id="55" name="Text 52"/>
          <p:cNvSpPr/>
          <p:nvPr/>
        </p:nvSpPr>
        <p:spPr>
          <a:xfrm>
            <a:off x="502920" y="491032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BESALCO MONTAJES · no es obra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3429000" y="468172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57" name="Text 54"/>
          <p:cNvSpPr/>
          <p:nvPr/>
        </p:nvSpPr>
        <p:spPr>
          <a:xfrm>
            <a:off x="4572000" y="4681728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562356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59" name="Text 56"/>
          <p:cNvSpPr/>
          <p:nvPr/>
        </p:nvSpPr>
        <p:spPr>
          <a:xfrm>
            <a:off x="662940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60" name="Text 57"/>
          <p:cNvSpPr/>
          <p:nvPr/>
        </p:nvSpPr>
        <p:spPr>
          <a:xfrm>
            <a:off x="763524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1" name="Text 58"/>
          <p:cNvSpPr/>
          <p:nvPr/>
        </p:nvSpPr>
        <p:spPr>
          <a:xfrm>
            <a:off x="864108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2" name="Text 59"/>
          <p:cNvSpPr/>
          <p:nvPr/>
        </p:nvSpPr>
        <p:spPr>
          <a:xfrm>
            <a:off x="9646920" y="468172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3" name="Shape 60"/>
          <p:cNvSpPr/>
          <p:nvPr/>
        </p:nvSpPr>
        <p:spPr>
          <a:xfrm>
            <a:off x="10835640" y="4700016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64" name="Text 61"/>
          <p:cNvSpPr/>
          <p:nvPr/>
        </p:nvSpPr>
        <p:spPr>
          <a:xfrm>
            <a:off x="10835640" y="47091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65" name="Shape 62"/>
          <p:cNvSpPr/>
          <p:nvPr/>
        </p:nvSpPr>
        <p:spPr>
          <a:xfrm>
            <a:off x="502920" y="531266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502920" y="537667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 proyectos</a:t>
            </a:r>
            <a:endParaRPr lang="en-US" sz="1400" dirty="0"/>
          </a:p>
        </p:txBody>
      </p:sp>
      <p:sp>
        <p:nvSpPr>
          <p:cNvPr id="67" name="Text 64"/>
          <p:cNvSpPr/>
          <p:nvPr/>
        </p:nvSpPr>
        <p:spPr>
          <a:xfrm>
            <a:off x="502920" y="56784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Oficina Central</a:t>
            </a:r>
            <a:endParaRPr lang="en-US" sz="950" dirty="0"/>
          </a:p>
        </p:txBody>
      </p:sp>
      <p:sp>
        <p:nvSpPr>
          <p:cNvPr id="68" name="Text 65"/>
          <p:cNvSpPr/>
          <p:nvPr/>
        </p:nvSpPr>
        <p:spPr>
          <a:xfrm>
            <a:off x="3429000" y="5449824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428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4572000" y="544982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398</a:t>
            </a:r>
            <a:endParaRPr lang="en-US" sz="1300" dirty="0"/>
          </a:p>
        </p:txBody>
      </p:sp>
      <p:sp>
        <p:nvSpPr>
          <p:cNvPr id="70" name="Text 67"/>
          <p:cNvSpPr/>
          <p:nvPr/>
        </p:nvSpPr>
        <p:spPr>
          <a:xfrm>
            <a:off x="562356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300" dirty="0"/>
          </a:p>
        </p:txBody>
      </p:sp>
      <p:sp>
        <p:nvSpPr>
          <p:cNvPr id="71" name="Text 68"/>
          <p:cNvSpPr/>
          <p:nvPr/>
        </p:nvSpPr>
        <p:spPr>
          <a:xfrm>
            <a:off x="662940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1300" dirty="0"/>
          </a:p>
        </p:txBody>
      </p:sp>
      <p:sp>
        <p:nvSpPr>
          <p:cNvPr id="72" name="Text 69"/>
          <p:cNvSpPr/>
          <p:nvPr/>
        </p:nvSpPr>
        <p:spPr>
          <a:xfrm>
            <a:off x="763524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</a:t>
            </a:r>
            <a:endParaRPr lang="en-US" sz="1300" dirty="0"/>
          </a:p>
        </p:txBody>
      </p:sp>
      <p:sp>
        <p:nvSpPr>
          <p:cNvPr id="73" name="Text 70"/>
          <p:cNvSpPr/>
          <p:nvPr/>
        </p:nvSpPr>
        <p:spPr>
          <a:xfrm>
            <a:off x="864108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265</a:t>
            </a:r>
            <a:endParaRPr lang="en-US" sz="1300" dirty="0"/>
          </a:p>
        </p:txBody>
      </p:sp>
      <p:sp>
        <p:nvSpPr>
          <p:cNvPr id="74" name="Text 71"/>
          <p:cNvSpPr/>
          <p:nvPr/>
        </p:nvSpPr>
        <p:spPr>
          <a:xfrm>
            <a:off x="9646920" y="544982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10.783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457200" y="59893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 global 28 días · el hallazgo más lento tomó 313 días · 8 hallazgos sin especialidad declarada.</a:t>
            </a:r>
            <a:endParaRPr lang="en-US" sz="950" dirty="0"/>
          </a:p>
        </p:txBody>
      </p:sp>
      <p:sp>
        <p:nvSpPr>
          <p:cNvPr id="76" name="Text 7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77" name="Text 7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78" name="Text 7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DEL PERÍODO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Levantados en la última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 21-07-2026 y el 27-07-2026 se levantaron 4 hallazgos: 0 internos y 4 externos. Todos siguen abiertos.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783080"/>
          <a:ext cx="585216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492240" y="1783080"/>
            <a:ext cx="5239512" cy="1874520"/>
          </a:xfrm>
          <a:prstGeom prst="roundRect">
            <a:avLst>
              <a:gd name="adj" fmla="val 2927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766560" y="18928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SALIERON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766560" y="224028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8183880" y="224028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 3  ·  MECÁNICA 1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766560" y="2569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8183880" y="25694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3  ·  Desaladora 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766560" y="289864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8183880" y="289864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 4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766560" y="322783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183880" y="3227832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 3  ·  Producto No Conforme 1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02920" y="371246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LOS HALLAZGOS NUEVOS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02920" y="39867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37160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246888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356616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4983480" y="398678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6446520" y="3986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58952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900684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9921240" y="3986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502920" y="4297680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02920" y="44256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21-07-2026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137160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246888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237 · RNC N°445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356616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4983480" y="44256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6446520" y="442569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758952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Rocha A.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9006840" y="442569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9921240" y="4425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Arrugas y trampolines en lá…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502920" y="47000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57200" y="4709160"/>
            <a:ext cx="1129284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5"/>
          <p:cNvSpPr/>
          <p:nvPr/>
        </p:nvSpPr>
        <p:spPr>
          <a:xfrm>
            <a:off x="502920" y="47548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21-07-2026</a:t>
            </a:r>
            <a:endParaRPr lang="en-US" sz="1050" dirty="0"/>
          </a:p>
        </p:txBody>
      </p:sp>
      <p:sp>
        <p:nvSpPr>
          <p:cNvPr id="40" name="Text 36"/>
          <p:cNvSpPr/>
          <p:nvPr/>
        </p:nvSpPr>
        <p:spPr>
          <a:xfrm>
            <a:off x="1371600" y="4754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41" name="Text 37"/>
          <p:cNvSpPr/>
          <p:nvPr/>
        </p:nvSpPr>
        <p:spPr>
          <a:xfrm>
            <a:off x="2468880" y="4754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238 · PNC N°177</a:t>
            </a:r>
            <a:endParaRPr lang="en-US" sz="1050" dirty="0"/>
          </a:p>
        </p:txBody>
      </p:sp>
      <p:sp>
        <p:nvSpPr>
          <p:cNvPr id="42" name="Text 38"/>
          <p:cNvSpPr/>
          <p:nvPr/>
        </p:nvSpPr>
        <p:spPr>
          <a:xfrm>
            <a:off x="3566160" y="4754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Confor…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4983480" y="475488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644652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7589520" y="4754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9006840" y="47548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9921240" y="47548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Relleno en fundaciones FS-0…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502920" y="50292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502920" y="508406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23-07-2026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1371600" y="508406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2468880" y="508406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239 · RNC N°447</a:t>
            </a:r>
            <a:endParaRPr lang="en-US" sz="1050" dirty="0"/>
          </a:p>
        </p:txBody>
      </p:sp>
      <p:sp>
        <p:nvSpPr>
          <p:cNvPr id="52" name="Text 48"/>
          <p:cNvSpPr/>
          <p:nvPr/>
        </p:nvSpPr>
        <p:spPr>
          <a:xfrm>
            <a:off x="3566160" y="50840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4983480" y="5084064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6446520" y="508406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55" name="Text 51"/>
          <p:cNvSpPr/>
          <p:nvPr/>
        </p:nvSpPr>
        <p:spPr>
          <a:xfrm>
            <a:off x="7589520" y="50840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Rocha A.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9006840" y="508406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7" name="Text 53"/>
          <p:cNvSpPr/>
          <p:nvPr/>
        </p:nvSpPr>
        <p:spPr>
          <a:xfrm>
            <a:off x="9921240" y="50840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Presencia de daños visibles…</a:t>
            </a:r>
            <a:endParaRPr lang="en-US" sz="1000" dirty="0"/>
          </a:p>
        </p:txBody>
      </p:sp>
      <p:sp>
        <p:nvSpPr>
          <p:cNvPr id="58" name="Shape 54"/>
          <p:cNvSpPr/>
          <p:nvPr/>
        </p:nvSpPr>
        <p:spPr>
          <a:xfrm>
            <a:off x="502920" y="53583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457200" y="5367528"/>
            <a:ext cx="1129284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6"/>
          <p:cNvSpPr/>
          <p:nvPr/>
        </p:nvSpPr>
        <p:spPr>
          <a:xfrm>
            <a:off x="502920" y="541324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27-07-2026</a:t>
            </a:r>
            <a:endParaRPr lang="en-US" sz="1050" dirty="0"/>
          </a:p>
        </p:txBody>
      </p:sp>
      <p:sp>
        <p:nvSpPr>
          <p:cNvPr id="61" name="Text 57"/>
          <p:cNvSpPr/>
          <p:nvPr/>
        </p:nvSpPr>
        <p:spPr>
          <a:xfrm>
            <a:off x="1371600" y="5413248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62" name="Text 58"/>
          <p:cNvSpPr/>
          <p:nvPr/>
        </p:nvSpPr>
        <p:spPr>
          <a:xfrm>
            <a:off x="2468880" y="5413248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· NCR-0535</a:t>
            </a:r>
            <a:endParaRPr lang="en-US" sz="1050" dirty="0"/>
          </a:p>
        </p:txBody>
      </p:sp>
      <p:sp>
        <p:nvSpPr>
          <p:cNvPr id="63" name="Text 59"/>
          <p:cNvSpPr/>
          <p:nvPr/>
        </p:nvSpPr>
        <p:spPr>
          <a:xfrm>
            <a:off x="3566160" y="54132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64" name="Text 60"/>
          <p:cNvSpPr/>
          <p:nvPr/>
        </p:nvSpPr>
        <p:spPr>
          <a:xfrm>
            <a:off x="4983480" y="5413248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5" name="Text 61"/>
          <p:cNvSpPr/>
          <p:nvPr/>
        </p:nvSpPr>
        <p:spPr>
          <a:xfrm>
            <a:off x="6446520" y="541324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66" name="Text 62"/>
          <p:cNvSpPr/>
          <p:nvPr/>
        </p:nvSpPr>
        <p:spPr>
          <a:xfrm>
            <a:off x="7589520" y="54132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Wilson Jara</a:t>
            </a:r>
            <a:endParaRPr lang="en-US" sz="1050" dirty="0"/>
          </a:p>
        </p:txBody>
      </p:sp>
      <p:sp>
        <p:nvSpPr>
          <p:cNvPr id="67" name="Text 63"/>
          <p:cNvSpPr/>
          <p:nvPr/>
        </p:nvSpPr>
        <p:spPr>
          <a:xfrm>
            <a:off x="9006840" y="541324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68" name="Text 64"/>
          <p:cNvSpPr/>
          <p:nvPr/>
        </p:nvSpPr>
        <p:spPr>
          <a:xfrm>
            <a:off x="9921240" y="54132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Preservación</a:t>
            </a:r>
            <a:endParaRPr lang="en-US" sz="1000" dirty="0"/>
          </a:p>
        </p:txBody>
      </p:sp>
      <p:sp>
        <p:nvSpPr>
          <p:cNvPr id="69" name="Shape 65"/>
          <p:cNvSpPr/>
          <p:nvPr/>
        </p:nvSpPr>
        <p:spPr>
          <a:xfrm>
            <a:off x="502920" y="568756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0" name="Text 6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71" name="Text 6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72" name="Text 6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levanta las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es autodetección: la levanta Besalco antes que nadie. Externa la levanta el cliente —compromete el contrato— o un subcontrato. Autodetección global: 37,9%.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28800"/>
          <a:ext cx="60350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675120" y="1828800"/>
          <a:ext cx="505663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Shape 3"/>
          <p:cNvSpPr/>
          <p:nvPr/>
        </p:nvSpPr>
        <p:spPr>
          <a:xfrm>
            <a:off x="6675120" y="4572000"/>
            <a:ext cx="5056632" cy="1280160"/>
          </a:xfrm>
          <a:prstGeom prst="roundRect">
            <a:avLst>
              <a:gd name="adj" fmla="val 4286"/>
            </a:avLst>
          </a:prstGeom>
          <a:solidFill>
            <a:srgbClr val="12233B"/>
          </a:solidFill>
          <a:ln/>
        </p:spPr>
      </p:sp>
      <p:sp>
        <p:nvSpPr>
          <p:cNvPr id="9" name="Text 4"/>
          <p:cNvSpPr/>
          <p:nvPr/>
        </p:nvSpPr>
        <p:spPr>
          <a:xfrm>
            <a:off x="6949440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 POR FRENTE</a:t>
            </a:r>
            <a:endParaRPr lang="en-US" sz="1050" dirty="0"/>
          </a:p>
        </p:txBody>
      </p:sp>
      <p:sp>
        <p:nvSpPr>
          <p:cNvPr id="10" name="Text 5"/>
          <p:cNvSpPr/>
          <p:nvPr/>
        </p:nvSpPr>
        <p:spPr>
          <a:xfrm>
            <a:off x="6949440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2400" dirty="0"/>
          </a:p>
        </p:txBody>
      </p:sp>
      <p:sp>
        <p:nvSpPr>
          <p:cNvPr id="11" name="Text 6"/>
          <p:cNvSpPr/>
          <p:nvPr/>
        </p:nvSpPr>
        <p:spPr>
          <a:xfrm>
            <a:off x="6949440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8522208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22,2%</a:t>
            </a:r>
            <a:endParaRPr lang="en-US" sz="2400" dirty="0"/>
          </a:p>
        </p:txBody>
      </p:sp>
      <p:sp>
        <p:nvSpPr>
          <p:cNvPr id="13" name="Text 8"/>
          <p:cNvSpPr/>
          <p:nvPr/>
        </p:nvSpPr>
        <p:spPr>
          <a:xfrm>
            <a:off x="8522208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10094976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56,4%</a:t>
            </a:r>
            <a:endParaRPr lang="en-US" sz="2400" dirty="0"/>
          </a:p>
        </p:txBody>
      </p:sp>
      <p:sp>
        <p:nvSpPr>
          <p:cNvPr id="15" name="Text 10"/>
          <p:cNvSpPr/>
          <p:nvPr/>
        </p:nvSpPr>
        <p:spPr>
          <a:xfrm>
            <a:off x="10094976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 ABIERTO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Antigüedad y velocidad de corrección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30 hallazgos abiertos, 7 llevan más de 180 días desde que se levantaron y 2 más de un año. La mediana de cierre global es de 28 días.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0350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675120" y="1874520"/>
            <a:ext cx="5056632" cy="2377440"/>
          </a:xfrm>
          <a:prstGeom prst="roundRect">
            <a:avLst>
              <a:gd name="adj" fmla="val 2308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94944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 — NO CALCULABLE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949440" y="2359152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del proyecto es: hallazgo abierto cuya fecha de cierre comprometida ya venció.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de los 30 abiertos trae esa fecha: la columna «Fecha De Cierre» del Excel solo se llena al cerrar. El indicador no se puede calcular y el panel lo declara en vez de informar 0 atrasados. En su lugar se usa la antigüedad.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949440" y="374904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activarlo basta agregar al Excel una columna de fecha comprometida de cierre: el script ya la calcula.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0292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 POR FRENTE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02920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301752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29768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57784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LENTO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694944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229600" y="4663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02920" y="49743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51023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01752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29768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d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5577840" y="510235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d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94944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8229600" y="510235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502920" y="53675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57200" y="537667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4223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01752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213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429768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d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5577840" y="54223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269 d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694944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8229600" y="542239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502920" y="568756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502920" y="57424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301752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</a:t>
            </a:r>
            <a:endParaRPr lang="en-US" sz="1150" dirty="0"/>
          </a:p>
        </p:txBody>
      </p:sp>
      <p:sp>
        <p:nvSpPr>
          <p:cNvPr id="36" name="Text 32"/>
          <p:cNvSpPr/>
          <p:nvPr/>
        </p:nvSpPr>
        <p:spPr>
          <a:xfrm>
            <a:off x="429768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 d</a:t>
            </a:r>
            <a:endParaRPr lang="en-US" sz="1150" dirty="0"/>
          </a:p>
        </p:txBody>
      </p:sp>
      <p:sp>
        <p:nvSpPr>
          <p:cNvPr id="37" name="Text 33"/>
          <p:cNvSpPr/>
          <p:nvPr/>
        </p:nvSpPr>
        <p:spPr>
          <a:xfrm>
            <a:off x="5577840" y="57424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 d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694944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8229600" y="574243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7× más lento que el mejor frente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502920" y="600760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601675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6062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01752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429768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d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5577840" y="60624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d</a:t>
            </a:r>
            <a:endParaRPr lang="en-US" sz="1150" dirty="0"/>
          </a:p>
        </p:txBody>
      </p:sp>
      <p:sp>
        <p:nvSpPr>
          <p:cNvPr id="46" name="Text 42"/>
          <p:cNvSpPr/>
          <p:nvPr/>
        </p:nvSpPr>
        <p:spPr>
          <a:xfrm>
            <a:off x="694944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50" dirty="0"/>
          </a:p>
        </p:txBody>
      </p:sp>
      <p:sp>
        <p:nvSpPr>
          <p:cNvPr id="47" name="Text 43"/>
          <p:cNvSpPr/>
          <p:nvPr/>
        </p:nvSpPr>
        <p:spPr>
          <a:xfrm>
            <a:off x="8229600" y="606247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más lento que el mejor frente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502920" y="6327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50" name="Text 4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51" name="Text 4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pendiente de Talabre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de los 30 hallazgos abiertos (86,7%) y 89,1% de cierre, contra 93,1% global. Es la ruta crítica del módulo.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la autodetección de Talabre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22,2% de sus hallazgos los detecta Besalco; el mejor frente va en 59,6%. Lo que no se detecta adentro llega como observación del cliente.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los 7 hallazgos sobre 180 días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de ellos superan el año abiertos. Los tienen a cargo Alejandro Rivera G. (4), Alvaro Cortés V. (3). Es deuda antigua que no se cierra sola.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Habilitar la medición del atraso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al Excel una columna de fecha comprometida de cierre. Sin ella el indicador que pide el procedimiento no se puede calcular y hoy se reemplaza por la antigüedad.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hallazgos levantados · 56 internos y 38 externos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27-07-2026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internos · 38 externos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92/95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93,1%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listo para revisión · 2 iniciado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250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37,9%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7900416" y="6071616"/>
            <a:ext cx="164592" cy="164592"/>
          </a:xfrm>
          <a:prstGeom prst="ellipse">
            <a:avLst/>
          </a:prstGeom>
          <a:solidFill>
            <a:srgbClr val="5B6B7C"/>
          </a:solidFill>
          <a:ln/>
        </p:spPr>
      </p:sp>
      <p:sp>
        <p:nvSpPr>
          <p:cNvPr id="48" name="Text 44"/>
          <p:cNvSpPr/>
          <p:nvPr/>
        </p:nvSpPr>
        <p:spPr>
          <a:xfrm>
            <a:off x="8156448" y="598017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10287000" y="598017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10972800" y="598017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1" name="Text 4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52" name="Text 4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53" name="Text 4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hallazgos siguen abiertos;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Ariel Flores U.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en manilla de válvula 4515-HV-…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Opción de Mejora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Cristián Ellmen M.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 Bodega de  Almacenamie…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Wilson Jara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Preservación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44" name="Text 41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21-07-2026 — 27-07-2026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nuevo · 0 internos y 1 externo · MECÁNICA 1 · 1 sigue abierto</a:t>
            </a:r>
            <a:endParaRPr lang="en-US" sz="1150" dirty="0"/>
          </a:p>
        </p:txBody>
      </p:sp>
      <p:sp>
        <p:nvSpPr>
          <p:cNvPr id="46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239 hallazgos levantados · 53 internos y 186 externos · 12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89,1%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22,2%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27-07-2026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239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213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internos · 186 externos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89,1%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213/239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93,1%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no aceptado · 16 iniciado · 4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269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22,2%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37,9%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186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hallazgos siguen abiertos; 7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ADQUISICIONES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Alejandro Rivera G.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aceptado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Plan de Calidad de…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Plan de Calidad de…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ADQUISICIONES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Alejandro Rivera G.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aceptado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321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pto. 6.1 PIE maestra…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321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la recepción de ma…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ADQUISICIONES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Alejandro Rivera G.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aceptado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liberación suministr…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ADQUISICIONES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Alejandro Rivera G.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aceptado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222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al PIE subcontrato S…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217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Daños manguerotes en recepción/desc…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182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Postes en esquinas eje B/1 y eje B/…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132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sin relleno estructural…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26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21-07-2026 — 27-07-2026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hallazgos nuevos · 0 internos y 3 externos · OO.CC 3 · 3 siguen abiertos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 hallazgos levantados · 53 internos y 41 externos · 17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98,9%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139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56,4%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27-07-2026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internos · 41 externos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98,9%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93/94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93,1%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abierto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iniciado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139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313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56,4%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37,9%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9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sigue abierto;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- 00…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Renato Muñoz F.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en requisito para ej…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25" name="Text 22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21-07-2026 — 27-07-2026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Control de No Conformidades — Gestión de Calidad</dc:title>
  <dc:subject>PptxGenJS Presentation</dc:subject>
  <dc:creator>Gestión de Calidad</dc:creator>
  <cp:lastModifiedBy>Gestión de Calidad</cp:lastModifiedBy>
  <cp:revision>1</cp:revision>
  <dcterms:created xsi:type="dcterms:W3CDTF">2026-07-31T18:43:03Z</dcterms:created>
  <dcterms:modified xsi:type="dcterms:W3CDTF">2026-07-31T18:43:03Z</dcterms:modified>
</cp:coreProperties>
</file>