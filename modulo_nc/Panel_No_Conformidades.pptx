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levantados en cada una de las últimas 8 semanas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02-06</c:v>
                  </c:pt>
                  <c:pt idx="1">
                    <c:v>09-06</c:v>
                  </c:pt>
                  <c:pt idx="2">
                    <c:v>16-06</c:v>
                  </c:pt>
                  <c:pt idx="3">
                    <c:v>23-06</c:v>
                  </c:pt>
                  <c:pt idx="4">
                    <c:v>30-06</c:v>
                  </c:pt>
                  <c:pt idx="5">
                    <c:v>07-07</c:v>
                  </c:pt>
                  <c:pt idx="6">
                    <c:v>14-07</c:v>
                  </c:pt>
                  <c:pt idx="7">
                    <c:v>21-07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/>
                </c:pt>
                <c:pt idx="1">
                  <c:v>2</c:v>
                </c:pt>
                <c:pt idx="2">
                  <c:v/>
                </c:pt>
                <c:pt idx="3">
                  <c:v>1</c:v>
                </c:pt>
                <c:pt idx="4">
                  <c:v>4</c:v>
                </c:pt>
                <c:pt idx="5">
                  <c:v>1</c:v>
                </c:pt>
                <c:pt idx="6">
                  <c:v/>
                </c:pt>
                <c:pt idx="7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02-06</c:v>
                  </c:pt>
                  <c:pt idx="1">
                    <c:v>09-06</c:v>
                  </c:pt>
                  <c:pt idx="2">
                    <c:v>16-06</c:v>
                  </c:pt>
                  <c:pt idx="3">
                    <c:v>23-06</c:v>
                  </c:pt>
                  <c:pt idx="4">
                    <c:v>30-06</c:v>
                  </c:pt>
                  <c:pt idx="5">
                    <c:v>07-07</c:v>
                  </c:pt>
                  <c:pt idx="6">
                    <c:v>14-07</c:v>
                  </c:pt>
                  <c:pt idx="7">
                    <c:v>21-07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/>
                </c:pt>
                <c:pt idx="3">
                  <c:v>1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53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186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255</c:v>
                </c:pt>
                <c:pt idx="1">
                  <c:v>114</c:v>
                </c:pt>
                <c:pt idx="2">
                  <c:v>23</c:v>
                </c:pt>
                <c:pt idx="3">
                  <c:v>13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</c:v>
                </c:pt>
                <c:pt idx="1">
                  <c:v>5</c:v>
                </c:pt>
                <c:pt idx="2">
                  <c:v/>
                </c:pt>
                <c:pt idx="3">
                  <c:v>1</c:v>
                </c:pt>
                <c:pt idx="4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30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127</c:v>
                </c:pt>
                <c:pt idx="1">
                  <c:v>23</c:v>
                </c:pt>
                <c:pt idx="2">
                  <c:v>15</c:v>
                </c:pt>
                <c:pt idx="3">
                  <c:v>10</c:v>
                </c:pt>
                <c:pt idx="4">
                  <c:v>9</c:v>
                </c:pt>
                <c:pt idx="5">
                  <c:v>7</c:v>
                </c:pt>
                <c:pt idx="6">
                  <c:v>2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12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/>
                </c:pt>
                <c:pt idx="5">
                  <c:v>1</c:v>
                </c:pt>
                <c:pt idx="6">
                  <c:v>6</c:v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BODEGA</c:v>
                  </c:pt>
                  <c:pt idx="3">
                    <c:v>SUBCONTRATO</c:v>
                  </c:pt>
                  <c:pt idx="4">
                    <c:v>ESTRUCTURA</c:v>
                  </c:pt>
                  <c:pt idx="5">
                    <c:v>TOPOGRAFÍA</c:v>
                  </c:pt>
                  <c:pt idx="6">
                    <c:v>MECÁNICA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37</c:v>
                </c:pt>
                <c:pt idx="1">
                  <c:v>15</c:v>
                </c:pt>
                <c:pt idx="2">
                  <c:v>7</c:v>
                </c:pt>
                <c:pt idx="3">
                  <c:v>6</c:v>
                </c:pt>
                <c:pt idx="4">
                  <c:v>4</c:v>
                </c:pt>
                <c:pt idx="5">
                  <c:v>4</c:v>
                </c:pt>
                <c:pt idx="6">
                  <c:v>3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BODEGA</c:v>
                  </c:pt>
                  <c:pt idx="3">
                    <c:v>SUBCONTRATO</c:v>
                  </c:pt>
                  <c:pt idx="4">
                    <c:v>ESTRUCTURA</c:v>
                  </c:pt>
                  <c:pt idx="5">
                    <c:v>TOPOGRAFÍA</c:v>
                  </c:pt>
                  <c:pt idx="6">
                    <c:v>MECÁNICA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436 hallazgos levantados entre 10-02-2023 y 27-07-2026 (Desaladora 95 · Talabre 239 · Arqueros 94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93,1%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93,1%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406/436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abiertos · 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436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no aceptado · 19 iniciado · 5 listo para revisión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162/427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de 436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de los 30 hallazgos abiertos (86,7%), y es el único frente donde el cliente levanta más de lo que detecta Besalco (186 externas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4 hallazgos nuevos,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21-07-2026 al 27-07-2026: 4 del cliente en OO.CC (3) y MECÁNICA (1). Todos siguen abiertos; la semana anterior entraron 0.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no es medible con este archivo; se mide la antigüedad.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30 abiertos trae fecha comprometida —la columna «Fecha De Cierre» solo se llena al cerrar—, así que se reporta la antigüedad: 7 llevan más de 180 días y 2 más de un año.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3429000" y="19202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0" y="192024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62356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6294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63524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41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646920" y="1920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83564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2359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02920" y="2660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 Los Pelambres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429000" y="243230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0" y="24323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2356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6294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63524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64108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646920" y="243230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1.573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1083564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6" name="Text 23"/>
          <p:cNvSpPr/>
          <p:nvPr/>
        </p:nvSpPr>
        <p:spPr>
          <a:xfrm>
            <a:off x="1083564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108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02920" y="34107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3429000" y="318211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572000" y="318211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62356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6294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89,1%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763524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864108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9646920" y="31821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1083564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9" name="Text 36"/>
          <p:cNvSpPr/>
          <p:nvPr/>
        </p:nvSpPr>
        <p:spPr>
          <a:xfrm>
            <a:off x="1083564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2920" y="3858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502920" y="41605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3429000" y="39319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4572000" y="393192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56235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6294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98,9%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763524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864108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9646920" y="3931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1083564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51" name="Text 48"/>
          <p:cNvSpPr/>
          <p:nvPr/>
        </p:nvSpPr>
        <p:spPr>
          <a:xfrm>
            <a:off x="1083564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1"/>
          <p:cNvSpPr/>
          <p:nvPr/>
        </p:nvSpPr>
        <p:spPr>
          <a:xfrm>
            <a:off x="502920" y="46085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502920" y="49103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3429000" y="468172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4572000" y="468172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562356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66294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763524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864108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9646920" y="46817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Shape 60"/>
          <p:cNvSpPr/>
          <p:nvPr/>
        </p:nvSpPr>
        <p:spPr>
          <a:xfrm>
            <a:off x="1083564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4" name="Text 61"/>
          <p:cNvSpPr/>
          <p:nvPr/>
        </p:nvSpPr>
        <p:spPr>
          <a:xfrm>
            <a:off x="1083564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65" name="Shape 62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502920" y="53766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67" name="Text 64"/>
          <p:cNvSpPr/>
          <p:nvPr/>
        </p:nvSpPr>
        <p:spPr>
          <a:xfrm>
            <a:off x="502920" y="56784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68" name="Text 65"/>
          <p:cNvSpPr/>
          <p:nvPr/>
        </p:nvSpPr>
        <p:spPr>
          <a:xfrm>
            <a:off x="3429000" y="544982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4572000" y="544982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398</a:t>
            </a:r>
            <a:endParaRPr lang="en-US" sz="1300" dirty="0"/>
          </a:p>
        </p:txBody>
      </p:sp>
      <p:sp>
        <p:nvSpPr>
          <p:cNvPr id="70" name="Text 67"/>
          <p:cNvSpPr/>
          <p:nvPr/>
        </p:nvSpPr>
        <p:spPr>
          <a:xfrm>
            <a:off x="562356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71" name="Text 68"/>
          <p:cNvSpPr/>
          <p:nvPr/>
        </p:nvSpPr>
        <p:spPr>
          <a:xfrm>
            <a:off x="66294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1300" dirty="0"/>
          </a:p>
        </p:txBody>
      </p:sp>
      <p:sp>
        <p:nvSpPr>
          <p:cNvPr id="72" name="Text 69"/>
          <p:cNvSpPr/>
          <p:nvPr/>
        </p:nvSpPr>
        <p:spPr>
          <a:xfrm>
            <a:off x="763524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300" dirty="0"/>
          </a:p>
        </p:txBody>
      </p:sp>
      <p:sp>
        <p:nvSpPr>
          <p:cNvPr id="73" name="Text 70"/>
          <p:cNvSpPr/>
          <p:nvPr/>
        </p:nvSpPr>
        <p:spPr>
          <a:xfrm>
            <a:off x="864108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9646920" y="544982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10.783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28 días · el hallazgo más lento tomó 313 días · 8 hallazgos sin especialidad declarada.</a:t>
            </a:r>
            <a:endParaRPr lang="en-US" sz="950" dirty="0"/>
          </a:p>
        </p:txBody>
      </p:sp>
      <p:sp>
        <p:nvSpPr>
          <p:cNvPr id="76" name="Text 7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77" name="Text 7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78" name="Text 7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21-07-2026 y el 27-07-2026 se levantaron 4 hallazgos: 0 internos y 4 externos. Todos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 3  ·  MECÁNICA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3  ·  Desaladora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4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3  ·  Producto No Conforme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· RNC N°445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Arrugas y trampolines en lá…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21-07-2026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 · PNC N°177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Relleno en fundaciones FS-0…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23-07-2026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 · RNC N°447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 de daños visibles…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457200" y="5367528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6"/>
          <p:cNvSpPr/>
          <p:nvPr/>
        </p:nvSpPr>
        <p:spPr>
          <a:xfrm>
            <a:off x="502920" y="54132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27-07-2026</a:t>
            </a:r>
            <a:endParaRPr lang="en-US" sz="1050" dirty="0"/>
          </a:p>
        </p:txBody>
      </p:sp>
      <p:sp>
        <p:nvSpPr>
          <p:cNvPr id="61" name="Text 57"/>
          <p:cNvSpPr/>
          <p:nvPr/>
        </p:nvSpPr>
        <p:spPr>
          <a:xfrm>
            <a:off x="1371600" y="5413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2" name="Text 58"/>
          <p:cNvSpPr/>
          <p:nvPr/>
        </p:nvSpPr>
        <p:spPr>
          <a:xfrm>
            <a:off x="2468880" y="5413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· NCR-0535</a:t>
            </a:r>
            <a:endParaRPr lang="en-US" sz="1050" dirty="0"/>
          </a:p>
        </p:txBody>
      </p:sp>
      <p:sp>
        <p:nvSpPr>
          <p:cNvPr id="63" name="Text 59"/>
          <p:cNvSpPr/>
          <p:nvPr/>
        </p:nvSpPr>
        <p:spPr>
          <a:xfrm>
            <a:off x="3566160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4" name="Text 60"/>
          <p:cNvSpPr/>
          <p:nvPr/>
        </p:nvSpPr>
        <p:spPr>
          <a:xfrm>
            <a:off x="4983480" y="541324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5" name="Text 61"/>
          <p:cNvSpPr/>
          <p:nvPr/>
        </p:nvSpPr>
        <p:spPr>
          <a:xfrm>
            <a:off x="6446520" y="54132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66" name="Text 62"/>
          <p:cNvSpPr/>
          <p:nvPr/>
        </p:nvSpPr>
        <p:spPr>
          <a:xfrm>
            <a:off x="7589520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67" name="Text 63"/>
          <p:cNvSpPr/>
          <p:nvPr/>
        </p:nvSpPr>
        <p:spPr>
          <a:xfrm>
            <a:off x="9006840" y="541324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68" name="Text 64"/>
          <p:cNvSpPr/>
          <p:nvPr/>
        </p:nvSpPr>
        <p:spPr>
          <a:xfrm>
            <a:off x="9921240" y="5413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69" name="Shape 65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71" name="Text 6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72" name="Text 6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37,9%.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Shape 3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9" name="Text 4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11" name="Text 6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22,2%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56,4%</a:t>
            </a:r>
            <a:endParaRPr lang="en-US" sz="2400" dirty="0"/>
          </a:p>
        </p:txBody>
      </p:sp>
      <p:sp>
        <p:nvSpPr>
          <p:cNvPr id="15" name="Text 10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30 hallazgos abiertos, 7 llevan más de 180 días desde que se levantaron y 2 más de un año. La mediana de cierre global es de 28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— NO CALCULABLE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hallazgo abierto cuya fecha de cierre comprometida ya venció.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30 abiertos trae esa fecha: la columna «Fecha De Cierre» del Excel solo se llena al cerrar. El indicador no se puede calcular y el panel lo declara en vez de informar 0 atrasados. En su lugar se usa la antigüedad.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490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activarlo basta agregar al Excel una columna de fecha comprometida de cierre: el script ya la calcula.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Talabre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de los 30 hallazgos abiertos (86,7%) y 89,1% de cierre, contra 93,1%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22,2% de sus hallazgos los detecta Besalco; el mejor frente va en 59,6%.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de ellos superan el año abiertos. Los tienen a cargo Alejandro Rivera G. (4),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la medición del atraso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al Excel una columna de fecha comprometida de cierre. Sin ella el indicador que pide el procedimiento no se puede calcular y hoy se reemplaza por la antigüedad.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 Los Pelambres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hallazgos levantados · 56 internos y 38 externos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internos · 38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92/95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93,1%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37,9%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Mejora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Cristián Ellmen M.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Bodega de  Almacenamie…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21-07-2026 — 27-07-2026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internos y 1 externo · MECÁNICA 1 · 1 sigue abierto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 hallazgos levantados · 53 internos y 186 externos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89,1%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239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internos · 186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89,1%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213/239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93,1%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no aceptado · 16 iniciado · 4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269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37,9%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hallazgos siguen abiertos; 7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ADQUISICIONES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Rivera G.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ADQUISICIONES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Rivera G.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pto. 6.1 PIE maestra…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ADQUISICIONES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Rivera G.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liberación suministr…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ADQUISICIONES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Alejandro Rivera G.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al PIE subcontrato 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Postes en esquinas eje B/1 y eje B/…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26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21-07-2026 — 27-07-2026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nuevos · 0 internos y 3 externos · OO.CC 3 · 3 siguen abiertos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hallazgos levantados · 53 internos y 41 externos · 17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internos · 41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98,9%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93/94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93,1%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37,9%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- 00…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Renato Muñoz F.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en requisito para ej…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21-07-2026 — 27-07-2026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5640140e-Data_NCR_1.xlsx — hoja «Observaciones» · Corte 27-07-2026 · 436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2026-07-27T20:53:43Z</dcterms:created>
  <dcterms:modified xsi:type="dcterms:W3CDTF">2026-07-27T20:53:43Z</dcterms:modified>
</cp:coreProperties>
</file>