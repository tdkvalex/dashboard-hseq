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17-08</c:v>
                  </c:pt>
                  <c:pt idx="2">
                    <c:v>24-08</c:v>
                  </c:pt>
                  <c:pt idx="3">
                    <c:v>31-08</c:v>
                  </c:pt>
                  <c:pt idx="4">
                    <c:v>07-09</c:v>
                  </c:pt>
                  <c:pt idx="5">
                    <c:v>14-09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/>
                </c:pt>
                <c:pt idx="3">
                  <c:v>6</c:v>
                </c:pt>
                <c:pt idx="4">
                  <c:v/>
                </c:pt>
                <c:pt idx="5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17-08</c:v>
                  </c:pt>
                  <c:pt idx="2">
                    <c:v>24-08</c:v>
                  </c:pt>
                  <c:pt idx="3">
                    <c:v>31-08</c:v>
                  </c:pt>
                  <c:pt idx="4">
                    <c:v>07-09</c:v>
                  </c:pt>
                  <c:pt idx="5">
                    <c:v>14-09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/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199</c:v>
                </c:pt>
                <c:pt idx="2">
                  <c:v>79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294</c:v>
                </c:pt>
                <c:pt idx="1">
                  <c:v>122</c:v>
                </c:pt>
                <c:pt idx="2">
                  <c:v>51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</c:v>
                </c:pt>
                <c:pt idx="1">
                  <c:v>3</c:v>
                </c:pt>
                <c:pt idx="2">
                  <c:v>9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45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144</c:v>
                </c:pt>
                <c:pt idx="1">
                  <c:v>25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19)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MECÁNICA</c:v>
                  </c:pt>
                  <c:pt idx="3">
                    <c:v>ESTRUCTURA</c:v>
                  </c:pt>
                  <c:pt idx="4">
                    <c:v>PIPING</c:v>
                  </c:pt>
                  <c:pt idx="5">
                    <c:v>BODEGA</c:v>
                  </c:pt>
                  <c:pt idx="6">
                    <c:v>SUBCONTRATO</c:v>
                  </c:pt>
                  <c:pt idx="7">
                    <c:v>EE.II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38</c:v>
                </c:pt>
                <c:pt idx="1">
                  <c:v>28</c:v>
                </c:pt>
                <c:pt idx="2">
                  <c:v>13</c:v>
                </c:pt>
                <c:pt idx="3">
                  <c:v>16</c:v>
                </c:pt>
                <c:pt idx="4">
                  <c:v>3</c:v>
                </c:pt>
                <c:pt idx="5">
                  <c:v>7</c:v>
                </c:pt>
                <c:pt idx="6">
                  <c:v>6</c:v>
                </c:pt>
                <c:pt idx="7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MECÁNICA</c:v>
                  </c:pt>
                  <c:pt idx="3">
                    <c:v>ESTRUCTURA</c:v>
                  </c:pt>
                  <c:pt idx="4">
                    <c:v>PIPING</c:v>
                  </c:pt>
                  <c:pt idx="5">
                    <c:v>BODEGA</c:v>
                  </c:pt>
                  <c:pt idx="6">
                    <c:v>SUBCONTRATO</c:v>
                  </c:pt>
                  <c:pt idx="7">
                    <c:v>EE.II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>9</c:v>
                </c:pt>
                <c:pt idx="2">
                  <c:v>13</c:v>
                </c:pt>
                <c:pt idx="3">
                  <c:v>3</c:v>
                </c:pt>
                <c:pt idx="4">
                  <c:v>11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513 hallazgos levantados entre 10-02-2023 y 16-09-2026 (Desaladora 82 · Talabre 251 · Arqueros 172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91,2%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468/513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513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iniciado · 31 listo para revisión · 6 stand by · 1 observada · 1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159/504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de 513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262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45 hallazgos abiertos (82,2%), y es uno de los frentes donde el cliente levanta más de lo que detecta Besalco (79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4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14-09-2026 al 20-09-2026: 4 del cliente en PIPING (2) y OO.CC (1) y MECÁNICA (1). Todos siguen abiertos; la semana anterior entraron 0.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de los 45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0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97,2%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78,5%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505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460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91,1%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297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419 días · 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14-09-2026 y el 20-09-2026 se levantaron 4 hallazgos: 0 internas · 4 del cliente. Todos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2  ·  OO.CC 1  ·  MECÁNICA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2  ·  Arqueros 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4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 2  ·  No Conformidad 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15-09-2026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· PNC N°196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Filtración de agua consider…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16-09-2026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MASA-92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para…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plataforma de flotación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16-09-2026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MASA-93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para…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a PAD del molino de bo…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457200" y="5367528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6"/>
          <p:cNvSpPr/>
          <p:nvPr/>
        </p:nvSpPr>
        <p:spPr>
          <a:xfrm>
            <a:off x="502920" y="54132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16-09-2026</a:t>
            </a:r>
            <a:endParaRPr lang="en-US" sz="1050" dirty="0"/>
          </a:p>
        </p:txBody>
      </p:sp>
      <p:sp>
        <p:nvSpPr>
          <p:cNvPr id="61" name="Text 57"/>
          <p:cNvSpPr/>
          <p:nvPr/>
        </p:nvSpPr>
        <p:spPr>
          <a:xfrm>
            <a:off x="1371600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2" name="Text 58"/>
          <p:cNvSpPr/>
          <p:nvPr/>
        </p:nvSpPr>
        <p:spPr>
          <a:xfrm>
            <a:off x="2468880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· PNC N°197</a:t>
            </a:r>
            <a:endParaRPr lang="en-US" sz="1050" dirty="0"/>
          </a:p>
        </p:txBody>
      </p:sp>
      <p:sp>
        <p:nvSpPr>
          <p:cNvPr id="63" name="Text 59"/>
          <p:cNvSpPr/>
          <p:nvPr/>
        </p:nvSpPr>
        <p:spPr>
          <a:xfrm>
            <a:off x="3566160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64" name="Text 60"/>
          <p:cNvSpPr/>
          <p:nvPr/>
        </p:nvSpPr>
        <p:spPr>
          <a:xfrm>
            <a:off x="4983480" y="541324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5" name="Text 61"/>
          <p:cNvSpPr/>
          <p:nvPr/>
        </p:nvSpPr>
        <p:spPr>
          <a:xfrm>
            <a:off x="6446520" y="54132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66" name="Text 62"/>
          <p:cNvSpPr/>
          <p:nvPr/>
        </p:nvSpPr>
        <p:spPr>
          <a:xfrm>
            <a:off x="7589520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67" name="Text 63"/>
          <p:cNvSpPr/>
          <p:nvPr/>
        </p:nvSpPr>
        <p:spPr>
          <a:xfrm>
            <a:off x="9006840" y="541324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68" name="Text 64"/>
          <p:cNvSpPr/>
          <p:nvPr/>
        </p:nvSpPr>
        <p:spPr>
          <a:xfrm>
            <a:off x="9921240" y="5413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Filtración en la unión mecá…</a:t>
            </a:r>
            <a:endParaRPr lang="en-US" sz="1000" dirty="0"/>
          </a:p>
        </p:txBody>
      </p:sp>
      <p:sp>
        <p:nvSpPr>
          <p:cNvPr id="69" name="Shape 65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71" name="Text 6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72" name="Text 6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31,5%.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297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85,5%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513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91,2%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20,7%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45 hallazgos abiertos, 17 llevan más de 180 días desde que se levantaron y 0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41 hallazgos fuera de plazo de los 45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407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419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LA NO CONFORMIDAD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mensual por disciplina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 UF declaradas entre nov-24 y sep-26, imputadas al mes en que se levantó cada hallazgo. Las declaran 108 de 502 hallazgos del período.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10512"/>
          <a:ext cx="11996928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8229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DISCIPLINA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OO.CC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EXPEDITORÍA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SUBCONTRATO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ELÉCTRICA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INSTRUMENTACIÓN Y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Otras (4 disciplinas)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DEL MES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4.382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 CON MONTO DECLARADO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108/502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48280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POR CELDA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508760" y="4873752"/>
            <a:ext cx="128016" cy="128016"/>
          </a:xfrm>
          <a:prstGeom prst="rect">
            <a:avLst/>
          </a:prstGeom>
          <a:solidFill>
            <a:srgbClr val="BFDBFE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91640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715768" y="4873752"/>
            <a:ext cx="128016" cy="128016"/>
          </a:xfrm>
          <a:prstGeom prst="rect">
            <a:avLst/>
          </a:prstGeom>
          <a:solidFill>
            <a:srgbClr val="93C5FD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98648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50–199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922776" y="4873752"/>
            <a:ext cx="128016" cy="128016"/>
          </a:xfrm>
          <a:prstGeom prst="rect">
            <a:avLst/>
          </a:prstGeom>
          <a:solidFill>
            <a:srgbClr val="60A5FA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105656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200–499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129784" y="4873752"/>
            <a:ext cx="128016" cy="128016"/>
          </a:xfrm>
          <a:prstGeom prst="rect">
            <a:avLst/>
          </a:prstGeom>
          <a:solidFill>
            <a:srgbClr val="3B82F6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12664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500–1.499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336792" y="4873752"/>
            <a:ext cx="128016" cy="128016"/>
          </a:xfrm>
          <a:prstGeom prst="rect">
            <a:avLst/>
          </a:prstGeom>
          <a:solidFill>
            <a:srgbClr val="1E40A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19672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o más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11480" y="5285232"/>
            <a:ext cx="41148" cy="566928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9" name="Text 15"/>
          <p:cNvSpPr/>
          <p:nvPr/>
        </p:nvSpPr>
        <p:spPr>
          <a:xfrm>
            <a:off x="55778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55778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un monto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206240" y="5285232"/>
            <a:ext cx="41148" cy="566928"/>
          </a:xfrm>
          <a:prstGeom prst="rect">
            <a:avLst/>
          </a:prstGeom>
          <a:solidFill>
            <a:srgbClr val="6E8CA8"/>
          </a:solidFill>
          <a:ln/>
        </p:spPr>
      </p:sp>
      <p:sp>
        <p:nvSpPr>
          <p:cNvPr id="22" name="Text 18"/>
          <p:cNvSpPr/>
          <p:nvPr/>
        </p:nvSpPr>
        <p:spPr>
          <a:xfrm>
            <a:off x="435254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100" dirty="0"/>
          </a:p>
        </p:txBody>
      </p:sp>
      <p:sp>
        <p:nvSpPr>
          <p:cNvPr id="23" name="Text 19"/>
          <p:cNvSpPr/>
          <p:nvPr/>
        </p:nvSpPr>
        <p:spPr>
          <a:xfrm>
            <a:off x="435254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0 — afirman que no costó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8001000" y="5285232"/>
            <a:ext cx="41148" cy="5669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14730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262</a:t>
            </a:r>
            <a:endParaRPr lang="en-US" sz="2100" dirty="0"/>
          </a:p>
        </p:txBody>
      </p:sp>
      <p:sp>
        <p:nvSpPr>
          <p:cNvPr id="26" name="Text 22"/>
          <p:cNvSpPr/>
          <p:nvPr/>
        </p:nvSpPr>
        <p:spPr>
          <a:xfrm>
            <a:off x="814730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dejan la casilla vacía: no se sabe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se imputa al mes de emisión: la columna «Costo De La No Conformidad» no trae fecha propia. El mes más caro es jul-25 con 4.382 UF. Los últimos 5 meses no traen ningún monto declarado —un mes en blanco es «sin declarar», no «sin costo»—. La cifra es un piso del costo real.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45 hallazgos abiertos (82,2%) y 78,5% de cierre, contra 91,2%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20,7%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ellos superan el año abiertos. Los tienen a cargo Sin asignar (16), Wladimir Carvajal P. (1).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41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91,1% de los abiertos. Solo 4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91,2%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14-09-2026 — 20-09-2026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hallazgos levantados · 52 internas · 199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199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97,2%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244/251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91,2%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iniciado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407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hallazgos siguen abiertos; 1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Geomembrana presenta sectores en lo…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no contie…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Ogalde H.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FS-01 (10 elementos) no…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TAG N° 3716D-RW-24-H1-0425-N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Filtración de agua considerable en 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Filtración en la unión mecánica que…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82" name="Text 7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14-09-2026 — 20-09-2026</a:t>
            </a:r>
            <a:endParaRPr lang="en-US" sz="1000" dirty="0"/>
          </a:p>
        </p:txBody>
      </p:sp>
      <p:sp>
        <p:nvSpPr>
          <p:cNvPr id="83" name="Text 8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nuevos · 0 internas · 2 del cliente · PIPING 2 · 2 siguen abiertos</a:t>
            </a:r>
            <a:endParaRPr lang="en-US" sz="1150" dirty="0"/>
          </a:p>
        </p:txBody>
      </p:sp>
      <p:sp>
        <p:nvSpPr>
          <p:cNvPr id="84" name="Text 8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85" name="Text 8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86" name="Text 8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 hallazgos levantados · 53 internas · 79 del cliente · 40 de subcontrato · 19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79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78,5%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135/172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91,2%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28 listo para revisión · 6 stand by · 1 observada · 1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419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hallazgos siguen abiertos; 16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MASA-37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Tolerancia transversal en chutes de…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correa 2100-CV-001 mo…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MASA-43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Perforaciones faltantes en estructu…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EE.II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(i) Cable de comunicación dañado - 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MASA-48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FISURACIÓN DE RADIER CELDAS COLUMNA…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MASA-55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Alineamiento bombas 4210-PU-001 /00…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MASA-56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Interferencia línea de cañería en P…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37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14-09-2026 — 20-09-2026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nuevos · 0 internas · 2 del cliente · OO.CC 1 · MECÁNICA 1 · 2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2026-09-21T12:29:19Z</dcterms:created>
  <dcterms:modified xsi:type="dcterms:W3CDTF">2026-09-21T12:29:19Z</dcterms:modified>
</cp:coreProperties>
</file>