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6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7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Ritmo semanal — la barra «3 sem.» acumula las semanas más viejas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Aún 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14-09</c:v>
                  </c:pt>
                  <c:pt idx="2">
                    <c:v>21-09</c:v>
                  </c:pt>
                  <c:pt idx="3">
                    <c:v>28-09</c:v>
                  </c:pt>
                  <c:pt idx="4">
                    <c:v>05-10</c:v>
                  </c:pt>
                  <c:pt idx="5">
                    <c:v>12-10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</c:v>
                </c:pt>
                <c:pt idx="1">
                  <c:v>1</c:v>
                </c:pt>
                <c:pt idx="2">
                  <c:v>1</c:v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Ya 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14-09</c:v>
                  </c:pt>
                  <c:pt idx="2">
                    <c:v>21-09</c:v>
                  </c:pt>
                  <c:pt idx="3">
                    <c:v>28-09</c:v>
                  </c:pt>
                  <c:pt idx="4">
                    <c:v>05-10</c:v>
                  </c:pt>
                  <c:pt idx="5">
                    <c:v>12-10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</c:v>
                </c:pt>
                <c:pt idx="1">
                  <c:v>3</c:v>
                </c:pt>
                <c:pt idx="2">
                  <c:v/>
                </c:pt>
                <c:pt idx="3">
                  <c:v>1</c:v>
                </c:pt>
                <c:pt idx="4">
                  <c:v/>
                </c:pt>
                <c:pt idx="5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frente y vía de emisión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Interna (Besalco)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52</c:v>
                </c:pt>
                <c:pt idx="2">
                  <c:v>53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Externa · Cliente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</c:v>
                </c:pt>
                <c:pt idx="1">
                  <c:v>202</c:v>
                </c:pt>
                <c:pt idx="2">
                  <c:v>79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Externa · Subcontrato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</c:v>
                </c:pt>
                <c:pt idx="1">
                  <c:v/>
                </c:pt>
                <c:pt idx="2">
                  <c:v>40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clasificar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tipo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Reporte HSE Nivel Alto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314</c:v>
                </c:pt>
                <c:pt idx="1">
                  <c:v>126</c:v>
                </c:pt>
                <c:pt idx="2">
                  <c:v>57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Reporte HSE Nivel Alto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14</c:v>
                </c:pt>
                <c:pt idx="1">
                  <c:v>1</c:v>
                </c:pt>
                <c:pt idx="2">
                  <c:v>3</c:v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Antigüedad de los 18 hallazgos abiertos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1-30 días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31-90 días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91-180 días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181-365 días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Más de un año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ADMINISTRACIÓN</c:v>
                  </c:pt>
                  <c:pt idx="2">
                    <c:v>OO.CC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ADQUISICIONES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</c:v>
                </c:pt>
                <c:pt idx="1">
                  <c:v>12</c:v>
                </c:pt>
                <c:pt idx="2">
                  <c:v>10</c:v>
                </c:pt>
                <c:pt idx="3">
                  <c:v>10</c:v>
                </c:pt>
                <c:pt idx="4">
                  <c:v>7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ADMINISTRACIÓN</c:v>
                  </c:pt>
                  <c:pt idx="2">
                    <c:v>OO.CC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ADQUISICIONES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147</c:v>
                </c:pt>
                <c:pt idx="1">
                  <c:v>26</c:v>
                </c:pt>
                <c:pt idx="2">
                  <c:v>19</c:v>
                </c:pt>
                <c:pt idx="3">
                  <c:v>11</c:v>
                </c:pt>
                <c:pt idx="4">
                  <c:v>9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</c:v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19)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EXPEDITORÍA</c:v>
                  </c:pt>
                  <c:pt idx="1">
                    <c:v>OO.CC</c:v>
                  </c:pt>
                  <c:pt idx="2">
                    <c:v>MECÁNICA</c:v>
                  </c:pt>
                  <c:pt idx="3">
                    <c:v>ESTRUCTURA</c:v>
                  </c:pt>
                  <c:pt idx="4">
                    <c:v>PIPING</c:v>
                  </c:pt>
                  <c:pt idx="5">
                    <c:v>BODEGA</c:v>
                  </c:pt>
                  <c:pt idx="6">
                    <c:v>SUBCONTRATO</c:v>
                  </c:pt>
                  <c:pt idx="7">
                    <c:v>EE.II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38</c:v>
                </c:pt>
                <c:pt idx="1">
                  <c:v>32</c:v>
                </c:pt>
                <c:pt idx="2">
                  <c:v>23</c:v>
                </c:pt>
                <c:pt idx="3">
                  <c:v>18</c:v>
                </c:pt>
                <c:pt idx="4">
                  <c:v>9</c:v>
                </c:pt>
                <c:pt idx="5">
                  <c:v>7</c:v>
                </c:pt>
                <c:pt idx="6">
                  <c:v>6</c:v>
                </c:pt>
                <c:pt idx="7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EXPEDITORÍA</c:v>
                  </c:pt>
                  <c:pt idx="1">
                    <c:v>OO.CC</c:v>
                  </c:pt>
                  <c:pt idx="2">
                    <c:v>MECÁNICA</c:v>
                  </c:pt>
                  <c:pt idx="3">
                    <c:v>ESTRUCTURA</c:v>
                  </c:pt>
                  <c:pt idx="4">
                    <c:v>PIPING</c:v>
                  </c:pt>
                  <c:pt idx="5">
                    <c:v>BODEGA</c:v>
                  </c:pt>
                  <c:pt idx="6">
                    <c:v>SUBCONTRATO</c:v>
                  </c:pt>
                  <c:pt idx="7">
                    <c:v>EE.II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>5</c:v>
                </c:pt>
                <c:pt idx="2">
                  <c:v>3</c:v>
                </c:pt>
                <c:pt idx="3">
                  <c:v>1</c:v>
                </c:pt>
                <c:pt idx="4">
                  <c:v>5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CALIDAD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Conformidades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de calidad y su corrección · 3 proyectos y Oficina Central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516 hallazgos levantados entre 10-02-2023 y 14-10-2026 (Desaladora 82 · Talabre 254 · Arqueros 172 · Oficina Central 8).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 · origen interno y externo · antigüedad de lo que sigue abierto · velocidad de corrección por frente.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96,5%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10.613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declaradas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19-10-2026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19-10-2026 · 516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cuatro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96,5%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498/516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abiertos · 9 con más de 180 días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516 levantados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listo para revisión · 1 iniciado · 5 observada · 2 pendiente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31,4%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159/507 clasificados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levanta Besalco antes que el cliente o un subcontrato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10.613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251 de 516 con costo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declarado (UF)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265 hallazgos no declaran costo: la cifra es un piso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31920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096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concentra el pendiente.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de los 18 hallazgos abiertos (77,8%), y es uno de los frentes donde el cliente levanta más de lo que detecta Besalco (79 del cliente contra 53 internas).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822960" y="50474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9469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semana trajo 1 hallazgo nuevo, ninguno de autodetección.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12-10-2026 al 18-10-2026: 1 del cliente en OO.CC (1). Todos siguen abiertos; la semana anterior entraron 0.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822960" y="559612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49554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de los 18 abiertos están fuera del plazo de respuesta.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que se emite la NC. De los atrasados, 9 llevan más de 180 días abiertos y 1 más de un año: no es atraso de días, es deuda vieja.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19-10-2026 · 516 registros desde 10-02-2023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POR FRENTE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de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 si hay más de 15 abiertas o el cierre baja de 85% · Atención si hay más de 3 abiertas o el cierre queda bajo 95% · Al día en caso contrario.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920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297180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LEVANTADOS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977640" y="1920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9377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8521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7665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68096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CLIENTE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77824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SUBCONTR.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987552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UF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1092708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02920" y="22311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23591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02920" y="26609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297180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3977640" y="243230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9377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8521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98,8%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7665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768096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77824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987552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1.403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10927080" y="245059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8" name="Text 25"/>
          <p:cNvSpPr/>
          <p:nvPr/>
        </p:nvSpPr>
        <p:spPr>
          <a:xfrm>
            <a:off x="10927080" y="24597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02920" y="30632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57200" y="3063240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502920" y="31089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02920" y="34107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297180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3977640" y="318211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251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49377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58521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98,8%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7665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768096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877824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87552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5.818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927080" y="320040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42" name="Text 39"/>
          <p:cNvSpPr/>
          <p:nvPr/>
        </p:nvSpPr>
        <p:spPr>
          <a:xfrm>
            <a:off x="10927080" y="320954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38130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02920" y="385876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502920" y="41605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297180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172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3977640" y="39319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158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9377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58521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91,9%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67665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768096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1300" dirty="0"/>
          </a:p>
        </p:txBody>
      </p:sp>
      <p:sp>
        <p:nvSpPr>
          <p:cNvPr id="52" name="Text 49"/>
          <p:cNvSpPr/>
          <p:nvPr/>
        </p:nvSpPr>
        <p:spPr>
          <a:xfrm>
            <a:off x="877824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987552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3.392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10927080" y="395020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55" name="Text 52"/>
          <p:cNvSpPr/>
          <p:nvPr/>
        </p:nvSpPr>
        <p:spPr>
          <a:xfrm>
            <a:off x="10927080" y="395935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56" name="Shape 53"/>
          <p:cNvSpPr/>
          <p:nvPr/>
        </p:nvSpPr>
        <p:spPr>
          <a:xfrm>
            <a:off x="502920" y="45628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7200" y="4562856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5"/>
          <p:cNvSpPr/>
          <p:nvPr/>
        </p:nvSpPr>
        <p:spPr>
          <a:xfrm>
            <a:off x="502920" y="4608576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400" dirty="0"/>
          </a:p>
        </p:txBody>
      </p:sp>
      <p:sp>
        <p:nvSpPr>
          <p:cNvPr id="59" name="Text 56"/>
          <p:cNvSpPr/>
          <p:nvPr/>
        </p:nvSpPr>
        <p:spPr>
          <a:xfrm>
            <a:off x="502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BESALCO MONTAJES · no es obra</a:t>
            </a:r>
            <a:endParaRPr lang="en-US" sz="950" dirty="0"/>
          </a:p>
        </p:txBody>
      </p:sp>
      <p:sp>
        <p:nvSpPr>
          <p:cNvPr id="60" name="Text 57"/>
          <p:cNvSpPr/>
          <p:nvPr/>
        </p:nvSpPr>
        <p:spPr>
          <a:xfrm>
            <a:off x="297180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1" name="Text 58"/>
          <p:cNvSpPr/>
          <p:nvPr/>
        </p:nvSpPr>
        <p:spPr>
          <a:xfrm>
            <a:off x="3977640" y="46817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2" name="Text 59"/>
          <p:cNvSpPr/>
          <p:nvPr/>
        </p:nvSpPr>
        <p:spPr>
          <a:xfrm>
            <a:off x="49377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3" name="Text 60"/>
          <p:cNvSpPr/>
          <p:nvPr/>
        </p:nvSpPr>
        <p:spPr>
          <a:xfrm>
            <a:off x="58521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67665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5" name="Text 62"/>
          <p:cNvSpPr/>
          <p:nvPr/>
        </p:nvSpPr>
        <p:spPr>
          <a:xfrm>
            <a:off x="768096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6" name="Text 63"/>
          <p:cNvSpPr/>
          <p:nvPr/>
        </p:nvSpPr>
        <p:spPr>
          <a:xfrm>
            <a:off x="877824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7" name="Text 64"/>
          <p:cNvSpPr/>
          <p:nvPr/>
        </p:nvSpPr>
        <p:spPr>
          <a:xfrm>
            <a:off x="987552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8" name="Shape 65"/>
          <p:cNvSpPr/>
          <p:nvPr/>
        </p:nvSpPr>
        <p:spPr>
          <a:xfrm>
            <a:off x="10927080" y="4700016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69" name="Text 66"/>
          <p:cNvSpPr/>
          <p:nvPr/>
        </p:nvSpPr>
        <p:spPr>
          <a:xfrm>
            <a:off x="10927080" y="47091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70" name="Shape 67"/>
          <p:cNvSpPr/>
          <p:nvPr/>
        </p:nvSpPr>
        <p:spPr>
          <a:xfrm>
            <a:off x="502920" y="531266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502920" y="53766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 proyectos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502920" y="567842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Oficina Central</a:t>
            </a:r>
            <a:endParaRPr lang="en-US" sz="950" dirty="0"/>
          </a:p>
        </p:txBody>
      </p:sp>
      <p:sp>
        <p:nvSpPr>
          <p:cNvPr id="73" name="Text 70"/>
          <p:cNvSpPr/>
          <p:nvPr/>
        </p:nvSpPr>
        <p:spPr>
          <a:xfrm>
            <a:off x="297180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508</a:t>
            </a:r>
            <a:endParaRPr lang="en-US" sz="1300" dirty="0"/>
          </a:p>
        </p:txBody>
      </p:sp>
      <p:sp>
        <p:nvSpPr>
          <p:cNvPr id="74" name="Text 71"/>
          <p:cNvSpPr/>
          <p:nvPr/>
        </p:nvSpPr>
        <p:spPr>
          <a:xfrm>
            <a:off x="3977640" y="544982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490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49377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300" dirty="0"/>
          </a:p>
        </p:txBody>
      </p:sp>
      <p:sp>
        <p:nvSpPr>
          <p:cNvPr id="76" name="Text 73"/>
          <p:cNvSpPr/>
          <p:nvPr/>
        </p:nvSpPr>
        <p:spPr>
          <a:xfrm>
            <a:off x="58521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96,5%</a:t>
            </a:r>
            <a:endParaRPr lang="en-US" sz="1300" dirty="0"/>
          </a:p>
        </p:txBody>
      </p:sp>
      <p:sp>
        <p:nvSpPr>
          <p:cNvPr id="77" name="Text 74"/>
          <p:cNvSpPr/>
          <p:nvPr/>
        </p:nvSpPr>
        <p:spPr>
          <a:xfrm>
            <a:off x="67665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300" dirty="0"/>
          </a:p>
        </p:txBody>
      </p:sp>
      <p:sp>
        <p:nvSpPr>
          <p:cNvPr id="78" name="Text 75"/>
          <p:cNvSpPr/>
          <p:nvPr/>
        </p:nvSpPr>
        <p:spPr>
          <a:xfrm>
            <a:off x="768096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</a:t>
            </a:r>
            <a:endParaRPr lang="en-US" sz="1300" dirty="0"/>
          </a:p>
        </p:txBody>
      </p:sp>
      <p:sp>
        <p:nvSpPr>
          <p:cNvPr id="79" name="Text 76"/>
          <p:cNvSpPr/>
          <p:nvPr/>
        </p:nvSpPr>
        <p:spPr>
          <a:xfrm>
            <a:off x="877824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987552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10.613</a:t>
            </a:r>
            <a:endParaRPr lang="en-US" sz="1300" dirty="0"/>
          </a:p>
        </p:txBody>
      </p:sp>
      <p:sp>
        <p:nvSpPr>
          <p:cNvPr id="81" name="Text 78"/>
          <p:cNvSpPr/>
          <p:nvPr/>
        </p:nvSpPr>
        <p:spPr>
          <a:xfrm>
            <a:off x="457200" y="59893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 global 33 días · el hallazgo más lento tomó 438 días · 8 hallazgos sin especialidad declarada.</a:t>
            </a:r>
            <a:endParaRPr lang="en-US" sz="950" dirty="0"/>
          </a:p>
        </p:txBody>
      </p:sp>
      <p:sp>
        <p:nvSpPr>
          <p:cNvPr id="82" name="Text 7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19-10-2026 · 516 registros desde 10-02-2023</a:t>
            </a:r>
            <a:endParaRPr lang="en-US" sz="850" dirty="0"/>
          </a:p>
        </p:txBody>
      </p:sp>
      <p:sp>
        <p:nvSpPr>
          <p:cNvPr id="83" name="Text 8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84" name="Text 8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NOVEDADES DEL PERÍODO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Levantados en la última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el 12-10-2026 y el 18-10-2026 se levantó 1 hallazgo: 0 internas · 1 del cliente. Sigue abierto.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783080"/>
          <a:ext cx="585216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492240" y="1783080"/>
            <a:ext cx="5239512" cy="1874520"/>
          </a:xfrm>
          <a:prstGeom prst="roundRect">
            <a:avLst>
              <a:gd name="adj" fmla="val 2927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766560" y="18928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 SALIERON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766560" y="224028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8183880" y="224028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 1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766560" y="25694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8183880" y="25694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766560" y="289864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8183880" y="2898648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 1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766560" y="322783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183880" y="3227832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 1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502920" y="371246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LOS HALLAZGOS NUEVOS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02920" y="39867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37160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246888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356616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4983480" y="398678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6446520" y="3986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758952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9006840" y="39867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9921240" y="39867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502920" y="4297680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02920" y="442569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14-10-2026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137160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246888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255 · PNC N°203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356616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Confor…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4983480" y="44256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6446520" y="442569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758952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Wladimir Carvaja…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9006840" y="442569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para…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9921240" y="442569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Arrugas en piscina QS.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502920" y="47000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19-10-2026 · 516 registros desde 10-02-2023</a:t>
            </a:r>
            <a:endParaRPr lang="en-US" sz="850" dirty="0"/>
          </a:p>
        </p:txBody>
      </p:sp>
      <p:sp>
        <p:nvSpPr>
          <p:cNvPr id="39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40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levanta las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es autodetección: la levanta Besalco antes que nadie. Externa la levanta el cliente —compromete el contrato— o un subcontrato. Autodetección global: 31,4%.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28800"/>
          <a:ext cx="603504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02920" y="4160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CADA VÍA  ·  atrasada = abierta que pasó los 10 días de plazo  ·  promedio en respuesta = días de emisión a cierre, solo sobre las cerradas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02920" y="44622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VÍA DE EMISIÓN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201168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LEVANT.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278892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CERRADAS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356616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34340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ABIERTAS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5120640" y="446227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ATRASADAS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5806440" y="446227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PROM. RESPUESTA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502920" y="4773168"/>
            <a:ext cx="635508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02920" y="4901184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201168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278892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157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356616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98,7%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4340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5120640" y="4901184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5806440" y="4901184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días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502920" y="5129784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57200" y="5138928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1"/>
          <p:cNvSpPr/>
          <p:nvPr/>
        </p:nvSpPr>
        <p:spPr>
          <a:xfrm>
            <a:off x="502920" y="5184648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A6B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201168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278892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284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356616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94,7%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434340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5120640" y="5184648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5806440" y="5184648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 días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02920" y="5413248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502920" y="5468112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5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201168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278892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356616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37" name="Text 33"/>
          <p:cNvSpPr/>
          <p:nvPr/>
        </p:nvSpPr>
        <p:spPr>
          <a:xfrm>
            <a:off x="434340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5120640" y="5468112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9" name="Text 35"/>
          <p:cNvSpPr/>
          <p:nvPr/>
        </p:nvSpPr>
        <p:spPr>
          <a:xfrm>
            <a:off x="5806440" y="5468112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 días</a:t>
            </a:r>
            <a:endParaRPr lang="en-US" sz="1050" dirty="0"/>
          </a:p>
        </p:txBody>
      </p:sp>
      <p:sp>
        <p:nvSpPr>
          <p:cNvPr id="40" name="Shape 36"/>
          <p:cNvSpPr/>
          <p:nvPr/>
        </p:nvSpPr>
        <p:spPr>
          <a:xfrm>
            <a:off x="502920" y="5696712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5705856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5751576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050" dirty="0"/>
          </a:p>
        </p:txBody>
      </p:sp>
      <p:sp>
        <p:nvSpPr>
          <p:cNvPr id="43" name="Text 39"/>
          <p:cNvSpPr/>
          <p:nvPr/>
        </p:nvSpPr>
        <p:spPr>
          <a:xfrm>
            <a:off x="201168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278892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5" name="Text 41"/>
          <p:cNvSpPr/>
          <p:nvPr/>
        </p:nvSpPr>
        <p:spPr>
          <a:xfrm>
            <a:off x="356616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46" name="Text 42"/>
          <p:cNvSpPr/>
          <p:nvPr/>
        </p:nvSpPr>
        <p:spPr>
          <a:xfrm>
            <a:off x="434340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7" name="Text 43"/>
          <p:cNvSpPr/>
          <p:nvPr/>
        </p:nvSpPr>
        <p:spPr>
          <a:xfrm>
            <a:off x="5120640" y="5751576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8" name="Text 44"/>
          <p:cNvSpPr/>
          <p:nvPr/>
        </p:nvSpPr>
        <p:spPr>
          <a:xfrm>
            <a:off x="5806440" y="5751576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días</a:t>
            </a:r>
            <a:endParaRPr lang="en-US" sz="1050" dirty="0"/>
          </a:p>
        </p:txBody>
      </p:sp>
      <p:sp>
        <p:nvSpPr>
          <p:cNvPr id="49" name="Shape 45"/>
          <p:cNvSpPr/>
          <p:nvPr/>
        </p:nvSpPr>
        <p:spPr>
          <a:xfrm>
            <a:off x="502920" y="5980176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02920" y="6035040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vías</a:t>
            </a:r>
            <a:endParaRPr lang="en-US" sz="1050" dirty="0"/>
          </a:p>
        </p:txBody>
      </p:sp>
      <p:sp>
        <p:nvSpPr>
          <p:cNvPr id="51" name="Text 47"/>
          <p:cNvSpPr/>
          <p:nvPr/>
        </p:nvSpPr>
        <p:spPr>
          <a:xfrm>
            <a:off x="201168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516</a:t>
            </a:r>
            <a:endParaRPr lang="en-US" sz="1050" dirty="0"/>
          </a:p>
        </p:txBody>
      </p:sp>
      <p:sp>
        <p:nvSpPr>
          <p:cNvPr id="52" name="Text 48"/>
          <p:cNvSpPr/>
          <p:nvPr/>
        </p:nvSpPr>
        <p:spPr>
          <a:xfrm>
            <a:off x="278892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498</a:t>
            </a:r>
            <a:endParaRPr lang="en-US" sz="1050" dirty="0"/>
          </a:p>
        </p:txBody>
      </p:sp>
      <p:sp>
        <p:nvSpPr>
          <p:cNvPr id="53" name="Text 49"/>
          <p:cNvSpPr/>
          <p:nvPr/>
        </p:nvSpPr>
        <p:spPr>
          <a:xfrm>
            <a:off x="356616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96,5%</a:t>
            </a:r>
            <a:endParaRPr lang="en-US" sz="1050" dirty="0"/>
          </a:p>
        </p:txBody>
      </p:sp>
      <p:sp>
        <p:nvSpPr>
          <p:cNvPr id="54" name="Text 50"/>
          <p:cNvSpPr/>
          <p:nvPr/>
        </p:nvSpPr>
        <p:spPr>
          <a:xfrm>
            <a:off x="434340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50" dirty="0"/>
          </a:p>
        </p:txBody>
      </p:sp>
      <p:sp>
        <p:nvSpPr>
          <p:cNvPr id="55" name="Text 51"/>
          <p:cNvSpPr/>
          <p:nvPr/>
        </p:nvSpPr>
        <p:spPr>
          <a:xfrm>
            <a:off x="5120640" y="6035040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5806440" y="6035040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 días</a:t>
            </a:r>
            <a:endParaRPr lang="en-US" sz="1050" dirty="0"/>
          </a:p>
        </p:txBody>
      </p:sp>
      <p:sp>
        <p:nvSpPr>
          <p:cNvPr id="57" name="Shape 53"/>
          <p:cNvSpPr/>
          <p:nvPr/>
        </p:nvSpPr>
        <p:spPr>
          <a:xfrm>
            <a:off x="502920" y="6263640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graphicFrame>
        <p:nvGraphicFramePr>
          <p:cNvPr id="58" name="Chart 1" descr=""/>
          <p:cNvGraphicFramePr/>
          <p:nvPr/>
        </p:nvGraphicFramePr>
        <p:xfrm>
          <a:off x="6675120" y="1828800"/>
          <a:ext cx="505663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Shape 54"/>
          <p:cNvSpPr/>
          <p:nvPr/>
        </p:nvSpPr>
        <p:spPr>
          <a:xfrm>
            <a:off x="6675120" y="4572000"/>
            <a:ext cx="5056632" cy="1280160"/>
          </a:xfrm>
          <a:prstGeom prst="roundRect">
            <a:avLst>
              <a:gd name="adj" fmla="val 4286"/>
            </a:avLst>
          </a:prstGeom>
          <a:solidFill>
            <a:srgbClr val="12233B"/>
          </a:solidFill>
          <a:ln/>
        </p:spPr>
      </p:sp>
      <p:sp>
        <p:nvSpPr>
          <p:cNvPr id="60" name="Text 55"/>
          <p:cNvSpPr/>
          <p:nvPr/>
        </p:nvSpPr>
        <p:spPr>
          <a:xfrm>
            <a:off x="6949440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 POR FRENTE</a:t>
            </a:r>
            <a:endParaRPr lang="en-US" sz="1050" dirty="0"/>
          </a:p>
        </p:txBody>
      </p:sp>
      <p:sp>
        <p:nvSpPr>
          <p:cNvPr id="61" name="Text 56"/>
          <p:cNvSpPr/>
          <p:nvPr/>
        </p:nvSpPr>
        <p:spPr>
          <a:xfrm>
            <a:off x="6949440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2400" dirty="0"/>
          </a:p>
        </p:txBody>
      </p:sp>
      <p:sp>
        <p:nvSpPr>
          <p:cNvPr id="62" name="Text 57"/>
          <p:cNvSpPr/>
          <p:nvPr/>
        </p:nvSpPr>
        <p:spPr>
          <a:xfrm>
            <a:off x="6949440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050" dirty="0"/>
          </a:p>
        </p:txBody>
      </p:sp>
      <p:sp>
        <p:nvSpPr>
          <p:cNvPr id="63" name="Text 58"/>
          <p:cNvSpPr/>
          <p:nvPr/>
        </p:nvSpPr>
        <p:spPr>
          <a:xfrm>
            <a:off x="8522208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20,5%</a:t>
            </a:r>
            <a:endParaRPr lang="en-US" sz="2400" dirty="0"/>
          </a:p>
        </p:txBody>
      </p:sp>
      <p:sp>
        <p:nvSpPr>
          <p:cNvPr id="64" name="Text 59"/>
          <p:cNvSpPr/>
          <p:nvPr/>
        </p:nvSpPr>
        <p:spPr>
          <a:xfrm>
            <a:off x="8522208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65" name="Text 60"/>
          <p:cNvSpPr/>
          <p:nvPr/>
        </p:nvSpPr>
        <p:spPr>
          <a:xfrm>
            <a:off x="10094976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30,8%</a:t>
            </a:r>
            <a:endParaRPr lang="en-US" sz="2400" dirty="0"/>
          </a:p>
        </p:txBody>
      </p:sp>
      <p:sp>
        <p:nvSpPr>
          <p:cNvPr id="66" name="Text 61"/>
          <p:cNvSpPr/>
          <p:nvPr/>
        </p:nvSpPr>
        <p:spPr>
          <a:xfrm>
            <a:off x="10094976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67" name="Text 6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19-10-2026 · 516 registros desde 10-02-2023</a:t>
            </a:r>
            <a:endParaRPr lang="en-US" sz="850" dirty="0"/>
          </a:p>
        </p:txBody>
      </p:sp>
      <p:sp>
        <p:nvSpPr>
          <p:cNvPr id="68" name="Text 6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69" name="Text 6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 ABIERTO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Antigüedad y velocidad de corrección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18 hallazgos abiertos, 9 llevan más de 180 días desde que se levantaron y 1 más de un año. La mediana de cierre global es de 33 días.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0350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675120" y="1874520"/>
            <a:ext cx="5056632" cy="2377440"/>
          </a:xfrm>
          <a:prstGeom prst="roundRect">
            <a:avLst>
              <a:gd name="adj" fmla="val 2308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949440" y="2029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PLAZO DE RESPUESTA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949440" y="2359152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del proyecto es: 10 días para responder una NC desde que se emite; del día 11 en adelante corre atraso.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corte hay 17 hallazgos fuera de plazo de los 18 abiertos.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6949440" y="3703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mide sobre la fecha de emisión: el Excel no declara una fecha comprometida de cierre —esa columna solo se llena al cerrar—.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50292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 POR FRENTE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02920" y="4663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301752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429768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5577840" y="4663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LENTO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694944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229600" y="4663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502920" y="49743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02920" y="51023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01752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29768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d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5577840" y="510235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d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694944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8229600" y="510235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502920" y="53675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57200" y="537667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4223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01752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251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429768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5577840" y="54223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407 d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694944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32" name="Text 28"/>
          <p:cNvSpPr/>
          <p:nvPr/>
        </p:nvSpPr>
        <p:spPr>
          <a:xfrm>
            <a:off x="8229600" y="542239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502920" y="568756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502920" y="57424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301752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158</a:t>
            </a:r>
            <a:endParaRPr lang="en-US" sz="1150" dirty="0"/>
          </a:p>
        </p:txBody>
      </p:sp>
      <p:sp>
        <p:nvSpPr>
          <p:cNvPr id="36" name="Text 32"/>
          <p:cNvSpPr/>
          <p:nvPr/>
        </p:nvSpPr>
        <p:spPr>
          <a:xfrm>
            <a:off x="429768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 d</a:t>
            </a:r>
            <a:endParaRPr lang="en-US" sz="1150" dirty="0"/>
          </a:p>
        </p:txBody>
      </p:sp>
      <p:sp>
        <p:nvSpPr>
          <p:cNvPr id="37" name="Text 33"/>
          <p:cNvSpPr/>
          <p:nvPr/>
        </p:nvSpPr>
        <p:spPr>
          <a:xfrm>
            <a:off x="5577840" y="57424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438 d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694944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8229600" y="574243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8× más lento que el mejor frente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502920" y="600760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601675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6062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301752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429768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d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5577840" y="606247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d</a:t>
            </a:r>
            <a:endParaRPr lang="en-US" sz="1150" dirty="0"/>
          </a:p>
        </p:txBody>
      </p:sp>
      <p:sp>
        <p:nvSpPr>
          <p:cNvPr id="46" name="Text 42"/>
          <p:cNvSpPr/>
          <p:nvPr/>
        </p:nvSpPr>
        <p:spPr>
          <a:xfrm>
            <a:off x="694944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50" dirty="0"/>
          </a:p>
        </p:txBody>
      </p:sp>
      <p:sp>
        <p:nvSpPr>
          <p:cNvPr id="47" name="Text 43"/>
          <p:cNvSpPr/>
          <p:nvPr/>
        </p:nvSpPr>
        <p:spPr>
          <a:xfrm>
            <a:off x="8229600" y="606247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 más lento que el mejor frente</a:t>
            </a:r>
            <a:endParaRPr lang="en-US" sz="1150" dirty="0"/>
          </a:p>
        </p:txBody>
      </p:sp>
      <p:sp>
        <p:nvSpPr>
          <p:cNvPr id="48" name="Shape 44"/>
          <p:cNvSpPr/>
          <p:nvPr/>
        </p:nvSpPr>
        <p:spPr>
          <a:xfrm>
            <a:off x="502920" y="6327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19-10-2026 · 516 registros desde 10-02-2023</a:t>
            </a:r>
            <a:endParaRPr lang="en-US" sz="850" dirty="0"/>
          </a:p>
        </p:txBody>
      </p:sp>
      <p:sp>
        <p:nvSpPr>
          <p:cNvPr id="50" name="Text 46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51" name="Text 4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 LA NO CONFORMIDAD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Costo mensual por disciplina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10.613 UF declaradas entre nov-24 y oct-26, imputadas al mes en que se levantó cada hallazgo. Las declaran 108 de 505 hallazgos del período.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810512"/>
          <a:ext cx="12399264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822960"/>
              </a:tblGrid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DISCIPLINA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UF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OO.CC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2.631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EXPEDITORÍA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2.176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SUBCONTRATO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1.335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ELÉCTRICA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PROVEEDORES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INSTRUMENTACIÓN Y CONTROL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Otras (4 disciplinas)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DEL MES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4.382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10.613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NC CON MONTO DECLARADO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6/12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7/16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11/36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12/22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8/49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6/29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7/33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9/40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6/29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8/40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1/19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108/505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11480" y="482803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POR CELDA</a:t>
            </a:r>
            <a:endParaRPr lang="en-US" sz="800" dirty="0"/>
          </a:p>
        </p:txBody>
      </p:sp>
      <p:sp>
        <p:nvSpPr>
          <p:cNvPr id="8" name="Shape 4"/>
          <p:cNvSpPr/>
          <p:nvPr/>
        </p:nvSpPr>
        <p:spPr>
          <a:xfrm>
            <a:off x="1508760" y="4873752"/>
            <a:ext cx="128016" cy="128016"/>
          </a:xfrm>
          <a:prstGeom prst="rect">
            <a:avLst/>
          </a:prstGeom>
          <a:solidFill>
            <a:srgbClr val="BFDBFE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1691640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50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2715768" y="4873752"/>
            <a:ext cx="128016" cy="128016"/>
          </a:xfrm>
          <a:prstGeom prst="rect">
            <a:avLst/>
          </a:prstGeom>
          <a:solidFill>
            <a:srgbClr val="93C5FD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898648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50–199</a:t>
            </a:r>
            <a:endParaRPr 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3922776" y="4873752"/>
            <a:ext cx="128016" cy="128016"/>
          </a:xfrm>
          <a:prstGeom prst="rect">
            <a:avLst/>
          </a:prstGeom>
          <a:solidFill>
            <a:srgbClr val="60A5FA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105656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200–499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5129784" y="4873752"/>
            <a:ext cx="128016" cy="128016"/>
          </a:xfrm>
          <a:prstGeom prst="rect">
            <a:avLst/>
          </a:prstGeom>
          <a:solidFill>
            <a:srgbClr val="3B82F6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312664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500–1.499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6336792" y="4873752"/>
            <a:ext cx="128016" cy="128016"/>
          </a:xfrm>
          <a:prstGeom prst="rect">
            <a:avLst/>
          </a:prstGeom>
          <a:solidFill>
            <a:srgbClr val="1E40AF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519672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1.500 o más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411480" y="5285232"/>
            <a:ext cx="41148" cy="566928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19" name="Text 15"/>
          <p:cNvSpPr/>
          <p:nvPr/>
        </p:nvSpPr>
        <p:spPr>
          <a:xfrm>
            <a:off x="557784" y="526694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108</a:t>
            </a:r>
            <a:endParaRPr lang="en-US" sz="2100" dirty="0"/>
          </a:p>
        </p:txBody>
      </p:sp>
      <p:sp>
        <p:nvSpPr>
          <p:cNvPr id="20" name="Text 16"/>
          <p:cNvSpPr/>
          <p:nvPr/>
        </p:nvSpPr>
        <p:spPr>
          <a:xfrm>
            <a:off x="557784" y="55961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declaran un monto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4206240" y="5285232"/>
            <a:ext cx="41148" cy="566928"/>
          </a:xfrm>
          <a:prstGeom prst="rect">
            <a:avLst/>
          </a:prstGeom>
          <a:solidFill>
            <a:srgbClr val="6E8CA8"/>
          </a:solidFill>
          <a:ln/>
        </p:spPr>
      </p:sp>
      <p:sp>
        <p:nvSpPr>
          <p:cNvPr id="22" name="Text 18"/>
          <p:cNvSpPr/>
          <p:nvPr/>
        </p:nvSpPr>
        <p:spPr>
          <a:xfrm>
            <a:off x="4352544" y="526694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143</a:t>
            </a:r>
            <a:endParaRPr lang="en-US" sz="2100" dirty="0"/>
          </a:p>
        </p:txBody>
      </p:sp>
      <p:sp>
        <p:nvSpPr>
          <p:cNvPr id="23" name="Text 19"/>
          <p:cNvSpPr/>
          <p:nvPr/>
        </p:nvSpPr>
        <p:spPr>
          <a:xfrm>
            <a:off x="4352544" y="55961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declaran 0 — afirman que no costó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8001000" y="5285232"/>
            <a:ext cx="41148" cy="56692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5" name="Text 21"/>
          <p:cNvSpPr/>
          <p:nvPr/>
        </p:nvSpPr>
        <p:spPr>
          <a:xfrm>
            <a:off x="8147304" y="526694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265</a:t>
            </a:r>
            <a:endParaRPr lang="en-US" sz="2100" dirty="0"/>
          </a:p>
        </p:txBody>
      </p:sp>
      <p:sp>
        <p:nvSpPr>
          <p:cNvPr id="26" name="Text 22"/>
          <p:cNvSpPr/>
          <p:nvPr/>
        </p:nvSpPr>
        <p:spPr>
          <a:xfrm>
            <a:off x="8147304" y="55961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dejan la casilla vacía: no se sabe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457200" y="5989320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costo se imputa al mes de emisión: la columna «Costo De La No Conformidad» no trae fecha propia. El mes más caro es jul-25 con 4.382 UF. Los últimos 6 meses no traen ningún monto declarado —un mes en blanco es «sin declarar», no «sin costo»—. La cifra es un piso del costo real.</a:t>
            </a:r>
            <a:endParaRPr lang="en-US" sz="950" dirty="0"/>
          </a:p>
        </p:txBody>
      </p:sp>
      <p:sp>
        <p:nvSpPr>
          <p:cNvPr id="28" name="Text 2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19-10-2026 · 516 registros desde 10-02-2023</a:t>
            </a:r>
            <a:endParaRPr lang="en-US" sz="850" dirty="0"/>
          </a:p>
        </p:txBody>
      </p:sp>
      <p:sp>
        <p:nvSpPr>
          <p:cNvPr id="29" name="Text 2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30" name="Text 2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el pendiente de Arqueros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de los 18 hallazgos abiertos (77,8%) y 91,9% de cierre, contra 96,5% global. Es la ruta crítica del módulo.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la autodetección de Talabre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20,5% de sus hallazgos los detecta Besalco; el mejor frente va en 66,7%. Lo que no se detecta adentro llega como observación del cliente.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los 9 hallazgos sobre 180 días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de ellos superan el año abiertos. Los tienen a cargo Sin asignar (9). Es deuda antigua que no se cierra sola.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 las 17 que pasaron el plazo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la emisión y hoy lo incumplen 94,4% de los abiertos. Solo 1 siguen dentro de plazo.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19-10-2026 · 516 registros desde 10-02-2023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 hallazgos levantados · 54 internas · 19 del cliente · 8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19-10-2026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19-10-2026 · 516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internas · 19 del cliente · 8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81/82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96,5%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abierto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listo para revisión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250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31,4%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47" name="Shape 43"/>
          <p:cNvSpPr/>
          <p:nvPr/>
        </p:nvSpPr>
        <p:spPr>
          <a:xfrm>
            <a:off x="7900416" y="6071616"/>
            <a:ext cx="164592" cy="164592"/>
          </a:xfrm>
          <a:prstGeom prst="ellipse">
            <a:avLst/>
          </a:prstGeom>
          <a:solidFill>
            <a:srgbClr val="5B6B7C"/>
          </a:solidFill>
          <a:ln/>
        </p:spPr>
      </p:sp>
      <p:sp>
        <p:nvSpPr>
          <p:cNvPr id="48" name="Text 44"/>
          <p:cNvSpPr/>
          <p:nvPr/>
        </p:nvSpPr>
        <p:spPr>
          <a:xfrm>
            <a:off x="8156448" y="598017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10287000" y="598017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50" name="Text 46"/>
          <p:cNvSpPr/>
          <p:nvPr/>
        </p:nvSpPr>
        <p:spPr>
          <a:xfrm>
            <a:off x="10972800" y="598017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1" name="Text 4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19-10-2026 · 516 registros desde 10-02-2023</a:t>
            </a:r>
            <a:endParaRPr lang="en-US" sz="850" dirty="0"/>
          </a:p>
        </p:txBody>
      </p:sp>
      <p:sp>
        <p:nvSpPr>
          <p:cNvPr id="52" name="Text 4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53" name="Text 4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sigue abierto;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Ariel Flores U.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en manilla de válvula 4515-HV-…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25" name="Text 22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12-10-2026 — 18-10-2026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19-10-2026 · 516 registros desde 10-02-2023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 hallazgos levantados · 52 internas · 202 del cliente · 12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20,5%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19-10-2026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19-10-2026 · 516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254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251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internas · 202 del cliente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251/254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96,5%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listo para revisión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407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20,5%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31,4%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</a:t>
            </a:r>
            <a:endParaRPr lang="en-US" sz="1600" dirty="0"/>
          </a:p>
        </p:txBody>
      </p:sp>
      <p:sp>
        <p:nvSpPr>
          <p:cNvPr id="43" name="Text 3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19-10-2026 · 516 registros desde 10-02-2023</a:t>
            </a:r>
            <a:endParaRPr lang="en-US" sz="850" dirty="0"/>
          </a:p>
        </p:txBody>
      </p:sp>
      <p:sp>
        <p:nvSpPr>
          <p:cNvPr id="44" name="Text 4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5" name="Text 4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hallazgos siguen abiertos;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235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Rocha A.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Geomembrana presenta sectores en lo…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253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Soto B.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dispone de una planificación 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255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Wladimir Carvajal …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Arrugas en piscina QS.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2233B"/>
          </a:solidFill>
          <a:ln/>
        </p:spPr>
      </p:sp>
      <p:sp>
        <p:nvSpPr>
          <p:cNvPr id="44" name="Text 41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12-10-2026 — 18-10-2026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nuevo · 0 internas · 1 del cliente · OO.CC 1 · 1 sigue abierto</a:t>
            </a:r>
            <a:endParaRPr lang="en-US" sz="1150" dirty="0"/>
          </a:p>
        </p:txBody>
      </p:sp>
      <p:sp>
        <p:nvSpPr>
          <p:cNvPr id="46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19-10-2026 · 516 registros desde 10-02-2023</a:t>
            </a:r>
            <a:endParaRPr lang="en-US" sz="850" dirty="0"/>
          </a:p>
        </p:txBody>
      </p:sp>
      <p:sp>
        <p:nvSpPr>
          <p:cNvPr id="47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172 hallazgos levantados · 53 internas · 79 del cliente · 40 de subcontrato · 19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91,9%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140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30,8%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19-10-2026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19-10-2026 · 516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172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158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internas · 79 del cliente · 40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91,9%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158/172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96,5%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iniciado · 5 observada · 6 listo para revisión · 2 pendiente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140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438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30,8%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31,4%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600" dirty="0"/>
          </a:p>
        </p:txBody>
      </p:sp>
      <p:sp>
        <p:nvSpPr>
          <p:cNvPr id="47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19-10-2026 · 516 registros desde 10-02-2023</a:t>
            </a:r>
            <a:endParaRPr lang="en-US" sz="850" dirty="0"/>
          </a:p>
        </p:txBody>
      </p:sp>
      <p:sp>
        <p:nvSpPr>
          <p:cNvPr id="48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9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hallazgos siguen abiertos; 9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MASA-24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368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Inspección grout de los recesos de 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MASA-37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306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Tolerancia transversal en chutes de…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MASA-43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277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Perforaciones faltantes en estructu…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MASA-48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277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FISURACIÓN DE RADIER CELDAS COLUMNA…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MASA-56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Interferencia línea de cañería en P…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MASA-66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227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Interferencia estructura con red de…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MASA-68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223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NIVELACIÓN DE LAS PLACAS BASE DE LO…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MASA-70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223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DESCARGAS DE TUBERÍAS CELDAS DE FLO…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MASA-73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Condicioón fundación de riel grúa p…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14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12-10-2026 — 18-10-2026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19-10-2026 · 516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Control de No Conformidades — Gestión de Calidad</dc:title>
  <dc:subject>PptxGenJS Presentation</dc:subject>
  <dc:creator>Gestión de Calidad</dc:creator>
  <cp:lastModifiedBy>Gestión de Calidad</cp:lastModifiedBy>
  <cp:revision>1</cp:revision>
  <dcterms:created xsi:type="dcterms:W3CDTF">2026-10-19T13:04:42Z</dcterms:created>
  <dcterms:modified xsi:type="dcterms:W3CDTF">2026-10-19T13:04:42Z</dcterms:modified>
</cp:coreProperties>
</file>