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Ritmo semanal — la barra «3 sem.» acumula las semanas más viejas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Aún abiertos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 sem.</c:v>
                  </c:pt>
                  <c:pt idx="1">
                    <c:v>07-09</c:v>
                  </c:pt>
                  <c:pt idx="2">
                    <c:v>14-09</c:v>
                  </c:pt>
                  <c:pt idx="3">
                    <c:v>21-09</c:v>
                  </c:pt>
                  <c:pt idx="4">
                    <c:v>28-09</c:v>
                  </c:pt>
                  <c:pt idx="5">
                    <c:v>05-10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/>
                </c:pt>
                <c:pt idx="2">
                  <c:v>1</c:v>
                </c:pt>
                <c:pt idx="3">
                  <c:v>1</c:v>
                </c:pt>
                <c:pt idx="4">
                  <c:v/>
                </c:pt>
                <c:pt idx="5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Ya cerrados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 sem.</c:v>
                  </c:pt>
                  <c:pt idx="1">
                    <c:v>07-09</c:v>
                  </c:pt>
                  <c:pt idx="2">
                    <c:v>14-09</c:v>
                  </c:pt>
                  <c:pt idx="3">
                    <c:v>21-09</c:v>
                  </c:pt>
                  <c:pt idx="4">
                    <c:v>28-09</c:v>
                  </c:pt>
                  <c:pt idx="5">
                    <c:v>05-10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/>
                </c:pt>
                <c:pt idx="2">
                  <c:v>3</c:v>
                </c:pt>
                <c:pt idx="3">
                  <c:v/>
                </c:pt>
                <c:pt idx="4">
                  <c:v>1</c:v>
                </c:pt>
                <c:pt idx="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Hallazgos por frente y vía de emisión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 (Besalco)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Desaladora</c:v>
                  </c:pt>
                  <c:pt idx="1">
                    <c:v>Talabre</c:v>
                  </c:pt>
                  <c:pt idx="2">
                    <c:v>Arqueros</c:v>
                  </c:pt>
                  <c:pt idx="3">
                    <c:v>Oficina Central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52</c:v>
                </c:pt>
                <c:pt idx="2">
                  <c:v>53</c:v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 · Cliente</c:v>
                </c:pt>
              </c:strCache>
            </c:strRef>
          </c:tx>
          <c:spPr>
            <a:solidFill>
              <a:srgbClr val="9A6B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Desaladora</c:v>
                  </c:pt>
                  <c:pt idx="1">
                    <c:v>Talabre</c:v>
                  </c:pt>
                  <c:pt idx="2">
                    <c:v>Arqueros</c:v>
                  </c:pt>
                  <c:pt idx="3">
                    <c:v>Oficina Central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201</c:v>
                </c:pt>
                <c:pt idx="2">
                  <c:v>79</c:v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Externa · Subcontrato</c:v>
                </c:pt>
              </c:strCache>
            </c:strRef>
          </c:tx>
          <c:spPr>
            <a:solidFill>
              <a:srgbClr val="8A55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Desaladora</c:v>
                  </c:pt>
                  <c:pt idx="1">
                    <c:v>Talabre</c:v>
                  </c:pt>
                  <c:pt idx="2">
                    <c:v>Arqueros</c:v>
                  </c:pt>
                  <c:pt idx="3">
                    <c:v>Oficina Central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/>
                </c:pt>
                <c:pt idx="2">
                  <c:v>40</c:v>
                </c:pt>
                <c:pt idx="3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Sin clasificar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Desaladora</c:v>
                  </c:pt>
                  <c:pt idx="1">
                    <c:v>Talabre</c:v>
                  </c:pt>
                  <c:pt idx="2">
                    <c:v>Arqueros</c:v>
                  </c:pt>
                  <c:pt idx="3">
                    <c:v>Oficina Central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/>
                </c:pt>
                <c:pt idx="2">
                  <c:v/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Hallazgos por tipo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Conformidad</c:v>
                  </c:pt>
                  <c:pt idx="1">
                    <c:v>Producto No Conforme</c:v>
                  </c:pt>
                  <c:pt idx="2">
                    <c:v>Observación</c:v>
                  </c:pt>
                  <c:pt idx="3">
                    <c:v>Reporte HSE Nivel Alto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311</c:v>
                </c:pt>
                <c:pt idx="1">
                  <c:v>126</c:v>
                </c:pt>
                <c:pt idx="2">
                  <c:v>57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Abiertos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Conformidad</c:v>
                  </c:pt>
                  <c:pt idx="1">
                    <c:v>Producto No Conforme</c:v>
                  </c:pt>
                  <c:pt idx="2">
                    <c:v>Observación</c:v>
                  </c:pt>
                  <c:pt idx="3">
                    <c:v>Reporte HSE Nivel Alto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/>
                </c:pt>
                <c:pt idx="2">
                  <c:v>3</c:v>
                </c:pt>
                <c:pt idx="3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Antigüedad de los 20 hallazgos abiertos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1-30 días</c:v>
                </c:pt>
              </c:strCache>
            </c:strRef>
          </c:tx>
          <c:spPr>
            <a:solidFill>
              <a:srgbClr val="1F7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Abiertos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31-90 días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Abiertos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91-180 días</c:v>
                </c:pt>
              </c:strCache>
            </c:strRef>
          </c:tx>
          <c:spPr>
            <a:solidFill>
              <a:srgbClr val="9A6B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Abiertos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181-365 días</c:v>
                </c:pt>
              </c:strCache>
            </c:strRef>
          </c:tx>
          <c:spPr>
            <a:solidFill>
              <a:srgbClr val="8A55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Abiertos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Especialidades con más hallazgos (8 de 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ELÉCTRICA</c:v>
                  </c:pt>
                  <c:pt idx="1">
                    <c:v>ADMINISTRACIÓN</c:v>
                  </c:pt>
                  <c:pt idx="2">
                    <c:v>OO.CC</c:v>
                  </c:pt>
                  <c:pt idx="3">
                    <c:v>RRLL</c:v>
                  </c:pt>
                  <c:pt idx="4">
                    <c:v>CALIDAD</c:v>
                  </c:pt>
                  <c:pt idx="5">
                    <c:v>EXPEDITORÍA</c:v>
                  </c:pt>
                  <c:pt idx="6">
                    <c:v>LOGÍSTICA</c:v>
                  </c:pt>
                  <c:pt idx="7">
                    <c:v>ADQUISICIONES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12</c:v>
                </c:pt>
                <c:pt idx="2">
                  <c:v>10</c:v>
                </c:pt>
                <c:pt idx="3">
                  <c:v>10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Abiertos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ELÉCTRICA</c:v>
                  </c:pt>
                  <c:pt idx="1">
                    <c:v>ADMINISTRACIÓN</c:v>
                  </c:pt>
                  <c:pt idx="2">
                    <c:v>OO.CC</c:v>
                  </c:pt>
                  <c:pt idx="3">
                    <c:v>RRLL</c:v>
                  </c:pt>
                  <c:pt idx="4">
                    <c:v>CALIDAD</c:v>
                  </c:pt>
                  <c:pt idx="5">
                    <c:v>EXPEDITORÍA</c:v>
                  </c:pt>
                  <c:pt idx="6">
                    <c:v>LOGÍSTICA</c:v>
                  </c:pt>
                  <c:pt idx="7">
                    <c:v>ADQUISICIONES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</c:v>
                </c:pt>
                <c:pt idx="6">
                  <c:v/>
                </c:pt>
                <c:pt idx="7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Especialidades con más hallazgos (8 de 12)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OO.CC</c:v>
                  </c:pt>
                  <c:pt idx="1">
                    <c:v>CALIDAD</c:v>
                  </c:pt>
                  <c:pt idx="2">
                    <c:v>PIPING</c:v>
                  </c:pt>
                  <c:pt idx="3">
                    <c:v>ELÉCTRICA</c:v>
                  </c:pt>
                  <c:pt idx="4">
                    <c:v>TOPOGRAFÍA</c:v>
                  </c:pt>
                  <c:pt idx="5">
                    <c:v>ESTRUCTURA</c:v>
                  </c:pt>
                  <c:pt idx="6">
                    <c:v>ADQUISICIONES</c:v>
                  </c:pt>
                  <c:pt idx="7">
                    <c:v>GENERAL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147</c:v>
                </c:pt>
                <c:pt idx="1">
                  <c:v>26</c:v>
                </c:pt>
                <c:pt idx="2">
                  <c:v>19</c:v>
                </c:pt>
                <c:pt idx="3">
                  <c:v>11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Abiertos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OO.CC</c:v>
                  </c:pt>
                  <c:pt idx="1">
                    <c:v>CALIDAD</c:v>
                  </c:pt>
                  <c:pt idx="2">
                    <c:v>PIPING</c:v>
                  </c:pt>
                  <c:pt idx="3">
                    <c:v>ELÉCTRICA</c:v>
                  </c:pt>
                  <c:pt idx="4">
                    <c:v>TOPOGRAFÍA</c:v>
                  </c:pt>
                  <c:pt idx="5">
                    <c:v>ESTRUCTURA</c:v>
                  </c:pt>
                  <c:pt idx="6">
                    <c:v>ADQUISICIONES</c:v>
                  </c:pt>
                  <c:pt idx="7">
                    <c:v>GENERAL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Especialidades con más hallazgos (8 de 19)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EXPEDITORÍA</c:v>
                  </c:pt>
                  <c:pt idx="1">
                    <c:v>OO.CC</c:v>
                  </c:pt>
                  <c:pt idx="2">
                    <c:v>MECÁNICA</c:v>
                  </c:pt>
                  <c:pt idx="3">
                    <c:v>ESTRUCTURA</c:v>
                  </c:pt>
                  <c:pt idx="4">
                    <c:v>PIPING</c:v>
                  </c:pt>
                  <c:pt idx="5">
                    <c:v>BODEGA</c:v>
                  </c:pt>
                  <c:pt idx="6">
                    <c:v>SUBCONTRATO</c:v>
                  </c:pt>
                  <c:pt idx="7">
                    <c:v>EE.II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32</c:v>
                </c:pt>
                <c:pt idx="2">
                  <c:v>21</c:v>
                </c:pt>
                <c:pt idx="3">
                  <c:v>18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Abiertos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EXPEDITORÍA</c:v>
                  </c:pt>
                  <c:pt idx="1">
                    <c:v>OO.CC</c:v>
                  </c:pt>
                  <c:pt idx="2">
                    <c:v>MECÁNICA</c:v>
                  </c:pt>
                  <c:pt idx="3">
                    <c:v>ESTRUCTURA</c:v>
                  </c:pt>
                  <c:pt idx="4">
                    <c:v>PIPING</c:v>
                  </c:pt>
                  <c:pt idx="5">
                    <c:v>BODEGA</c:v>
                  </c:pt>
                  <c:pt idx="6">
                    <c:v>SUBCONTRATO</c:v>
                  </c:pt>
                  <c:pt idx="7">
                    <c:v>EE.II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pic>
        <p:nvPicPr>
          <p:cNvPr id="4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Conformidades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calidad y su corrección · 3 proyectos y Oficina Central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hallazgos levantados entre 10-02-2023 y 30-09-2026 (Desaladora 82 · Talabre 253 · Arqueros 172 · Oficina Central 8).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cierre · origen interno y externo · antigüedad de lo que sigue abierto · velocidad de corrección por frente.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96,1%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cerrados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d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cierre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10.613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declaradas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12-10-2026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global de los cuatro frentes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495/515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hallazgos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abiertos · 9 con más de 180 días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515 levantados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abiertos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listo para revisión · 1 iniciado · 6 observada · 2 pendiente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31,4%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159/506 clasificados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5664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Autodetección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levanta Besalco antes que el cliente o un subcontrato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1F7A44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10.613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de 515 con costo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17736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declarado (UF)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hallazgos no declaran costo: la cifra es un piso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3931920"/>
            <a:ext cx="11274552" cy="2212848"/>
          </a:xfrm>
          <a:prstGeom prst="roundRect">
            <a:avLst>
              <a:gd name="adj" fmla="val 2479"/>
            </a:avLst>
          </a:prstGeom>
          <a:solidFill>
            <a:srgbClr val="12233B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4096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PERÍODO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449884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2" name="Text 29"/>
          <p:cNvSpPr/>
          <p:nvPr/>
        </p:nvSpPr>
        <p:spPr>
          <a:xfrm>
            <a:off x="1051560" y="43982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concentra el pendiente.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los 20 hallazgos abiertos (85%), y es uno de los frentes donde el cliente levanta más de lo que detecta Besalco (79 del cliente contra 53 internas).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22960" y="504748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4" name="Text 31"/>
          <p:cNvSpPr/>
          <p:nvPr/>
        </p:nvSpPr>
        <p:spPr>
          <a:xfrm>
            <a:off x="1051560" y="49469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 cerró sin hallazgos nuevos.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05-10-2026 y el 11-10-2026 no se levantó ningún hallazgo en ningún frente.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22960" y="559612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6" name="Text 33"/>
          <p:cNvSpPr/>
          <p:nvPr/>
        </p:nvSpPr>
        <p:spPr>
          <a:xfrm>
            <a:off x="1051560" y="54955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los 20 abiertos están fuera del plazo de respuesta.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es de 10 días desde que se emite la NC. De los atrasados, 9 llevan más de 180 días abiertos y 0 más de un año: no es atraso de días, es deuda vieja.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FRENTE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de no conformidades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si hay más de 15 abiertas o el cierre baja de 85% · Atención si hay más de 3 abiertas o el cierre queda bajo 95% · Al día en caso contrario.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971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LEVANTADOS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7764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9377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CIERRE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665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8096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SUBCONTR.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87552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UF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9270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2231136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359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ANTOFAGASTA MINERALS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71800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977640" y="24323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5216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6656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680960" y="24323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778240" y="24323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875520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927080" y="245059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8" name="Text 25"/>
          <p:cNvSpPr/>
          <p:nvPr/>
        </p:nvSpPr>
        <p:spPr>
          <a:xfrm>
            <a:off x="10927080" y="2459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3063240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3063240"/>
            <a:ext cx="112928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CODELCO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971800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977640" y="3182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937760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852160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99,2%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66560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680960" y="3182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778240" y="3182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875520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5.818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0927080" y="32004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2" name="Text 39"/>
          <p:cNvSpPr/>
          <p:nvPr/>
        </p:nvSpPr>
        <p:spPr>
          <a:xfrm>
            <a:off x="10927080" y="3209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2920" y="381304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" y="3858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0292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297180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39776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93776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85216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90,1%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76656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7680960" y="3931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778240" y="3931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987552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3.392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10927080" y="395020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5" name="Text 52"/>
          <p:cNvSpPr/>
          <p:nvPr/>
        </p:nvSpPr>
        <p:spPr>
          <a:xfrm>
            <a:off x="10927080" y="3959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02920" y="4562856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7200" y="4562856"/>
            <a:ext cx="112928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608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Central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502920" y="4910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BESALCO MONTAJES · no es obra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2971800" y="4681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3977640" y="46817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4937760" y="4681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852160" y="4681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6766560" y="4681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7680960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8778240" y="4681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9875520" y="4681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10927080" y="4700016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69" name="Text 66"/>
          <p:cNvSpPr/>
          <p:nvPr/>
        </p:nvSpPr>
        <p:spPr>
          <a:xfrm>
            <a:off x="10927080" y="4709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502920" y="5312664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02920" y="53766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proyectos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502920" y="5678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Oficina Central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2971800" y="5449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3977640" y="5449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4937760" y="5449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5852160" y="5449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96,1%</a:t>
            </a:r>
            <a:endParaRPr lang="en-US" sz="1300" dirty="0"/>
          </a:p>
        </p:txBody>
      </p:sp>
      <p:sp>
        <p:nvSpPr>
          <p:cNvPr id="77" name="Text 74"/>
          <p:cNvSpPr/>
          <p:nvPr/>
        </p:nvSpPr>
        <p:spPr>
          <a:xfrm>
            <a:off x="6766560" y="5449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7680960" y="5449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1300" dirty="0"/>
          </a:p>
        </p:txBody>
      </p:sp>
      <p:sp>
        <p:nvSpPr>
          <p:cNvPr id="79" name="Text 76"/>
          <p:cNvSpPr/>
          <p:nvPr/>
        </p:nvSpPr>
        <p:spPr>
          <a:xfrm>
            <a:off x="8778240" y="5449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9875520" y="5449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10.613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cierre global 32 días · el hallazgo más lento tomó 427 días · 8 hallazgos sin especialidad declarada.</a:t>
            </a:r>
            <a:endParaRPr lang="en-US" sz="950" dirty="0"/>
          </a:p>
        </p:txBody>
      </p:sp>
      <p:sp>
        <p:nvSpPr>
          <p:cNvPr id="82" name="Text 7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DEL PERÍODO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Levantados en la última semana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05-10-2026 y el 11-10-2026 no se levantó ningún hallazgo en ningún frente.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58521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92240" y="1783080"/>
            <a:ext cx="5239512" cy="1874520"/>
          </a:xfrm>
          <a:prstGeom prst="roundRect">
            <a:avLst>
              <a:gd name="adj" fmla="val 2927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6766560" y="1892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SALIERON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766560" y="22402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183880" y="22402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66560" y="25694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183880" y="25694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766560" y="2898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183880" y="28986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66560" y="32278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183880" y="32278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371246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HALLAZGOS NUEVOS EN EL PERÍODO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292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levantó ningún hallazgo entre el 05-10-2026 y el 11-10-2026 en ningún frente.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HALLAZGO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levanta las no conformidades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es autodetección: la levanta Besalco antes que nadie. Externa la levanta el cliente —compromete el contrato— o un subcontrato. Autodetección global: 31,4%.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6035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VÍA  ·  atrasada = abierta que pasó los 10 días de plazo  ·  promedio en respuesta = días de emisión a cierre, solo sobre las cerradas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0292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DE EMISIÓN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011680" y="4462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788920" y="4462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566160" y="4462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CIERRE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343400" y="4462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120640" y="4462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06440" y="44622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PROM. RESPUESTA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" y="4773168"/>
            <a:ext cx="635508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490118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(Besalco)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011680" y="490118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88920" y="490118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66160" y="490118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98,7%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43400" y="490118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20640" y="4901184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806440" y="490118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días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5129784"/>
            <a:ext cx="635508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5138928"/>
            <a:ext cx="64008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518464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6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011680" y="51846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788920" y="51846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66160" y="51846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343400" y="51846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120640" y="5184648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806440" y="518464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días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02920" y="5413248"/>
            <a:ext cx="635508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2920" y="546811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5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Subcontrato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2011680" y="54681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2788920" y="54681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3566160" y="54681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343400" y="54681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5120640" y="546811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806440" y="546811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días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502920" y="5696712"/>
            <a:ext cx="635508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7200" y="5705856"/>
            <a:ext cx="64008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8"/>
          <p:cNvSpPr/>
          <p:nvPr/>
        </p:nvSpPr>
        <p:spPr>
          <a:xfrm>
            <a:off x="502920" y="575157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clasificar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011680" y="575157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2788920" y="575157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3566160" y="575157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343400" y="575157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120640" y="5751576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806440" y="575157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días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502920" y="5980176"/>
            <a:ext cx="635508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02920" y="6035040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vías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2011680" y="603504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2788920" y="603504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3566160" y="603504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96,1%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4343400" y="603504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55" name="Text 51"/>
          <p:cNvSpPr/>
          <p:nvPr/>
        </p:nvSpPr>
        <p:spPr>
          <a:xfrm>
            <a:off x="5120640" y="6035040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5806440" y="6035040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días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502920" y="6263640"/>
            <a:ext cx="635508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graphicFrame>
        <p:nvGraphicFramePr>
          <p:cNvPr id="58" name="Chart 1" descr=""/>
          <p:cNvGraphicFramePr/>
          <p:nvPr/>
        </p:nvGraphicFramePr>
        <p:xfrm>
          <a:off x="6675120" y="1828800"/>
          <a:ext cx="505663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9" name="Shape 54"/>
          <p:cNvSpPr/>
          <p:nvPr/>
        </p:nvSpPr>
        <p:spPr>
          <a:xfrm>
            <a:off x="6675120" y="4572000"/>
            <a:ext cx="5056632" cy="1280160"/>
          </a:xfrm>
          <a:prstGeom prst="roundRect">
            <a:avLst>
              <a:gd name="adj" fmla="val 4286"/>
            </a:avLst>
          </a:prstGeom>
          <a:solidFill>
            <a:srgbClr val="12233B"/>
          </a:solidFill>
          <a:ln/>
        </p:spPr>
      </p:sp>
      <p:sp>
        <p:nvSpPr>
          <p:cNvPr id="60" name="Text 55"/>
          <p:cNvSpPr/>
          <p:nvPr/>
        </p:nvSpPr>
        <p:spPr>
          <a:xfrm>
            <a:off x="6949440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AUTODETECCIÓN POR FRENTE</a:t>
            </a:r>
            <a:endParaRPr lang="en-US" sz="1050" dirty="0"/>
          </a:p>
        </p:txBody>
      </p:sp>
      <p:sp>
        <p:nvSpPr>
          <p:cNvPr id="61" name="Text 56"/>
          <p:cNvSpPr/>
          <p:nvPr/>
        </p:nvSpPr>
        <p:spPr>
          <a:xfrm>
            <a:off x="6949440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66,7%</a:t>
            </a:r>
            <a:endParaRPr lang="en-US" sz="2400" dirty="0"/>
          </a:p>
        </p:txBody>
      </p:sp>
      <p:sp>
        <p:nvSpPr>
          <p:cNvPr id="62" name="Text 57"/>
          <p:cNvSpPr/>
          <p:nvPr/>
        </p:nvSpPr>
        <p:spPr>
          <a:xfrm>
            <a:off x="6949440" y="5449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</a:t>
            </a:r>
            <a:endParaRPr lang="en-US" sz="1050" dirty="0"/>
          </a:p>
        </p:txBody>
      </p:sp>
      <p:sp>
        <p:nvSpPr>
          <p:cNvPr id="63" name="Text 58"/>
          <p:cNvSpPr/>
          <p:nvPr/>
        </p:nvSpPr>
        <p:spPr>
          <a:xfrm>
            <a:off x="8522208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20,6%</a:t>
            </a:r>
            <a:endParaRPr lang="en-US" sz="2400" dirty="0"/>
          </a:p>
        </p:txBody>
      </p:sp>
      <p:sp>
        <p:nvSpPr>
          <p:cNvPr id="64" name="Text 59"/>
          <p:cNvSpPr/>
          <p:nvPr/>
        </p:nvSpPr>
        <p:spPr>
          <a:xfrm>
            <a:off x="8522208" y="5449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</a:t>
            </a:r>
            <a:endParaRPr lang="en-US" sz="1050" dirty="0"/>
          </a:p>
        </p:txBody>
      </p:sp>
      <p:sp>
        <p:nvSpPr>
          <p:cNvPr id="65" name="Text 60"/>
          <p:cNvSpPr/>
          <p:nvPr/>
        </p:nvSpPr>
        <p:spPr>
          <a:xfrm>
            <a:off x="10094976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30,8%</a:t>
            </a:r>
            <a:endParaRPr lang="en-US" sz="2400" dirty="0"/>
          </a:p>
        </p:txBody>
      </p:sp>
      <p:sp>
        <p:nvSpPr>
          <p:cNvPr id="66" name="Text 61"/>
          <p:cNvSpPr/>
          <p:nvPr/>
        </p:nvSpPr>
        <p:spPr>
          <a:xfrm>
            <a:off x="10094976" y="5449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</a:t>
            </a:r>
            <a:endParaRPr lang="en-US" sz="1050" dirty="0"/>
          </a:p>
        </p:txBody>
      </p:sp>
      <p:sp>
        <p:nvSpPr>
          <p:cNvPr id="67" name="Text 62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69" name="Text 6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ABIERTO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Antigüedad y velocidad de corrección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20 hallazgos abiertos, 9 llevan más de 180 días desde que se levantaron y 0 más de un año. La mediana de cierre global es de 32 días.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6035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874520"/>
            <a:ext cx="5056632" cy="2377440"/>
          </a:xfrm>
          <a:prstGeom prst="roundRect">
            <a:avLst>
              <a:gd name="adj" fmla="val 2308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694944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PLAZO DE RESPUESTA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949440" y="2359152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proyecto es: 10 días para responder una NC desde que se emite; del día 11 en adelante corre atraso.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corte hay 20 hallazgos fuera de plazo de los 20 abiertos.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949440" y="3703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sobre la fecha de emisión: el Excel no declara una fecha comprometida de cierre —esa columna solo se llena al cerrar—.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CIERRE POR FRENTE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01752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29768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57784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663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2920" y="4974336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5102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017520" y="5102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297680" y="5102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577840" y="5102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49440" y="5102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229600" y="51023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02920" y="536752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5376672"/>
            <a:ext cx="11292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422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017520" y="5422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297680" y="5422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577840" y="5422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 d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949440" y="5422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229600" y="54223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568756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5742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301752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29768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d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5742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d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94944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229600" y="57424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más lento que el mejor frente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600760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7200" y="6016752"/>
            <a:ext cx="11292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8"/>
          <p:cNvSpPr/>
          <p:nvPr/>
        </p:nvSpPr>
        <p:spPr>
          <a:xfrm>
            <a:off x="502920" y="6062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Central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3017520" y="6062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4297680" y="6062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d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5577840" y="6062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d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6949440" y="6062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8229600" y="60624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más lento que el mejor frente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632764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LA NO CONFORMIDAD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mensual por disciplina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10.613 UF declaradas entre nov-24 y sep-26, imputadas al mes en que se levantó cada hallazgo. Las declaran 108 de 504 hallazgos del período.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10512"/>
          <a:ext cx="1199692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402336"/>
                <a:gridCol w="8229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b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OO.CC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EXPEDITORÍA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SUBCONTRATO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ELÉCTRICA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INSTRUMENTACIÓN Y CONTROL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Otras (4 disciplinas)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DEL 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 CON MONTO DECLARADO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56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108/504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POR CELDA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508760" y="4873752"/>
            <a:ext cx="128016" cy="128016"/>
          </a:xfrm>
          <a:prstGeom prst="rect">
            <a:avLst/>
          </a:prstGeom>
          <a:solidFill>
            <a:srgbClr val="BFDBFE"/>
          </a:solidFill>
          <a:ln w="6350">
            <a:solidFill>
              <a:srgbClr val="D9DFE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691640" y="4809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15768" y="4873752"/>
            <a:ext cx="128016" cy="128016"/>
          </a:xfrm>
          <a:prstGeom prst="rect">
            <a:avLst/>
          </a:prstGeom>
          <a:solidFill>
            <a:srgbClr val="93C5FD"/>
          </a:solidFill>
          <a:ln w="6350">
            <a:solidFill>
              <a:srgbClr val="D9DF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98648" y="4809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50–199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922776" y="4873752"/>
            <a:ext cx="128016" cy="128016"/>
          </a:xfrm>
          <a:prstGeom prst="rect">
            <a:avLst/>
          </a:prstGeom>
          <a:solidFill>
            <a:srgbClr val="60A5FA"/>
          </a:solidFill>
          <a:ln w="6350">
            <a:solidFill>
              <a:srgbClr val="D9DF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05656" y="4809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200–499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129784" y="4873752"/>
            <a:ext cx="128016" cy="128016"/>
          </a:xfrm>
          <a:prstGeom prst="rect">
            <a:avLst/>
          </a:prstGeom>
          <a:solidFill>
            <a:srgbClr val="3B82F6"/>
          </a:solidFill>
          <a:ln w="6350">
            <a:solidFill>
              <a:srgbClr val="D9DF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2664" y="4809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500–1.499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336792" y="4873752"/>
            <a:ext cx="128016" cy="128016"/>
          </a:xfrm>
          <a:prstGeom prst="rect">
            <a:avLst/>
          </a:prstGeom>
          <a:solidFill>
            <a:srgbClr val="1E40AF"/>
          </a:solidFill>
          <a:ln w="6350">
            <a:solidFill>
              <a:srgbClr val="D9DF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19672" y="4809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o más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11480" y="5285232"/>
            <a:ext cx="41148" cy="566928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19" name="Text 15"/>
          <p:cNvSpPr/>
          <p:nvPr/>
        </p:nvSpPr>
        <p:spPr>
          <a:xfrm>
            <a:off x="557784" y="52669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557784" y="5596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 un monto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206240" y="5285232"/>
            <a:ext cx="41148" cy="566928"/>
          </a:xfrm>
          <a:prstGeom prst="rect">
            <a:avLst/>
          </a:prstGeom>
          <a:solidFill>
            <a:srgbClr val="6E8CA8"/>
          </a:solidFill>
          <a:ln/>
        </p:spPr>
      </p:sp>
      <p:sp>
        <p:nvSpPr>
          <p:cNvPr id="22" name="Text 18"/>
          <p:cNvSpPr/>
          <p:nvPr/>
        </p:nvSpPr>
        <p:spPr>
          <a:xfrm>
            <a:off x="4352544" y="52669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4352544" y="5596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 0 — afirman que no costó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001000" y="5285232"/>
            <a:ext cx="4114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8147304" y="52669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8147304" y="5596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dejan la casilla vacía: no se sabe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57200" y="598932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se imputa al mes de emisión: la columna «Costo De La No Conformidad» no trae fecha propia. El mes más caro es jul-25 con 4.382 UF. Los últimos 5 meses no traen ningún monto declarado —un mes en blanco es «sin declarar», no «sin costo»—. La cifra es un piso del costo real.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GESTIÓN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poner el esfuerzo esta semana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91640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pendiente de Arqueros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los 20 hallazgos abiertos (85%) y 90,1% de cierre, contra 96,1% global. Es la ruta crítica del módulo.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1" name="Text 8"/>
          <p:cNvSpPr/>
          <p:nvPr/>
        </p:nvSpPr>
        <p:spPr>
          <a:xfrm>
            <a:off x="6519672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79792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la autodetección de Talabre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79792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20,6% de sus hallazgos los detecta Besalco; el mejor frente va en 66,7%. Lo que no se detecta adentro llega como observación del cliente.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691640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los 9 hallazgos sobre 180 días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91640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 ellos superan el año abiertos. Los tienen a cargo Sin asignar (9). Es deuda antigua que no se cierra sola.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45352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9" name="Text 16"/>
          <p:cNvSpPr/>
          <p:nvPr/>
        </p:nvSpPr>
        <p:spPr>
          <a:xfrm>
            <a:off x="6519672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479792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las 20 que pasaron el plazo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79792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es de 10 días desde la emisión y hoy lo incumplen 100% de los abiertos. Solo 0 siguen dentro de plazo.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CONSOLIDADO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pic>
        <p:nvPicPr>
          <p:cNvPr id="4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01 · P2416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Desaladora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ANTOFAGASTA MINERALS · Hallazgos de calidad y su corrección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hallazgos levantados · 54 internas · 19 del cliente · 8 de subcontrato · 18 especialidades involucradas.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cierre, antigüedad de lo que sigue abierto y novedades de la última semana.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98,8%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cerrados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d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cierre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66,7%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Autodetección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12-10-2026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ESTADO DE LOS HALLAZGOS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Cierre, disciplina y origen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cerrados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levantados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internas · 19 del cliente · 8 de subcontrato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1F7A44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98,8%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81/82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hallazgos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módulo: 96,1%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abierto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5664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listo para revisión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(mediana)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17736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cierre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lento tomó 250 días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3886200"/>
          <a:ext cx="6949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7635240" y="3886200"/>
            <a:ext cx="4096512" cy="2468880"/>
          </a:xfrm>
          <a:prstGeom prst="roundRect">
            <a:avLst>
              <a:gd name="adj" fmla="val 2222"/>
            </a:avLst>
          </a:prstGeom>
          <a:solidFill>
            <a:srgbClr val="12233B"/>
          </a:solidFill>
          <a:ln/>
        </p:spPr>
      </p:sp>
      <p:sp>
        <p:nvSpPr>
          <p:cNvPr id="31" name="Text 27"/>
          <p:cNvSpPr/>
          <p:nvPr/>
        </p:nvSpPr>
        <p:spPr>
          <a:xfrm>
            <a:off x="788212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HALLAZGO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882128" y="4261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66,7%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9098280" y="4261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autodetección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 31,4%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882128" y="4791456"/>
            <a:ext cx="365760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900416" y="4974336"/>
            <a:ext cx="164592" cy="164592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36" name="Text 32"/>
          <p:cNvSpPr/>
          <p:nvPr/>
        </p:nvSpPr>
        <p:spPr>
          <a:xfrm>
            <a:off x="8156448" y="48828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(Besalco)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287000" y="4882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10972800" y="4882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900416" y="5340096"/>
            <a:ext cx="164592" cy="164592"/>
          </a:xfrm>
          <a:prstGeom prst="ellipse">
            <a:avLst/>
          </a:prstGeom>
          <a:solidFill>
            <a:srgbClr val="9A6B0F"/>
          </a:solidFill>
          <a:ln/>
        </p:spPr>
      </p:sp>
      <p:sp>
        <p:nvSpPr>
          <p:cNvPr id="40" name="Text 36"/>
          <p:cNvSpPr/>
          <p:nvPr/>
        </p:nvSpPr>
        <p:spPr>
          <a:xfrm>
            <a:off x="8156448" y="52486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0287000" y="524865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ab.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0972800" y="5248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7900416" y="5705856"/>
            <a:ext cx="164592" cy="164592"/>
          </a:xfrm>
          <a:prstGeom prst="ellipse">
            <a:avLst/>
          </a:prstGeom>
          <a:solidFill>
            <a:srgbClr val="8A5520"/>
          </a:solidFill>
          <a:ln/>
        </p:spPr>
      </p:sp>
      <p:sp>
        <p:nvSpPr>
          <p:cNvPr id="44" name="Text 40"/>
          <p:cNvSpPr/>
          <p:nvPr/>
        </p:nvSpPr>
        <p:spPr>
          <a:xfrm>
            <a:off x="8156448" y="5614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Subcontrato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10287000" y="5614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ab.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10972800" y="56144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7900416" y="6071616"/>
            <a:ext cx="164592" cy="16459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48" name="Text 44"/>
          <p:cNvSpPr/>
          <p:nvPr/>
        </p:nvSpPr>
        <p:spPr>
          <a:xfrm>
            <a:off x="8156448" y="5980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clasificar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0287000" y="598017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ab.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10972800" y="5980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PENDIENTE Y NOVEDADES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abiertos y lo levantado en la semana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hallazgo sigue abierto; 0 con más de 180 días. Se listan del más antiguo al más reciente.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26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3484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640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185416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13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7160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26080" y="2313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(Besalco)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34840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EXPEDITORÍA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Flores U.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46404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en manilla de válvula 4515-HV-…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2606040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58064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9EDF2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5806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05-10-2026 — 11-10-2026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0" y="58064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hallazgos nuevos en el período.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pic>
        <p:nvPicPr>
          <p:cNvPr id="4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02 · P2407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Talabre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CODELCO · Hallazgos de calidad y su corrección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hallazgos levantados · 52 internas · 201 del cliente · 12 especialidades involucradas.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cierre, antigüedad de lo que sigue abierto y novedades de la última semana.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cerrados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d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cierre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Autodetección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12-10-2026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ESTADO DE LOS HALLAZGOS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Cierre, disciplina y origen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cerrados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levantados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internas · 201 del cliente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1F7A44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251/253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hallazgos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módulo: 96,1%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abiertos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5664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listo para revisión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(mediana)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17736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cierre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lento tomó 407 días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3886200"/>
          <a:ext cx="6949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7635240" y="3886200"/>
            <a:ext cx="4096512" cy="2468880"/>
          </a:xfrm>
          <a:prstGeom prst="roundRect">
            <a:avLst>
              <a:gd name="adj" fmla="val 2222"/>
            </a:avLst>
          </a:prstGeom>
          <a:solidFill>
            <a:srgbClr val="12233B"/>
          </a:solidFill>
          <a:ln/>
        </p:spPr>
      </p:sp>
      <p:sp>
        <p:nvSpPr>
          <p:cNvPr id="31" name="Text 27"/>
          <p:cNvSpPr/>
          <p:nvPr/>
        </p:nvSpPr>
        <p:spPr>
          <a:xfrm>
            <a:off x="788212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HALLAZGO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882128" y="4261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20,6%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9098280" y="4261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autodetección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 31,4%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882128" y="4791456"/>
            <a:ext cx="365760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900416" y="4974336"/>
            <a:ext cx="164592" cy="164592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36" name="Text 32"/>
          <p:cNvSpPr/>
          <p:nvPr/>
        </p:nvSpPr>
        <p:spPr>
          <a:xfrm>
            <a:off x="8156448" y="48828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(Besalco)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287000" y="4882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ab.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10972800" y="4882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900416" y="5340096"/>
            <a:ext cx="164592" cy="164592"/>
          </a:xfrm>
          <a:prstGeom prst="ellipse">
            <a:avLst/>
          </a:prstGeom>
          <a:solidFill>
            <a:srgbClr val="9A6B0F"/>
          </a:solidFill>
          <a:ln/>
        </p:spPr>
      </p:sp>
      <p:sp>
        <p:nvSpPr>
          <p:cNvPr id="40" name="Text 36"/>
          <p:cNvSpPr/>
          <p:nvPr/>
        </p:nvSpPr>
        <p:spPr>
          <a:xfrm>
            <a:off x="8156448" y="52486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0287000" y="524865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ab.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0972800" y="5248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PENDIENTE Y NOVEDADES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abiertos y lo levantado en la semana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hallazgos siguen abiertos; 0 con más de 180 días. Se listan del más antiguo al más reciente.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26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3484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640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185416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13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7160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26080" y="2313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34840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OO.CC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Rocha 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46404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Geomembrana presenta sectores en lo…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2606040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2615184"/>
            <a:ext cx="11292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371600" y="2660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926080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434840" y="2660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760720" y="2660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Soto B.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315200" y="2660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686800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464040" y="2660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dispone de una planificación …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2953512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58064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9EDF2"/>
          </a:solidFill>
          <a:ln/>
        </p:spPr>
      </p:sp>
      <p:sp>
        <p:nvSpPr>
          <p:cNvPr id="35" name="Text 32"/>
          <p:cNvSpPr/>
          <p:nvPr/>
        </p:nvSpPr>
        <p:spPr>
          <a:xfrm>
            <a:off x="713232" y="5806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05-10-2026 — 11-10-2026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200400" y="58064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hallazgos nuevos en el período.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pic>
        <p:nvPicPr>
          <p:cNvPr id="4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03 · P2342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Arqueros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· Hallazgos de calidad y su corrección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hallazgos levantados · 53 internas · 79 del cliente · 40 de subcontrato · 19 especialidades involucradas.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cierre, antigüedad de lo que sigue abierto y novedades de la última semana.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90,1%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cerrados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d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cierre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Autodetección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12-10-2026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ESTADO DE LOS HALLAZGOS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Cierre, disciplina y origen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cerrados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levantados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internas · 79 del cliente · 40 de subcontrato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1F7A44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90,1%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155/172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hallazgos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módulo: 96,1%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abiertos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5664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iniciado · 6 observada · 8 listo para revisión · 2 pendiente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(mediana)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17736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cierre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91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lento tomó 427 días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3886200"/>
          <a:ext cx="6949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7635240" y="3886200"/>
            <a:ext cx="4096512" cy="2468880"/>
          </a:xfrm>
          <a:prstGeom prst="roundRect">
            <a:avLst>
              <a:gd name="adj" fmla="val 2222"/>
            </a:avLst>
          </a:prstGeom>
          <a:solidFill>
            <a:srgbClr val="12233B"/>
          </a:solidFill>
          <a:ln/>
        </p:spPr>
      </p:sp>
      <p:sp>
        <p:nvSpPr>
          <p:cNvPr id="31" name="Text 27"/>
          <p:cNvSpPr/>
          <p:nvPr/>
        </p:nvSpPr>
        <p:spPr>
          <a:xfrm>
            <a:off x="788212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HALLAZGO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882128" y="4261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30,8%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9098280" y="4261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autodetección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módulo 31,4%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882128" y="4791456"/>
            <a:ext cx="365760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900416" y="4974336"/>
            <a:ext cx="164592" cy="164592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36" name="Text 32"/>
          <p:cNvSpPr/>
          <p:nvPr/>
        </p:nvSpPr>
        <p:spPr>
          <a:xfrm>
            <a:off x="8156448" y="48828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(Besalco)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287000" y="4882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10972800" y="4882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900416" y="5340096"/>
            <a:ext cx="164592" cy="164592"/>
          </a:xfrm>
          <a:prstGeom prst="ellipse">
            <a:avLst/>
          </a:prstGeom>
          <a:solidFill>
            <a:srgbClr val="9A6B0F"/>
          </a:solidFill>
          <a:ln/>
        </p:spPr>
      </p:sp>
      <p:sp>
        <p:nvSpPr>
          <p:cNvPr id="40" name="Text 36"/>
          <p:cNvSpPr/>
          <p:nvPr/>
        </p:nvSpPr>
        <p:spPr>
          <a:xfrm>
            <a:off x="8156448" y="52486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0287000" y="524865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ab.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10972800" y="5248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7900416" y="5705856"/>
            <a:ext cx="164592" cy="164592"/>
          </a:xfrm>
          <a:prstGeom prst="ellipse">
            <a:avLst/>
          </a:prstGeom>
          <a:solidFill>
            <a:srgbClr val="8A5520"/>
          </a:solidFill>
          <a:ln/>
        </p:spPr>
      </p:sp>
      <p:sp>
        <p:nvSpPr>
          <p:cNvPr id="44" name="Text 40"/>
          <p:cNvSpPr/>
          <p:nvPr/>
        </p:nvSpPr>
        <p:spPr>
          <a:xfrm>
            <a:off x="8156448" y="5614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Subcontrato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10287000" y="5614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ab.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10972800" y="56144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PENDIENTE Y NOVEDADES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abiertos y lo levantado en la semana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hallazgos siguen abiertos; 9 con más de 180 días. Se listan del más antiguo al más reciente.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26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3484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640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185416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13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MASA-24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7160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26080" y="2313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34840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OO.CC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46404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grout de los recesos de …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2606040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2615184"/>
            <a:ext cx="11292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MASA-37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371600" y="2660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926080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434840" y="2660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760720" y="2660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315200" y="2660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686800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464040" y="2660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transversal en chutes de…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2953512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3008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MASA-43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371600" y="3008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2926080" y="3008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434840" y="3008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760720" y="3008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315200" y="30083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686800" y="3008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464040" y="3008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Perforaciones faltantes en estructu…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02920" y="3300984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3310128"/>
            <a:ext cx="11292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355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MASA-48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371600" y="3355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2926080" y="3355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434840" y="3355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OO.CC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760720" y="3355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7315200" y="33558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8686800" y="3355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9464040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FISURACIÓN DE RADIER CELDAS COLUMNA…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02920" y="3648456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" y="3703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MASA-56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371600" y="3703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2926080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434840" y="3703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760720" y="3703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315200" y="3703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8686800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946404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 línea de cañería en P…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02920" y="399592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57200" y="4005072"/>
            <a:ext cx="11292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/>
          <p:nvPr/>
        </p:nvSpPr>
        <p:spPr>
          <a:xfrm>
            <a:off x="50292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MASA-66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1371600" y="40507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2926080" y="4050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443484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OO.CC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5760720" y="40507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7315200" y="4050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8686800" y="4050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946404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 estructura con red de…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502920" y="4343400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02920" y="4398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MASA-68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1371600" y="43982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2926080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4434840" y="4398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050" dirty="0"/>
          </a:p>
        </p:txBody>
      </p:sp>
      <p:sp>
        <p:nvSpPr>
          <p:cNvPr id="76" name="Text 73"/>
          <p:cNvSpPr/>
          <p:nvPr/>
        </p:nvSpPr>
        <p:spPr>
          <a:xfrm>
            <a:off x="5760720" y="43982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7315200" y="4398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8686800" y="4398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50" dirty="0"/>
          </a:p>
        </p:txBody>
      </p:sp>
      <p:sp>
        <p:nvSpPr>
          <p:cNvPr id="79" name="Text 76"/>
          <p:cNvSpPr/>
          <p:nvPr/>
        </p:nvSpPr>
        <p:spPr>
          <a:xfrm>
            <a:off x="9464040" y="4398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NIVELACIÓN DE LAS PLACAS BASE DE LO…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02920" y="4690872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57200" y="4700016"/>
            <a:ext cx="11292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502920" y="4745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MASA-70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1371600" y="4745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</a:t>
            </a:r>
            <a:endParaRPr lang="en-US" sz="1050" dirty="0"/>
          </a:p>
        </p:txBody>
      </p:sp>
      <p:sp>
        <p:nvSpPr>
          <p:cNvPr id="84" name="Text 81"/>
          <p:cNvSpPr/>
          <p:nvPr/>
        </p:nvSpPr>
        <p:spPr>
          <a:xfrm>
            <a:off x="2926080" y="4745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85" name="Text 82"/>
          <p:cNvSpPr/>
          <p:nvPr/>
        </p:nvSpPr>
        <p:spPr>
          <a:xfrm>
            <a:off x="443484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</a:t>
            </a:r>
            <a:endParaRPr lang="en-US" sz="1050" dirty="0"/>
          </a:p>
        </p:txBody>
      </p:sp>
      <p:sp>
        <p:nvSpPr>
          <p:cNvPr id="86" name="Text 83"/>
          <p:cNvSpPr/>
          <p:nvPr/>
        </p:nvSpPr>
        <p:spPr>
          <a:xfrm>
            <a:off x="5760720" y="4745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7315200" y="47457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revisi…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8686800" y="47457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9464040" y="4745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DE TUBERÍAS CELDAS DE FLO…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02920" y="5038344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02920" y="5093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MASA-73</a:t>
            </a:r>
            <a:endParaRPr lang="en-US" sz="1050" dirty="0"/>
          </a:p>
        </p:txBody>
      </p:sp>
      <p:sp>
        <p:nvSpPr>
          <p:cNvPr id="92" name="Text 89"/>
          <p:cNvSpPr/>
          <p:nvPr/>
        </p:nvSpPr>
        <p:spPr>
          <a:xfrm>
            <a:off x="1371600" y="5093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2926080" y="5093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· Cliente</a:t>
            </a:r>
            <a:endParaRPr lang="en-US" sz="1050" dirty="0"/>
          </a:p>
        </p:txBody>
      </p:sp>
      <p:sp>
        <p:nvSpPr>
          <p:cNvPr id="94" name="Text 91"/>
          <p:cNvSpPr/>
          <p:nvPr/>
        </p:nvSpPr>
        <p:spPr>
          <a:xfrm>
            <a:off x="4434840" y="5093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OO.CC</a:t>
            </a:r>
            <a:endParaRPr lang="en-US" sz="1050" dirty="0"/>
          </a:p>
        </p:txBody>
      </p:sp>
      <p:sp>
        <p:nvSpPr>
          <p:cNvPr id="95" name="Text 92"/>
          <p:cNvSpPr/>
          <p:nvPr/>
        </p:nvSpPr>
        <p:spPr>
          <a:xfrm>
            <a:off x="5760720" y="5093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050" dirty="0"/>
          </a:p>
        </p:txBody>
      </p:sp>
      <p:sp>
        <p:nvSpPr>
          <p:cNvPr id="96" name="Text 93"/>
          <p:cNvSpPr/>
          <p:nvPr/>
        </p:nvSpPr>
        <p:spPr>
          <a:xfrm>
            <a:off x="7315200" y="50932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97" name="Text 94"/>
          <p:cNvSpPr/>
          <p:nvPr/>
        </p:nvSpPr>
        <p:spPr>
          <a:xfrm>
            <a:off x="8686800" y="5093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1050" dirty="0"/>
          </a:p>
        </p:txBody>
      </p:sp>
      <p:sp>
        <p:nvSpPr>
          <p:cNvPr id="98" name="Text 95"/>
          <p:cNvSpPr/>
          <p:nvPr/>
        </p:nvSpPr>
        <p:spPr>
          <a:xfrm>
            <a:off x="9464040" y="5093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Condicioón fundación de riel grúa p…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502920" y="5385816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502920" y="5440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listan los 9 más antiguos de 17 abiertos; el detalle completo está en el panel.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457200" y="58064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9EDF2"/>
          </a:solidFill>
          <a:ln/>
        </p:spPr>
      </p:sp>
      <p:sp>
        <p:nvSpPr>
          <p:cNvPr id="102" name="Text 99"/>
          <p:cNvSpPr/>
          <p:nvPr/>
        </p:nvSpPr>
        <p:spPr>
          <a:xfrm>
            <a:off x="713232" y="5806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05-10-2026 — 11-10-2026</a:t>
            </a:r>
            <a:endParaRPr lang="en-US" sz="1000" dirty="0"/>
          </a:p>
        </p:txBody>
      </p:sp>
      <p:sp>
        <p:nvSpPr>
          <p:cNvPr id="103" name="Text 100"/>
          <p:cNvSpPr/>
          <p:nvPr/>
        </p:nvSpPr>
        <p:spPr>
          <a:xfrm>
            <a:off x="3200400" y="58064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hallazgos nuevos en el período.</a:t>
            </a:r>
            <a:endParaRPr lang="en-US" sz="1150" dirty="0"/>
          </a:p>
        </p:txBody>
      </p:sp>
      <p:sp>
        <p:nvSpPr>
          <p:cNvPr id="104" name="Text 101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Data_NCR.xlsx — hoja «Observaciones» · Corte 12-10-2026 · 515 registros desde 10-02-2023</a:t>
            </a:r>
            <a:endParaRPr lang="en-US" sz="850" dirty="0"/>
          </a:p>
        </p:txBody>
      </p:sp>
      <p:sp>
        <p:nvSpPr>
          <p:cNvPr id="105" name="Text 102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106" name="Text 10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No Conformidades — Gestión de Calidad</dc:title>
  <dc:subject>PptxGenJS Presentation</dc:subject>
  <dc:creator>Gestión de Calidad</dc:creator>
  <cp:lastModifiedBy>Gestión de Calidad</cp:lastModifiedBy>
  <cp:revision>1</cp:revision>
  <dcterms:created xsi:type="dcterms:W3CDTF">2026-10-13T13:58:44Z</dcterms:created>
  <dcterms:modified xsi:type="dcterms:W3CDTF">2026-10-13T13:58:44Z</dcterms:modified>
</cp:coreProperties>
</file>