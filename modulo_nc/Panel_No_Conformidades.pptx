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Ritmo semanal — la barra «3 sem.» acumula las semanas más viejas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30-06</c:v>
                  </c:pt>
                  <c:pt idx="2">
                    <c:v>07-07</c:v>
                  </c:pt>
                  <c:pt idx="3">
                    <c:v>14-07</c:v>
                  </c:pt>
                  <c:pt idx="4">
                    <c:v>21-07</c:v>
                  </c:pt>
                  <c:pt idx="5">
                    <c:v>28-07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2</c:v>
                </c:pt>
                <c:pt idx="2">
                  <c:v>1</c:v>
                </c:pt>
                <c:pt idx="3">
                  <c:v/>
                </c:pt>
                <c:pt idx="4">
                  <c:v>4</c:v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30-06</c:v>
                  </c:pt>
                  <c:pt idx="2">
                    <c:v>07-07</c:v>
                  </c:pt>
                  <c:pt idx="3">
                    <c:v>14-07</c:v>
                  </c:pt>
                  <c:pt idx="4">
                    <c:v>21-07</c:v>
                  </c:pt>
                  <c:pt idx="5">
                    <c:v>28-07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2</c:v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53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30</c:v>
                </c:pt>
                <c:pt idx="1">
                  <c:v>188</c:v>
                </c:pt>
                <c:pt idx="2">
                  <c:v>71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Opción de Mejora</c:v>
                  </c:pt>
                  <c:pt idx="4">
                    <c:v>Reporte HSE Nivel Alto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279</c:v>
                </c:pt>
                <c:pt idx="1">
                  <c:v>116</c:v>
                </c:pt>
                <c:pt idx="2">
                  <c:v>45</c:v>
                </c:pt>
                <c:pt idx="3">
                  <c:v>13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Opción de Mejora</c:v>
                  </c:pt>
                  <c:pt idx="4">
                    <c:v>Reporte HSE Nivel Alto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34</c:v>
                </c:pt>
                <c:pt idx="1">
                  <c:v>4</c:v>
                </c:pt>
                <c:pt idx="2">
                  <c:v>15</c:v>
                </c:pt>
                <c:pt idx="3">
                  <c:v>1</c:v>
                </c:pt>
                <c:pt idx="4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54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Más de un año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OO.CC</c:v>
                  </c:pt>
                  <c:pt idx="2">
                    <c:v>ADMINISTRACIÓN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ESTRUCTURA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</c:v>
                </c:pt>
                <c:pt idx="1">
                  <c:v>12</c:v>
                </c:pt>
                <c:pt idx="2">
                  <c:v>12</c:v>
                </c:pt>
                <c:pt idx="3">
                  <c:v>10</c:v>
                </c:pt>
                <c:pt idx="4">
                  <c:v>9</c:v>
                </c:pt>
                <c:pt idx="5">
                  <c:v>5</c:v>
                </c:pt>
                <c:pt idx="6">
                  <c:v>4</c:v>
                </c:pt>
                <c:pt idx="7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OO.CC</c:v>
                  </c:pt>
                  <c:pt idx="2">
                    <c:v>ADMINISTRACIÓN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ESTRUCTURA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131</c:v>
                </c:pt>
                <c:pt idx="1">
                  <c:v>23</c:v>
                </c:pt>
                <c:pt idx="2">
                  <c:v>16</c:v>
                </c:pt>
                <c:pt idx="3">
                  <c:v>11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9</c:v>
                </c:pt>
                <c:pt idx="1">
                  <c:v>3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ESTRUCTURA</c:v>
                  </c:pt>
                  <c:pt idx="6">
                    <c:v>TOPOGRAFÍA</c:v>
                  </c:pt>
                  <c:pt idx="7">
                    <c:v>MECÁNICA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</c:v>
                </c:pt>
                <c:pt idx="1">
                  <c:v>37</c:v>
                </c:pt>
                <c:pt idx="2">
                  <c:v>15</c:v>
                </c:pt>
                <c:pt idx="3">
                  <c:v>7</c:v>
                </c:pt>
                <c:pt idx="4">
                  <c:v>6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ESTRUCTURA</c:v>
                  </c:pt>
                  <c:pt idx="6">
                    <c:v>TOPOGRAFÍA</c:v>
                  </c:pt>
                  <c:pt idx="7">
                    <c:v>MECÁNICA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35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508 hallazgos levantados entre 10-02-2023 y 28-07-2026 (Desaladora 95 · Talabre 241 · Arqueros 164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89,4%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10.783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89,4%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454/508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abiertos · 17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508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iniciado · 1 no aceptado · 23 listo para revisión · 12 observada · 3 pendiente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32,5%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162/499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10.783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de 508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54 hallazgos abiertos (66,7%), y es uno de los frentes donde el cliente levanta más de lo que detecta Besalco (71 del cliente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1 hallazgo nuevo,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28-07-2026 al 03-08-2026: 1 del cliente en CALIDAD (1). Todos siguen abiertos; la semana anterior entraron 5.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no es medible con este archivo; se mide la antigüedad.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de los 54 abiertos trae fecha comprometida —la columna «Fecha De Cierre» solo se llena al cerrar—, así que se reporta la antigüedad: 17 llevan más de 180 días y 3 más de un año.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9718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77640" y="1920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9377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521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665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8096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CLIENTE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SUBCONTR.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87552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927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3591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26609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9718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977640" y="24323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377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8521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96,8%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665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68096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77824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87552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1.573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092708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8" name="Text 25"/>
          <p:cNvSpPr/>
          <p:nvPr/>
        </p:nvSpPr>
        <p:spPr>
          <a:xfrm>
            <a:off x="1092708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" y="3108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02920" y="34107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9718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3977640" y="318211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9377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8521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93,8%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665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768096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877824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87552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92708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92708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38587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50292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29718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3977640" y="3931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9377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58521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67665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76809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877824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987552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092708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5" name="Text 52"/>
          <p:cNvSpPr/>
          <p:nvPr/>
        </p:nvSpPr>
        <p:spPr>
          <a:xfrm>
            <a:off x="1092708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6085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9" name="Text 56"/>
          <p:cNvSpPr/>
          <p:nvPr/>
        </p:nvSpPr>
        <p:spPr>
          <a:xfrm>
            <a:off x="502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29718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3977640" y="4681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49377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Text 60"/>
          <p:cNvSpPr/>
          <p:nvPr/>
        </p:nvSpPr>
        <p:spPr>
          <a:xfrm>
            <a:off x="58521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67665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68096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77824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7" name="Text 64"/>
          <p:cNvSpPr/>
          <p:nvPr/>
        </p:nvSpPr>
        <p:spPr>
          <a:xfrm>
            <a:off x="987552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1092708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9" name="Text 66"/>
          <p:cNvSpPr/>
          <p:nvPr/>
        </p:nvSpPr>
        <p:spPr>
          <a:xfrm>
            <a:off x="1092708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502920" y="53766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502920" y="56784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29718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3977640" y="5449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446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9377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300" dirty="0"/>
          </a:p>
        </p:txBody>
      </p:sp>
      <p:sp>
        <p:nvSpPr>
          <p:cNvPr id="76" name="Text 73"/>
          <p:cNvSpPr/>
          <p:nvPr/>
        </p:nvSpPr>
        <p:spPr>
          <a:xfrm>
            <a:off x="58521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89,2%</a:t>
            </a:r>
            <a:endParaRPr lang="en-US" sz="1300" dirty="0"/>
          </a:p>
        </p:txBody>
      </p:sp>
      <p:sp>
        <p:nvSpPr>
          <p:cNvPr id="77" name="Text 74"/>
          <p:cNvSpPr/>
          <p:nvPr/>
        </p:nvSpPr>
        <p:spPr>
          <a:xfrm>
            <a:off x="67665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768096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289</a:t>
            </a:r>
            <a:endParaRPr lang="en-US" sz="1300" dirty="0"/>
          </a:p>
        </p:txBody>
      </p:sp>
      <p:sp>
        <p:nvSpPr>
          <p:cNvPr id="79" name="Text 76"/>
          <p:cNvSpPr/>
          <p:nvPr/>
        </p:nvSpPr>
        <p:spPr>
          <a:xfrm>
            <a:off x="877824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987552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10.783</a:t>
            </a:r>
            <a:endParaRPr lang="en-US" sz="1300" dirty="0"/>
          </a:p>
        </p:txBody>
      </p:sp>
      <p:sp>
        <p:nvSpPr>
          <p:cNvPr id="81" name="Text 78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30 días · el hallazgo más lento tomó 389 días · 78 hallazgos sin especialidad declarada.</a:t>
            </a:r>
            <a:endParaRPr lang="en-US" sz="950" dirty="0"/>
          </a:p>
        </p:txBody>
      </p:sp>
      <p:sp>
        <p:nvSpPr>
          <p:cNvPr id="82" name="Text 7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84" name="Text 8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28-07-2026 y el 03-08-2026 se levantó 1 hallazgo: 0 internas · 1 del cliente. Sigue abierto.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1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 1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28-07-2026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· RNC N°449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Ramirez B.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construcción n…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39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40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32,5%.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Shape 3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9" name="Text 4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10" name="Text 5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2400" dirty="0"/>
          </a:p>
        </p:txBody>
      </p:sp>
      <p:sp>
        <p:nvSpPr>
          <p:cNvPr id="11" name="Text 6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2400" dirty="0"/>
          </a:p>
        </p:txBody>
      </p:sp>
      <p:sp>
        <p:nvSpPr>
          <p:cNvPr id="13" name="Text 8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400" dirty="0"/>
          </a:p>
        </p:txBody>
      </p:sp>
      <p:sp>
        <p:nvSpPr>
          <p:cNvPr id="15" name="Text 10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54 hallazgos abiertos, 17 llevan más de 180 días desde que se levantaron y 3 más de un año. La mediana de cierre global es de 30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 — NO CALCULABLE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hallazgo abierto cuya fecha de cierre comprometida ya venció.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de los 54 abiertos trae esa fecha: la columna «Fecha De Cierre» del Excel solo se llena al cerrar. El indicador no se puede calcular y el panel lo declara en vez de informar 0 atrasados. En su lugar se usa la antigüedad.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4904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activarlo basta agregar al Excel una columna de fecha comprometida de cierre: el script ya la calcula.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389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Arqueros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54 hallazgos abiertos (66,7%) y 78% de cierre, contra 89,4%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22% de sus hallazgos los detecta Besalco; el mejor frente va en 59,6%.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17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ellos superan el año abiertos. Los tienen a cargo Sin asignar (14), Alvaro Cortés V. (3).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Habilitar la medición del atraso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al Excel una columna de fecha comprometida de cierre. Sin ella el indicador que pide el procedimiento no se puede calcular y hoy se reemplaza por la antigüedad.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hallazgos levantados · 56 internas · 30 del cliente · 8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internas · 30 del cliente · 8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92/95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89,4%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 · 2 iniciado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hallazgos siguen abiertos;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Opción de Mejora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Cristián Ellmen M.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Bodega de  Almacenamie…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Wilson Jara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Preservación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44" name="Text 41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46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hallazgos levantados · 53 internas · 188 del cliente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241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188 del cliente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226/241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89,4%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iniciado · 1 no aceptado · 2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389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hallazgos siguen abiertos; 3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Plan de Calidad de…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328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la recepción de ma…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Daños manguerotes en recepción/desc…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sin relleno estructural…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Wladimir Carvajal …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en geomembrana HDPE instalada…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proyectada asociada al ele…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209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Manifold EBMS, Fundaciones F…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la auditoría se identificar…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evidenció un Plan de Cierre d…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15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nuevo · 0 internas · 1 del cliente · CALIDAD 1 · 1 sigue abierto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 hallazgos levantados · 53 internas · 71 del cliente · 40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164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71 del cliente · 40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128/164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89,4%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 · 20 listo para revisión · 12 observada · 3 pendiente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313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hallazgos siguen abiertos; 14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395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conexión desde chute 220…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Uniones soldadas y touch-up en tolv…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MASA-6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361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 del grout de nivelación e…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MASA-8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de estructura metálica sin 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MASA-10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321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Vigas (puntales) Montadas Fuera de 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MASA-21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Técnico de Inspección – Fis…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MASA-24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grout de los recesos de 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270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 3700-MH-002, salida sala elé…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266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faltantes para apoyo de…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36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2026-08-03T17:10:39Z</dcterms:created>
  <dcterms:modified xsi:type="dcterms:W3CDTF">2026-08-03T17:10:39Z</dcterms:modified>
</cp:coreProperties>
</file>