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6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7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Ritmo semanal — la barra «3 sem.» acumula las semanas más viejas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Aún 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3 sem.</c:v>
                  </c:pt>
                  <c:pt idx="1">
                    <c:v>31-08</c:v>
                  </c:pt>
                  <c:pt idx="2">
                    <c:v>07-09</c:v>
                  </c:pt>
                  <c:pt idx="3">
                    <c:v>14-09</c:v>
                  </c:pt>
                  <c:pt idx="4">
                    <c:v>21-09</c:v>
                  </c:pt>
                  <c:pt idx="5">
                    <c:v>28-09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/>
                </c:pt>
                <c:pt idx="1">
                  <c:v>2</c:v>
                </c:pt>
                <c:pt idx="2">
                  <c:v/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Ya 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3 sem.</c:v>
                  </c:pt>
                  <c:pt idx="1">
                    <c:v>31-08</c:v>
                  </c:pt>
                  <c:pt idx="2">
                    <c:v>07-09</c:v>
                  </c:pt>
                  <c:pt idx="3">
                    <c:v>14-09</c:v>
                  </c:pt>
                  <c:pt idx="4">
                    <c:v>21-09</c:v>
                  </c:pt>
                  <c:pt idx="5">
                    <c:v>28-09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</c:v>
                </c:pt>
                <c:pt idx="1">
                  <c:v>5</c:v>
                </c:pt>
                <c:pt idx="2">
                  <c:v/>
                </c:pt>
                <c:pt idx="3">
                  <c:v>3</c:v>
                </c:pt>
                <c:pt idx="4">
                  <c:v/>
                </c:pt>
                <c:pt idx="5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frente y vía de emisión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Interna (Besalco)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54</c:v>
                </c:pt>
                <c:pt idx="1">
                  <c:v>52</c:v>
                </c:pt>
                <c:pt idx="2">
                  <c:v>53</c:v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Externa · Cliente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19</c:v>
                </c:pt>
                <c:pt idx="1">
                  <c:v>201</c:v>
                </c:pt>
                <c:pt idx="2">
                  <c:v>79</c:v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Externa · Subcontrato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</c:v>
                </c:pt>
                <c:pt idx="1">
                  <c:v/>
                </c:pt>
                <c:pt idx="2">
                  <c:v>40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clasificar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/>
                </c:pt>
                <c:pt idx="2">
                  <c:v/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tipo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Reporte HSE Nivel Alto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311</c:v>
                </c:pt>
                <c:pt idx="1">
                  <c:v>125</c:v>
                </c:pt>
                <c:pt idx="2">
                  <c:v>57</c:v>
                </c:pt>
                <c:pt idx="3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Reporte HSE Nivel Alto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17</c:v>
                </c:pt>
                <c:pt idx="1">
                  <c:v>1</c:v>
                </c:pt>
                <c:pt idx="2">
                  <c:v>3</c:v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Antigüedad de los 21 hallazgos abiertos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1-30 días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31-90 días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91-180 días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7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181-365 días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ADMINISTRACIÓN</c:v>
                  </c:pt>
                  <c:pt idx="2">
                    <c:v>OO.CC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ADQUISICIONES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15</c:v>
                </c:pt>
                <c:pt idx="1">
                  <c:v>12</c:v>
                </c:pt>
                <c:pt idx="2">
                  <c:v>10</c:v>
                </c:pt>
                <c:pt idx="3">
                  <c:v>10</c:v>
                </c:pt>
                <c:pt idx="4">
                  <c:v>7</c:v>
                </c:pt>
                <c:pt idx="5">
                  <c:v>4</c:v>
                </c:pt>
                <c:pt idx="6">
                  <c:v>4</c:v>
                </c:pt>
                <c:pt idx="7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ADMINISTRACIÓN</c:v>
                  </c:pt>
                  <c:pt idx="2">
                    <c:v>OO.CC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ADQUISICIONES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</c:v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12)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146</c:v>
                </c:pt>
                <c:pt idx="1">
                  <c:v>26</c:v>
                </c:pt>
                <c:pt idx="2">
                  <c:v>19</c:v>
                </c:pt>
                <c:pt idx="3">
                  <c:v>11</c:v>
                </c:pt>
                <c:pt idx="4">
                  <c:v>9</c:v>
                </c:pt>
                <c:pt idx="5">
                  <c:v>8</c:v>
                </c:pt>
                <c:pt idx="6">
                  <c:v>8</c:v>
                </c:pt>
                <c:pt idx="7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</c:v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19)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EXPEDITORÍA</c:v>
                  </c:pt>
                  <c:pt idx="1">
                    <c:v>OO.CC</c:v>
                  </c:pt>
                  <c:pt idx="2">
                    <c:v>MECÁNICA</c:v>
                  </c:pt>
                  <c:pt idx="3">
                    <c:v>ESTRUCTURA</c:v>
                  </c:pt>
                  <c:pt idx="4">
                    <c:v>PIPING</c:v>
                  </c:pt>
                  <c:pt idx="5">
                    <c:v>BODEGA</c:v>
                  </c:pt>
                  <c:pt idx="6">
                    <c:v>SUBCONTRATO</c:v>
                  </c:pt>
                  <c:pt idx="7">
                    <c:v>EE.II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38</c:v>
                </c:pt>
                <c:pt idx="1">
                  <c:v>32</c:v>
                </c:pt>
                <c:pt idx="2">
                  <c:v>21</c:v>
                </c:pt>
                <c:pt idx="3">
                  <c:v>18</c:v>
                </c:pt>
                <c:pt idx="4">
                  <c:v>8</c:v>
                </c:pt>
                <c:pt idx="5">
                  <c:v>7</c:v>
                </c:pt>
                <c:pt idx="6">
                  <c:v>6</c:v>
                </c:pt>
                <c:pt idx="7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EXPEDITORÍA</c:v>
                  </c:pt>
                  <c:pt idx="1">
                    <c:v>OO.CC</c:v>
                  </c:pt>
                  <c:pt idx="2">
                    <c:v>MECÁNICA</c:v>
                  </c:pt>
                  <c:pt idx="3">
                    <c:v>ESTRUCTURA</c:v>
                  </c:pt>
                  <c:pt idx="4">
                    <c:v>PIPING</c:v>
                  </c:pt>
                  <c:pt idx="5">
                    <c:v>BODEGA</c:v>
                  </c:pt>
                  <c:pt idx="6">
                    <c:v>SUBCONTRATO</c:v>
                  </c:pt>
                  <c:pt idx="7">
                    <c:v>EE.II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>5</c:v>
                </c:pt>
                <c:pt idx="2">
                  <c:v>5</c:v>
                </c:pt>
                <c:pt idx="3">
                  <c:v>1</c:v>
                </c:pt>
                <c:pt idx="4">
                  <c:v>6</c:v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CALIDAD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Conformidades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de calidad y su corrección · 3 proyectos y Oficina Central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515 hallazgos levantados entre 10-02-2023 y 30-09-2026 (Desaladora 82 · Talabre 253 · Arqueros 172 · Oficina Central 8).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 · origen interno y externo · antigüedad de lo que sigue abierto · velocidad de corrección por frente.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95,9%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10.613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declaradas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05-10-2026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05-10-2026 · 515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cuatro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95,9%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494/515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abiertos · 8 con más de 180 días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515 levantados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listo para revisión · 3 iniciado · 6 observada · 2 pendiente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31,4%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159/506 clasificados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levanta Besalco antes que el cliente o un subcontrato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10.613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251 de 515 con costo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declarado (UF)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264 hallazgos no declaran costo: la cifra es un piso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31920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096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concentra el pendiente.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de los 21 hallazgos abiertos (81%), y es uno de los frentes donde el cliente levanta más de lo que detecta Besalco (79 del cliente contra 53 internas).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822960" y="50474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9469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semana trajo 1 hallazgo nuevo, ninguno de autodetección.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28-09-2026 al 04-10-2026: 1 del cliente en OO.CC (1). Todos siguen abiertos; la semana anterior entraron 1.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822960" y="559612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49554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de los 21 abiertos están fuera del plazo de respuesta.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plazo es de 10 días desde que se emite la NC. De los atrasados, 8 llevan más de 180 días abiertos y 0 más de un año: no es atraso de días, es deuda vieja.</a:t>
            </a:r>
            <a:endParaRPr lang="en-US" sz="1250" dirty="0"/>
          </a:p>
        </p:txBody>
      </p:sp>
      <p:sp>
        <p:nvSpPr>
          <p:cNvPr id="37" name="Text 3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05-10-2026 · 515 registros desde 10-02-2023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POR FRENTE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de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 si hay más de 15 abiertas o el cierre baja de 85% · Atención si hay más de 3 abiertas o el cierre queda bajo 95% · Al día en caso contrario.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920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297180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LEVANTADOS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3977640" y="19202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9377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8521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CIERRE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6766560" y="19202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680960" y="1920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CLIENTE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8778240" y="1920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SUBCONTR.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987552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UF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1092708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502920" y="22311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2920" y="235915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02920" y="266090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297180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3977640" y="243230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9377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58521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98,8%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6766560" y="24323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7680960" y="24323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8778240" y="243230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987552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1.403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10927080" y="2450592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8" name="Text 25"/>
          <p:cNvSpPr/>
          <p:nvPr/>
        </p:nvSpPr>
        <p:spPr>
          <a:xfrm>
            <a:off x="10927080" y="245973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502920" y="30632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57200" y="3063240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8"/>
          <p:cNvSpPr/>
          <p:nvPr/>
        </p:nvSpPr>
        <p:spPr>
          <a:xfrm>
            <a:off x="502920" y="3108960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400" dirty="0"/>
          </a:p>
        </p:txBody>
      </p:sp>
      <p:sp>
        <p:nvSpPr>
          <p:cNvPr id="32" name="Text 29"/>
          <p:cNvSpPr/>
          <p:nvPr/>
        </p:nvSpPr>
        <p:spPr>
          <a:xfrm>
            <a:off x="502920" y="341071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297180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253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3977640" y="318211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49377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58521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98,8%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6766560" y="318211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7680960" y="31821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8778240" y="318211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87552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5.818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927080" y="3200400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42" name="Text 39"/>
          <p:cNvSpPr/>
          <p:nvPr/>
        </p:nvSpPr>
        <p:spPr>
          <a:xfrm>
            <a:off x="10927080" y="320954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38130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02920" y="3858768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400" dirty="0"/>
          </a:p>
        </p:txBody>
      </p:sp>
      <p:sp>
        <p:nvSpPr>
          <p:cNvPr id="45" name="Text 42"/>
          <p:cNvSpPr/>
          <p:nvPr/>
        </p:nvSpPr>
        <p:spPr>
          <a:xfrm>
            <a:off x="502920" y="41605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</a:t>
            </a:r>
            <a:endParaRPr lang="en-US" sz="950" dirty="0"/>
          </a:p>
        </p:txBody>
      </p:sp>
      <p:sp>
        <p:nvSpPr>
          <p:cNvPr id="46" name="Text 43"/>
          <p:cNvSpPr/>
          <p:nvPr/>
        </p:nvSpPr>
        <p:spPr>
          <a:xfrm>
            <a:off x="297180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172</a:t>
            </a:r>
            <a:endParaRPr lang="en-US" sz="1300" dirty="0"/>
          </a:p>
        </p:txBody>
      </p:sp>
      <p:sp>
        <p:nvSpPr>
          <p:cNvPr id="47" name="Text 44"/>
          <p:cNvSpPr/>
          <p:nvPr/>
        </p:nvSpPr>
        <p:spPr>
          <a:xfrm>
            <a:off x="3977640" y="393192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155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9377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58521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90,1%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6766560" y="39319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768096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</a:t>
            </a:r>
            <a:endParaRPr lang="en-US" sz="1300" dirty="0"/>
          </a:p>
        </p:txBody>
      </p:sp>
      <p:sp>
        <p:nvSpPr>
          <p:cNvPr id="52" name="Text 49"/>
          <p:cNvSpPr/>
          <p:nvPr/>
        </p:nvSpPr>
        <p:spPr>
          <a:xfrm>
            <a:off x="8778240" y="39319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987552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3.392</a:t>
            </a:r>
            <a:endParaRPr lang="en-US" sz="1300" dirty="0"/>
          </a:p>
        </p:txBody>
      </p:sp>
      <p:sp>
        <p:nvSpPr>
          <p:cNvPr id="54" name="Shape 51"/>
          <p:cNvSpPr/>
          <p:nvPr/>
        </p:nvSpPr>
        <p:spPr>
          <a:xfrm>
            <a:off x="10927080" y="395020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55" name="Text 52"/>
          <p:cNvSpPr/>
          <p:nvPr/>
        </p:nvSpPr>
        <p:spPr>
          <a:xfrm>
            <a:off x="10927080" y="395935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56" name="Shape 53"/>
          <p:cNvSpPr/>
          <p:nvPr/>
        </p:nvSpPr>
        <p:spPr>
          <a:xfrm>
            <a:off x="502920" y="45628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57200" y="4562856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5"/>
          <p:cNvSpPr/>
          <p:nvPr/>
        </p:nvSpPr>
        <p:spPr>
          <a:xfrm>
            <a:off x="502920" y="4608576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400" dirty="0"/>
          </a:p>
        </p:txBody>
      </p:sp>
      <p:sp>
        <p:nvSpPr>
          <p:cNvPr id="59" name="Text 56"/>
          <p:cNvSpPr/>
          <p:nvPr/>
        </p:nvSpPr>
        <p:spPr>
          <a:xfrm>
            <a:off x="502920" y="491032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BESALCO MONTAJES · no es obra</a:t>
            </a:r>
            <a:endParaRPr lang="en-US" sz="950" dirty="0"/>
          </a:p>
        </p:txBody>
      </p:sp>
      <p:sp>
        <p:nvSpPr>
          <p:cNvPr id="60" name="Text 57"/>
          <p:cNvSpPr/>
          <p:nvPr/>
        </p:nvSpPr>
        <p:spPr>
          <a:xfrm>
            <a:off x="297180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1" name="Text 58"/>
          <p:cNvSpPr/>
          <p:nvPr/>
        </p:nvSpPr>
        <p:spPr>
          <a:xfrm>
            <a:off x="3977640" y="468172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2" name="Text 59"/>
          <p:cNvSpPr/>
          <p:nvPr/>
        </p:nvSpPr>
        <p:spPr>
          <a:xfrm>
            <a:off x="49377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3" name="Text 60"/>
          <p:cNvSpPr/>
          <p:nvPr/>
        </p:nvSpPr>
        <p:spPr>
          <a:xfrm>
            <a:off x="58521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300" dirty="0"/>
          </a:p>
        </p:txBody>
      </p:sp>
      <p:sp>
        <p:nvSpPr>
          <p:cNvPr id="64" name="Text 61"/>
          <p:cNvSpPr/>
          <p:nvPr/>
        </p:nvSpPr>
        <p:spPr>
          <a:xfrm>
            <a:off x="6766560" y="46817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5" name="Text 62"/>
          <p:cNvSpPr/>
          <p:nvPr/>
        </p:nvSpPr>
        <p:spPr>
          <a:xfrm>
            <a:off x="7680960" y="4681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6" name="Text 63"/>
          <p:cNvSpPr/>
          <p:nvPr/>
        </p:nvSpPr>
        <p:spPr>
          <a:xfrm>
            <a:off x="8778240" y="468172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7" name="Text 64"/>
          <p:cNvSpPr/>
          <p:nvPr/>
        </p:nvSpPr>
        <p:spPr>
          <a:xfrm>
            <a:off x="987552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8" name="Shape 65"/>
          <p:cNvSpPr/>
          <p:nvPr/>
        </p:nvSpPr>
        <p:spPr>
          <a:xfrm>
            <a:off x="10927080" y="4700016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69" name="Text 66"/>
          <p:cNvSpPr/>
          <p:nvPr/>
        </p:nvSpPr>
        <p:spPr>
          <a:xfrm>
            <a:off x="10927080" y="470916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70" name="Shape 67"/>
          <p:cNvSpPr/>
          <p:nvPr/>
        </p:nvSpPr>
        <p:spPr>
          <a:xfrm>
            <a:off x="502920" y="531266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502920" y="537667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3 proyectos</a:t>
            </a:r>
            <a:endParaRPr lang="en-US" sz="1400" dirty="0"/>
          </a:p>
        </p:txBody>
      </p:sp>
      <p:sp>
        <p:nvSpPr>
          <p:cNvPr id="72" name="Text 69"/>
          <p:cNvSpPr/>
          <p:nvPr/>
        </p:nvSpPr>
        <p:spPr>
          <a:xfrm>
            <a:off x="502920" y="567842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Oficina Central</a:t>
            </a:r>
            <a:endParaRPr lang="en-US" sz="950" dirty="0"/>
          </a:p>
        </p:txBody>
      </p:sp>
      <p:sp>
        <p:nvSpPr>
          <p:cNvPr id="73" name="Text 70"/>
          <p:cNvSpPr/>
          <p:nvPr/>
        </p:nvSpPr>
        <p:spPr>
          <a:xfrm>
            <a:off x="297180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507</a:t>
            </a:r>
            <a:endParaRPr lang="en-US" sz="1300" dirty="0"/>
          </a:p>
        </p:txBody>
      </p:sp>
      <p:sp>
        <p:nvSpPr>
          <p:cNvPr id="74" name="Text 71"/>
          <p:cNvSpPr/>
          <p:nvPr/>
        </p:nvSpPr>
        <p:spPr>
          <a:xfrm>
            <a:off x="3977640" y="544982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486</a:t>
            </a:r>
            <a:endParaRPr lang="en-US" sz="1300" dirty="0"/>
          </a:p>
        </p:txBody>
      </p:sp>
      <p:sp>
        <p:nvSpPr>
          <p:cNvPr id="75" name="Text 72"/>
          <p:cNvSpPr/>
          <p:nvPr/>
        </p:nvSpPr>
        <p:spPr>
          <a:xfrm>
            <a:off x="49377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300" dirty="0"/>
          </a:p>
        </p:txBody>
      </p:sp>
      <p:sp>
        <p:nvSpPr>
          <p:cNvPr id="76" name="Text 73"/>
          <p:cNvSpPr/>
          <p:nvPr/>
        </p:nvSpPr>
        <p:spPr>
          <a:xfrm>
            <a:off x="58521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95,9%</a:t>
            </a:r>
            <a:endParaRPr lang="en-US" sz="1300" dirty="0"/>
          </a:p>
        </p:txBody>
      </p:sp>
      <p:sp>
        <p:nvSpPr>
          <p:cNvPr id="77" name="Text 74"/>
          <p:cNvSpPr/>
          <p:nvPr/>
        </p:nvSpPr>
        <p:spPr>
          <a:xfrm>
            <a:off x="6766560" y="544982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</a:t>
            </a:r>
            <a:endParaRPr lang="en-US" sz="1300" dirty="0"/>
          </a:p>
        </p:txBody>
      </p:sp>
      <p:sp>
        <p:nvSpPr>
          <p:cNvPr id="78" name="Text 75"/>
          <p:cNvSpPr/>
          <p:nvPr/>
        </p:nvSpPr>
        <p:spPr>
          <a:xfrm>
            <a:off x="7680960" y="54498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299</a:t>
            </a:r>
            <a:endParaRPr lang="en-US" sz="1300" dirty="0"/>
          </a:p>
        </p:txBody>
      </p:sp>
      <p:sp>
        <p:nvSpPr>
          <p:cNvPr id="79" name="Text 76"/>
          <p:cNvSpPr/>
          <p:nvPr/>
        </p:nvSpPr>
        <p:spPr>
          <a:xfrm>
            <a:off x="8778240" y="544982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300" dirty="0"/>
          </a:p>
        </p:txBody>
      </p:sp>
      <p:sp>
        <p:nvSpPr>
          <p:cNvPr id="80" name="Text 77"/>
          <p:cNvSpPr/>
          <p:nvPr/>
        </p:nvSpPr>
        <p:spPr>
          <a:xfrm>
            <a:off x="987552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10.613</a:t>
            </a:r>
            <a:endParaRPr lang="en-US" sz="1300" dirty="0"/>
          </a:p>
        </p:txBody>
      </p:sp>
      <p:sp>
        <p:nvSpPr>
          <p:cNvPr id="81" name="Text 78"/>
          <p:cNvSpPr/>
          <p:nvPr/>
        </p:nvSpPr>
        <p:spPr>
          <a:xfrm>
            <a:off x="457200" y="59893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 global 33 días · el hallazgo más lento tomó 419 días · 8 hallazgos sin especialidad declarada.</a:t>
            </a:r>
            <a:endParaRPr lang="en-US" sz="950" dirty="0"/>
          </a:p>
        </p:txBody>
      </p:sp>
      <p:sp>
        <p:nvSpPr>
          <p:cNvPr id="82" name="Text 7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05-10-2026 · 515 registros desde 10-02-2023</a:t>
            </a:r>
            <a:endParaRPr lang="en-US" sz="850" dirty="0"/>
          </a:p>
        </p:txBody>
      </p:sp>
      <p:sp>
        <p:nvSpPr>
          <p:cNvPr id="83" name="Text 8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84" name="Text 8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NOVEDADES DEL PERÍODO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Levantados en la última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el 28-09-2026 y el 04-10-2026 se levantó 1 hallazgo: 0 internas · 1 del cliente. Sigue abierto.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783080"/>
          <a:ext cx="585216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492240" y="1783080"/>
            <a:ext cx="5239512" cy="1874520"/>
          </a:xfrm>
          <a:prstGeom prst="roundRect">
            <a:avLst>
              <a:gd name="adj" fmla="val 2927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766560" y="18928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DÓNDE SALIERON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6766560" y="224028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8183880" y="2240280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 1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766560" y="256946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8183880" y="256946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766560" y="289864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8183880" y="2898648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 1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6766560" y="322783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8183880" y="3227832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 1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502920" y="3712464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DE LOS HALLAZGOS NUEVOS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502920" y="398678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137160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246888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356616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4983480" y="398678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6446520" y="3986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758952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9006840" y="39867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9921240" y="39867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502920" y="4297680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502920" y="442569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30-09-2026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137160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246888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254 · PNC N°202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356616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Confor…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4983480" y="442569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3" name="Text 29"/>
          <p:cNvSpPr/>
          <p:nvPr/>
        </p:nvSpPr>
        <p:spPr>
          <a:xfrm>
            <a:off x="6446520" y="442569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758952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Wladimir Carvaja…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9006840" y="442569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9921240" y="442569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Cortes no autorizados en la…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502920" y="47000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05-10-2026 · 515 registros desde 10-02-2023</a:t>
            </a:r>
            <a:endParaRPr lang="en-US" sz="850" dirty="0"/>
          </a:p>
        </p:txBody>
      </p:sp>
      <p:sp>
        <p:nvSpPr>
          <p:cNvPr id="39" name="Text 3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40" name="Text 3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 levanta las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es autodetección: la levanta Besalco antes que nadie. Externa la levanta el cliente —compromete el contrato— o un subcontrato. Autodetección global: 31,4%.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28800"/>
          <a:ext cx="6035040" cy="2240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502920" y="4160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CADA VÍA  ·  atrasada = abierta que pasó los 10 días de plazo  ·  promedio en respuesta = días de emisión a cierre, solo sobre las cerradas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02920" y="446227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VÍA DE EMISIÓN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201168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LEVANT.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278892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CERRADAS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356616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CIERRE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4343400" y="4462272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ABIERTAS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5120640" y="446227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ATRASADAS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5806440" y="446227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PROM. RESPUESTA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502920" y="4773168"/>
            <a:ext cx="635508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502920" y="4901184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7" name="Text 13"/>
          <p:cNvSpPr/>
          <p:nvPr/>
        </p:nvSpPr>
        <p:spPr>
          <a:xfrm>
            <a:off x="201168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278892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157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356616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98,7%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4343400" y="4901184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5120640" y="4901184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22" name="Text 18"/>
          <p:cNvSpPr/>
          <p:nvPr/>
        </p:nvSpPr>
        <p:spPr>
          <a:xfrm>
            <a:off x="5806440" y="4901184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 días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502920" y="5129784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457200" y="5138928"/>
            <a:ext cx="640080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1"/>
          <p:cNvSpPr/>
          <p:nvPr/>
        </p:nvSpPr>
        <p:spPr>
          <a:xfrm>
            <a:off x="502920" y="5184648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9A6B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201168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299</a:t>
            </a:r>
            <a:endParaRPr lang="en-US" sz="1050" dirty="0"/>
          </a:p>
        </p:txBody>
      </p:sp>
      <p:sp>
        <p:nvSpPr>
          <p:cNvPr id="27" name="Text 23"/>
          <p:cNvSpPr/>
          <p:nvPr/>
        </p:nvSpPr>
        <p:spPr>
          <a:xfrm>
            <a:off x="278892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280</a:t>
            </a:r>
            <a:endParaRPr lang="en-US" sz="1050" dirty="0"/>
          </a:p>
        </p:txBody>
      </p:sp>
      <p:sp>
        <p:nvSpPr>
          <p:cNvPr id="28" name="Text 24"/>
          <p:cNvSpPr/>
          <p:nvPr/>
        </p:nvSpPr>
        <p:spPr>
          <a:xfrm>
            <a:off x="356616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93,6%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4343400" y="5184648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5120640" y="5184648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5806440" y="5184648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días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502920" y="5413248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502920" y="5468112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8A55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201168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278892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356616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50" dirty="0"/>
          </a:p>
        </p:txBody>
      </p:sp>
      <p:sp>
        <p:nvSpPr>
          <p:cNvPr id="37" name="Text 33"/>
          <p:cNvSpPr/>
          <p:nvPr/>
        </p:nvSpPr>
        <p:spPr>
          <a:xfrm>
            <a:off x="4343400" y="5468112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5120640" y="5468112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39" name="Text 35"/>
          <p:cNvSpPr/>
          <p:nvPr/>
        </p:nvSpPr>
        <p:spPr>
          <a:xfrm>
            <a:off x="5806440" y="5468112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179 días</a:t>
            </a:r>
            <a:endParaRPr lang="en-US" sz="1050" dirty="0"/>
          </a:p>
        </p:txBody>
      </p:sp>
      <p:sp>
        <p:nvSpPr>
          <p:cNvPr id="40" name="Shape 36"/>
          <p:cNvSpPr/>
          <p:nvPr/>
        </p:nvSpPr>
        <p:spPr>
          <a:xfrm>
            <a:off x="502920" y="5696712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57200" y="5705856"/>
            <a:ext cx="6400800" cy="28346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38"/>
          <p:cNvSpPr/>
          <p:nvPr/>
        </p:nvSpPr>
        <p:spPr>
          <a:xfrm>
            <a:off x="502920" y="5751576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clasificar</a:t>
            </a:r>
            <a:endParaRPr lang="en-US" sz="1050" dirty="0"/>
          </a:p>
        </p:txBody>
      </p:sp>
      <p:sp>
        <p:nvSpPr>
          <p:cNvPr id="43" name="Text 39"/>
          <p:cNvSpPr/>
          <p:nvPr/>
        </p:nvSpPr>
        <p:spPr>
          <a:xfrm>
            <a:off x="201168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278892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50" dirty="0"/>
          </a:p>
        </p:txBody>
      </p:sp>
      <p:sp>
        <p:nvSpPr>
          <p:cNvPr id="45" name="Text 41"/>
          <p:cNvSpPr/>
          <p:nvPr/>
        </p:nvSpPr>
        <p:spPr>
          <a:xfrm>
            <a:off x="356616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50" dirty="0"/>
          </a:p>
        </p:txBody>
      </p:sp>
      <p:sp>
        <p:nvSpPr>
          <p:cNvPr id="46" name="Text 42"/>
          <p:cNvSpPr/>
          <p:nvPr/>
        </p:nvSpPr>
        <p:spPr>
          <a:xfrm>
            <a:off x="4343400" y="5751576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47" name="Text 43"/>
          <p:cNvSpPr/>
          <p:nvPr/>
        </p:nvSpPr>
        <p:spPr>
          <a:xfrm>
            <a:off x="5120640" y="5751576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48" name="Text 44"/>
          <p:cNvSpPr/>
          <p:nvPr/>
        </p:nvSpPr>
        <p:spPr>
          <a:xfrm>
            <a:off x="5806440" y="5751576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días</a:t>
            </a:r>
            <a:endParaRPr lang="en-US" sz="1050" dirty="0"/>
          </a:p>
        </p:txBody>
      </p:sp>
      <p:sp>
        <p:nvSpPr>
          <p:cNvPr id="49" name="Shape 45"/>
          <p:cNvSpPr/>
          <p:nvPr/>
        </p:nvSpPr>
        <p:spPr>
          <a:xfrm>
            <a:off x="502920" y="5980176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0" name="Text 46"/>
          <p:cNvSpPr/>
          <p:nvPr/>
        </p:nvSpPr>
        <p:spPr>
          <a:xfrm>
            <a:off x="502920" y="6035040"/>
            <a:ext cx="14630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las vías</a:t>
            </a:r>
            <a:endParaRPr lang="en-US" sz="1050" dirty="0"/>
          </a:p>
        </p:txBody>
      </p:sp>
      <p:sp>
        <p:nvSpPr>
          <p:cNvPr id="51" name="Text 47"/>
          <p:cNvSpPr/>
          <p:nvPr/>
        </p:nvSpPr>
        <p:spPr>
          <a:xfrm>
            <a:off x="201168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515</a:t>
            </a:r>
            <a:endParaRPr lang="en-US" sz="1050" dirty="0"/>
          </a:p>
        </p:txBody>
      </p:sp>
      <p:sp>
        <p:nvSpPr>
          <p:cNvPr id="52" name="Text 48"/>
          <p:cNvSpPr/>
          <p:nvPr/>
        </p:nvSpPr>
        <p:spPr>
          <a:xfrm>
            <a:off x="278892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494</a:t>
            </a:r>
            <a:endParaRPr lang="en-US" sz="1050" dirty="0"/>
          </a:p>
        </p:txBody>
      </p:sp>
      <p:sp>
        <p:nvSpPr>
          <p:cNvPr id="53" name="Text 49"/>
          <p:cNvSpPr/>
          <p:nvPr/>
        </p:nvSpPr>
        <p:spPr>
          <a:xfrm>
            <a:off x="356616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95,9%</a:t>
            </a:r>
            <a:endParaRPr lang="en-US" sz="1050" dirty="0"/>
          </a:p>
        </p:txBody>
      </p:sp>
      <p:sp>
        <p:nvSpPr>
          <p:cNvPr id="54" name="Text 50"/>
          <p:cNvSpPr/>
          <p:nvPr/>
        </p:nvSpPr>
        <p:spPr>
          <a:xfrm>
            <a:off x="4343400" y="6035040"/>
            <a:ext cx="73152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50" dirty="0"/>
          </a:p>
        </p:txBody>
      </p:sp>
      <p:sp>
        <p:nvSpPr>
          <p:cNvPr id="55" name="Text 51"/>
          <p:cNvSpPr/>
          <p:nvPr/>
        </p:nvSpPr>
        <p:spPr>
          <a:xfrm>
            <a:off x="5120640" y="6035040"/>
            <a:ext cx="777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5806440" y="6035040"/>
            <a:ext cx="10515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 días</a:t>
            </a:r>
            <a:endParaRPr lang="en-US" sz="1050" dirty="0"/>
          </a:p>
        </p:txBody>
      </p:sp>
      <p:sp>
        <p:nvSpPr>
          <p:cNvPr id="57" name="Shape 53"/>
          <p:cNvSpPr/>
          <p:nvPr/>
        </p:nvSpPr>
        <p:spPr>
          <a:xfrm>
            <a:off x="502920" y="6263640"/>
            <a:ext cx="635508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graphicFrame>
        <p:nvGraphicFramePr>
          <p:cNvPr id="58" name="Chart 1" descr=""/>
          <p:cNvGraphicFramePr/>
          <p:nvPr/>
        </p:nvGraphicFramePr>
        <p:xfrm>
          <a:off x="6675120" y="1828800"/>
          <a:ext cx="5056632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9" name="Shape 54"/>
          <p:cNvSpPr/>
          <p:nvPr/>
        </p:nvSpPr>
        <p:spPr>
          <a:xfrm>
            <a:off x="6675120" y="4572000"/>
            <a:ext cx="5056632" cy="1280160"/>
          </a:xfrm>
          <a:prstGeom prst="roundRect">
            <a:avLst>
              <a:gd name="adj" fmla="val 4286"/>
            </a:avLst>
          </a:prstGeom>
          <a:solidFill>
            <a:srgbClr val="12233B"/>
          </a:solidFill>
          <a:ln/>
        </p:spPr>
      </p:sp>
      <p:sp>
        <p:nvSpPr>
          <p:cNvPr id="60" name="Text 55"/>
          <p:cNvSpPr/>
          <p:nvPr/>
        </p:nvSpPr>
        <p:spPr>
          <a:xfrm>
            <a:off x="6949440" y="47000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 POR FRENTE</a:t>
            </a:r>
            <a:endParaRPr lang="en-US" sz="1050" dirty="0"/>
          </a:p>
        </p:txBody>
      </p:sp>
      <p:sp>
        <p:nvSpPr>
          <p:cNvPr id="61" name="Text 56"/>
          <p:cNvSpPr/>
          <p:nvPr/>
        </p:nvSpPr>
        <p:spPr>
          <a:xfrm>
            <a:off x="6949440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2400" dirty="0"/>
          </a:p>
        </p:txBody>
      </p:sp>
      <p:sp>
        <p:nvSpPr>
          <p:cNvPr id="62" name="Text 57"/>
          <p:cNvSpPr/>
          <p:nvPr/>
        </p:nvSpPr>
        <p:spPr>
          <a:xfrm>
            <a:off x="6949440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050" dirty="0"/>
          </a:p>
        </p:txBody>
      </p:sp>
      <p:sp>
        <p:nvSpPr>
          <p:cNvPr id="63" name="Text 58"/>
          <p:cNvSpPr/>
          <p:nvPr/>
        </p:nvSpPr>
        <p:spPr>
          <a:xfrm>
            <a:off x="8522208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20,6%</a:t>
            </a:r>
            <a:endParaRPr lang="en-US" sz="2400" dirty="0"/>
          </a:p>
        </p:txBody>
      </p:sp>
      <p:sp>
        <p:nvSpPr>
          <p:cNvPr id="64" name="Text 59"/>
          <p:cNvSpPr/>
          <p:nvPr/>
        </p:nvSpPr>
        <p:spPr>
          <a:xfrm>
            <a:off x="8522208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65" name="Text 60"/>
          <p:cNvSpPr/>
          <p:nvPr/>
        </p:nvSpPr>
        <p:spPr>
          <a:xfrm>
            <a:off x="10094976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30,8%</a:t>
            </a:r>
            <a:endParaRPr lang="en-US" sz="2400" dirty="0"/>
          </a:p>
        </p:txBody>
      </p:sp>
      <p:sp>
        <p:nvSpPr>
          <p:cNvPr id="66" name="Text 61"/>
          <p:cNvSpPr/>
          <p:nvPr/>
        </p:nvSpPr>
        <p:spPr>
          <a:xfrm>
            <a:off x="10094976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050" dirty="0"/>
          </a:p>
        </p:txBody>
      </p:sp>
      <p:sp>
        <p:nvSpPr>
          <p:cNvPr id="67" name="Text 6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05-10-2026 · 515 registros desde 10-02-2023</a:t>
            </a:r>
            <a:endParaRPr lang="en-US" sz="850" dirty="0"/>
          </a:p>
        </p:txBody>
      </p:sp>
      <p:sp>
        <p:nvSpPr>
          <p:cNvPr id="68" name="Text 6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69" name="Text 6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SIGUE ABIERTO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Antigüedad y velocidad de corrección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21 hallazgos abiertos, 8 llevan más de 180 días desde que se levantaron y 0 más de un año. La mediana de cierre global es de 33 días.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0350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675120" y="1874520"/>
            <a:ext cx="5056632" cy="2377440"/>
          </a:xfrm>
          <a:prstGeom prst="roundRect">
            <a:avLst>
              <a:gd name="adj" fmla="val 2308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949440" y="20299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FUERA DE PLAZO DE RESPUESTA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6949440" y="2359152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del proyecto es: 10 días para responder una NC desde que se emite; del día 11 en adelante corre atraso.
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corte hay 20 hallazgos fuera de plazo de los 21 abiertos.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6949440" y="3703320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mide sobre la fecha de emisión: el Excel no declara una fecha comprometida de cierre —esa columna solo se llena al cerrar—.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502920" y="4343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 POR FRENTE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502920" y="4663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301752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429768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5577840" y="4663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LENTO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694944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8229600" y="46634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502920" y="49743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02920" y="51023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301752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429768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d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5577840" y="510235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d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694944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8229600" y="510235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502920" y="53675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457200" y="537667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42239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150" dirty="0"/>
          </a:p>
        </p:txBody>
      </p:sp>
      <p:sp>
        <p:nvSpPr>
          <p:cNvPr id="28" name="Text 24"/>
          <p:cNvSpPr/>
          <p:nvPr/>
        </p:nvSpPr>
        <p:spPr>
          <a:xfrm>
            <a:off x="301752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429768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d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5577840" y="542239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407 d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694944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32" name="Text 28"/>
          <p:cNvSpPr/>
          <p:nvPr/>
        </p:nvSpPr>
        <p:spPr>
          <a:xfrm>
            <a:off x="8229600" y="542239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502920" y="568756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502920" y="574243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301752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155</a:t>
            </a:r>
            <a:endParaRPr lang="en-US" sz="1150" dirty="0"/>
          </a:p>
        </p:txBody>
      </p:sp>
      <p:sp>
        <p:nvSpPr>
          <p:cNvPr id="36" name="Text 32"/>
          <p:cNvSpPr/>
          <p:nvPr/>
        </p:nvSpPr>
        <p:spPr>
          <a:xfrm>
            <a:off x="429768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140 d</a:t>
            </a:r>
            <a:endParaRPr lang="en-US" sz="1150" dirty="0"/>
          </a:p>
        </p:txBody>
      </p:sp>
      <p:sp>
        <p:nvSpPr>
          <p:cNvPr id="37" name="Text 33"/>
          <p:cNvSpPr/>
          <p:nvPr/>
        </p:nvSpPr>
        <p:spPr>
          <a:xfrm>
            <a:off x="5577840" y="57424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419 d</a:t>
            </a:r>
            <a:endParaRPr lang="en-US" sz="1150" dirty="0"/>
          </a:p>
        </p:txBody>
      </p:sp>
      <p:sp>
        <p:nvSpPr>
          <p:cNvPr id="38" name="Text 34"/>
          <p:cNvSpPr/>
          <p:nvPr/>
        </p:nvSpPr>
        <p:spPr>
          <a:xfrm>
            <a:off x="694944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8229600" y="574243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8× más lento que el mejor frente</a:t>
            </a:r>
            <a:endParaRPr lang="en-US" sz="1150" dirty="0"/>
          </a:p>
        </p:txBody>
      </p:sp>
      <p:sp>
        <p:nvSpPr>
          <p:cNvPr id="40" name="Shape 36"/>
          <p:cNvSpPr/>
          <p:nvPr/>
        </p:nvSpPr>
        <p:spPr>
          <a:xfrm>
            <a:off x="502920" y="600760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57200" y="601675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38"/>
          <p:cNvSpPr/>
          <p:nvPr/>
        </p:nvSpPr>
        <p:spPr>
          <a:xfrm>
            <a:off x="502920" y="60624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301752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50" dirty="0"/>
          </a:p>
        </p:txBody>
      </p:sp>
      <p:sp>
        <p:nvSpPr>
          <p:cNvPr id="44" name="Text 40"/>
          <p:cNvSpPr/>
          <p:nvPr/>
        </p:nvSpPr>
        <p:spPr>
          <a:xfrm>
            <a:off x="429768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 d</a:t>
            </a:r>
            <a:endParaRPr lang="en-US" sz="1150" dirty="0"/>
          </a:p>
        </p:txBody>
      </p:sp>
      <p:sp>
        <p:nvSpPr>
          <p:cNvPr id="45" name="Text 41"/>
          <p:cNvSpPr/>
          <p:nvPr/>
        </p:nvSpPr>
        <p:spPr>
          <a:xfrm>
            <a:off x="5577840" y="606247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d</a:t>
            </a:r>
            <a:endParaRPr lang="en-US" sz="1150" dirty="0"/>
          </a:p>
        </p:txBody>
      </p:sp>
      <p:sp>
        <p:nvSpPr>
          <p:cNvPr id="46" name="Text 42"/>
          <p:cNvSpPr/>
          <p:nvPr/>
        </p:nvSpPr>
        <p:spPr>
          <a:xfrm>
            <a:off x="694944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50" dirty="0"/>
          </a:p>
        </p:txBody>
      </p:sp>
      <p:sp>
        <p:nvSpPr>
          <p:cNvPr id="47" name="Text 43"/>
          <p:cNvSpPr/>
          <p:nvPr/>
        </p:nvSpPr>
        <p:spPr>
          <a:xfrm>
            <a:off x="8229600" y="606247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4× más lento que el mejor frente</a:t>
            </a:r>
            <a:endParaRPr lang="en-US" sz="1150" dirty="0"/>
          </a:p>
        </p:txBody>
      </p:sp>
      <p:sp>
        <p:nvSpPr>
          <p:cNvPr id="48" name="Shape 44"/>
          <p:cNvSpPr/>
          <p:nvPr/>
        </p:nvSpPr>
        <p:spPr>
          <a:xfrm>
            <a:off x="502920" y="6327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05-10-2026 · 515 registros desde 10-02-2023</a:t>
            </a:r>
            <a:endParaRPr lang="en-US" sz="850" dirty="0"/>
          </a:p>
        </p:txBody>
      </p:sp>
      <p:sp>
        <p:nvSpPr>
          <p:cNvPr id="50" name="Text 46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51" name="Text 4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DE LA NO CONFORMIDAD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Costo mensual por disciplina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10.613 UF declaradas entre nov-24 y sep-26, imputadas al mes en que se levantó cada hallazgo. Las declaran 108 de 504 hallazgos del período.</a:t>
            </a:r>
            <a:endParaRPr lang="en-US" sz="13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810512"/>
          <a:ext cx="11996928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402336"/>
                <a:gridCol w="822960"/>
              </a:tblGrid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DISCIPLINA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UF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b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OO.CC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2.631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EXPEDITORÍA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2.176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SUBCONTRATO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1.335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ELÉCTRICA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PROVEEDORES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INSTRUMENTACIÓN Y CONTROL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Otras (4 disciplinas)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FDB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DEL MES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4.382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0A5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8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1A24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3C5F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2F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10.613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B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NC CON MONTO DECLARADO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7/11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6/12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7/16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11/36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12/22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8/49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6/29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7/33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9/40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6/29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7/24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8/40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7/29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5/29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1/19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0/13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750" b="1" dirty="0">
                          <a:solidFill>
                            <a:srgbClr val="5660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108/504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5400" marR="25400" marT="25400" marB="25400" anchor="ctr">
                    <a:lnL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4F6F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9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411480" y="4828032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POR CELDA</a:t>
            </a:r>
            <a:endParaRPr lang="en-US" sz="800" dirty="0"/>
          </a:p>
        </p:txBody>
      </p:sp>
      <p:sp>
        <p:nvSpPr>
          <p:cNvPr id="8" name="Shape 4"/>
          <p:cNvSpPr/>
          <p:nvPr/>
        </p:nvSpPr>
        <p:spPr>
          <a:xfrm>
            <a:off x="1508760" y="4873752"/>
            <a:ext cx="128016" cy="128016"/>
          </a:xfrm>
          <a:prstGeom prst="rect">
            <a:avLst/>
          </a:prstGeom>
          <a:solidFill>
            <a:srgbClr val="BFDBFE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1691640" y="480974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50</a:t>
            </a:r>
            <a:endParaRPr lang="en-US" sz="850" dirty="0"/>
          </a:p>
        </p:txBody>
      </p:sp>
      <p:sp>
        <p:nvSpPr>
          <p:cNvPr id="10" name="Shape 6"/>
          <p:cNvSpPr/>
          <p:nvPr/>
        </p:nvSpPr>
        <p:spPr>
          <a:xfrm>
            <a:off x="2715768" y="4873752"/>
            <a:ext cx="128016" cy="128016"/>
          </a:xfrm>
          <a:prstGeom prst="rect">
            <a:avLst/>
          </a:prstGeom>
          <a:solidFill>
            <a:srgbClr val="93C5FD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2898648" y="480974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50–199</a:t>
            </a:r>
            <a:endParaRPr lang="en-US" sz="850" dirty="0"/>
          </a:p>
        </p:txBody>
      </p:sp>
      <p:sp>
        <p:nvSpPr>
          <p:cNvPr id="12" name="Shape 8"/>
          <p:cNvSpPr/>
          <p:nvPr/>
        </p:nvSpPr>
        <p:spPr>
          <a:xfrm>
            <a:off x="3922776" y="4873752"/>
            <a:ext cx="128016" cy="128016"/>
          </a:xfrm>
          <a:prstGeom prst="rect">
            <a:avLst/>
          </a:prstGeom>
          <a:solidFill>
            <a:srgbClr val="60A5FA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4105656" y="480974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200–499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5129784" y="4873752"/>
            <a:ext cx="128016" cy="128016"/>
          </a:xfrm>
          <a:prstGeom prst="rect">
            <a:avLst/>
          </a:prstGeom>
          <a:solidFill>
            <a:srgbClr val="3B82F6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312664" y="480974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500–1.499</a:t>
            </a:r>
            <a:endParaRPr 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6336792" y="4873752"/>
            <a:ext cx="128016" cy="128016"/>
          </a:xfrm>
          <a:prstGeom prst="rect">
            <a:avLst/>
          </a:prstGeom>
          <a:solidFill>
            <a:srgbClr val="1E40AF"/>
          </a:solidFill>
          <a:ln w="6350">
            <a:solidFill>
              <a:srgbClr val="D9DFE6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519672" y="4809744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1.500 o más</a:t>
            </a:r>
            <a:endParaRPr lang="en-US" sz="850" dirty="0"/>
          </a:p>
        </p:txBody>
      </p:sp>
      <p:sp>
        <p:nvSpPr>
          <p:cNvPr id="18" name="Shape 14"/>
          <p:cNvSpPr/>
          <p:nvPr/>
        </p:nvSpPr>
        <p:spPr>
          <a:xfrm>
            <a:off x="411480" y="5285232"/>
            <a:ext cx="41148" cy="566928"/>
          </a:xfrm>
          <a:prstGeom prst="rect">
            <a:avLst/>
          </a:prstGeom>
          <a:solidFill>
            <a:srgbClr val="2E6FB5"/>
          </a:solidFill>
          <a:ln/>
        </p:spPr>
      </p:sp>
      <p:sp>
        <p:nvSpPr>
          <p:cNvPr id="19" name="Text 15"/>
          <p:cNvSpPr/>
          <p:nvPr/>
        </p:nvSpPr>
        <p:spPr>
          <a:xfrm>
            <a:off x="557784" y="526694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108</a:t>
            </a:r>
            <a:endParaRPr lang="en-US" sz="2100" dirty="0"/>
          </a:p>
        </p:txBody>
      </p:sp>
      <p:sp>
        <p:nvSpPr>
          <p:cNvPr id="20" name="Text 16"/>
          <p:cNvSpPr/>
          <p:nvPr/>
        </p:nvSpPr>
        <p:spPr>
          <a:xfrm>
            <a:off x="557784" y="55961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declaran un monto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4206240" y="5285232"/>
            <a:ext cx="41148" cy="566928"/>
          </a:xfrm>
          <a:prstGeom prst="rect">
            <a:avLst/>
          </a:prstGeom>
          <a:solidFill>
            <a:srgbClr val="6E8CA8"/>
          </a:solidFill>
          <a:ln/>
        </p:spPr>
      </p:sp>
      <p:sp>
        <p:nvSpPr>
          <p:cNvPr id="22" name="Text 18"/>
          <p:cNvSpPr/>
          <p:nvPr/>
        </p:nvSpPr>
        <p:spPr>
          <a:xfrm>
            <a:off x="4352544" y="526694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143</a:t>
            </a:r>
            <a:endParaRPr lang="en-US" sz="2100" dirty="0"/>
          </a:p>
        </p:txBody>
      </p:sp>
      <p:sp>
        <p:nvSpPr>
          <p:cNvPr id="23" name="Text 19"/>
          <p:cNvSpPr/>
          <p:nvPr/>
        </p:nvSpPr>
        <p:spPr>
          <a:xfrm>
            <a:off x="4352544" y="55961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declaran 0 — afirman que no costó</a:t>
            </a:r>
            <a:endParaRPr lang="en-US" sz="950" dirty="0"/>
          </a:p>
        </p:txBody>
      </p:sp>
      <p:sp>
        <p:nvSpPr>
          <p:cNvPr id="24" name="Shape 20"/>
          <p:cNvSpPr/>
          <p:nvPr/>
        </p:nvSpPr>
        <p:spPr>
          <a:xfrm>
            <a:off x="8001000" y="5285232"/>
            <a:ext cx="41148" cy="566928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5" name="Text 21"/>
          <p:cNvSpPr/>
          <p:nvPr/>
        </p:nvSpPr>
        <p:spPr>
          <a:xfrm>
            <a:off x="8147304" y="5266944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264</a:t>
            </a:r>
            <a:endParaRPr lang="en-US" sz="2100" dirty="0"/>
          </a:p>
        </p:txBody>
      </p:sp>
      <p:sp>
        <p:nvSpPr>
          <p:cNvPr id="26" name="Text 22"/>
          <p:cNvSpPr/>
          <p:nvPr/>
        </p:nvSpPr>
        <p:spPr>
          <a:xfrm>
            <a:off x="8147304" y="55961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dejan la casilla vacía: no se sabe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457200" y="5989320"/>
            <a:ext cx="11247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costo se imputa al mes de emisión: la columna «Costo De La No Conformidad» no trae fecha propia. El mes más caro es jul-25 con 4.382 UF. Los últimos 5 meses no traen ningún monto declarado —un mes en blanco es «sin declarar», no «sin costo»—. La cifra es un piso del costo real.</a:t>
            </a:r>
            <a:endParaRPr lang="en-US" sz="950" dirty="0"/>
          </a:p>
        </p:txBody>
      </p:sp>
      <p:sp>
        <p:nvSpPr>
          <p:cNvPr id="28" name="Text 2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05-10-2026 · 515 registros desde 10-02-2023</a:t>
            </a:r>
            <a:endParaRPr lang="en-US" sz="850" dirty="0"/>
          </a:p>
        </p:txBody>
      </p:sp>
      <p:sp>
        <p:nvSpPr>
          <p:cNvPr id="29" name="Text 2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30" name="Text 2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Cerrar el pendiente de Arqueros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de los 21 hallazgos abiertos (81%) y 90,1% de cierre, contra 95,9% global. Es la ruta crítica del módulo.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Levantar la autodetección de Talabre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20,6% de sus hallazgos los detecta Besalco; el mejor frente va en 66,7%. Lo que no se detecta adentro llega como observación del cliente.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los 8 hallazgos sobre 180 días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de ellos superan el año abiertos. Los tienen a cargo Sin asignar (8). Es deuda antigua que no se cierra sola.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Responder las 20 que pasaron el plazo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plazo es de 10 días desde la emisión y hoy lo incumplen 95,2% de los abiertos. Solo 1 siguen dentro de plazo.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05-10-2026 · 515 registros desde 10-02-2023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 hallazgos levantados · 54 internas · 19 del cliente · 8 de subcontrato · 18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05-10-2026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05-10-2026 · 515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internas · 19 del cliente · 8 de subcontrato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98,8%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81/82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95,9%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 abierto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listo para revisión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250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31,4%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47" name="Shape 43"/>
          <p:cNvSpPr/>
          <p:nvPr/>
        </p:nvSpPr>
        <p:spPr>
          <a:xfrm>
            <a:off x="7900416" y="6071616"/>
            <a:ext cx="164592" cy="164592"/>
          </a:xfrm>
          <a:prstGeom prst="ellipse">
            <a:avLst/>
          </a:prstGeom>
          <a:solidFill>
            <a:srgbClr val="5B6B7C"/>
          </a:solidFill>
          <a:ln/>
        </p:spPr>
      </p:sp>
      <p:sp>
        <p:nvSpPr>
          <p:cNvPr id="48" name="Text 44"/>
          <p:cNvSpPr/>
          <p:nvPr/>
        </p:nvSpPr>
        <p:spPr>
          <a:xfrm>
            <a:off x="8156448" y="598017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clasificar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10287000" y="598017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50" name="Text 46"/>
          <p:cNvSpPr/>
          <p:nvPr/>
        </p:nvSpPr>
        <p:spPr>
          <a:xfrm>
            <a:off x="10972800" y="598017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51" name="Text 4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05-10-2026 · 515 registros desde 10-02-2023</a:t>
            </a:r>
            <a:endParaRPr lang="en-US" sz="850" dirty="0"/>
          </a:p>
        </p:txBody>
      </p:sp>
      <p:sp>
        <p:nvSpPr>
          <p:cNvPr id="52" name="Text 4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53" name="Text 4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hallazgo sigue abierto; 0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Ariel Flores U.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 en manilla de válvula 4515-HV-…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9EDF2"/>
          </a:solidFill>
          <a:ln/>
        </p:spPr>
      </p:sp>
      <p:sp>
        <p:nvSpPr>
          <p:cNvPr id="25" name="Text 22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28-09-2026 — 04-10-2026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hallazgos nuevos en el período.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05-10-2026 · 515 registros desde 10-02-2023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253 hallazgos levantados · 52 internas · 201 del cliente · 12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20,6%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05-10-2026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05-10-2026 · 515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253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internas · 201 del cliente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98,8%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250/253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95,9%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listo para revisión · 2 iniciado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407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20,6%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31,4%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</a:t>
            </a:r>
            <a:endParaRPr lang="en-US" sz="1600" dirty="0"/>
          </a:p>
        </p:txBody>
      </p:sp>
      <p:sp>
        <p:nvSpPr>
          <p:cNvPr id="43" name="Text 3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05-10-2026 · 515 registros desde 10-02-2023</a:t>
            </a:r>
            <a:endParaRPr lang="en-US" sz="850" dirty="0"/>
          </a:p>
        </p:txBody>
      </p:sp>
      <p:sp>
        <p:nvSpPr>
          <p:cNvPr id="44" name="Text 4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5" name="Text 4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hallazgos siguen abiertos; 0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235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Rocha A.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Geomembrana presenta sectores en lo…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253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Soto B.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dispone de una planificación 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254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Wladimir Carvajal …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Cortes no autorizados en la lámina …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12233B"/>
          </a:solidFill>
          <a:ln/>
        </p:spPr>
      </p:sp>
      <p:sp>
        <p:nvSpPr>
          <p:cNvPr id="44" name="Text 41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28-09-2026 — 04-10-2026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hallazgo nuevo · 0 internas · 1 del cliente · OO.CC 1 · 1 sigue abierto</a:t>
            </a:r>
            <a:endParaRPr lang="en-US" sz="1150" dirty="0"/>
          </a:p>
        </p:txBody>
      </p:sp>
      <p:sp>
        <p:nvSpPr>
          <p:cNvPr id="46" name="Text 4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05-10-2026 · 515 registros desde 10-02-2023</a:t>
            </a:r>
            <a:endParaRPr lang="en-US" sz="850" dirty="0"/>
          </a:p>
        </p:txBody>
      </p:sp>
      <p:sp>
        <p:nvSpPr>
          <p:cNvPr id="47" name="Text 4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8" name="Text 4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172 hallazgos levantados · 53 internas · 79 del cliente · 40 de subcontrato · 19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90,1%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140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30,8%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05-10-2026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05-10-2026 · 515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172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155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internas · 79 del cliente · 40 de subcontrato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90,1%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155/172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95,9%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iniciado · 6 observada · 8 listo para revisión · 2 pendiente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140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419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30,8%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31,4%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79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1600" dirty="0"/>
          </a:p>
        </p:txBody>
      </p:sp>
      <p:sp>
        <p:nvSpPr>
          <p:cNvPr id="47" name="Text 4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05-10-2026 · 515 registros desde 10-02-2023</a:t>
            </a:r>
            <a:endParaRPr lang="en-US" sz="850" dirty="0"/>
          </a:p>
        </p:txBody>
      </p:sp>
      <p:sp>
        <p:nvSpPr>
          <p:cNvPr id="48" name="Text 4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9" name="Text 4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workspace/dashboard-hseq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hallazgos siguen abiertos; 8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MASA-24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354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Inspección grout de los recesos de 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MASA-37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MECÁNICA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292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Tolerancia transversal en chutes de…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MASA-43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263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Perforaciones faltantes en estructu…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3310128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502920" y="3355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MASA-48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137160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2926080" y="33558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4434840" y="33558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576072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7315200" y="33558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8686800" y="33558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263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9464040" y="33558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FISURACIÓN DE RADIER CELDAS COLUMNA…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502920" y="36484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02920" y="3703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MASA-56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37160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55" name="Text 52"/>
          <p:cNvSpPr/>
          <p:nvPr/>
        </p:nvSpPr>
        <p:spPr>
          <a:xfrm>
            <a:off x="2926080" y="3703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4434840" y="3703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576072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7315200" y="37033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8686800" y="37033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242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9464040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Interferencia línea de cañería en P…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502920" y="39959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57200" y="4005072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0"/>
          <p:cNvSpPr/>
          <p:nvPr/>
        </p:nvSpPr>
        <p:spPr>
          <a:xfrm>
            <a:off x="502920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MASA-66</a:t>
            </a:r>
            <a:endParaRPr lang="en-US" sz="1050" dirty="0"/>
          </a:p>
        </p:txBody>
      </p:sp>
      <p:sp>
        <p:nvSpPr>
          <p:cNvPr id="64" name="Text 61"/>
          <p:cNvSpPr/>
          <p:nvPr/>
        </p:nvSpPr>
        <p:spPr>
          <a:xfrm>
            <a:off x="137160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65" name="Text 62"/>
          <p:cNvSpPr/>
          <p:nvPr/>
        </p:nvSpPr>
        <p:spPr>
          <a:xfrm>
            <a:off x="2926080" y="40507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4434840" y="40507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67" name="Text 64"/>
          <p:cNvSpPr/>
          <p:nvPr/>
        </p:nvSpPr>
        <p:spPr>
          <a:xfrm>
            <a:off x="576072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68" name="Text 65"/>
          <p:cNvSpPr/>
          <p:nvPr/>
        </p:nvSpPr>
        <p:spPr>
          <a:xfrm>
            <a:off x="7315200" y="40507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</a:t>
            </a:r>
            <a:endParaRPr lang="en-US" sz="1050" dirty="0"/>
          </a:p>
        </p:txBody>
      </p:sp>
      <p:sp>
        <p:nvSpPr>
          <p:cNvPr id="69" name="Text 66"/>
          <p:cNvSpPr/>
          <p:nvPr/>
        </p:nvSpPr>
        <p:spPr>
          <a:xfrm>
            <a:off x="8686800" y="40507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213</a:t>
            </a:r>
            <a:endParaRPr lang="en-US" sz="1050" dirty="0"/>
          </a:p>
        </p:txBody>
      </p:sp>
      <p:sp>
        <p:nvSpPr>
          <p:cNvPr id="70" name="Text 67"/>
          <p:cNvSpPr/>
          <p:nvPr/>
        </p:nvSpPr>
        <p:spPr>
          <a:xfrm>
            <a:off x="94640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Interferencia estructura con red de…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502920" y="43434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502920" y="43982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MASA-68</a:t>
            </a:r>
            <a:endParaRPr lang="en-US" sz="1050" dirty="0"/>
          </a:p>
        </p:txBody>
      </p:sp>
      <p:sp>
        <p:nvSpPr>
          <p:cNvPr id="73" name="Text 70"/>
          <p:cNvSpPr/>
          <p:nvPr/>
        </p:nvSpPr>
        <p:spPr>
          <a:xfrm>
            <a:off x="137160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74" name="Text 71"/>
          <p:cNvSpPr/>
          <p:nvPr/>
        </p:nvSpPr>
        <p:spPr>
          <a:xfrm>
            <a:off x="2926080" y="43982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75" name="Text 72"/>
          <p:cNvSpPr/>
          <p:nvPr/>
        </p:nvSpPr>
        <p:spPr>
          <a:xfrm>
            <a:off x="4434840" y="43982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MECÁNICA</a:t>
            </a:r>
            <a:endParaRPr lang="en-US" sz="1050" dirty="0"/>
          </a:p>
        </p:txBody>
      </p:sp>
      <p:sp>
        <p:nvSpPr>
          <p:cNvPr id="76" name="Text 73"/>
          <p:cNvSpPr/>
          <p:nvPr/>
        </p:nvSpPr>
        <p:spPr>
          <a:xfrm>
            <a:off x="576072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77" name="Text 74"/>
          <p:cNvSpPr/>
          <p:nvPr/>
        </p:nvSpPr>
        <p:spPr>
          <a:xfrm>
            <a:off x="7315200" y="43982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78" name="Text 75"/>
          <p:cNvSpPr/>
          <p:nvPr/>
        </p:nvSpPr>
        <p:spPr>
          <a:xfrm>
            <a:off x="8686800" y="43982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209</a:t>
            </a:r>
            <a:endParaRPr lang="en-US" sz="1050" dirty="0"/>
          </a:p>
        </p:txBody>
      </p:sp>
      <p:sp>
        <p:nvSpPr>
          <p:cNvPr id="79" name="Text 76"/>
          <p:cNvSpPr/>
          <p:nvPr/>
        </p:nvSpPr>
        <p:spPr>
          <a:xfrm>
            <a:off x="9464040" y="43982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NIVELACIÓN DE LAS PLACAS BASE DE LO…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502920" y="469087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57200" y="4700016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79"/>
          <p:cNvSpPr/>
          <p:nvPr/>
        </p:nvSpPr>
        <p:spPr>
          <a:xfrm>
            <a:off x="502920" y="47457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MASA-70</a:t>
            </a:r>
            <a:endParaRPr lang="en-US" sz="1050" dirty="0"/>
          </a:p>
        </p:txBody>
      </p:sp>
      <p:sp>
        <p:nvSpPr>
          <p:cNvPr id="83" name="Text 80"/>
          <p:cNvSpPr/>
          <p:nvPr/>
        </p:nvSpPr>
        <p:spPr>
          <a:xfrm>
            <a:off x="137160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84" name="Text 81"/>
          <p:cNvSpPr/>
          <p:nvPr/>
        </p:nvSpPr>
        <p:spPr>
          <a:xfrm>
            <a:off x="2926080" y="4745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85" name="Text 82"/>
          <p:cNvSpPr/>
          <p:nvPr/>
        </p:nvSpPr>
        <p:spPr>
          <a:xfrm>
            <a:off x="4434840" y="474573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</a:t>
            </a:r>
            <a:endParaRPr lang="en-US" sz="1050" dirty="0"/>
          </a:p>
        </p:txBody>
      </p:sp>
      <p:sp>
        <p:nvSpPr>
          <p:cNvPr id="86" name="Text 83"/>
          <p:cNvSpPr/>
          <p:nvPr/>
        </p:nvSpPr>
        <p:spPr>
          <a:xfrm>
            <a:off x="576072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87" name="Text 84"/>
          <p:cNvSpPr/>
          <p:nvPr/>
        </p:nvSpPr>
        <p:spPr>
          <a:xfrm>
            <a:off x="7315200" y="47457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88" name="Text 85"/>
          <p:cNvSpPr/>
          <p:nvPr/>
        </p:nvSpPr>
        <p:spPr>
          <a:xfrm>
            <a:off x="8686800" y="474573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209</a:t>
            </a:r>
            <a:endParaRPr lang="en-US" sz="1050" dirty="0"/>
          </a:p>
        </p:txBody>
      </p:sp>
      <p:sp>
        <p:nvSpPr>
          <p:cNvPr id="89" name="Text 86"/>
          <p:cNvSpPr/>
          <p:nvPr/>
        </p:nvSpPr>
        <p:spPr>
          <a:xfrm>
            <a:off x="9464040" y="47457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DESCARGAS DE TUBERÍAS CELDAS DE FLO…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502920" y="503834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02920" y="509320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MASA-73</a:t>
            </a:r>
            <a:endParaRPr lang="en-US" sz="1050" dirty="0"/>
          </a:p>
        </p:txBody>
      </p:sp>
      <p:sp>
        <p:nvSpPr>
          <p:cNvPr id="92" name="Text 89"/>
          <p:cNvSpPr/>
          <p:nvPr/>
        </p:nvSpPr>
        <p:spPr>
          <a:xfrm>
            <a:off x="137160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Observación</a:t>
            </a:r>
            <a:endParaRPr lang="en-US" sz="1050" dirty="0"/>
          </a:p>
        </p:txBody>
      </p:sp>
      <p:sp>
        <p:nvSpPr>
          <p:cNvPr id="93" name="Text 90"/>
          <p:cNvSpPr/>
          <p:nvPr/>
        </p:nvSpPr>
        <p:spPr>
          <a:xfrm>
            <a:off x="2926080" y="50932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94" name="Text 91"/>
          <p:cNvSpPr/>
          <p:nvPr/>
        </p:nvSpPr>
        <p:spPr>
          <a:xfrm>
            <a:off x="4434840" y="50932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95" name="Text 92"/>
          <p:cNvSpPr/>
          <p:nvPr/>
        </p:nvSpPr>
        <p:spPr>
          <a:xfrm>
            <a:off x="576072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050" dirty="0"/>
          </a:p>
        </p:txBody>
      </p:sp>
      <p:sp>
        <p:nvSpPr>
          <p:cNvPr id="96" name="Text 93"/>
          <p:cNvSpPr/>
          <p:nvPr/>
        </p:nvSpPr>
        <p:spPr>
          <a:xfrm>
            <a:off x="7315200" y="509320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</a:t>
            </a:r>
            <a:endParaRPr lang="en-US" sz="1050" dirty="0"/>
          </a:p>
        </p:txBody>
      </p:sp>
      <p:sp>
        <p:nvSpPr>
          <p:cNvPr id="97" name="Text 94"/>
          <p:cNvSpPr/>
          <p:nvPr/>
        </p:nvSpPr>
        <p:spPr>
          <a:xfrm>
            <a:off x="8686800" y="5093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179</a:t>
            </a:r>
            <a:endParaRPr lang="en-US" sz="1050" dirty="0"/>
          </a:p>
        </p:txBody>
      </p:sp>
      <p:sp>
        <p:nvSpPr>
          <p:cNvPr id="98" name="Text 95"/>
          <p:cNvSpPr/>
          <p:nvPr/>
        </p:nvSpPr>
        <p:spPr>
          <a:xfrm>
            <a:off x="9464040" y="5093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Condicioón fundación de riel grúa p…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502920" y="53858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100" name="Text 97"/>
          <p:cNvSpPr/>
          <p:nvPr/>
        </p:nvSpPr>
        <p:spPr>
          <a:xfrm>
            <a:off x="502920" y="5440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listan los 9 más antiguos de 17 abiertos; el detalle completo está en el panel.</a:t>
            </a:r>
            <a:endParaRPr lang="en-US" sz="950" dirty="0"/>
          </a:p>
        </p:txBody>
      </p:sp>
      <p:sp>
        <p:nvSpPr>
          <p:cNvPr id="101" name="Shape 98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9EDF2"/>
          </a:solidFill>
          <a:ln/>
        </p:spPr>
      </p:sp>
      <p:sp>
        <p:nvSpPr>
          <p:cNvPr id="102" name="Text 99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28-09-2026 — 04-10-2026</a:t>
            </a:r>
            <a:endParaRPr lang="en-US" sz="1000" dirty="0"/>
          </a:p>
        </p:txBody>
      </p:sp>
      <p:sp>
        <p:nvSpPr>
          <p:cNvPr id="103" name="Text 100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hallazgos nuevos en el período.</a:t>
            </a:r>
            <a:endParaRPr lang="en-US" sz="1150" dirty="0"/>
          </a:p>
        </p:txBody>
      </p:sp>
      <p:sp>
        <p:nvSpPr>
          <p:cNvPr id="104" name="Text 10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Data_NCR.xlsx — hoja «Observaciones» · Corte 05-10-2026 · 515 registros desde 10-02-2023</a:t>
            </a:r>
            <a:endParaRPr lang="en-US" sz="850" dirty="0"/>
          </a:p>
        </p:txBody>
      </p:sp>
      <p:sp>
        <p:nvSpPr>
          <p:cNvPr id="105" name="Text 10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106" name="Text 10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Control de No Conformidades — Gestión de Calidad</dc:title>
  <dc:subject>PptxGenJS Presentation</dc:subject>
  <dc:creator>Gestión de Calidad</dc:creator>
  <cp:lastModifiedBy>Gestión de Calidad</cp:lastModifiedBy>
  <cp:revision>1</cp:revision>
  <dcterms:created xsi:type="dcterms:W3CDTF">2026-10-05T13:36:35Z</dcterms:created>
  <dcterms:modified xsi:type="dcterms:W3CDTF">2026-10-05T13:36:35Z</dcterms:modified>
</cp:coreProperties>
</file>