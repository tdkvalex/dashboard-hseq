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4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5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charts/chart6.xml" ContentType="application/vnd.openxmlformats-officedocument.drawingml.chart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charts/chart7.xml" ContentType="application/vnd.openxmlformats-officedocument.drawingml.chart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Ritmo semanal — la barra «3 sem.» acumula las semanas más viejas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Aún abiertos</c:v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3 sem.</c:v>
                  </c:pt>
                  <c:pt idx="1">
                    <c:v>10-08</c:v>
                  </c:pt>
                  <c:pt idx="2">
                    <c:v>17-08</c:v>
                  </c:pt>
                  <c:pt idx="3">
                    <c:v>24-08</c:v>
                  </c:pt>
                  <c:pt idx="4">
                    <c:v>31-08</c:v>
                  </c:pt>
                  <c:pt idx="5">
                    <c:v>07-09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</c:v>
                </c:pt>
                <c:pt idx="1">
                  <c:v/>
                </c:pt>
                <c:pt idx="2">
                  <c:v>2</c:v>
                </c:pt>
                <c:pt idx="3">
                  <c:v>1</c:v>
                </c:pt>
                <c:pt idx="4">
                  <c:v>7</c:v>
                </c:pt>
                <c:pt idx="5">
                  <c:v/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Ya cerrados</c:v>
                </c:pt>
              </c:strCache>
            </c:strRef>
          </c:tx>
          <c:spPr>
            <a:solidFill>
              <a:srgbClr val="2E6F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3 sem.</c:v>
                  </c:pt>
                  <c:pt idx="1">
                    <c:v>10-08</c:v>
                  </c:pt>
                  <c:pt idx="2">
                    <c:v>17-08</c:v>
                  </c:pt>
                  <c:pt idx="3">
                    <c:v>24-08</c:v>
                  </c:pt>
                  <c:pt idx="4">
                    <c:v>31-08</c:v>
                  </c:pt>
                  <c:pt idx="5">
                    <c:v>07-09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6</c:v>
                </c:pt>
                <c:pt idx="1">
                  <c:v>3</c:v>
                </c:pt>
                <c:pt idx="2">
                  <c:v>1</c:v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Hallazgos por frente y vía de emisión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Interna (Besalco)</c:v>
                </c:pt>
              </c:strCache>
            </c:strRef>
          </c:tx>
          <c:spPr>
            <a:solidFill>
              <a:srgbClr val="2E6F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Desaladora</c:v>
                  </c:pt>
                  <c:pt idx="1">
                    <c:v>Talabre</c:v>
                  </c:pt>
                  <c:pt idx="2">
                    <c:v>Arqueros</c:v>
                  </c:pt>
                  <c:pt idx="3">
                    <c:v>Oficina Central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54</c:v>
                </c:pt>
                <c:pt idx="1">
                  <c:v>52</c:v>
                </c:pt>
                <c:pt idx="2">
                  <c:v>53</c:v>
                </c:pt>
                <c:pt idx="3">
                  <c:v/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Externa · Cliente</c:v>
                </c:pt>
              </c:strCache>
            </c:strRef>
          </c:tx>
          <c:spPr>
            <a:solidFill>
              <a:srgbClr val="9A6B0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Desaladora</c:v>
                  </c:pt>
                  <c:pt idx="1">
                    <c:v>Talabre</c:v>
                  </c:pt>
                  <c:pt idx="2">
                    <c:v>Arqueros</c:v>
                  </c:pt>
                  <c:pt idx="3">
                    <c:v>Oficina Central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19</c:v>
                </c:pt>
                <c:pt idx="1">
                  <c:v>197</c:v>
                </c:pt>
                <c:pt idx="2">
                  <c:v>77</c:v>
                </c:pt>
                <c:pt idx="3">
                  <c:v/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Externa · Subcontrato</c:v>
                </c:pt>
              </c:strCache>
            </c:strRef>
          </c:tx>
          <c:spPr>
            <a:solidFill>
              <a:srgbClr val="8A552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Desaladora</c:v>
                  </c:pt>
                  <c:pt idx="1">
                    <c:v>Talabre</c:v>
                  </c:pt>
                  <c:pt idx="2">
                    <c:v>Arqueros</c:v>
                  </c:pt>
                  <c:pt idx="3">
                    <c:v>Oficina Central</c:v>
                  </c:pt>
                </c:lvl>
              </c:multiLvlStrCache>
            </c:multiLvl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8</c:v>
                </c:pt>
                <c:pt idx="1">
                  <c:v/>
                </c:pt>
                <c:pt idx="2">
                  <c:v>40</c:v>
                </c:pt>
                <c:pt idx="3">
                  <c:v/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Sin clasificar</c:v>
                </c:pt>
              </c:strCache>
            </c:strRef>
          </c:tx>
          <c:spPr>
            <a:solidFill>
              <a:srgbClr val="5B6B7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Desaladora</c:v>
                  </c:pt>
                  <c:pt idx="1">
                    <c:v>Talabre</c:v>
                  </c:pt>
                  <c:pt idx="2">
                    <c:v>Arqueros</c:v>
                  </c:pt>
                  <c:pt idx="3">
                    <c:v>Oficina Central</c:v>
                  </c:pt>
                </c:lvl>
              </c:multiLvlStrCache>
            </c:multiLvlStrRef>
          </c:cat>
          <c:val>
            <c:numRef>
              <c:f>Sheet1!$E$2:$E$5</c:f>
              <c:numCache>
                <c:formatCode>General</c:formatCode>
                <c:ptCount val="4"/>
                <c:pt idx="0">
                  <c:v>1</c:v>
                </c:pt>
                <c:pt idx="1">
                  <c:v/>
                </c:pt>
                <c:pt idx="2">
                  <c:v/>
                </c:pt>
                <c:pt idx="3">
                  <c:v>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Hallazgos por tipo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Cerrados</c:v>
                </c:pt>
              </c:strCache>
            </c:strRef>
          </c:tx>
          <c:spPr>
            <a:solidFill>
              <a:srgbClr val="2E6F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No Conformidad</c:v>
                  </c:pt>
                  <c:pt idx="1">
                    <c:v>Producto No Conforme</c:v>
                  </c:pt>
                  <c:pt idx="2">
                    <c:v>Observación</c:v>
                  </c:pt>
                  <c:pt idx="3">
                    <c:v>Reporte HSE Nivel Alto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293</c:v>
                </c:pt>
                <c:pt idx="1">
                  <c:v>121</c:v>
                </c:pt>
                <c:pt idx="2">
                  <c:v>49</c:v>
                </c:pt>
                <c:pt idx="3">
                  <c:v>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Abiertos</c:v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No Conformidad</c:v>
                  </c:pt>
                  <c:pt idx="1">
                    <c:v>Producto No Conforme</c:v>
                  </c:pt>
                  <c:pt idx="2">
                    <c:v>Observación</c:v>
                  </c:pt>
                  <c:pt idx="3">
                    <c:v>Reporte HSE Nivel Alto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32</c:v>
                </c:pt>
                <c:pt idx="1">
                  <c:v>2</c:v>
                </c:pt>
                <c:pt idx="2">
                  <c:v>11</c:v>
                </c:pt>
                <c:pt idx="3">
                  <c:v/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5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Antigüedad de los 45 hallazgos abiertos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1-30 días</c:v>
                </c:pt>
              </c:strCache>
            </c:strRef>
          </c:tx>
          <c:spPr>
            <a:solidFill>
              <a:srgbClr val="1F7A4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</c:f>
              <c:multiLvlStrCache>
                <c:ptCount val="1"/>
                <c:lvl>
                  <c:pt idx="0">
                    <c:v>Abiertos</c:v>
                  </c:pt>
                </c:lvl>
              </c:multiLvlStrCache>
            </c:multiLvlStrRef>
          </c:cat>
          <c:val>
            <c:numRef>
              <c:f>Sheet1!$B$2:$B$2</c:f>
              <c:numCache>
                <c:formatCode>General</c:formatCode>
                <c:ptCount val="1"/>
                <c:pt idx="0">
                  <c:v>10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31-90 días</c:v>
                </c:pt>
              </c:strCache>
            </c:strRef>
          </c:tx>
          <c:spPr>
            <a:solidFill>
              <a:srgbClr val="2E6F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</c:f>
              <c:multiLvlStrCache>
                <c:ptCount val="1"/>
                <c:lvl>
                  <c:pt idx="0">
                    <c:v>Abiertos</c:v>
                  </c:pt>
                </c:lvl>
              </c:multiLvlStrCache>
            </c:multiLvlStrRef>
          </c:cat>
          <c:val>
            <c:numRef>
              <c:f>Sheet1!$C$2:$C$2</c:f>
              <c:numCache>
                <c:formatCode>General</c:formatCode>
                <c:ptCount val="1"/>
                <c:pt idx="0">
                  <c:v>3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91-180 días</c:v>
                </c:pt>
              </c:strCache>
            </c:strRef>
          </c:tx>
          <c:spPr>
            <a:solidFill>
              <a:srgbClr val="9A6B0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</c:f>
              <c:multiLvlStrCache>
                <c:ptCount val="1"/>
                <c:lvl>
                  <c:pt idx="0">
                    <c:v>Abiertos</c:v>
                  </c:pt>
                </c:lvl>
              </c:multiLvlStrCache>
            </c:multiLvlStrRef>
          </c:cat>
          <c:val>
            <c:numRef>
              <c:f>Sheet1!$D$2:$D$2</c:f>
              <c:numCache>
                <c:formatCode>General</c:formatCode>
                <c:ptCount val="1"/>
                <c:pt idx="0">
                  <c:v>14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181-365 días</c:v>
                </c:pt>
              </c:strCache>
            </c:strRef>
          </c:tx>
          <c:spPr>
            <a:solidFill>
              <a:srgbClr val="8A552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</c:f>
              <c:multiLvlStrCache>
                <c:ptCount val="1"/>
                <c:lvl>
                  <c:pt idx="0">
                    <c:v>Abiertos</c:v>
                  </c:pt>
                </c:lvl>
              </c:multiLvlStrCache>
            </c:multiLvlStrRef>
          </c:cat>
          <c:val>
            <c:numRef>
              <c:f>Sheet1!$E$2:$E$2</c:f>
              <c:numCache>
                <c:formatCode>General</c:formatCode>
                <c:ptCount val="1"/>
                <c:pt idx="0">
                  <c:v>18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7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Especialidades con más hallazgos (8 de 18)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Cerrados</c:v>
                </c:pt>
              </c:strCache>
            </c:strRef>
          </c:tx>
          <c:spPr>
            <a:solidFill>
              <a:srgbClr val="2E6F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ELÉCTRICA</c:v>
                  </c:pt>
                  <c:pt idx="1">
                    <c:v>ADMINISTRACIÓN</c:v>
                  </c:pt>
                  <c:pt idx="2">
                    <c:v>OO.CC</c:v>
                  </c:pt>
                  <c:pt idx="3">
                    <c:v>RRLL</c:v>
                  </c:pt>
                  <c:pt idx="4">
                    <c:v>CALIDAD</c:v>
                  </c:pt>
                  <c:pt idx="5">
                    <c:v>EXPEDITORÍA</c:v>
                  </c:pt>
                  <c:pt idx="6">
                    <c:v>LOGÍSTICA</c:v>
                  </c:pt>
                  <c:pt idx="7">
                    <c:v>ADQUISICIONES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15</c:v>
                </c:pt>
                <c:pt idx="1">
                  <c:v>12</c:v>
                </c:pt>
                <c:pt idx="2">
                  <c:v>10</c:v>
                </c:pt>
                <c:pt idx="3">
                  <c:v>10</c:v>
                </c:pt>
                <c:pt idx="4">
                  <c:v>7</c:v>
                </c:pt>
                <c:pt idx="5">
                  <c:v>4</c:v>
                </c:pt>
                <c:pt idx="6">
                  <c:v>4</c:v>
                </c:pt>
                <c:pt idx="7">
                  <c:v>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Abiertos</c:v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ELÉCTRICA</c:v>
                  </c:pt>
                  <c:pt idx="1">
                    <c:v>ADMINISTRACIÓN</c:v>
                  </c:pt>
                  <c:pt idx="2">
                    <c:v>OO.CC</c:v>
                  </c:pt>
                  <c:pt idx="3">
                    <c:v>RRLL</c:v>
                  </c:pt>
                  <c:pt idx="4">
                    <c:v>CALIDAD</c:v>
                  </c:pt>
                  <c:pt idx="5">
                    <c:v>EXPEDITORÍA</c:v>
                  </c:pt>
                  <c:pt idx="6">
                    <c:v>LOGÍSTICA</c:v>
                  </c:pt>
                  <c:pt idx="7">
                    <c:v>ADQUISICIONES</c:v>
                  </c:pt>
                </c:lvl>
              </c:multiLvlStrCache>
            </c:multiLvl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>1</c:v>
                </c:pt>
                <c:pt idx="6">
                  <c:v/>
                </c:pt>
                <c:pt idx="7">
                  <c:v/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Especialidades con más hallazgos (8 de 12)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Cerrados</c:v>
                </c:pt>
              </c:strCache>
            </c:strRef>
          </c:tx>
          <c:spPr>
            <a:solidFill>
              <a:srgbClr val="2E6F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OO.CC</c:v>
                  </c:pt>
                  <c:pt idx="1">
                    <c:v>CALIDAD</c:v>
                  </c:pt>
                  <c:pt idx="2">
                    <c:v>PIPING</c:v>
                  </c:pt>
                  <c:pt idx="3">
                    <c:v>ELÉCTRICA</c:v>
                  </c:pt>
                  <c:pt idx="4">
                    <c:v>TOPOGRAFÍA</c:v>
                  </c:pt>
                  <c:pt idx="5">
                    <c:v>ESTRUCTURA</c:v>
                  </c:pt>
                  <c:pt idx="6">
                    <c:v>ADQUISICIONES</c:v>
                  </c:pt>
                  <c:pt idx="7">
                    <c:v>GENERAL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142</c:v>
                </c:pt>
                <c:pt idx="1">
                  <c:v>25</c:v>
                </c:pt>
                <c:pt idx="2">
                  <c:v>16</c:v>
                </c:pt>
                <c:pt idx="3">
                  <c:v>11</c:v>
                </c:pt>
                <c:pt idx="4">
                  <c:v>9</c:v>
                </c:pt>
                <c:pt idx="5">
                  <c:v>8</c:v>
                </c:pt>
                <c:pt idx="6">
                  <c:v>8</c:v>
                </c:pt>
                <c:pt idx="7">
                  <c:v>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Abiertos</c:v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OO.CC</c:v>
                  </c:pt>
                  <c:pt idx="1">
                    <c:v>CALIDAD</c:v>
                  </c:pt>
                  <c:pt idx="2">
                    <c:v>PIPING</c:v>
                  </c:pt>
                  <c:pt idx="3">
                    <c:v>ELÉCTRICA</c:v>
                  </c:pt>
                  <c:pt idx="4">
                    <c:v>TOPOGRAFÍA</c:v>
                  </c:pt>
                  <c:pt idx="5">
                    <c:v>ESTRUCTURA</c:v>
                  </c:pt>
                  <c:pt idx="6">
                    <c:v>ADQUISICIONES</c:v>
                  </c:pt>
                  <c:pt idx="7">
                    <c:v>GENERAL</c:v>
                  </c:pt>
                </c:lvl>
              </c:multiLvlStrCache>
            </c:multiLvl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>5</c:v>
                </c:pt>
                <c:pt idx="1">
                  <c:v>1</c:v>
                </c:pt>
                <c:pt idx="2">
                  <c:v>1</c:v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Especialidades con más hallazgos (8 de 18)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Cerrados</c:v>
                </c:pt>
              </c:strCache>
            </c:strRef>
          </c:tx>
          <c:spPr>
            <a:solidFill>
              <a:srgbClr val="2E6F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Sin especialidad</c:v>
                  </c:pt>
                  <c:pt idx="1">
                    <c:v>EXPEDITORÍA</c:v>
                  </c:pt>
                  <c:pt idx="2">
                    <c:v>OO.CC</c:v>
                  </c:pt>
                  <c:pt idx="3">
                    <c:v>BODEGA</c:v>
                  </c:pt>
                  <c:pt idx="4">
                    <c:v>SUBCONTRATO</c:v>
                  </c:pt>
                  <c:pt idx="5">
                    <c:v>TOPOGRAFÍA</c:v>
                  </c:pt>
                  <c:pt idx="6">
                    <c:v>ESTRUCTURA</c:v>
                  </c:pt>
                  <c:pt idx="7">
                    <c:v>LOGÍSTICA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41</c:v>
                </c:pt>
                <c:pt idx="1">
                  <c:v>37</c:v>
                </c:pt>
                <c:pt idx="2">
                  <c:v>15</c:v>
                </c:pt>
                <c:pt idx="3">
                  <c:v>7</c:v>
                </c:pt>
                <c:pt idx="4">
                  <c:v>6</c:v>
                </c:pt>
                <c:pt idx="5">
                  <c:v>4</c:v>
                </c:pt>
                <c:pt idx="6">
                  <c:v>4</c:v>
                </c:pt>
                <c:pt idx="7">
                  <c:v>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Abiertos</c:v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Sin especialidad</c:v>
                  </c:pt>
                  <c:pt idx="1">
                    <c:v>EXPEDITORÍA</c:v>
                  </c:pt>
                  <c:pt idx="2">
                    <c:v>OO.CC</c:v>
                  </c:pt>
                  <c:pt idx="3">
                    <c:v>BODEGA</c:v>
                  </c:pt>
                  <c:pt idx="4">
                    <c:v>SUBCONTRATO</c:v>
                  </c:pt>
                  <c:pt idx="5">
                    <c:v>TOPOGRAFÍA</c:v>
                  </c:pt>
                  <c:pt idx="6">
                    <c:v>ESTRUCTURA</c:v>
                  </c:pt>
                  <c:pt idx="7">
                    <c:v>LOGÍSTICA</c:v>
                  </c:pt>
                </c:lvl>
              </c:multiLvlStrCache>
            </c:multiLvl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>36</c:v>
                </c:pt>
                <c:pt idx="1">
                  <c:v/>
                </c:pt>
                <c:pt idx="2">
                  <c:v>1</c:v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1.xml"/><Relationship Id="rId1" Type="http://schemas.openxmlformats.org/officeDocument/2006/relationships/image" Target="../media/image-4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2.xml"/><Relationship Id="rId3" Type="http://schemas.openxmlformats.org/officeDocument/2006/relationships/chart" Target="/ppt/charts/chart3.xml"/><Relationship Id="rId1" Type="http://schemas.openxmlformats.org/officeDocument/2006/relationships/image" Target="../media/image-5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4.xml"/><Relationship Id="rId1" Type="http://schemas.openxmlformats.org/officeDocument/2006/relationships/image" Target="../media/image-6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5.xml"/><Relationship Id="rId1" Type="http://schemas.openxmlformats.org/officeDocument/2006/relationships/image" Target="../media/image-10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6.xml"/><Relationship Id="rId1" Type="http://schemas.openxmlformats.org/officeDocument/2006/relationships/image" Target="../media/image-13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7.xml"/><Relationship Id="rId1" Type="http://schemas.openxmlformats.org/officeDocument/2006/relationships/image" Target="../media/image-16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2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058400" y="-1463040"/>
            <a:ext cx="3840480" cy="3840480"/>
          </a:xfrm>
          <a:prstGeom prst="ellipse">
            <a:avLst/>
          </a:prstGeom>
          <a:solidFill>
            <a:srgbClr val="1B3252"/>
          </a:solidFill>
          <a:ln/>
        </p:spPr>
      </p:sp>
      <p:sp>
        <p:nvSpPr>
          <p:cNvPr id="3" name="Shape 1"/>
          <p:cNvSpPr/>
          <p:nvPr/>
        </p:nvSpPr>
        <p:spPr>
          <a:xfrm>
            <a:off x="11064240" y="4572000"/>
            <a:ext cx="2743200" cy="2743200"/>
          </a:xfrm>
          <a:prstGeom prst="ellipse">
            <a:avLst/>
          </a:prstGeom>
          <a:solidFill>
            <a:srgbClr val="1B3252"/>
          </a:solidFill>
          <a:ln/>
        </p:spPr>
      </p:sp>
      <p:pic>
        <p:nvPicPr>
          <p:cNvPr id="4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57616" y="420624"/>
            <a:ext cx="3547872" cy="76809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02920" y="1234440"/>
            <a:ext cx="201168" cy="20116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6" name="Text 3"/>
          <p:cNvSpPr/>
          <p:nvPr/>
        </p:nvSpPr>
        <p:spPr>
          <a:xfrm>
            <a:off x="777240" y="10972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GESTIÓN DE CALIDAD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749808" y="1572768"/>
            <a:ext cx="10607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Conformidades</a:t>
            </a:r>
            <a:endParaRPr lang="en-US" sz="4600" dirty="0"/>
          </a:p>
        </p:txBody>
      </p:sp>
      <p:sp>
        <p:nvSpPr>
          <p:cNvPr id="8" name="Text 5"/>
          <p:cNvSpPr/>
          <p:nvPr/>
        </p:nvSpPr>
        <p:spPr>
          <a:xfrm>
            <a:off x="777240" y="265176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Hallazgos de calidad y su corrección · 3 proyectos y Oficina Central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777240" y="3154680"/>
            <a:ext cx="8778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509 hallazgos levantados entre 10-02-2023 y 03-09-2026 (Desaladora 82 · Talabre 249 · Arqueros 170 · Oficina Central 8).</a:t>
            </a:r>
            <a:endParaRPr lang="en-US" sz="13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de cierre · origen interno y externo · antigüedad de lo que sigue abierto · velocidad de corrección por frente.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7772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91,2%</a:t>
            </a:r>
            <a:endParaRPr lang="en-US" sz="3400" dirty="0"/>
          </a:p>
        </p:txBody>
      </p:sp>
      <p:sp>
        <p:nvSpPr>
          <p:cNvPr id="11" name="Text 8"/>
          <p:cNvSpPr/>
          <p:nvPr/>
        </p:nvSpPr>
        <p:spPr>
          <a:xfrm>
            <a:off x="7772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Hallazgos cerrados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35204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45</a:t>
            </a:r>
            <a:endParaRPr lang="en-US" sz="3400" dirty="0"/>
          </a:p>
        </p:txBody>
      </p:sp>
      <p:sp>
        <p:nvSpPr>
          <p:cNvPr id="13" name="Text 10"/>
          <p:cNvSpPr/>
          <p:nvPr/>
        </p:nvSpPr>
        <p:spPr>
          <a:xfrm>
            <a:off x="35204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Siguen abiertos</a:t>
            </a:r>
            <a:endParaRPr lang="en-US" sz="1150" dirty="0"/>
          </a:p>
        </p:txBody>
      </p:sp>
      <p:sp>
        <p:nvSpPr>
          <p:cNvPr id="14" name="Text 11"/>
          <p:cNvSpPr/>
          <p:nvPr/>
        </p:nvSpPr>
        <p:spPr>
          <a:xfrm>
            <a:off x="62636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30 d</a:t>
            </a:r>
            <a:endParaRPr lang="en-US" sz="3400" dirty="0"/>
          </a:p>
        </p:txBody>
      </p:sp>
      <p:sp>
        <p:nvSpPr>
          <p:cNvPr id="15" name="Text 12"/>
          <p:cNvSpPr/>
          <p:nvPr/>
        </p:nvSpPr>
        <p:spPr>
          <a:xfrm>
            <a:off x="62636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Mediana de cierre</a:t>
            </a:r>
            <a:endParaRPr lang="en-US" sz="1150" dirty="0"/>
          </a:p>
        </p:txBody>
      </p:sp>
      <p:sp>
        <p:nvSpPr>
          <p:cNvPr id="16" name="Text 13"/>
          <p:cNvSpPr/>
          <p:nvPr/>
        </p:nvSpPr>
        <p:spPr>
          <a:xfrm>
            <a:off x="90068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10.613</a:t>
            </a:r>
            <a:endParaRPr lang="en-US" sz="3400" dirty="0"/>
          </a:p>
        </p:txBody>
      </p:sp>
      <p:sp>
        <p:nvSpPr>
          <p:cNvPr id="17" name="Text 14"/>
          <p:cNvSpPr/>
          <p:nvPr/>
        </p:nvSpPr>
        <p:spPr>
          <a:xfrm>
            <a:off x="90068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UF declaradas</a:t>
            </a:r>
            <a:endParaRPr 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777240" y="6172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Corte: 13-09-2026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Data_NCR-13092026.xlsx — hoja «Observaciones» · Corte 13-09-2026 · 509 registros desde 10-02-2023</a:t>
            </a:r>
            <a:endParaRPr lang="en-US" sz="850" dirty="0"/>
          </a:p>
        </p:txBody>
      </p:sp>
      <p:sp>
        <p:nvSpPr>
          <p:cNvPr id="20" name="Text 17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RESUMEN EJECUTIVO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Estado global de los cuatro frentes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457200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713232" y="1719072"/>
            <a:ext cx="146304" cy="146304"/>
          </a:xfrm>
          <a:prstGeom prst="ellipse">
            <a:avLst/>
          </a:prstGeom>
          <a:solidFill>
            <a:srgbClr val="2E6FB5"/>
          </a:solidFill>
          <a:ln/>
        </p:spPr>
      </p:sp>
      <p:sp>
        <p:nvSpPr>
          <p:cNvPr id="7" name="Text 4"/>
          <p:cNvSpPr/>
          <p:nvPr/>
        </p:nvSpPr>
        <p:spPr>
          <a:xfrm>
            <a:off x="713232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2E6FB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91,2%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731520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464/509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731520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 de hallazgos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731520" y="329184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 abiertos · 18 con más de 180 días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3319272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3575304" y="1719072"/>
            <a:ext cx="146304" cy="146304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13" name="Text 10"/>
          <p:cNvSpPr/>
          <p:nvPr/>
        </p:nvSpPr>
        <p:spPr>
          <a:xfrm>
            <a:off x="3575304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45</a:t>
            </a:r>
            <a:endParaRPr lang="en-US" sz="4000" dirty="0"/>
          </a:p>
        </p:txBody>
      </p:sp>
      <p:sp>
        <p:nvSpPr>
          <p:cNvPr id="14" name="Text 11"/>
          <p:cNvSpPr/>
          <p:nvPr/>
        </p:nvSpPr>
        <p:spPr>
          <a:xfrm>
            <a:off x="3593592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509 levantados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3593592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Hallazgos abiertos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3593592" y="329184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iniciado · 27 listo para revisión · 9 stand by · 1 observada · 1 pendiente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6181344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6437376" y="1719072"/>
            <a:ext cx="146304" cy="146304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19" name="Text 16"/>
          <p:cNvSpPr/>
          <p:nvPr/>
        </p:nvSpPr>
        <p:spPr>
          <a:xfrm>
            <a:off x="6437376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C87A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31,8%</a:t>
            </a:r>
            <a:endParaRPr lang="en-US" sz="4000" dirty="0"/>
          </a:p>
        </p:txBody>
      </p:sp>
      <p:sp>
        <p:nvSpPr>
          <p:cNvPr id="20" name="Text 17"/>
          <p:cNvSpPr/>
          <p:nvPr/>
        </p:nvSpPr>
        <p:spPr>
          <a:xfrm>
            <a:off x="6455664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159/500 clasificados</a:t>
            </a:r>
            <a:endParaRPr lang="en-US" sz="1400" dirty="0"/>
          </a:p>
        </p:txBody>
      </p:sp>
      <p:sp>
        <p:nvSpPr>
          <p:cNvPr id="21" name="Text 18"/>
          <p:cNvSpPr/>
          <p:nvPr/>
        </p:nvSpPr>
        <p:spPr>
          <a:xfrm>
            <a:off x="6455664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Autodetección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6455664" y="329184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levanta Besalco antes que el cliente o un subcontrato</a:t>
            </a:r>
            <a:endParaRPr lang="en-US" sz="950" dirty="0"/>
          </a:p>
        </p:txBody>
      </p:sp>
      <p:sp>
        <p:nvSpPr>
          <p:cNvPr id="23" name="Shape 20"/>
          <p:cNvSpPr/>
          <p:nvPr/>
        </p:nvSpPr>
        <p:spPr>
          <a:xfrm>
            <a:off x="9043416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9299448" y="1719072"/>
            <a:ext cx="146304" cy="146304"/>
          </a:xfrm>
          <a:prstGeom prst="ellipse">
            <a:avLst/>
          </a:prstGeom>
          <a:solidFill>
            <a:srgbClr val="1F7A44"/>
          </a:solidFill>
          <a:ln/>
        </p:spPr>
      </p:sp>
      <p:sp>
        <p:nvSpPr>
          <p:cNvPr id="25" name="Text 22"/>
          <p:cNvSpPr/>
          <p:nvPr/>
        </p:nvSpPr>
        <p:spPr>
          <a:xfrm>
            <a:off x="9299448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7A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10.613</a:t>
            </a:r>
            <a:endParaRPr lang="en-US" sz="4000" dirty="0"/>
          </a:p>
        </p:txBody>
      </p:sp>
      <p:sp>
        <p:nvSpPr>
          <p:cNvPr id="26" name="Text 23"/>
          <p:cNvSpPr/>
          <p:nvPr/>
        </p:nvSpPr>
        <p:spPr>
          <a:xfrm>
            <a:off x="9317736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251 de 509 con costo</a:t>
            </a:r>
            <a:endParaRPr lang="en-US" sz="1400" dirty="0"/>
          </a:p>
        </p:txBody>
      </p:sp>
      <p:sp>
        <p:nvSpPr>
          <p:cNvPr id="27" name="Text 24"/>
          <p:cNvSpPr/>
          <p:nvPr/>
        </p:nvSpPr>
        <p:spPr>
          <a:xfrm>
            <a:off x="9317736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Costo declarado (UF)</a:t>
            </a:r>
            <a:endParaRPr lang="en-US" sz="1200" dirty="0"/>
          </a:p>
        </p:txBody>
      </p:sp>
      <p:sp>
        <p:nvSpPr>
          <p:cNvPr id="28" name="Text 25"/>
          <p:cNvSpPr/>
          <p:nvPr/>
        </p:nvSpPr>
        <p:spPr>
          <a:xfrm>
            <a:off x="9317736" y="329184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258 hallazgos no declaran costo: la cifra es un piso</a:t>
            </a:r>
            <a:endParaRPr lang="en-US" sz="950" dirty="0"/>
          </a:p>
        </p:txBody>
      </p:sp>
      <p:sp>
        <p:nvSpPr>
          <p:cNvPr id="29" name="Shape 26"/>
          <p:cNvSpPr/>
          <p:nvPr/>
        </p:nvSpPr>
        <p:spPr>
          <a:xfrm>
            <a:off x="457200" y="3931920"/>
            <a:ext cx="11274552" cy="2212848"/>
          </a:xfrm>
          <a:prstGeom prst="roundRect">
            <a:avLst>
              <a:gd name="adj" fmla="val 2479"/>
            </a:avLst>
          </a:prstGeom>
          <a:solidFill>
            <a:srgbClr val="12233B"/>
          </a:solidFill>
          <a:ln/>
        </p:spPr>
      </p:sp>
      <p:sp>
        <p:nvSpPr>
          <p:cNvPr id="30" name="Text 27"/>
          <p:cNvSpPr/>
          <p:nvPr/>
        </p:nvSpPr>
        <p:spPr>
          <a:xfrm>
            <a:off x="777240" y="409651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LECTURA DEL PERÍODO</a:t>
            </a:r>
            <a:endParaRPr lang="en-US" sz="1100" dirty="0"/>
          </a:p>
        </p:txBody>
      </p:sp>
      <p:sp>
        <p:nvSpPr>
          <p:cNvPr id="31" name="Shape 28"/>
          <p:cNvSpPr/>
          <p:nvPr/>
        </p:nvSpPr>
        <p:spPr>
          <a:xfrm>
            <a:off x="822960" y="4498848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2" name="Text 29"/>
          <p:cNvSpPr/>
          <p:nvPr/>
        </p:nvSpPr>
        <p:spPr>
          <a:xfrm>
            <a:off x="1051560" y="4398264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Arqueros concentra el pendiente.  </a:t>
            </a:r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37 de los 45 hallazgos abiertos (82,2%), y es uno de los frentes donde el cliente levanta más de lo que detecta Besalco (77 del cliente contra 53 internas).</a:t>
            </a:r>
            <a:endParaRPr lang="en-US" sz="1250" dirty="0"/>
          </a:p>
        </p:txBody>
      </p:sp>
      <p:sp>
        <p:nvSpPr>
          <p:cNvPr id="33" name="Shape 30"/>
          <p:cNvSpPr/>
          <p:nvPr/>
        </p:nvSpPr>
        <p:spPr>
          <a:xfrm>
            <a:off x="822960" y="5047488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4" name="Text 31"/>
          <p:cNvSpPr/>
          <p:nvPr/>
        </p:nvSpPr>
        <p:spPr>
          <a:xfrm>
            <a:off x="1051560" y="4946904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semana cerró sin hallazgos nuevos.  </a:t>
            </a:r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el 07-09-2026 y el 13-09-2026 no se levantó ningún hallazgo en ningún frente.</a:t>
            </a:r>
            <a:endParaRPr lang="en-US" sz="1250" dirty="0"/>
          </a:p>
        </p:txBody>
      </p:sp>
      <p:sp>
        <p:nvSpPr>
          <p:cNvPr id="35" name="Shape 32"/>
          <p:cNvSpPr/>
          <p:nvPr/>
        </p:nvSpPr>
        <p:spPr>
          <a:xfrm>
            <a:off x="822960" y="5596128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6" name="Text 33"/>
          <p:cNvSpPr/>
          <p:nvPr/>
        </p:nvSpPr>
        <p:spPr>
          <a:xfrm>
            <a:off x="1051560" y="5495544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44 de los 45 abiertos están fuera del plazo de respuesta.  </a:t>
            </a:r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plazo es de 10 días desde que se emite la NC. De los atrasados, 18 llevan más de 180 días abiertos y 0 más de un año: no es atraso de días, es deuda vieja.</a:t>
            </a:r>
            <a:endParaRPr lang="en-US" sz="1250" dirty="0"/>
          </a:p>
        </p:txBody>
      </p:sp>
      <p:sp>
        <p:nvSpPr>
          <p:cNvPr id="37" name="Text 34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Data_NCR-13092026.xlsx — hoja «Observaciones» · Corte 13-09-2026 · 509 registros desde 10-02-2023</a:t>
            </a:r>
            <a:endParaRPr lang="en-US" sz="850" dirty="0"/>
          </a:p>
        </p:txBody>
      </p:sp>
      <p:sp>
        <p:nvSpPr>
          <p:cNvPr id="38" name="Text 35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CONSOLIDADO</a:t>
            </a:r>
            <a:endParaRPr lang="en-US" sz="850" dirty="0"/>
          </a:p>
        </p:txBody>
      </p:sp>
      <p:sp>
        <p:nvSpPr>
          <p:cNvPr id="39" name="Text 36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POR FRENTE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Semáforo de no conformidades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457200" y="1234440"/>
            <a:ext cx="11247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Crítico si hay más de 15 abiertas o el cierre baja de 85% · Atención si hay más de 3 abiertas o el cierre queda bajo 95% · Al día en caso contrario.</a:t>
            </a:r>
            <a:endParaRPr lang="en-US" sz="1350" dirty="0"/>
          </a:p>
        </p:txBody>
      </p:sp>
      <p:sp>
        <p:nvSpPr>
          <p:cNvPr id="6" name="Text 3"/>
          <p:cNvSpPr/>
          <p:nvPr/>
        </p:nvSpPr>
        <p:spPr>
          <a:xfrm>
            <a:off x="502920" y="192024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FRENTE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2971800" y="19202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LEVANTADOS</a:t>
            </a:r>
            <a:endParaRPr lang="en-US" sz="950" dirty="0"/>
          </a:p>
        </p:txBody>
      </p:sp>
      <p:sp>
        <p:nvSpPr>
          <p:cNvPr id="8" name="Text 5"/>
          <p:cNvSpPr/>
          <p:nvPr/>
        </p:nvSpPr>
        <p:spPr>
          <a:xfrm>
            <a:off x="3977640" y="1920240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CERRADOS</a:t>
            </a:r>
            <a:endParaRPr lang="en-US" sz="950" dirty="0"/>
          </a:p>
        </p:txBody>
      </p:sp>
      <p:sp>
        <p:nvSpPr>
          <p:cNvPr id="9" name="Text 6"/>
          <p:cNvSpPr/>
          <p:nvPr/>
        </p:nvSpPr>
        <p:spPr>
          <a:xfrm>
            <a:off x="4937760" y="192024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ABIERTOS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5852160" y="192024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 CIERRE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6766560" y="192024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INTERNAS</a:t>
            </a:r>
            <a:endParaRPr lang="en-US" sz="950" dirty="0"/>
          </a:p>
        </p:txBody>
      </p:sp>
      <p:sp>
        <p:nvSpPr>
          <p:cNvPr id="12" name="Text 9"/>
          <p:cNvSpPr/>
          <p:nvPr/>
        </p:nvSpPr>
        <p:spPr>
          <a:xfrm>
            <a:off x="7680960" y="192024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 CLIENTE</a:t>
            </a:r>
            <a:endParaRPr lang="en-US" sz="950" dirty="0"/>
          </a:p>
        </p:txBody>
      </p:sp>
      <p:sp>
        <p:nvSpPr>
          <p:cNvPr id="13" name="Text 10"/>
          <p:cNvSpPr/>
          <p:nvPr/>
        </p:nvSpPr>
        <p:spPr>
          <a:xfrm>
            <a:off x="8778240" y="192024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SUBCONTR.</a:t>
            </a:r>
            <a:endParaRPr lang="en-US" sz="950" dirty="0"/>
          </a:p>
        </p:txBody>
      </p:sp>
      <p:sp>
        <p:nvSpPr>
          <p:cNvPr id="14" name="Text 11"/>
          <p:cNvSpPr/>
          <p:nvPr/>
        </p:nvSpPr>
        <p:spPr>
          <a:xfrm>
            <a:off x="9875520" y="19202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COSTO UF</a:t>
            </a:r>
            <a:endParaRPr lang="en-US" sz="950" dirty="0"/>
          </a:p>
        </p:txBody>
      </p:sp>
      <p:sp>
        <p:nvSpPr>
          <p:cNvPr id="15" name="Text 12"/>
          <p:cNvSpPr/>
          <p:nvPr/>
        </p:nvSpPr>
        <p:spPr>
          <a:xfrm>
            <a:off x="10927080" y="19202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502920" y="2231136"/>
            <a:ext cx="11247120" cy="0"/>
          </a:xfrm>
          <a:prstGeom prst="line">
            <a:avLst/>
          </a:prstGeom>
          <a:noFill/>
          <a:ln w="12700">
            <a:solidFill>
              <a:srgbClr val="6E8CA8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502920" y="2359152"/>
            <a:ext cx="2331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Desaladora</a:t>
            </a:r>
            <a:endParaRPr lang="en-US" sz="1400" dirty="0"/>
          </a:p>
        </p:txBody>
      </p:sp>
      <p:sp>
        <p:nvSpPr>
          <p:cNvPr id="18" name="Text 15"/>
          <p:cNvSpPr/>
          <p:nvPr/>
        </p:nvSpPr>
        <p:spPr>
          <a:xfrm>
            <a:off x="502920" y="2660904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ANTOFAGASTA MINERALS</a:t>
            </a:r>
            <a:endParaRPr lang="en-US" sz="950" dirty="0"/>
          </a:p>
        </p:txBody>
      </p:sp>
      <p:sp>
        <p:nvSpPr>
          <p:cNvPr id="19" name="Text 16"/>
          <p:cNvSpPr/>
          <p:nvPr/>
        </p:nvSpPr>
        <p:spPr>
          <a:xfrm>
            <a:off x="2971800" y="2432304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82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3977640" y="2432304"/>
            <a:ext cx="868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81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4937760" y="2432304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22" name="Text 19"/>
          <p:cNvSpPr/>
          <p:nvPr/>
        </p:nvSpPr>
        <p:spPr>
          <a:xfrm>
            <a:off x="5852160" y="2432304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98,8%</a:t>
            </a:r>
            <a:endParaRPr lang="en-US" sz="1300" dirty="0"/>
          </a:p>
        </p:txBody>
      </p:sp>
      <p:sp>
        <p:nvSpPr>
          <p:cNvPr id="23" name="Text 20"/>
          <p:cNvSpPr/>
          <p:nvPr/>
        </p:nvSpPr>
        <p:spPr>
          <a:xfrm>
            <a:off x="6766560" y="2432304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54</a:t>
            </a:r>
            <a:endParaRPr lang="en-US" sz="1300" dirty="0"/>
          </a:p>
        </p:txBody>
      </p:sp>
      <p:sp>
        <p:nvSpPr>
          <p:cNvPr id="24" name="Text 21"/>
          <p:cNvSpPr/>
          <p:nvPr/>
        </p:nvSpPr>
        <p:spPr>
          <a:xfrm>
            <a:off x="7680960" y="2432304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1300" dirty="0"/>
          </a:p>
        </p:txBody>
      </p:sp>
      <p:sp>
        <p:nvSpPr>
          <p:cNvPr id="25" name="Text 22"/>
          <p:cNvSpPr/>
          <p:nvPr/>
        </p:nvSpPr>
        <p:spPr>
          <a:xfrm>
            <a:off x="8778240" y="2432304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300" dirty="0"/>
          </a:p>
        </p:txBody>
      </p:sp>
      <p:sp>
        <p:nvSpPr>
          <p:cNvPr id="26" name="Text 23"/>
          <p:cNvSpPr/>
          <p:nvPr/>
        </p:nvSpPr>
        <p:spPr>
          <a:xfrm>
            <a:off x="9875520" y="2432304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1.403</a:t>
            </a:r>
            <a:endParaRPr lang="en-US" sz="1300" dirty="0"/>
          </a:p>
        </p:txBody>
      </p:sp>
      <p:sp>
        <p:nvSpPr>
          <p:cNvPr id="27" name="Shape 24"/>
          <p:cNvSpPr/>
          <p:nvPr/>
        </p:nvSpPr>
        <p:spPr>
          <a:xfrm>
            <a:off x="10927080" y="2450592"/>
            <a:ext cx="914400" cy="365760"/>
          </a:xfrm>
          <a:prstGeom prst="roundRect">
            <a:avLst>
              <a:gd name="adj" fmla="val 50000"/>
            </a:avLst>
          </a:prstGeom>
          <a:solidFill>
            <a:srgbClr val="2E9E5B"/>
          </a:solidFill>
          <a:ln/>
        </p:spPr>
      </p:sp>
      <p:sp>
        <p:nvSpPr>
          <p:cNvPr id="28" name="Text 25"/>
          <p:cNvSpPr/>
          <p:nvPr/>
        </p:nvSpPr>
        <p:spPr>
          <a:xfrm>
            <a:off x="10927080" y="2459736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 día</a:t>
            </a:r>
            <a:endParaRPr lang="en-US" sz="1050" dirty="0"/>
          </a:p>
        </p:txBody>
      </p:sp>
      <p:sp>
        <p:nvSpPr>
          <p:cNvPr id="29" name="Shape 26"/>
          <p:cNvSpPr/>
          <p:nvPr/>
        </p:nvSpPr>
        <p:spPr>
          <a:xfrm>
            <a:off x="502920" y="3063240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457200" y="3063240"/>
            <a:ext cx="11292840" cy="74980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1" name="Text 28"/>
          <p:cNvSpPr/>
          <p:nvPr/>
        </p:nvSpPr>
        <p:spPr>
          <a:xfrm>
            <a:off x="502920" y="3108960"/>
            <a:ext cx="2331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Talabre</a:t>
            </a:r>
            <a:endParaRPr lang="en-US" sz="1400" dirty="0"/>
          </a:p>
        </p:txBody>
      </p:sp>
      <p:sp>
        <p:nvSpPr>
          <p:cNvPr id="32" name="Text 29"/>
          <p:cNvSpPr/>
          <p:nvPr/>
        </p:nvSpPr>
        <p:spPr>
          <a:xfrm>
            <a:off x="502920" y="3410712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CODELCO</a:t>
            </a:r>
            <a:endParaRPr lang="en-US" sz="950" dirty="0"/>
          </a:p>
        </p:txBody>
      </p:sp>
      <p:sp>
        <p:nvSpPr>
          <p:cNvPr id="33" name="Text 30"/>
          <p:cNvSpPr/>
          <p:nvPr/>
        </p:nvSpPr>
        <p:spPr>
          <a:xfrm>
            <a:off x="2971800" y="3182112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249</a:t>
            </a:r>
            <a:endParaRPr lang="en-US" sz="1300" dirty="0"/>
          </a:p>
        </p:txBody>
      </p:sp>
      <p:sp>
        <p:nvSpPr>
          <p:cNvPr id="34" name="Text 31"/>
          <p:cNvSpPr/>
          <p:nvPr/>
        </p:nvSpPr>
        <p:spPr>
          <a:xfrm>
            <a:off x="3977640" y="3182112"/>
            <a:ext cx="868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242</a:t>
            </a:r>
            <a:endParaRPr lang="en-US" sz="1300" dirty="0"/>
          </a:p>
        </p:txBody>
      </p:sp>
      <p:sp>
        <p:nvSpPr>
          <p:cNvPr id="35" name="Text 32"/>
          <p:cNvSpPr/>
          <p:nvPr/>
        </p:nvSpPr>
        <p:spPr>
          <a:xfrm>
            <a:off x="4937760" y="3182112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300" dirty="0"/>
          </a:p>
        </p:txBody>
      </p:sp>
      <p:sp>
        <p:nvSpPr>
          <p:cNvPr id="36" name="Text 33"/>
          <p:cNvSpPr/>
          <p:nvPr/>
        </p:nvSpPr>
        <p:spPr>
          <a:xfrm>
            <a:off x="5852160" y="3182112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97,2%</a:t>
            </a:r>
            <a:endParaRPr lang="en-US" sz="1300" dirty="0"/>
          </a:p>
        </p:txBody>
      </p:sp>
      <p:sp>
        <p:nvSpPr>
          <p:cNvPr id="37" name="Text 34"/>
          <p:cNvSpPr/>
          <p:nvPr/>
        </p:nvSpPr>
        <p:spPr>
          <a:xfrm>
            <a:off x="6766560" y="3182112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52</a:t>
            </a:r>
            <a:endParaRPr lang="en-US" sz="1300" dirty="0"/>
          </a:p>
        </p:txBody>
      </p:sp>
      <p:sp>
        <p:nvSpPr>
          <p:cNvPr id="38" name="Text 35"/>
          <p:cNvSpPr/>
          <p:nvPr/>
        </p:nvSpPr>
        <p:spPr>
          <a:xfrm>
            <a:off x="7680960" y="3182112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197</a:t>
            </a:r>
            <a:endParaRPr lang="en-US" sz="1300" dirty="0"/>
          </a:p>
        </p:txBody>
      </p:sp>
      <p:sp>
        <p:nvSpPr>
          <p:cNvPr id="39" name="Text 36"/>
          <p:cNvSpPr/>
          <p:nvPr/>
        </p:nvSpPr>
        <p:spPr>
          <a:xfrm>
            <a:off x="8778240" y="3182112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300" dirty="0"/>
          </a:p>
        </p:txBody>
      </p:sp>
      <p:sp>
        <p:nvSpPr>
          <p:cNvPr id="40" name="Text 37"/>
          <p:cNvSpPr/>
          <p:nvPr/>
        </p:nvSpPr>
        <p:spPr>
          <a:xfrm>
            <a:off x="9875520" y="3182112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5.818</a:t>
            </a:r>
            <a:endParaRPr lang="en-US" sz="1300" dirty="0"/>
          </a:p>
        </p:txBody>
      </p:sp>
      <p:sp>
        <p:nvSpPr>
          <p:cNvPr id="41" name="Shape 38"/>
          <p:cNvSpPr/>
          <p:nvPr/>
        </p:nvSpPr>
        <p:spPr>
          <a:xfrm>
            <a:off x="10927080" y="3200400"/>
            <a:ext cx="914400" cy="365760"/>
          </a:xfrm>
          <a:prstGeom prst="roundRect">
            <a:avLst>
              <a:gd name="adj" fmla="val 50000"/>
            </a:avLst>
          </a:prstGeom>
          <a:solidFill>
            <a:srgbClr val="E0A32E"/>
          </a:solidFill>
          <a:ln/>
        </p:spPr>
      </p:sp>
      <p:sp>
        <p:nvSpPr>
          <p:cNvPr id="42" name="Text 39"/>
          <p:cNvSpPr/>
          <p:nvPr/>
        </p:nvSpPr>
        <p:spPr>
          <a:xfrm>
            <a:off x="10927080" y="3209544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Atención</a:t>
            </a:r>
            <a:endParaRPr lang="en-US" sz="1050" dirty="0"/>
          </a:p>
        </p:txBody>
      </p:sp>
      <p:sp>
        <p:nvSpPr>
          <p:cNvPr id="43" name="Shape 40"/>
          <p:cNvSpPr/>
          <p:nvPr/>
        </p:nvSpPr>
        <p:spPr>
          <a:xfrm>
            <a:off x="502920" y="3813048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44" name="Text 41"/>
          <p:cNvSpPr/>
          <p:nvPr/>
        </p:nvSpPr>
        <p:spPr>
          <a:xfrm>
            <a:off x="502920" y="3858768"/>
            <a:ext cx="2331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Arqueros</a:t>
            </a:r>
            <a:endParaRPr lang="en-US" sz="1400" dirty="0"/>
          </a:p>
        </p:txBody>
      </p:sp>
      <p:sp>
        <p:nvSpPr>
          <p:cNvPr id="45" name="Text 42"/>
          <p:cNvSpPr/>
          <p:nvPr/>
        </p:nvSpPr>
        <p:spPr>
          <a:xfrm>
            <a:off x="502920" y="4160520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MASA</a:t>
            </a:r>
            <a:endParaRPr lang="en-US" sz="950" dirty="0"/>
          </a:p>
        </p:txBody>
      </p:sp>
      <p:sp>
        <p:nvSpPr>
          <p:cNvPr id="46" name="Text 43"/>
          <p:cNvSpPr/>
          <p:nvPr/>
        </p:nvSpPr>
        <p:spPr>
          <a:xfrm>
            <a:off x="2971800" y="393192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170</a:t>
            </a:r>
            <a:endParaRPr lang="en-US" sz="1300" dirty="0"/>
          </a:p>
        </p:txBody>
      </p:sp>
      <p:sp>
        <p:nvSpPr>
          <p:cNvPr id="47" name="Text 44"/>
          <p:cNvSpPr/>
          <p:nvPr/>
        </p:nvSpPr>
        <p:spPr>
          <a:xfrm>
            <a:off x="3977640" y="3931920"/>
            <a:ext cx="868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133</a:t>
            </a:r>
            <a:endParaRPr lang="en-US" sz="1300" dirty="0"/>
          </a:p>
        </p:txBody>
      </p:sp>
      <p:sp>
        <p:nvSpPr>
          <p:cNvPr id="48" name="Text 45"/>
          <p:cNvSpPr/>
          <p:nvPr/>
        </p:nvSpPr>
        <p:spPr>
          <a:xfrm>
            <a:off x="4937760" y="3931920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37</a:t>
            </a:r>
            <a:endParaRPr lang="en-US" sz="1300" dirty="0"/>
          </a:p>
        </p:txBody>
      </p:sp>
      <p:sp>
        <p:nvSpPr>
          <p:cNvPr id="49" name="Text 46"/>
          <p:cNvSpPr/>
          <p:nvPr/>
        </p:nvSpPr>
        <p:spPr>
          <a:xfrm>
            <a:off x="5852160" y="3931920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78,2%</a:t>
            </a:r>
            <a:endParaRPr lang="en-US" sz="1300" dirty="0"/>
          </a:p>
        </p:txBody>
      </p:sp>
      <p:sp>
        <p:nvSpPr>
          <p:cNvPr id="50" name="Text 47"/>
          <p:cNvSpPr/>
          <p:nvPr/>
        </p:nvSpPr>
        <p:spPr>
          <a:xfrm>
            <a:off x="6766560" y="3931920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53</a:t>
            </a:r>
            <a:endParaRPr lang="en-US" sz="1300" dirty="0"/>
          </a:p>
        </p:txBody>
      </p:sp>
      <p:sp>
        <p:nvSpPr>
          <p:cNvPr id="51" name="Text 48"/>
          <p:cNvSpPr/>
          <p:nvPr/>
        </p:nvSpPr>
        <p:spPr>
          <a:xfrm>
            <a:off x="7680960" y="3931920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77</a:t>
            </a:r>
            <a:endParaRPr lang="en-US" sz="1300" dirty="0"/>
          </a:p>
        </p:txBody>
      </p:sp>
      <p:sp>
        <p:nvSpPr>
          <p:cNvPr id="52" name="Text 49"/>
          <p:cNvSpPr/>
          <p:nvPr/>
        </p:nvSpPr>
        <p:spPr>
          <a:xfrm>
            <a:off x="8778240" y="3931920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</a:t>
            </a:r>
            <a:endParaRPr lang="en-US" sz="1300" dirty="0"/>
          </a:p>
        </p:txBody>
      </p:sp>
      <p:sp>
        <p:nvSpPr>
          <p:cNvPr id="53" name="Text 50"/>
          <p:cNvSpPr/>
          <p:nvPr/>
        </p:nvSpPr>
        <p:spPr>
          <a:xfrm>
            <a:off x="9875520" y="393192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3.392</a:t>
            </a:r>
            <a:endParaRPr lang="en-US" sz="1300" dirty="0"/>
          </a:p>
        </p:txBody>
      </p:sp>
      <p:sp>
        <p:nvSpPr>
          <p:cNvPr id="54" name="Shape 51"/>
          <p:cNvSpPr/>
          <p:nvPr/>
        </p:nvSpPr>
        <p:spPr>
          <a:xfrm>
            <a:off x="10927080" y="3950208"/>
            <a:ext cx="914400" cy="365760"/>
          </a:xfrm>
          <a:prstGeom prst="roundRect">
            <a:avLst>
              <a:gd name="adj" fmla="val 50000"/>
            </a:avLst>
          </a:prstGeom>
          <a:solidFill>
            <a:srgbClr val="C0392B"/>
          </a:solidFill>
          <a:ln/>
        </p:spPr>
      </p:sp>
      <p:sp>
        <p:nvSpPr>
          <p:cNvPr id="55" name="Text 52"/>
          <p:cNvSpPr/>
          <p:nvPr/>
        </p:nvSpPr>
        <p:spPr>
          <a:xfrm>
            <a:off x="10927080" y="3959352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Crítico</a:t>
            </a:r>
            <a:endParaRPr lang="en-US" sz="1050" dirty="0"/>
          </a:p>
        </p:txBody>
      </p:sp>
      <p:sp>
        <p:nvSpPr>
          <p:cNvPr id="56" name="Shape 53"/>
          <p:cNvSpPr/>
          <p:nvPr/>
        </p:nvSpPr>
        <p:spPr>
          <a:xfrm>
            <a:off x="502920" y="4562856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57" name="Shape 54"/>
          <p:cNvSpPr/>
          <p:nvPr/>
        </p:nvSpPr>
        <p:spPr>
          <a:xfrm>
            <a:off x="457200" y="4562856"/>
            <a:ext cx="11292840" cy="74980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8" name="Text 55"/>
          <p:cNvSpPr/>
          <p:nvPr/>
        </p:nvSpPr>
        <p:spPr>
          <a:xfrm>
            <a:off x="502920" y="4608576"/>
            <a:ext cx="2331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Oficina Central</a:t>
            </a:r>
            <a:endParaRPr lang="en-US" sz="1400" dirty="0"/>
          </a:p>
        </p:txBody>
      </p:sp>
      <p:sp>
        <p:nvSpPr>
          <p:cNvPr id="59" name="Text 56"/>
          <p:cNvSpPr/>
          <p:nvPr/>
        </p:nvSpPr>
        <p:spPr>
          <a:xfrm>
            <a:off x="502920" y="4910328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BESALCO MONTAJES · no es obra</a:t>
            </a:r>
            <a:endParaRPr lang="en-US" sz="950" dirty="0"/>
          </a:p>
        </p:txBody>
      </p:sp>
      <p:sp>
        <p:nvSpPr>
          <p:cNvPr id="60" name="Text 57"/>
          <p:cNvSpPr/>
          <p:nvPr/>
        </p:nvSpPr>
        <p:spPr>
          <a:xfrm>
            <a:off x="2971800" y="468172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300" dirty="0"/>
          </a:p>
        </p:txBody>
      </p:sp>
      <p:sp>
        <p:nvSpPr>
          <p:cNvPr id="61" name="Text 58"/>
          <p:cNvSpPr/>
          <p:nvPr/>
        </p:nvSpPr>
        <p:spPr>
          <a:xfrm>
            <a:off x="3977640" y="4681728"/>
            <a:ext cx="868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300" dirty="0"/>
          </a:p>
        </p:txBody>
      </p:sp>
      <p:sp>
        <p:nvSpPr>
          <p:cNvPr id="62" name="Text 59"/>
          <p:cNvSpPr/>
          <p:nvPr/>
        </p:nvSpPr>
        <p:spPr>
          <a:xfrm>
            <a:off x="4937760" y="4681728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300" dirty="0"/>
          </a:p>
        </p:txBody>
      </p:sp>
      <p:sp>
        <p:nvSpPr>
          <p:cNvPr id="63" name="Text 60"/>
          <p:cNvSpPr/>
          <p:nvPr/>
        </p:nvSpPr>
        <p:spPr>
          <a:xfrm>
            <a:off x="5852160" y="4681728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1300" dirty="0"/>
          </a:p>
        </p:txBody>
      </p:sp>
      <p:sp>
        <p:nvSpPr>
          <p:cNvPr id="64" name="Text 61"/>
          <p:cNvSpPr/>
          <p:nvPr/>
        </p:nvSpPr>
        <p:spPr>
          <a:xfrm>
            <a:off x="6766560" y="4681728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300" dirty="0"/>
          </a:p>
        </p:txBody>
      </p:sp>
      <p:sp>
        <p:nvSpPr>
          <p:cNvPr id="65" name="Text 62"/>
          <p:cNvSpPr/>
          <p:nvPr/>
        </p:nvSpPr>
        <p:spPr>
          <a:xfrm>
            <a:off x="7680960" y="4681728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300" dirty="0"/>
          </a:p>
        </p:txBody>
      </p:sp>
      <p:sp>
        <p:nvSpPr>
          <p:cNvPr id="66" name="Text 63"/>
          <p:cNvSpPr/>
          <p:nvPr/>
        </p:nvSpPr>
        <p:spPr>
          <a:xfrm>
            <a:off x="8778240" y="4681728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300" dirty="0"/>
          </a:p>
        </p:txBody>
      </p:sp>
      <p:sp>
        <p:nvSpPr>
          <p:cNvPr id="67" name="Text 64"/>
          <p:cNvSpPr/>
          <p:nvPr/>
        </p:nvSpPr>
        <p:spPr>
          <a:xfrm>
            <a:off x="9875520" y="468172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300" dirty="0"/>
          </a:p>
        </p:txBody>
      </p:sp>
      <p:sp>
        <p:nvSpPr>
          <p:cNvPr id="68" name="Shape 65"/>
          <p:cNvSpPr/>
          <p:nvPr/>
        </p:nvSpPr>
        <p:spPr>
          <a:xfrm>
            <a:off x="10927080" y="4700016"/>
            <a:ext cx="914400" cy="365760"/>
          </a:xfrm>
          <a:prstGeom prst="roundRect">
            <a:avLst>
              <a:gd name="adj" fmla="val 50000"/>
            </a:avLst>
          </a:prstGeom>
          <a:solidFill>
            <a:srgbClr val="2E9E5B"/>
          </a:solidFill>
          <a:ln/>
        </p:spPr>
      </p:sp>
      <p:sp>
        <p:nvSpPr>
          <p:cNvPr id="69" name="Text 66"/>
          <p:cNvSpPr/>
          <p:nvPr/>
        </p:nvSpPr>
        <p:spPr>
          <a:xfrm>
            <a:off x="10927080" y="4709160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 día</a:t>
            </a:r>
            <a:endParaRPr lang="en-US" sz="1050" dirty="0"/>
          </a:p>
        </p:txBody>
      </p:sp>
      <p:sp>
        <p:nvSpPr>
          <p:cNvPr id="70" name="Shape 67"/>
          <p:cNvSpPr/>
          <p:nvPr/>
        </p:nvSpPr>
        <p:spPr>
          <a:xfrm>
            <a:off x="502920" y="5312664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71" name="Text 68"/>
          <p:cNvSpPr/>
          <p:nvPr/>
        </p:nvSpPr>
        <p:spPr>
          <a:xfrm>
            <a:off x="502920" y="5376672"/>
            <a:ext cx="2331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3 proyectos</a:t>
            </a:r>
            <a:endParaRPr lang="en-US" sz="1400" dirty="0"/>
          </a:p>
        </p:txBody>
      </p:sp>
      <p:sp>
        <p:nvSpPr>
          <p:cNvPr id="72" name="Text 69"/>
          <p:cNvSpPr/>
          <p:nvPr/>
        </p:nvSpPr>
        <p:spPr>
          <a:xfrm>
            <a:off x="502920" y="5678424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Oficina Central</a:t>
            </a:r>
            <a:endParaRPr lang="en-US" sz="950" dirty="0"/>
          </a:p>
        </p:txBody>
      </p:sp>
      <p:sp>
        <p:nvSpPr>
          <p:cNvPr id="73" name="Text 70"/>
          <p:cNvSpPr/>
          <p:nvPr/>
        </p:nvSpPr>
        <p:spPr>
          <a:xfrm>
            <a:off x="2971800" y="5449824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501</a:t>
            </a:r>
            <a:endParaRPr lang="en-US" sz="1300" dirty="0"/>
          </a:p>
        </p:txBody>
      </p:sp>
      <p:sp>
        <p:nvSpPr>
          <p:cNvPr id="74" name="Text 71"/>
          <p:cNvSpPr/>
          <p:nvPr/>
        </p:nvSpPr>
        <p:spPr>
          <a:xfrm>
            <a:off x="3977640" y="5449824"/>
            <a:ext cx="868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456</a:t>
            </a:r>
            <a:endParaRPr lang="en-US" sz="1300" dirty="0"/>
          </a:p>
        </p:txBody>
      </p:sp>
      <p:sp>
        <p:nvSpPr>
          <p:cNvPr id="75" name="Text 72"/>
          <p:cNvSpPr/>
          <p:nvPr/>
        </p:nvSpPr>
        <p:spPr>
          <a:xfrm>
            <a:off x="4937760" y="5449824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</a:t>
            </a:r>
            <a:endParaRPr lang="en-US" sz="1300" dirty="0"/>
          </a:p>
        </p:txBody>
      </p:sp>
      <p:sp>
        <p:nvSpPr>
          <p:cNvPr id="76" name="Text 73"/>
          <p:cNvSpPr/>
          <p:nvPr/>
        </p:nvSpPr>
        <p:spPr>
          <a:xfrm>
            <a:off x="5852160" y="5449824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91%</a:t>
            </a:r>
            <a:endParaRPr lang="en-US" sz="1300" dirty="0"/>
          </a:p>
        </p:txBody>
      </p:sp>
      <p:sp>
        <p:nvSpPr>
          <p:cNvPr id="77" name="Text 74"/>
          <p:cNvSpPr/>
          <p:nvPr/>
        </p:nvSpPr>
        <p:spPr>
          <a:xfrm>
            <a:off x="6766560" y="5449824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159</a:t>
            </a:r>
            <a:endParaRPr lang="en-US" sz="1300" dirty="0"/>
          </a:p>
        </p:txBody>
      </p:sp>
      <p:sp>
        <p:nvSpPr>
          <p:cNvPr id="78" name="Text 75"/>
          <p:cNvSpPr/>
          <p:nvPr/>
        </p:nvSpPr>
        <p:spPr>
          <a:xfrm>
            <a:off x="7680960" y="5449824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293</a:t>
            </a:r>
            <a:endParaRPr lang="en-US" sz="1300" dirty="0"/>
          </a:p>
        </p:txBody>
      </p:sp>
      <p:sp>
        <p:nvSpPr>
          <p:cNvPr id="79" name="Text 76"/>
          <p:cNvSpPr/>
          <p:nvPr/>
        </p:nvSpPr>
        <p:spPr>
          <a:xfrm>
            <a:off x="8778240" y="5449824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48</a:t>
            </a:r>
            <a:endParaRPr lang="en-US" sz="1300" dirty="0"/>
          </a:p>
        </p:txBody>
      </p:sp>
      <p:sp>
        <p:nvSpPr>
          <p:cNvPr id="80" name="Text 77"/>
          <p:cNvSpPr/>
          <p:nvPr/>
        </p:nvSpPr>
        <p:spPr>
          <a:xfrm>
            <a:off x="9875520" y="5449824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10.613</a:t>
            </a:r>
            <a:endParaRPr lang="en-US" sz="1300" dirty="0"/>
          </a:p>
        </p:txBody>
      </p:sp>
      <p:sp>
        <p:nvSpPr>
          <p:cNvPr id="81" name="Text 78"/>
          <p:cNvSpPr/>
          <p:nvPr/>
        </p:nvSpPr>
        <p:spPr>
          <a:xfrm>
            <a:off x="457200" y="598932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Mediana de cierre global 30 días · el hallazgo más lento tomó 419 días · 85 hallazgos sin especialidad declarada.</a:t>
            </a:r>
            <a:endParaRPr lang="en-US" sz="950" dirty="0"/>
          </a:p>
        </p:txBody>
      </p:sp>
      <p:sp>
        <p:nvSpPr>
          <p:cNvPr id="82" name="Text 79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Data_NCR-13092026.xlsx — hoja «Observaciones» · Corte 13-09-2026 · 509 registros desde 10-02-2023</a:t>
            </a:r>
            <a:endParaRPr lang="en-US" sz="850" dirty="0"/>
          </a:p>
        </p:txBody>
      </p:sp>
      <p:sp>
        <p:nvSpPr>
          <p:cNvPr id="83" name="Text 80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CONSOLIDADO</a:t>
            </a:r>
            <a:endParaRPr lang="en-US" sz="850" dirty="0"/>
          </a:p>
        </p:txBody>
      </p:sp>
      <p:sp>
        <p:nvSpPr>
          <p:cNvPr id="84" name="Text 81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NOVEDADES DEL PERÍODO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Levantados en la última semana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457200" y="1234440"/>
            <a:ext cx="11247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el 07-09-2026 y el 13-09-2026 no se levantó ningún hallazgo en ningún frente.</a:t>
            </a:r>
            <a:endParaRPr lang="en-US" sz="13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457200" y="1783080"/>
          <a:ext cx="5852160" cy="1874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6492240" y="1783080"/>
            <a:ext cx="5239512" cy="1874520"/>
          </a:xfrm>
          <a:prstGeom prst="roundRect">
            <a:avLst>
              <a:gd name="adj" fmla="val 2927"/>
            </a:avLst>
          </a:prstGeom>
          <a:solidFill>
            <a:srgbClr val="12233B"/>
          </a:solidFill>
          <a:ln/>
        </p:spPr>
      </p:sp>
      <p:sp>
        <p:nvSpPr>
          <p:cNvPr id="8" name="Text 4"/>
          <p:cNvSpPr/>
          <p:nvPr/>
        </p:nvSpPr>
        <p:spPr>
          <a:xfrm>
            <a:off x="6766560" y="189280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DÓNDE SALIERON</a:t>
            </a:r>
            <a:endParaRPr lang="en-US" sz="1050" dirty="0"/>
          </a:p>
        </p:txBody>
      </p:sp>
      <p:sp>
        <p:nvSpPr>
          <p:cNvPr id="9" name="Text 5"/>
          <p:cNvSpPr/>
          <p:nvPr/>
        </p:nvSpPr>
        <p:spPr>
          <a:xfrm>
            <a:off x="6766560" y="2240280"/>
            <a:ext cx="1417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DISCIPLINA</a:t>
            </a:r>
            <a:endParaRPr lang="en-US" sz="950" dirty="0"/>
          </a:p>
        </p:txBody>
      </p:sp>
      <p:sp>
        <p:nvSpPr>
          <p:cNvPr id="10" name="Text 6"/>
          <p:cNvSpPr/>
          <p:nvPr/>
        </p:nvSpPr>
        <p:spPr>
          <a:xfrm>
            <a:off x="8183880" y="2240280"/>
            <a:ext cx="3429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100" dirty="0"/>
          </a:p>
        </p:txBody>
      </p:sp>
      <p:sp>
        <p:nvSpPr>
          <p:cNvPr id="11" name="Text 7"/>
          <p:cNvSpPr/>
          <p:nvPr/>
        </p:nvSpPr>
        <p:spPr>
          <a:xfrm>
            <a:off x="6766560" y="2569464"/>
            <a:ext cx="1417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FRENTE</a:t>
            </a:r>
            <a:endParaRPr lang="en-US" sz="950" dirty="0"/>
          </a:p>
        </p:txBody>
      </p:sp>
      <p:sp>
        <p:nvSpPr>
          <p:cNvPr id="12" name="Text 8"/>
          <p:cNvSpPr/>
          <p:nvPr/>
        </p:nvSpPr>
        <p:spPr>
          <a:xfrm>
            <a:off x="8183880" y="2569464"/>
            <a:ext cx="3429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100" dirty="0"/>
          </a:p>
        </p:txBody>
      </p:sp>
      <p:sp>
        <p:nvSpPr>
          <p:cNvPr id="13" name="Text 9"/>
          <p:cNvSpPr/>
          <p:nvPr/>
        </p:nvSpPr>
        <p:spPr>
          <a:xfrm>
            <a:off x="6766560" y="2898648"/>
            <a:ext cx="1417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ORIGEN</a:t>
            </a:r>
            <a:endParaRPr lang="en-US" sz="950" dirty="0"/>
          </a:p>
        </p:txBody>
      </p:sp>
      <p:sp>
        <p:nvSpPr>
          <p:cNvPr id="14" name="Text 10"/>
          <p:cNvSpPr/>
          <p:nvPr/>
        </p:nvSpPr>
        <p:spPr>
          <a:xfrm>
            <a:off x="8183880" y="2898648"/>
            <a:ext cx="3429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100" dirty="0"/>
          </a:p>
        </p:txBody>
      </p:sp>
      <p:sp>
        <p:nvSpPr>
          <p:cNvPr id="15" name="Text 11"/>
          <p:cNvSpPr/>
          <p:nvPr/>
        </p:nvSpPr>
        <p:spPr>
          <a:xfrm>
            <a:off x="6766560" y="3227832"/>
            <a:ext cx="1417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</a:t>
            </a:r>
            <a:endParaRPr lang="en-US" sz="950" dirty="0"/>
          </a:p>
        </p:txBody>
      </p:sp>
      <p:sp>
        <p:nvSpPr>
          <p:cNvPr id="16" name="Text 12"/>
          <p:cNvSpPr/>
          <p:nvPr/>
        </p:nvSpPr>
        <p:spPr>
          <a:xfrm>
            <a:off x="8183880" y="3227832"/>
            <a:ext cx="3429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100" dirty="0"/>
          </a:p>
        </p:txBody>
      </p:sp>
      <p:sp>
        <p:nvSpPr>
          <p:cNvPr id="17" name="Text 13"/>
          <p:cNvSpPr/>
          <p:nvPr/>
        </p:nvSpPr>
        <p:spPr>
          <a:xfrm>
            <a:off x="502920" y="3712464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HALLAZGOS NUEVOS EN EL PERÍODO</a:t>
            </a:r>
            <a:endParaRPr lang="en-US" sz="1050" dirty="0"/>
          </a:p>
        </p:txBody>
      </p:sp>
      <p:sp>
        <p:nvSpPr>
          <p:cNvPr id="18" name="Text 14"/>
          <p:cNvSpPr/>
          <p:nvPr/>
        </p:nvSpPr>
        <p:spPr>
          <a:xfrm>
            <a:off x="502920" y="40690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se levantó ningún hallazgo entre el 07-09-2026 y el 13-09-2026 en ningún frente.</a:t>
            </a:r>
            <a:endParaRPr lang="en-US" sz="1300" dirty="0"/>
          </a:p>
        </p:txBody>
      </p:sp>
      <p:sp>
        <p:nvSpPr>
          <p:cNvPr id="19" name="Text 15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Data_NCR-13092026.xlsx — hoja «Observaciones» · Corte 13-09-2026 · 509 registros desde 10-02-2023</a:t>
            </a:r>
            <a:endParaRPr lang="en-US" sz="850" dirty="0"/>
          </a:p>
        </p:txBody>
      </p:sp>
      <p:sp>
        <p:nvSpPr>
          <p:cNvPr id="20" name="Text 16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CONSOLIDADO</a:t>
            </a:r>
            <a:endParaRPr lang="en-US" sz="850" dirty="0"/>
          </a:p>
        </p:txBody>
      </p:sp>
      <p:sp>
        <p:nvSpPr>
          <p:cNvPr id="21" name="Text 17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ORIGEN DEL HALLAZGO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Quién levanta las no conformidades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457200" y="1234440"/>
            <a:ext cx="11247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 es autodetección: la levanta Besalco antes que nadie. Externa la levanta el cliente —compromete el contrato— o un subcontrato. Autodetección global: 31,8%.</a:t>
            </a:r>
            <a:endParaRPr lang="en-US" sz="13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457200" y="1828800"/>
          <a:ext cx="6035040" cy="22402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 3"/>
          <p:cNvSpPr/>
          <p:nvPr/>
        </p:nvSpPr>
        <p:spPr>
          <a:xfrm>
            <a:off x="502920" y="41605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6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DE CADA VÍA  ·  atrasada = abierta que pasó los 10 días de plazo  ·  promedio en respuesta = días de emisión a cierre, solo sobre las cerradas</a:t>
            </a:r>
            <a:endParaRPr lang="en-US" sz="900" dirty="0"/>
          </a:p>
        </p:txBody>
      </p:sp>
      <p:sp>
        <p:nvSpPr>
          <p:cNvPr id="8" name="Text 4"/>
          <p:cNvSpPr/>
          <p:nvPr/>
        </p:nvSpPr>
        <p:spPr>
          <a:xfrm>
            <a:off x="502920" y="4462272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VÍA DE EMISIÓN</a:t>
            </a:r>
            <a:endParaRPr lang="en-US" sz="950" dirty="0"/>
          </a:p>
        </p:txBody>
      </p:sp>
      <p:sp>
        <p:nvSpPr>
          <p:cNvPr id="9" name="Text 5"/>
          <p:cNvSpPr/>
          <p:nvPr/>
        </p:nvSpPr>
        <p:spPr>
          <a:xfrm>
            <a:off x="2011680" y="446227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LEVANT.</a:t>
            </a:r>
            <a:endParaRPr lang="en-US" sz="950" dirty="0"/>
          </a:p>
        </p:txBody>
      </p:sp>
      <p:sp>
        <p:nvSpPr>
          <p:cNvPr id="10" name="Text 6"/>
          <p:cNvSpPr/>
          <p:nvPr/>
        </p:nvSpPr>
        <p:spPr>
          <a:xfrm>
            <a:off x="2788920" y="446227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CERRADAS</a:t>
            </a:r>
            <a:endParaRPr lang="en-US" sz="950" dirty="0"/>
          </a:p>
        </p:txBody>
      </p:sp>
      <p:sp>
        <p:nvSpPr>
          <p:cNvPr id="11" name="Text 7"/>
          <p:cNvSpPr/>
          <p:nvPr/>
        </p:nvSpPr>
        <p:spPr>
          <a:xfrm>
            <a:off x="3566160" y="446227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 CIERRE</a:t>
            </a:r>
            <a:endParaRPr lang="en-US" sz="950" dirty="0"/>
          </a:p>
        </p:txBody>
      </p:sp>
      <p:sp>
        <p:nvSpPr>
          <p:cNvPr id="12" name="Text 8"/>
          <p:cNvSpPr/>
          <p:nvPr/>
        </p:nvSpPr>
        <p:spPr>
          <a:xfrm>
            <a:off x="4343400" y="446227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ABIERTAS</a:t>
            </a:r>
            <a:endParaRPr lang="en-US" sz="950" dirty="0"/>
          </a:p>
        </p:txBody>
      </p:sp>
      <p:sp>
        <p:nvSpPr>
          <p:cNvPr id="13" name="Text 9"/>
          <p:cNvSpPr/>
          <p:nvPr/>
        </p:nvSpPr>
        <p:spPr>
          <a:xfrm>
            <a:off x="5120640" y="4462272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ATRASADAS</a:t>
            </a:r>
            <a:endParaRPr lang="en-US" sz="950" dirty="0"/>
          </a:p>
        </p:txBody>
      </p:sp>
      <p:sp>
        <p:nvSpPr>
          <p:cNvPr id="14" name="Text 10"/>
          <p:cNvSpPr/>
          <p:nvPr/>
        </p:nvSpPr>
        <p:spPr>
          <a:xfrm>
            <a:off x="5806440" y="4462272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PROM. RESPUESTA</a:t>
            </a:r>
            <a:endParaRPr lang="en-US" sz="950" dirty="0"/>
          </a:p>
        </p:txBody>
      </p:sp>
      <p:sp>
        <p:nvSpPr>
          <p:cNvPr id="15" name="Shape 11"/>
          <p:cNvSpPr/>
          <p:nvPr/>
        </p:nvSpPr>
        <p:spPr>
          <a:xfrm>
            <a:off x="502920" y="4773168"/>
            <a:ext cx="6355080" cy="0"/>
          </a:xfrm>
          <a:prstGeom prst="line">
            <a:avLst/>
          </a:prstGeom>
          <a:noFill/>
          <a:ln w="12700">
            <a:solidFill>
              <a:srgbClr val="6E8CA8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502920" y="4901184"/>
            <a:ext cx="146304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2E6F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 (Besalco)</a:t>
            </a:r>
            <a:endParaRPr lang="en-US" sz="1050" dirty="0"/>
          </a:p>
        </p:txBody>
      </p:sp>
      <p:sp>
        <p:nvSpPr>
          <p:cNvPr id="17" name="Text 13"/>
          <p:cNvSpPr/>
          <p:nvPr/>
        </p:nvSpPr>
        <p:spPr>
          <a:xfrm>
            <a:off x="2011680" y="4901184"/>
            <a:ext cx="7315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159</a:t>
            </a:r>
            <a:endParaRPr lang="en-US" sz="1050" dirty="0"/>
          </a:p>
        </p:txBody>
      </p:sp>
      <p:sp>
        <p:nvSpPr>
          <p:cNvPr id="18" name="Text 14"/>
          <p:cNvSpPr/>
          <p:nvPr/>
        </p:nvSpPr>
        <p:spPr>
          <a:xfrm>
            <a:off x="2788920" y="4901184"/>
            <a:ext cx="7315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157</a:t>
            </a:r>
            <a:endParaRPr lang="en-US" sz="1050" dirty="0"/>
          </a:p>
        </p:txBody>
      </p:sp>
      <p:sp>
        <p:nvSpPr>
          <p:cNvPr id="19" name="Text 15"/>
          <p:cNvSpPr/>
          <p:nvPr/>
        </p:nvSpPr>
        <p:spPr>
          <a:xfrm>
            <a:off x="3566160" y="4901184"/>
            <a:ext cx="7315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98,7%</a:t>
            </a:r>
            <a:endParaRPr lang="en-US" sz="1050" dirty="0"/>
          </a:p>
        </p:txBody>
      </p:sp>
      <p:sp>
        <p:nvSpPr>
          <p:cNvPr id="20" name="Text 16"/>
          <p:cNvSpPr/>
          <p:nvPr/>
        </p:nvSpPr>
        <p:spPr>
          <a:xfrm>
            <a:off x="4343400" y="4901184"/>
            <a:ext cx="7315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50" dirty="0"/>
          </a:p>
        </p:txBody>
      </p:sp>
      <p:sp>
        <p:nvSpPr>
          <p:cNvPr id="21" name="Text 17"/>
          <p:cNvSpPr/>
          <p:nvPr/>
        </p:nvSpPr>
        <p:spPr>
          <a:xfrm>
            <a:off x="5120640" y="4901184"/>
            <a:ext cx="77724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50" dirty="0"/>
          </a:p>
        </p:txBody>
      </p:sp>
      <p:sp>
        <p:nvSpPr>
          <p:cNvPr id="22" name="Text 18"/>
          <p:cNvSpPr/>
          <p:nvPr/>
        </p:nvSpPr>
        <p:spPr>
          <a:xfrm>
            <a:off x="5806440" y="4901184"/>
            <a:ext cx="105156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69 días</a:t>
            </a:r>
            <a:endParaRPr lang="en-US" sz="1050" dirty="0"/>
          </a:p>
        </p:txBody>
      </p:sp>
      <p:sp>
        <p:nvSpPr>
          <p:cNvPr id="23" name="Shape 19"/>
          <p:cNvSpPr/>
          <p:nvPr/>
        </p:nvSpPr>
        <p:spPr>
          <a:xfrm>
            <a:off x="502920" y="5129784"/>
            <a:ext cx="635508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24" name="Shape 20"/>
          <p:cNvSpPr/>
          <p:nvPr/>
        </p:nvSpPr>
        <p:spPr>
          <a:xfrm>
            <a:off x="457200" y="5138928"/>
            <a:ext cx="6400800" cy="28346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5" name="Text 21"/>
          <p:cNvSpPr/>
          <p:nvPr/>
        </p:nvSpPr>
        <p:spPr>
          <a:xfrm>
            <a:off x="502920" y="5184648"/>
            <a:ext cx="146304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9A6B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050" dirty="0"/>
          </a:p>
        </p:txBody>
      </p:sp>
      <p:sp>
        <p:nvSpPr>
          <p:cNvPr id="26" name="Text 22"/>
          <p:cNvSpPr/>
          <p:nvPr/>
        </p:nvSpPr>
        <p:spPr>
          <a:xfrm>
            <a:off x="2011680" y="5184648"/>
            <a:ext cx="7315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293</a:t>
            </a:r>
            <a:endParaRPr lang="en-US" sz="1050" dirty="0"/>
          </a:p>
        </p:txBody>
      </p:sp>
      <p:sp>
        <p:nvSpPr>
          <p:cNvPr id="27" name="Text 23"/>
          <p:cNvSpPr/>
          <p:nvPr/>
        </p:nvSpPr>
        <p:spPr>
          <a:xfrm>
            <a:off x="2788920" y="5184648"/>
            <a:ext cx="7315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250</a:t>
            </a:r>
            <a:endParaRPr lang="en-US" sz="1050" dirty="0"/>
          </a:p>
        </p:txBody>
      </p:sp>
      <p:sp>
        <p:nvSpPr>
          <p:cNvPr id="28" name="Text 24"/>
          <p:cNvSpPr/>
          <p:nvPr/>
        </p:nvSpPr>
        <p:spPr>
          <a:xfrm>
            <a:off x="3566160" y="5184648"/>
            <a:ext cx="7315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85,3%</a:t>
            </a:r>
            <a:endParaRPr lang="en-US" sz="1050" dirty="0"/>
          </a:p>
        </p:txBody>
      </p:sp>
      <p:sp>
        <p:nvSpPr>
          <p:cNvPr id="29" name="Text 25"/>
          <p:cNvSpPr/>
          <p:nvPr/>
        </p:nvSpPr>
        <p:spPr>
          <a:xfrm>
            <a:off x="4343400" y="5184648"/>
            <a:ext cx="7315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43</a:t>
            </a:r>
            <a:endParaRPr lang="en-US" sz="1050" dirty="0"/>
          </a:p>
        </p:txBody>
      </p:sp>
      <p:sp>
        <p:nvSpPr>
          <p:cNvPr id="30" name="Text 26"/>
          <p:cNvSpPr/>
          <p:nvPr/>
        </p:nvSpPr>
        <p:spPr>
          <a:xfrm>
            <a:off x="5120640" y="5184648"/>
            <a:ext cx="77724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42</a:t>
            </a:r>
            <a:endParaRPr lang="en-US" sz="1050" dirty="0"/>
          </a:p>
        </p:txBody>
      </p:sp>
      <p:sp>
        <p:nvSpPr>
          <p:cNvPr id="31" name="Text 27"/>
          <p:cNvSpPr/>
          <p:nvPr/>
        </p:nvSpPr>
        <p:spPr>
          <a:xfrm>
            <a:off x="5806440" y="5184648"/>
            <a:ext cx="105156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57 días</a:t>
            </a:r>
            <a:endParaRPr lang="en-US" sz="1050" dirty="0"/>
          </a:p>
        </p:txBody>
      </p:sp>
      <p:sp>
        <p:nvSpPr>
          <p:cNvPr id="32" name="Shape 28"/>
          <p:cNvSpPr/>
          <p:nvPr/>
        </p:nvSpPr>
        <p:spPr>
          <a:xfrm>
            <a:off x="502920" y="5413248"/>
            <a:ext cx="635508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33" name="Text 29"/>
          <p:cNvSpPr/>
          <p:nvPr/>
        </p:nvSpPr>
        <p:spPr>
          <a:xfrm>
            <a:off x="502920" y="5468112"/>
            <a:ext cx="146304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A55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Subcontrato</a:t>
            </a:r>
            <a:endParaRPr lang="en-US" sz="1050" dirty="0"/>
          </a:p>
        </p:txBody>
      </p:sp>
      <p:sp>
        <p:nvSpPr>
          <p:cNvPr id="34" name="Text 30"/>
          <p:cNvSpPr/>
          <p:nvPr/>
        </p:nvSpPr>
        <p:spPr>
          <a:xfrm>
            <a:off x="2011680" y="5468112"/>
            <a:ext cx="7315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48</a:t>
            </a:r>
            <a:endParaRPr lang="en-US" sz="1050" dirty="0"/>
          </a:p>
        </p:txBody>
      </p:sp>
      <p:sp>
        <p:nvSpPr>
          <p:cNvPr id="35" name="Text 31"/>
          <p:cNvSpPr/>
          <p:nvPr/>
        </p:nvSpPr>
        <p:spPr>
          <a:xfrm>
            <a:off x="2788920" y="5468112"/>
            <a:ext cx="7315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48</a:t>
            </a:r>
            <a:endParaRPr lang="en-US" sz="1050" dirty="0"/>
          </a:p>
        </p:txBody>
      </p:sp>
      <p:sp>
        <p:nvSpPr>
          <p:cNvPr id="36" name="Text 32"/>
          <p:cNvSpPr/>
          <p:nvPr/>
        </p:nvSpPr>
        <p:spPr>
          <a:xfrm>
            <a:off x="3566160" y="5468112"/>
            <a:ext cx="7315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1050" dirty="0"/>
          </a:p>
        </p:txBody>
      </p:sp>
      <p:sp>
        <p:nvSpPr>
          <p:cNvPr id="37" name="Text 33"/>
          <p:cNvSpPr/>
          <p:nvPr/>
        </p:nvSpPr>
        <p:spPr>
          <a:xfrm>
            <a:off x="4343400" y="5468112"/>
            <a:ext cx="7315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050" dirty="0"/>
          </a:p>
        </p:txBody>
      </p:sp>
      <p:sp>
        <p:nvSpPr>
          <p:cNvPr id="38" name="Text 34"/>
          <p:cNvSpPr/>
          <p:nvPr/>
        </p:nvSpPr>
        <p:spPr>
          <a:xfrm>
            <a:off x="5120640" y="5468112"/>
            <a:ext cx="77724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050" dirty="0"/>
          </a:p>
        </p:txBody>
      </p:sp>
      <p:sp>
        <p:nvSpPr>
          <p:cNvPr id="39" name="Text 35"/>
          <p:cNvSpPr/>
          <p:nvPr/>
        </p:nvSpPr>
        <p:spPr>
          <a:xfrm>
            <a:off x="5806440" y="5468112"/>
            <a:ext cx="105156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179 días</a:t>
            </a:r>
            <a:endParaRPr lang="en-US" sz="1050" dirty="0"/>
          </a:p>
        </p:txBody>
      </p:sp>
      <p:sp>
        <p:nvSpPr>
          <p:cNvPr id="40" name="Shape 36"/>
          <p:cNvSpPr/>
          <p:nvPr/>
        </p:nvSpPr>
        <p:spPr>
          <a:xfrm>
            <a:off x="502920" y="5696712"/>
            <a:ext cx="635508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41" name="Shape 37"/>
          <p:cNvSpPr/>
          <p:nvPr/>
        </p:nvSpPr>
        <p:spPr>
          <a:xfrm>
            <a:off x="457200" y="5705856"/>
            <a:ext cx="6400800" cy="28346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2" name="Text 38"/>
          <p:cNvSpPr/>
          <p:nvPr/>
        </p:nvSpPr>
        <p:spPr>
          <a:xfrm>
            <a:off x="502920" y="5751576"/>
            <a:ext cx="146304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clasificar</a:t>
            </a:r>
            <a:endParaRPr lang="en-US" sz="1050" dirty="0"/>
          </a:p>
        </p:txBody>
      </p:sp>
      <p:sp>
        <p:nvSpPr>
          <p:cNvPr id="43" name="Text 39"/>
          <p:cNvSpPr/>
          <p:nvPr/>
        </p:nvSpPr>
        <p:spPr>
          <a:xfrm>
            <a:off x="2011680" y="5751576"/>
            <a:ext cx="7315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50" dirty="0"/>
          </a:p>
        </p:txBody>
      </p:sp>
      <p:sp>
        <p:nvSpPr>
          <p:cNvPr id="44" name="Text 40"/>
          <p:cNvSpPr/>
          <p:nvPr/>
        </p:nvSpPr>
        <p:spPr>
          <a:xfrm>
            <a:off x="2788920" y="5751576"/>
            <a:ext cx="7315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50" dirty="0"/>
          </a:p>
        </p:txBody>
      </p:sp>
      <p:sp>
        <p:nvSpPr>
          <p:cNvPr id="45" name="Text 41"/>
          <p:cNvSpPr/>
          <p:nvPr/>
        </p:nvSpPr>
        <p:spPr>
          <a:xfrm>
            <a:off x="3566160" y="5751576"/>
            <a:ext cx="7315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1050" dirty="0"/>
          </a:p>
        </p:txBody>
      </p:sp>
      <p:sp>
        <p:nvSpPr>
          <p:cNvPr id="46" name="Text 42"/>
          <p:cNvSpPr/>
          <p:nvPr/>
        </p:nvSpPr>
        <p:spPr>
          <a:xfrm>
            <a:off x="4343400" y="5751576"/>
            <a:ext cx="7315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050" dirty="0"/>
          </a:p>
        </p:txBody>
      </p:sp>
      <p:sp>
        <p:nvSpPr>
          <p:cNvPr id="47" name="Text 43"/>
          <p:cNvSpPr/>
          <p:nvPr/>
        </p:nvSpPr>
        <p:spPr>
          <a:xfrm>
            <a:off x="5120640" y="5751576"/>
            <a:ext cx="77724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050" dirty="0"/>
          </a:p>
        </p:txBody>
      </p:sp>
      <p:sp>
        <p:nvSpPr>
          <p:cNvPr id="48" name="Text 44"/>
          <p:cNvSpPr/>
          <p:nvPr/>
        </p:nvSpPr>
        <p:spPr>
          <a:xfrm>
            <a:off x="5806440" y="5751576"/>
            <a:ext cx="105156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64 días</a:t>
            </a:r>
            <a:endParaRPr lang="en-US" sz="1050" dirty="0"/>
          </a:p>
        </p:txBody>
      </p:sp>
      <p:sp>
        <p:nvSpPr>
          <p:cNvPr id="49" name="Shape 45"/>
          <p:cNvSpPr/>
          <p:nvPr/>
        </p:nvSpPr>
        <p:spPr>
          <a:xfrm>
            <a:off x="502920" y="5980176"/>
            <a:ext cx="635508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50" name="Text 46"/>
          <p:cNvSpPr/>
          <p:nvPr/>
        </p:nvSpPr>
        <p:spPr>
          <a:xfrm>
            <a:off x="502920" y="6035040"/>
            <a:ext cx="146304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Todas las vías</a:t>
            </a:r>
            <a:endParaRPr lang="en-US" sz="1050" dirty="0"/>
          </a:p>
        </p:txBody>
      </p:sp>
      <p:sp>
        <p:nvSpPr>
          <p:cNvPr id="51" name="Text 47"/>
          <p:cNvSpPr/>
          <p:nvPr/>
        </p:nvSpPr>
        <p:spPr>
          <a:xfrm>
            <a:off x="2011680" y="6035040"/>
            <a:ext cx="7315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509</a:t>
            </a:r>
            <a:endParaRPr lang="en-US" sz="1050" dirty="0"/>
          </a:p>
        </p:txBody>
      </p:sp>
      <p:sp>
        <p:nvSpPr>
          <p:cNvPr id="52" name="Text 48"/>
          <p:cNvSpPr/>
          <p:nvPr/>
        </p:nvSpPr>
        <p:spPr>
          <a:xfrm>
            <a:off x="2788920" y="6035040"/>
            <a:ext cx="7315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464</a:t>
            </a:r>
            <a:endParaRPr lang="en-US" sz="1050" dirty="0"/>
          </a:p>
        </p:txBody>
      </p:sp>
      <p:sp>
        <p:nvSpPr>
          <p:cNvPr id="53" name="Text 49"/>
          <p:cNvSpPr/>
          <p:nvPr/>
        </p:nvSpPr>
        <p:spPr>
          <a:xfrm>
            <a:off x="3566160" y="6035040"/>
            <a:ext cx="7315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91,2%</a:t>
            </a:r>
            <a:endParaRPr lang="en-US" sz="1050" dirty="0"/>
          </a:p>
        </p:txBody>
      </p:sp>
      <p:sp>
        <p:nvSpPr>
          <p:cNvPr id="54" name="Text 50"/>
          <p:cNvSpPr/>
          <p:nvPr/>
        </p:nvSpPr>
        <p:spPr>
          <a:xfrm>
            <a:off x="4343400" y="6035040"/>
            <a:ext cx="7315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</a:t>
            </a:r>
            <a:endParaRPr lang="en-US" sz="1050" dirty="0"/>
          </a:p>
        </p:txBody>
      </p:sp>
      <p:sp>
        <p:nvSpPr>
          <p:cNvPr id="55" name="Text 51"/>
          <p:cNvSpPr/>
          <p:nvPr/>
        </p:nvSpPr>
        <p:spPr>
          <a:xfrm>
            <a:off x="5120640" y="6035040"/>
            <a:ext cx="77724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44</a:t>
            </a:r>
            <a:endParaRPr lang="en-US" sz="1050" dirty="0"/>
          </a:p>
        </p:txBody>
      </p:sp>
      <p:sp>
        <p:nvSpPr>
          <p:cNvPr id="56" name="Text 52"/>
          <p:cNvSpPr/>
          <p:nvPr/>
        </p:nvSpPr>
        <p:spPr>
          <a:xfrm>
            <a:off x="5806440" y="6035040"/>
            <a:ext cx="105156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74 días</a:t>
            </a:r>
            <a:endParaRPr lang="en-US" sz="1050" dirty="0"/>
          </a:p>
        </p:txBody>
      </p:sp>
      <p:sp>
        <p:nvSpPr>
          <p:cNvPr id="57" name="Shape 53"/>
          <p:cNvSpPr/>
          <p:nvPr/>
        </p:nvSpPr>
        <p:spPr>
          <a:xfrm>
            <a:off x="502920" y="6263640"/>
            <a:ext cx="635508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graphicFrame>
        <p:nvGraphicFramePr>
          <p:cNvPr id="58" name="Chart 1" descr=""/>
          <p:cNvGraphicFramePr/>
          <p:nvPr/>
        </p:nvGraphicFramePr>
        <p:xfrm>
          <a:off x="6675120" y="1828800"/>
          <a:ext cx="5056632" cy="26060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59" name="Shape 54"/>
          <p:cNvSpPr/>
          <p:nvPr/>
        </p:nvSpPr>
        <p:spPr>
          <a:xfrm>
            <a:off x="6675120" y="4572000"/>
            <a:ext cx="5056632" cy="1280160"/>
          </a:xfrm>
          <a:prstGeom prst="roundRect">
            <a:avLst>
              <a:gd name="adj" fmla="val 4286"/>
            </a:avLst>
          </a:prstGeom>
          <a:solidFill>
            <a:srgbClr val="12233B"/>
          </a:solidFill>
          <a:ln/>
        </p:spPr>
      </p:sp>
      <p:sp>
        <p:nvSpPr>
          <p:cNvPr id="60" name="Text 55"/>
          <p:cNvSpPr/>
          <p:nvPr/>
        </p:nvSpPr>
        <p:spPr>
          <a:xfrm>
            <a:off x="6949440" y="470001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AUTODETECCIÓN POR FRENTE</a:t>
            </a:r>
            <a:endParaRPr lang="en-US" sz="1050" dirty="0"/>
          </a:p>
        </p:txBody>
      </p:sp>
      <p:sp>
        <p:nvSpPr>
          <p:cNvPr id="61" name="Text 56"/>
          <p:cNvSpPr/>
          <p:nvPr/>
        </p:nvSpPr>
        <p:spPr>
          <a:xfrm>
            <a:off x="6949440" y="4992624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66,7%</a:t>
            </a:r>
            <a:endParaRPr lang="en-US" sz="2400" dirty="0"/>
          </a:p>
        </p:txBody>
      </p:sp>
      <p:sp>
        <p:nvSpPr>
          <p:cNvPr id="62" name="Text 57"/>
          <p:cNvSpPr/>
          <p:nvPr/>
        </p:nvSpPr>
        <p:spPr>
          <a:xfrm>
            <a:off x="6949440" y="5449824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Desaladora</a:t>
            </a:r>
            <a:endParaRPr lang="en-US" sz="1050" dirty="0"/>
          </a:p>
        </p:txBody>
      </p:sp>
      <p:sp>
        <p:nvSpPr>
          <p:cNvPr id="63" name="Text 58"/>
          <p:cNvSpPr/>
          <p:nvPr/>
        </p:nvSpPr>
        <p:spPr>
          <a:xfrm>
            <a:off x="8522208" y="4992624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20,9%</a:t>
            </a:r>
            <a:endParaRPr lang="en-US" sz="2400" dirty="0"/>
          </a:p>
        </p:txBody>
      </p:sp>
      <p:sp>
        <p:nvSpPr>
          <p:cNvPr id="64" name="Text 59"/>
          <p:cNvSpPr/>
          <p:nvPr/>
        </p:nvSpPr>
        <p:spPr>
          <a:xfrm>
            <a:off x="8522208" y="5449824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Talabre</a:t>
            </a:r>
            <a:endParaRPr lang="en-US" sz="1050" dirty="0"/>
          </a:p>
        </p:txBody>
      </p:sp>
      <p:sp>
        <p:nvSpPr>
          <p:cNvPr id="65" name="Text 60"/>
          <p:cNvSpPr/>
          <p:nvPr/>
        </p:nvSpPr>
        <p:spPr>
          <a:xfrm>
            <a:off x="10094976" y="4992624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31,2%</a:t>
            </a:r>
            <a:endParaRPr lang="en-US" sz="2400" dirty="0"/>
          </a:p>
        </p:txBody>
      </p:sp>
      <p:sp>
        <p:nvSpPr>
          <p:cNvPr id="66" name="Text 61"/>
          <p:cNvSpPr/>
          <p:nvPr/>
        </p:nvSpPr>
        <p:spPr>
          <a:xfrm>
            <a:off x="10094976" y="5449824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Arqueros</a:t>
            </a:r>
            <a:endParaRPr lang="en-US" sz="1050" dirty="0"/>
          </a:p>
        </p:txBody>
      </p:sp>
      <p:sp>
        <p:nvSpPr>
          <p:cNvPr id="67" name="Text 62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Data_NCR-13092026.xlsx — hoja «Observaciones» · Corte 13-09-2026 · 509 registros desde 10-02-2023</a:t>
            </a:r>
            <a:endParaRPr lang="en-US" sz="850" dirty="0"/>
          </a:p>
        </p:txBody>
      </p:sp>
      <p:sp>
        <p:nvSpPr>
          <p:cNvPr id="68" name="Text 63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CONSOLIDADO</a:t>
            </a:r>
            <a:endParaRPr lang="en-US" sz="850" dirty="0"/>
          </a:p>
        </p:txBody>
      </p:sp>
      <p:sp>
        <p:nvSpPr>
          <p:cNvPr id="69" name="Text 64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SIGUE ABIERTO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Antigüedad y velocidad de corrección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457200" y="1234440"/>
            <a:ext cx="11247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los 45 hallazgos abiertos, 18 llevan más de 180 días desde que se levantaron y 0 más de un año. La mediana de cierre global es de 30 días.</a:t>
            </a:r>
            <a:endParaRPr lang="en-US" sz="13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457200" y="1874520"/>
          <a:ext cx="6035040" cy="2377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6675120" y="1874520"/>
            <a:ext cx="5056632" cy="2377440"/>
          </a:xfrm>
          <a:prstGeom prst="roundRect">
            <a:avLst>
              <a:gd name="adj" fmla="val 2308"/>
            </a:avLst>
          </a:prstGeom>
          <a:solidFill>
            <a:srgbClr val="12233B"/>
          </a:solidFill>
          <a:ln/>
        </p:spPr>
      </p:sp>
      <p:sp>
        <p:nvSpPr>
          <p:cNvPr id="8" name="Text 4"/>
          <p:cNvSpPr/>
          <p:nvPr/>
        </p:nvSpPr>
        <p:spPr>
          <a:xfrm>
            <a:off x="6949440" y="202996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FUERA DE PLAZO DE RESPUESTA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6949440" y="2359152"/>
            <a:ext cx="4526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regla del proyecto es: 10 días para responder una NC desde que se emite; del día 11 en adelante corre atraso.
</a:t>
            </a:r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 corte hay 44 hallazgos fuera de plazo de los 45 abiertos.</a:t>
            </a:r>
            <a:endParaRPr lang="en-US" sz="1150" dirty="0"/>
          </a:p>
        </p:txBody>
      </p:sp>
      <p:sp>
        <p:nvSpPr>
          <p:cNvPr id="10" name="Text 6"/>
          <p:cNvSpPr/>
          <p:nvPr/>
        </p:nvSpPr>
        <p:spPr>
          <a:xfrm>
            <a:off x="6949440" y="3703320"/>
            <a:ext cx="4526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mide sobre la fecha de emisión: el Excel no declara una fecha comprometida de cierre —esa columna solo se llena al cerrar—.</a:t>
            </a:r>
            <a:endParaRPr lang="en-US" sz="1000" dirty="0"/>
          </a:p>
        </p:txBody>
      </p:sp>
      <p:sp>
        <p:nvSpPr>
          <p:cNvPr id="11" name="Text 7"/>
          <p:cNvSpPr/>
          <p:nvPr/>
        </p:nvSpPr>
        <p:spPr>
          <a:xfrm>
            <a:off x="502920" y="43434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VELOCIDAD DE CIERRE POR FRENTE</a:t>
            </a:r>
            <a:endParaRPr lang="en-US" sz="1100" dirty="0"/>
          </a:p>
        </p:txBody>
      </p:sp>
      <p:sp>
        <p:nvSpPr>
          <p:cNvPr id="12" name="Text 8"/>
          <p:cNvSpPr/>
          <p:nvPr/>
        </p:nvSpPr>
        <p:spPr>
          <a:xfrm>
            <a:off x="502920" y="466344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FRENTE</a:t>
            </a:r>
            <a:endParaRPr lang="en-US" sz="950" dirty="0"/>
          </a:p>
        </p:txBody>
      </p:sp>
      <p:sp>
        <p:nvSpPr>
          <p:cNvPr id="13" name="Text 9"/>
          <p:cNvSpPr/>
          <p:nvPr/>
        </p:nvSpPr>
        <p:spPr>
          <a:xfrm>
            <a:off x="3017520" y="466344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CERRADOS</a:t>
            </a:r>
            <a:endParaRPr lang="en-US" sz="950" dirty="0"/>
          </a:p>
        </p:txBody>
      </p:sp>
      <p:sp>
        <p:nvSpPr>
          <p:cNvPr id="14" name="Text 10"/>
          <p:cNvSpPr/>
          <p:nvPr/>
        </p:nvSpPr>
        <p:spPr>
          <a:xfrm>
            <a:off x="4297680" y="466344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MEDIANA</a:t>
            </a:r>
            <a:endParaRPr lang="en-US" sz="950" dirty="0"/>
          </a:p>
        </p:txBody>
      </p:sp>
      <p:sp>
        <p:nvSpPr>
          <p:cNvPr id="15" name="Text 11"/>
          <p:cNvSpPr/>
          <p:nvPr/>
        </p:nvSpPr>
        <p:spPr>
          <a:xfrm>
            <a:off x="5577840" y="466344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LENTO</a:t>
            </a:r>
            <a:endParaRPr lang="en-US" sz="950" dirty="0"/>
          </a:p>
        </p:txBody>
      </p:sp>
      <p:sp>
        <p:nvSpPr>
          <p:cNvPr id="16" name="Text 12"/>
          <p:cNvSpPr/>
          <p:nvPr/>
        </p:nvSpPr>
        <p:spPr>
          <a:xfrm>
            <a:off x="6949440" y="466344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ABIERTOS</a:t>
            </a:r>
            <a:endParaRPr lang="en-US" sz="950" dirty="0"/>
          </a:p>
        </p:txBody>
      </p:sp>
      <p:sp>
        <p:nvSpPr>
          <p:cNvPr id="17" name="Text 13"/>
          <p:cNvSpPr/>
          <p:nvPr/>
        </p:nvSpPr>
        <p:spPr>
          <a:xfrm>
            <a:off x="8229600" y="4663440"/>
            <a:ext cx="3520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LECTURA</a:t>
            </a:r>
            <a:endParaRPr lang="en-US" sz="950" dirty="0"/>
          </a:p>
        </p:txBody>
      </p:sp>
      <p:sp>
        <p:nvSpPr>
          <p:cNvPr id="18" name="Shape 14"/>
          <p:cNvSpPr/>
          <p:nvPr/>
        </p:nvSpPr>
        <p:spPr>
          <a:xfrm>
            <a:off x="502920" y="4974336"/>
            <a:ext cx="11247120" cy="0"/>
          </a:xfrm>
          <a:prstGeom prst="line">
            <a:avLst/>
          </a:prstGeom>
          <a:noFill/>
          <a:ln w="12700">
            <a:solidFill>
              <a:srgbClr val="6E8CA8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502920" y="510235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Desaladora</a:t>
            </a:r>
            <a:endParaRPr lang="en-US" sz="1150" dirty="0"/>
          </a:p>
        </p:txBody>
      </p:sp>
      <p:sp>
        <p:nvSpPr>
          <p:cNvPr id="20" name="Text 16"/>
          <p:cNvSpPr/>
          <p:nvPr/>
        </p:nvSpPr>
        <p:spPr>
          <a:xfrm>
            <a:off x="3017520" y="5102352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81</a:t>
            </a:r>
            <a:endParaRPr lang="en-US" sz="1150" dirty="0"/>
          </a:p>
        </p:txBody>
      </p:sp>
      <p:sp>
        <p:nvSpPr>
          <p:cNvPr id="21" name="Text 17"/>
          <p:cNvSpPr/>
          <p:nvPr/>
        </p:nvSpPr>
        <p:spPr>
          <a:xfrm>
            <a:off x="4297680" y="5102352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d</a:t>
            </a:r>
            <a:endParaRPr lang="en-US" sz="1150" dirty="0"/>
          </a:p>
        </p:txBody>
      </p:sp>
      <p:sp>
        <p:nvSpPr>
          <p:cNvPr id="22" name="Text 18"/>
          <p:cNvSpPr/>
          <p:nvPr/>
        </p:nvSpPr>
        <p:spPr>
          <a:xfrm>
            <a:off x="5577840" y="5102352"/>
            <a:ext cx="1188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250 d</a:t>
            </a:r>
            <a:endParaRPr lang="en-US" sz="1150" dirty="0"/>
          </a:p>
        </p:txBody>
      </p:sp>
      <p:sp>
        <p:nvSpPr>
          <p:cNvPr id="23" name="Text 19"/>
          <p:cNvSpPr/>
          <p:nvPr/>
        </p:nvSpPr>
        <p:spPr>
          <a:xfrm>
            <a:off x="6949440" y="5102352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50" dirty="0"/>
          </a:p>
        </p:txBody>
      </p:sp>
      <p:sp>
        <p:nvSpPr>
          <p:cNvPr id="24" name="Text 20"/>
          <p:cNvSpPr/>
          <p:nvPr/>
        </p:nvSpPr>
        <p:spPr>
          <a:xfrm>
            <a:off x="8229600" y="5102352"/>
            <a:ext cx="3520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50" dirty="0"/>
          </a:p>
        </p:txBody>
      </p:sp>
      <p:sp>
        <p:nvSpPr>
          <p:cNvPr id="25" name="Shape 21"/>
          <p:cNvSpPr/>
          <p:nvPr/>
        </p:nvSpPr>
        <p:spPr>
          <a:xfrm>
            <a:off x="502920" y="5367528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26" name="Shape 22"/>
          <p:cNvSpPr/>
          <p:nvPr/>
        </p:nvSpPr>
        <p:spPr>
          <a:xfrm>
            <a:off x="457200" y="5376672"/>
            <a:ext cx="11292840" cy="3200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7" name="Text 23"/>
          <p:cNvSpPr/>
          <p:nvPr/>
        </p:nvSpPr>
        <p:spPr>
          <a:xfrm>
            <a:off x="502920" y="542239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Talabre</a:t>
            </a:r>
            <a:endParaRPr lang="en-US" sz="1150" dirty="0"/>
          </a:p>
        </p:txBody>
      </p:sp>
      <p:sp>
        <p:nvSpPr>
          <p:cNvPr id="28" name="Text 24"/>
          <p:cNvSpPr/>
          <p:nvPr/>
        </p:nvSpPr>
        <p:spPr>
          <a:xfrm>
            <a:off x="3017520" y="5422392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242</a:t>
            </a:r>
            <a:endParaRPr lang="en-US" sz="1150" dirty="0"/>
          </a:p>
        </p:txBody>
      </p:sp>
      <p:sp>
        <p:nvSpPr>
          <p:cNvPr id="29" name="Text 25"/>
          <p:cNvSpPr/>
          <p:nvPr/>
        </p:nvSpPr>
        <p:spPr>
          <a:xfrm>
            <a:off x="4297680" y="5422392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 d</a:t>
            </a:r>
            <a:endParaRPr lang="en-US" sz="1150" dirty="0"/>
          </a:p>
        </p:txBody>
      </p:sp>
      <p:sp>
        <p:nvSpPr>
          <p:cNvPr id="30" name="Text 26"/>
          <p:cNvSpPr/>
          <p:nvPr/>
        </p:nvSpPr>
        <p:spPr>
          <a:xfrm>
            <a:off x="5577840" y="5422392"/>
            <a:ext cx="1188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407 d</a:t>
            </a:r>
            <a:endParaRPr lang="en-US" sz="1150" dirty="0"/>
          </a:p>
        </p:txBody>
      </p:sp>
      <p:sp>
        <p:nvSpPr>
          <p:cNvPr id="31" name="Text 27"/>
          <p:cNvSpPr/>
          <p:nvPr/>
        </p:nvSpPr>
        <p:spPr>
          <a:xfrm>
            <a:off x="6949440" y="5422392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150" dirty="0"/>
          </a:p>
        </p:txBody>
      </p:sp>
      <p:sp>
        <p:nvSpPr>
          <p:cNvPr id="32" name="Text 28"/>
          <p:cNvSpPr/>
          <p:nvPr/>
        </p:nvSpPr>
        <p:spPr>
          <a:xfrm>
            <a:off x="8229600" y="5422392"/>
            <a:ext cx="3520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50" dirty="0"/>
          </a:p>
        </p:txBody>
      </p:sp>
      <p:sp>
        <p:nvSpPr>
          <p:cNvPr id="33" name="Shape 29"/>
          <p:cNvSpPr/>
          <p:nvPr/>
        </p:nvSpPr>
        <p:spPr>
          <a:xfrm>
            <a:off x="502920" y="5687568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34" name="Text 30"/>
          <p:cNvSpPr/>
          <p:nvPr/>
        </p:nvSpPr>
        <p:spPr>
          <a:xfrm>
            <a:off x="502920" y="574243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Arqueros</a:t>
            </a:r>
            <a:endParaRPr lang="en-US" sz="1150" dirty="0"/>
          </a:p>
        </p:txBody>
      </p:sp>
      <p:sp>
        <p:nvSpPr>
          <p:cNvPr id="35" name="Text 31"/>
          <p:cNvSpPr/>
          <p:nvPr/>
        </p:nvSpPr>
        <p:spPr>
          <a:xfrm>
            <a:off x="3017520" y="5742432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133</a:t>
            </a:r>
            <a:endParaRPr lang="en-US" sz="1150" dirty="0"/>
          </a:p>
        </p:txBody>
      </p:sp>
      <p:sp>
        <p:nvSpPr>
          <p:cNvPr id="36" name="Text 32"/>
          <p:cNvSpPr/>
          <p:nvPr/>
        </p:nvSpPr>
        <p:spPr>
          <a:xfrm>
            <a:off x="4297680" y="5742432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139 d</a:t>
            </a:r>
            <a:endParaRPr lang="en-US" sz="1150" dirty="0"/>
          </a:p>
        </p:txBody>
      </p:sp>
      <p:sp>
        <p:nvSpPr>
          <p:cNvPr id="37" name="Text 33"/>
          <p:cNvSpPr/>
          <p:nvPr/>
        </p:nvSpPr>
        <p:spPr>
          <a:xfrm>
            <a:off x="5577840" y="5742432"/>
            <a:ext cx="1188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419 d</a:t>
            </a:r>
            <a:endParaRPr lang="en-US" sz="1150" dirty="0"/>
          </a:p>
        </p:txBody>
      </p:sp>
      <p:sp>
        <p:nvSpPr>
          <p:cNvPr id="38" name="Text 34"/>
          <p:cNvSpPr/>
          <p:nvPr/>
        </p:nvSpPr>
        <p:spPr>
          <a:xfrm>
            <a:off x="6949440" y="5742432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37</a:t>
            </a:r>
            <a:endParaRPr lang="en-US" sz="1150" dirty="0"/>
          </a:p>
        </p:txBody>
      </p:sp>
      <p:sp>
        <p:nvSpPr>
          <p:cNvPr id="39" name="Text 35"/>
          <p:cNvSpPr/>
          <p:nvPr/>
        </p:nvSpPr>
        <p:spPr>
          <a:xfrm>
            <a:off x="8229600" y="5742432"/>
            <a:ext cx="3520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8× más lento que el mejor frente</a:t>
            </a:r>
            <a:endParaRPr lang="en-US" sz="1150" dirty="0"/>
          </a:p>
        </p:txBody>
      </p:sp>
      <p:sp>
        <p:nvSpPr>
          <p:cNvPr id="40" name="Shape 36"/>
          <p:cNvSpPr/>
          <p:nvPr/>
        </p:nvSpPr>
        <p:spPr>
          <a:xfrm>
            <a:off x="502920" y="6007608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41" name="Shape 37"/>
          <p:cNvSpPr/>
          <p:nvPr/>
        </p:nvSpPr>
        <p:spPr>
          <a:xfrm>
            <a:off x="457200" y="6016752"/>
            <a:ext cx="11292840" cy="3200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2" name="Text 38"/>
          <p:cNvSpPr/>
          <p:nvPr/>
        </p:nvSpPr>
        <p:spPr>
          <a:xfrm>
            <a:off x="502920" y="606247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Oficina Central</a:t>
            </a:r>
            <a:endParaRPr lang="en-US" sz="1150" dirty="0"/>
          </a:p>
        </p:txBody>
      </p:sp>
      <p:sp>
        <p:nvSpPr>
          <p:cNvPr id="43" name="Text 39"/>
          <p:cNvSpPr/>
          <p:nvPr/>
        </p:nvSpPr>
        <p:spPr>
          <a:xfrm>
            <a:off x="3017520" y="6062472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150" dirty="0"/>
          </a:p>
        </p:txBody>
      </p:sp>
      <p:sp>
        <p:nvSpPr>
          <p:cNvPr id="44" name="Text 40"/>
          <p:cNvSpPr/>
          <p:nvPr/>
        </p:nvSpPr>
        <p:spPr>
          <a:xfrm>
            <a:off x="4297680" y="6062472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77 d</a:t>
            </a:r>
            <a:endParaRPr lang="en-US" sz="1150" dirty="0"/>
          </a:p>
        </p:txBody>
      </p:sp>
      <p:sp>
        <p:nvSpPr>
          <p:cNvPr id="45" name="Text 41"/>
          <p:cNvSpPr/>
          <p:nvPr/>
        </p:nvSpPr>
        <p:spPr>
          <a:xfrm>
            <a:off x="5577840" y="6062472"/>
            <a:ext cx="1188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146 d</a:t>
            </a:r>
            <a:endParaRPr lang="en-US" sz="1150" dirty="0"/>
          </a:p>
        </p:txBody>
      </p:sp>
      <p:sp>
        <p:nvSpPr>
          <p:cNvPr id="46" name="Text 42"/>
          <p:cNvSpPr/>
          <p:nvPr/>
        </p:nvSpPr>
        <p:spPr>
          <a:xfrm>
            <a:off x="6949440" y="6062472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150" dirty="0"/>
          </a:p>
        </p:txBody>
      </p:sp>
      <p:sp>
        <p:nvSpPr>
          <p:cNvPr id="47" name="Text 43"/>
          <p:cNvSpPr/>
          <p:nvPr/>
        </p:nvSpPr>
        <p:spPr>
          <a:xfrm>
            <a:off x="8229600" y="6062472"/>
            <a:ext cx="3520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4× más lento que el mejor frente</a:t>
            </a:r>
            <a:endParaRPr lang="en-US" sz="1150" dirty="0"/>
          </a:p>
        </p:txBody>
      </p:sp>
      <p:sp>
        <p:nvSpPr>
          <p:cNvPr id="48" name="Shape 44"/>
          <p:cNvSpPr/>
          <p:nvPr/>
        </p:nvSpPr>
        <p:spPr>
          <a:xfrm>
            <a:off x="502920" y="6327648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49" name="Text 45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Data_NCR-13092026.xlsx — hoja «Observaciones» · Corte 13-09-2026 · 509 registros desde 10-02-2023</a:t>
            </a:r>
            <a:endParaRPr lang="en-US" sz="850" dirty="0"/>
          </a:p>
        </p:txBody>
      </p:sp>
      <p:sp>
        <p:nvSpPr>
          <p:cNvPr id="50" name="Text 46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CONSOLIDADO</a:t>
            </a:r>
            <a:endParaRPr lang="en-US" sz="850" dirty="0"/>
          </a:p>
        </p:txBody>
      </p:sp>
      <p:sp>
        <p:nvSpPr>
          <p:cNvPr id="51" name="Text 47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COSTO DE LA NO CONFORMIDAD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Costo mensual por disciplina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457200" y="1234440"/>
            <a:ext cx="11247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10.613 UF declaradas entre nov-24 y sep-26, imputadas al mes en que se levantó cada hallazgo. Las declaran 108 de 498 hallazgos del período.</a:t>
            </a:r>
            <a:endParaRPr lang="en-US" sz="13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1810512"/>
          <a:ext cx="11996928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402336"/>
                <a:gridCol w="402336"/>
                <a:gridCol w="402336"/>
                <a:gridCol w="402336"/>
                <a:gridCol w="402336"/>
                <a:gridCol w="402336"/>
                <a:gridCol w="402336"/>
                <a:gridCol w="402336"/>
                <a:gridCol w="402336"/>
                <a:gridCol w="402336"/>
                <a:gridCol w="402336"/>
                <a:gridCol w="402336"/>
                <a:gridCol w="402336"/>
                <a:gridCol w="402336"/>
                <a:gridCol w="402336"/>
                <a:gridCol w="402336"/>
                <a:gridCol w="402336"/>
                <a:gridCol w="402336"/>
                <a:gridCol w="402336"/>
                <a:gridCol w="402336"/>
                <a:gridCol w="402336"/>
                <a:gridCol w="402336"/>
                <a:gridCol w="402336"/>
                <a:gridCol w="822960"/>
              </a:tblGrid>
              <a:tr h="2240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DISCIPLINA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b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b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b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b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b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b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b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b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b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b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b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b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b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b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b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b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b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b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b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b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b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b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b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b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 UF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b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4.000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4.000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OO.CC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3C5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3C5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3C5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3C5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FDBF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FDBF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FDBF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8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0A5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3C5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8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0A5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3C5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3C5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2.631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EXPEDITORÍA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0A5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0A5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0A5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0A5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3C5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3C5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0A5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0A5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FDBF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0A5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2.176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SUBCONTRATO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3C5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3C5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3C5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790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8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0A5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1.335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ELÉCTRICA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3C5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FDBF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3C5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FDBF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3C5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PROVEEDORES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FDBF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3C5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INSTRUMENTACIÓN Y CONTROL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FDBF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FDBF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Otras (4 disciplinas)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FDBF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FDBF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FDBF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 DEL MES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3C5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0A5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0A5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0A5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8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1.057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8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4.382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0A5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8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0A5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3C5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8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0A5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0A5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8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3C5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10.613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B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NC CON MONTO DECLARADO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1/9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0/2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0/13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7/11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6/12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7/16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11/36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12/22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8/49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6/29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7/33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9/40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6/29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7/24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8/40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7/29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5/29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1/19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0/19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0/14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0/8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0/8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0/7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108/498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7" name="Text 3"/>
          <p:cNvSpPr/>
          <p:nvPr/>
        </p:nvSpPr>
        <p:spPr>
          <a:xfrm>
            <a:off x="411480" y="4828032"/>
            <a:ext cx="1051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8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UF POR CELDA</a:t>
            </a:r>
            <a:endParaRPr lang="en-US" sz="800" dirty="0"/>
          </a:p>
        </p:txBody>
      </p:sp>
      <p:sp>
        <p:nvSpPr>
          <p:cNvPr id="8" name="Shape 4"/>
          <p:cNvSpPr/>
          <p:nvPr/>
        </p:nvSpPr>
        <p:spPr>
          <a:xfrm>
            <a:off x="1508760" y="4873752"/>
            <a:ext cx="128016" cy="128016"/>
          </a:xfrm>
          <a:prstGeom prst="rect">
            <a:avLst/>
          </a:prstGeom>
          <a:solidFill>
            <a:srgbClr val="BFDBFE"/>
          </a:solidFill>
          <a:ln w="6350">
            <a:solidFill>
              <a:srgbClr val="D9DFE6"/>
            </a:solidFill>
            <a:prstDash val="solid"/>
          </a:ln>
        </p:spPr>
      </p:sp>
      <p:sp>
        <p:nvSpPr>
          <p:cNvPr id="9" name="Text 5"/>
          <p:cNvSpPr/>
          <p:nvPr/>
        </p:nvSpPr>
        <p:spPr>
          <a:xfrm>
            <a:off x="1691640" y="4809744"/>
            <a:ext cx="960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 50</a:t>
            </a:r>
            <a:endParaRPr lang="en-US" sz="850" dirty="0"/>
          </a:p>
        </p:txBody>
      </p:sp>
      <p:sp>
        <p:nvSpPr>
          <p:cNvPr id="10" name="Shape 6"/>
          <p:cNvSpPr/>
          <p:nvPr/>
        </p:nvSpPr>
        <p:spPr>
          <a:xfrm>
            <a:off x="2715768" y="4873752"/>
            <a:ext cx="128016" cy="128016"/>
          </a:xfrm>
          <a:prstGeom prst="rect">
            <a:avLst/>
          </a:prstGeom>
          <a:solidFill>
            <a:srgbClr val="93C5FD"/>
          </a:solidFill>
          <a:ln w="6350">
            <a:solidFill>
              <a:srgbClr val="D9DFE6"/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2898648" y="4809744"/>
            <a:ext cx="960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50–199</a:t>
            </a:r>
            <a:endParaRPr lang="en-US" sz="850" dirty="0"/>
          </a:p>
        </p:txBody>
      </p:sp>
      <p:sp>
        <p:nvSpPr>
          <p:cNvPr id="12" name="Shape 8"/>
          <p:cNvSpPr/>
          <p:nvPr/>
        </p:nvSpPr>
        <p:spPr>
          <a:xfrm>
            <a:off x="3922776" y="4873752"/>
            <a:ext cx="128016" cy="128016"/>
          </a:xfrm>
          <a:prstGeom prst="rect">
            <a:avLst/>
          </a:prstGeom>
          <a:solidFill>
            <a:srgbClr val="60A5FA"/>
          </a:solidFill>
          <a:ln w="6350">
            <a:solidFill>
              <a:srgbClr val="D9DFE6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4105656" y="4809744"/>
            <a:ext cx="960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200–499</a:t>
            </a:r>
            <a:endParaRPr lang="en-US" sz="850" dirty="0"/>
          </a:p>
        </p:txBody>
      </p:sp>
      <p:sp>
        <p:nvSpPr>
          <p:cNvPr id="14" name="Shape 10"/>
          <p:cNvSpPr/>
          <p:nvPr/>
        </p:nvSpPr>
        <p:spPr>
          <a:xfrm>
            <a:off x="5129784" y="4873752"/>
            <a:ext cx="128016" cy="128016"/>
          </a:xfrm>
          <a:prstGeom prst="rect">
            <a:avLst/>
          </a:prstGeom>
          <a:solidFill>
            <a:srgbClr val="3B82F6"/>
          </a:solidFill>
          <a:ln w="6350">
            <a:solidFill>
              <a:srgbClr val="D9DFE6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5312664" y="4809744"/>
            <a:ext cx="960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500–1.499</a:t>
            </a:r>
            <a:endParaRPr lang="en-US" sz="850" dirty="0"/>
          </a:p>
        </p:txBody>
      </p:sp>
      <p:sp>
        <p:nvSpPr>
          <p:cNvPr id="16" name="Shape 12"/>
          <p:cNvSpPr/>
          <p:nvPr/>
        </p:nvSpPr>
        <p:spPr>
          <a:xfrm>
            <a:off x="6336792" y="4873752"/>
            <a:ext cx="128016" cy="128016"/>
          </a:xfrm>
          <a:prstGeom prst="rect">
            <a:avLst/>
          </a:prstGeom>
          <a:solidFill>
            <a:srgbClr val="1E40AF"/>
          </a:solidFill>
          <a:ln w="6350">
            <a:solidFill>
              <a:srgbClr val="D9DFE6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6519672" y="4809744"/>
            <a:ext cx="960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1.500 o más</a:t>
            </a:r>
            <a:endParaRPr lang="en-US" sz="850" dirty="0"/>
          </a:p>
        </p:txBody>
      </p:sp>
      <p:sp>
        <p:nvSpPr>
          <p:cNvPr id="18" name="Shape 14"/>
          <p:cNvSpPr/>
          <p:nvPr/>
        </p:nvSpPr>
        <p:spPr>
          <a:xfrm>
            <a:off x="411480" y="5285232"/>
            <a:ext cx="41148" cy="566928"/>
          </a:xfrm>
          <a:prstGeom prst="rect">
            <a:avLst/>
          </a:prstGeom>
          <a:solidFill>
            <a:srgbClr val="2E6FB5"/>
          </a:solidFill>
          <a:ln/>
        </p:spPr>
      </p:sp>
      <p:sp>
        <p:nvSpPr>
          <p:cNvPr id="19" name="Text 15"/>
          <p:cNvSpPr/>
          <p:nvPr/>
        </p:nvSpPr>
        <p:spPr>
          <a:xfrm>
            <a:off x="557784" y="5266944"/>
            <a:ext cx="1005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108</a:t>
            </a:r>
            <a:endParaRPr lang="en-US" sz="2100" dirty="0"/>
          </a:p>
        </p:txBody>
      </p:sp>
      <p:sp>
        <p:nvSpPr>
          <p:cNvPr id="20" name="Text 16"/>
          <p:cNvSpPr/>
          <p:nvPr/>
        </p:nvSpPr>
        <p:spPr>
          <a:xfrm>
            <a:off x="557784" y="5596128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declaran un monto</a:t>
            </a:r>
            <a:endParaRPr lang="en-US" sz="950" dirty="0"/>
          </a:p>
        </p:txBody>
      </p:sp>
      <p:sp>
        <p:nvSpPr>
          <p:cNvPr id="21" name="Shape 17"/>
          <p:cNvSpPr/>
          <p:nvPr/>
        </p:nvSpPr>
        <p:spPr>
          <a:xfrm>
            <a:off x="4206240" y="5285232"/>
            <a:ext cx="41148" cy="566928"/>
          </a:xfrm>
          <a:prstGeom prst="rect">
            <a:avLst/>
          </a:prstGeom>
          <a:solidFill>
            <a:srgbClr val="6E8CA8"/>
          </a:solidFill>
          <a:ln/>
        </p:spPr>
      </p:sp>
      <p:sp>
        <p:nvSpPr>
          <p:cNvPr id="22" name="Text 18"/>
          <p:cNvSpPr/>
          <p:nvPr/>
        </p:nvSpPr>
        <p:spPr>
          <a:xfrm>
            <a:off x="4352544" y="5266944"/>
            <a:ext cx="1005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143</a:t>
            </a:r>
            <a:endParaRPr lang="en-US" sz="2100" dirty="0"/>
          </a:p>
        </p:txBody>
      </p:sp>
      <p:sp>
        <p:nvSpPr>
          <p:cNvPr id="23" name="Text 19"/>
          <p:cNvSpPr/>
          <p:nvPr/>
        </p:nvSpPr>
        <p:spPr>
          <a:xfrm>
            <a:off x="4352544" y="5596128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declaran 0 — afirman que no costó</a:t>
            </a:r>
            <a:endParaRPr lang="en-US" sz="950" dirty="0"/>
          </a:p>
        </p:txBody>
      </p:sp>
      <p:sp>
        <p:nvSpPr>
          <p:cNvPr id="24" name="Shape 20"/>
          <p:cNvSpPr/>
          <p:nvPr/>
        </p:nvSpPr>
        <p:spPr>
          <a:xfrm>
            <a:off x="8001000" y="5285232"/>
            <a:ext cx="41148" cy="566928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25" name="Text 21"/>
          <p:cNvSpPr/>
          <p:nvPr/>
        </p:nvSpPr>
        <p:spPr>
          <a:xfrm>
            <a:off x="8147304" y="5266944"/>
            <a:ext cx="1005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258</a:t>
            </a:r>
            <a:endParaRPr lang="en-US" sz="2100" dirty="0"/>
          </a:p>
        </p:txBody>
      </p:sp>
      <p:sp>
        <p:nvSpPr>
          <p:cNvPr id="26" name="Text 22"/>
          <p:cNvSpPr/>
          <p:nvPr/>
        </p:nvSpPr>
        <p:spPr>
          <a:xfrm>
            <a:off x="8147304" y="5596128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dejan la casilla vacía: no se sabe</a:t>
            </a:r>
            <a:endParaRPr lang="en-US" sz="950" dirty="0"/>
          </a:p>
        </p:txBody>
      </p:sp>
      <p:sp>
        <p:nvSpPr>
          <p:cNvPr id="27" name="Text 23"/>
          <p:cNvSpPr/>
          <p:nvPr/>
        </p:nvSpPr>
        <p:spPr>
          <a:xfrm>
            <a:off x="457200" y="5989320"/>
            <a:ext cx="11247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i="1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costo se imputa al mes de emisión: la columna «Costo De La No Conformidad» no trae fecha propia. El mes más caro es jul-25 con 4.382 UF. Los últimos 5 meses no traen ningún monto declarado —un mes en blanco es «sin declarar», no «sin costo»—. La cifra es un piso del costo real.</a:t>
            </a:r>
            <a:endParaRPr lang="en-US" sz="950" dirty="0"/>
          </a:p>
        </p:txBody>
      </p:sp>
      <p:sp>
        <p:nvSpPr>
          <p:cNvPr id="28" name="Text 24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Data_NCR-13092026.xlsx — hoja «Observaciones» · Corte 13-09-2026 · 509 registros desde 10-02-2023</a:t>
            </a:r>
            <a:endParaRPr lang="en-US" sz="850" dirty="0"/>
          </a:p>
        </p:txBody>
      </p:sp>
      <p:sp>
        <p:nvSpPr>
          <p:cNvPr id="29" name="Text 25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CONSOLIDADO</a:t>
            </a:r>
            <a:endParaRPr lang="en-US" sz="850" dirty="0"/>
          </a:p>
        </p:txBody>
      </p:sp>
      <p:sp>
        <p:nvSpPr>
          <p:cNvPr id="30" name="Text 26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22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57616" y="420624"/>
            <a:ext cx="3547872" cy="76809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9875520" y="-1645920"/>
            <a:ext cx="4206240" cy="4206240"/>
          </a:xfrm>
          <a:prstGeom prst="ellipse">
            <a:avLst/>
          </a:prstGeom>
          <a:solidFill>
            <a:srgbClr val="1B3252"/>
          </a:solidFill>
          <a:ln/>
        </p:spPr>
      </p:sp>
      <p:sp>
        <p:nvSpPr>
          <p:cNvPr id="4" name="Text 1"/>
          <p:cNvSpPr/>
          <p:nvPr/>
        </p:nvSpPr>
        <p:spPr>
          <a:xfrm>
            <a:off x="457200" y="45720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FOCO DE GESTIÓN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457200" y="713232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Dónde poner el esfuerzo esta semana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457200" y="160020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7" name="Text 4"/>
          <p:cNvSpPr/>
          <p:nvPr/>
        </p:nvSpPr>
        <p:spPr>
          <a:xfrm>
            <a:off x="731520" y="180136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3400" dirty="0"/>
          </a:p>
        </p:txBody>
      </p:sp>
      <p:sp>
        <p:nvSpPr>
          <p:cNvPr id="8" name="Text 5"/>
          <p:cNvSpPr/>
          <p:nvPr/>
        </p:nvSpPr>
        <p:spPr>
          <a:xfrm>
            <a:off x="1691640" y="1783080"/>
            <a:ext cx="4023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Cerrar el pendiente de Arqueros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1691640" y="240487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37 de los 45 hallazgos abiertos (82,2%) y 78,2% de cierre, contra 91,2% global. Es la ruta crítica del módulo.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6245352" y="160020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11" name="Text 8"/>
          <p:cNvSpPr/>
          <p:nvPr/>
        </p:nvSpPr>
        <p:spPr>
          <a:xfrm>
            <a:off x="6519672" y="180136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87A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3400" dirty="0"/>
          </a:p>
        </p:txBody>
      </p:sp>
      <p:sp>
        <p:nvSpPr>
          <p:cNvPr id="12" name="Text 9"/>
          <p:cNvSpPr/>
          <p:nvPr/>
        </p:nvSpPr>
        <p:spPr>
          <a:xfrm>
            <a:off x="7479792" y="1783080"/>
            <a:ext cx="4023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Levantar la autodetección de Talabre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7479792" y="240487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Solo 20,9% de sus hallazgos los detecta Besalco; el mejor frente va en 66,7%. Lo que no se detecta adentro llega como observación del cliente.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457200" y="374904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15" name="Text 12"/>
          <p:cNvSpPr/>
          <p:nvPr/>
        </p:nvSpPr>
        <p:spPr>
          <a:xfrm>
            <a:off x="731520" y="395020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0A3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3400" dirty="0"/>
          </a:p>
        </p:txBody>
      </p:sp>
      <p:sp>
        <p:nvSpPr>
          <p:cNvPr id="16" name="Text 13"/>
          <p:cNvSpPr/>
          <p:nvPr/>
        </p:nvSpPr>
        <p:spPr>
          <a:xfrm>
            <a:off x="1691640" y="3931920"/>
            <a:ext cx="4023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Sacar los 18 hallazgos sobre 180 días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1691640" y="455371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de ellos superan el año abiertos. Los tienen a cargo Sin asignar (18). Es deuda antigua que no se cierra sola.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6245352" y="374904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19" name="Text 16"/>
          <p:cNvSpPr/>
          <p:nvPr/>
        </p:nvSpPr>
        <p:spPr>
          <a:xfrm>
            <a:off x="6519672" y="395020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E9E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3400" dirty="0"/>
          </a:p>
        </p:txBody>
      </p:sp>
      <p:sp>
        <p:nvSpPr>
          <p:cNvPr id="20" name="Text 17"/>
          <p:cNvSpPr/>
          <p:nvPr/>
        </p:nvSpPr>
        <p:spPr>
          <a:xfrm>
            <a:off x="7479792" y="3931920"/>
            <a:ext cx="4023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Responder las 44 que pasaron el plazo</a:t>
            </a:r>
            <a:endParaRPr lang="en-US" sz="1400" dirty="0"/>
          </a:p>
        </p:txBody>
      </p:sp>
      <p:sp>
        <p:nvSpPr>
          <p:cNvPr id="21" name="Text 18"/>
          <p:cNvSpPr/>
          <p:nvPr/>
        </p:nvSpPr>
        <p:spPr>
          <a:xfrm>
            <a:off x="7479792" y="455371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plazo es de 10 días desde la emisión y hoy lo incumplen 97,8% de los abiertos. Solo 1 siguen dentro de plazo.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Data_NCR-13092026.xlsx — hoja «Observaciones» · Corte 13-09-2026 · 509 registros desde 10-02-2023</a:t>
            </a:r>
            <a:endParaRPr lang="en-US" sz="850" dirty="0"/>
          </a:p>
        </p:txBody>
      </p:sp>
      <p:sp>
        <p:nvSpPr>
          <p:cNvPr id="23" name="Text 20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CONSOLIDADO</a:t>
            </a:r>
            <a:endParaRPr lang="en-US" sz="850" dirty="0"/>
          </a:p>
        </p:txBody>
      </p:sp>
      <p:sp>
        <p:nvSpPr>
          <p:cNvPr id="24" name="Text 21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22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058400" y="-1463040"/>
            <a:ext cx="3840480" cy="3840480"/>
          </a:xfrm>
          <a:prstGeom prst="ellipse">
            <a:avLst/>
          </a:prstGeom>
          <a:solidFill>
            <a:srgbClr val="1B3252"/>
          </a:solidFill>
          <a:ln/>
        </p:spPr>
      </p:sp>
      <p:sp>
        <p:nvSpPr>
          <p:cNvPr id="3" name="Shape 1"/>
          <p:cNvSpPr/>
          <p:nvPr/>
        </p:nvSpPr>
        <p:spPr>
          <a:xfrm>
            <a:off x="11064240" y="4572000"/>
            <a:ext cx="2743200" cy="2743200"/>
          </a:xfrm>
          <a:prstGeom prst="ellipse">
            <a:avLst/>
          </a:prstGeom>
          <a:solidFill>
            <a:srgbClr val="1B3252"/>
          </a:solidFill>
          <a:ln/>
        </p:spPr>
      </p:sp>
      <p:pic>
        <p:nvPicPr>
          <p:cNvPr id="4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57616" y="420624"/>
            <a:ext cx="3547872" cy="76809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02920" y="1234440"/>
            <a:ext cx="201168" cy="20116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6" name="Text 3"/>
          <p:cNvSpPr/>
          <p:nvPr/>
        </p:nvSpPr>
        <p:spPr>
          <a:xfrm>
            <a:off x="777240" y="10972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01 · P2416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749808" y="1572768"/>
            <a:ext cx="10607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Desaladora</a:t>
            </a:r>
            <a:endParaRPr lang="en-US" sz="4600" dirty="0"/>
          </a:p>
        </p:txBody>
      </p:sp>
      <p:sp>
        <p:nvSpPr>
          <p:cNvPr id="8" name="Text 5"/>
          <p:cNvSpPr/>
          <p:nvPr/>
        </p:nvSpPr>
        <p:spPr>
          <a:xfrm>
            <a:off x="777240" y="265176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ANTOFAGASTA MINERALS · Hallazgos de calidad y su corrección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777240" y="3154680"/>
            <a:ext cx="8778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82 hallazgos levantados · 54 internas · 19 del cliente · 8 de subcontrato · 18 especialidades involucradas.</a:t>
            </a:r>
            <a:endParaRPr lang="en-US" sz="13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de cierre, antigüedad de lo que sigue abierto y novedades de la última semana.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7772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98,8%</a:t>
            </a:r>
            <a:endParaRPr lang="en-US" sz="3400" dirty="0"/>
          </a:p>
        </p:txBody>
      </p:sp>
      <p:sp>
        <p:nvSpPr>
          <p:cNvPr id="11" name="Text 8"/>
          <p:cNvSpPr/>
          <p:nvPr/>
        </p:nvSpPr>
        <p:spPr>
          <a:xfrm>
            <a:off x="7772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Hallazgos cerrados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35204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3400" dirty="0"/>
          </a:p>
        </p:txBody>
      </p:sp>
      <p:sp>
        <p:nvSpPr>
          <p:cNvPr id="13" name="Text 10"/>
          <p:cNvSpPr/>
          <p:nvPr/>
        </p:nvSpPr>
        <p:spPr>
          <a:xfrm>
            <a:off x="35204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Siguen abiertos</a:t>
            </a:r>
            <a:endParaRPr lang="en-US" sz="1150" dirty="0"/>
          </a:p>
        </p:txBody>
      </p:sp>
      <p:sp>
        <p:nvSpPr>
          <p:cNvPr id="14" name="Text 11"/>
          <p:cNvSpPr/>
          <p:nvPr/>
        </p:nvSpPr>
        <p:spPr>
          <a:xfrm>
            <a:off x="62636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18 d</a:t>
            </a:r>
            <a:endParaRPr lang="en-US" sz="3400" dirty="0"/>
          </a:p>
        </p:txBody>
      </p:sp>
      <p:sp>
        <p:nvSpPr>
          <p:cNvPr id="15" name="Text 12"/>
          <p:cNvSpPr/>
          <p:nvPr/>
        </p:nvSpPr>
        <p:spPr>
          <a:xfrm>
            <a:off x="62636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Mediana de cierre</a:t>
            </a:r>
            <a:endParaRPr lang="en-US" sz="1150" dirty="0"/>
          </a:p>
        </p:txBody>
      </p:sp>
      <p:sp>
        <p:nvSpPr>
          <p:cNvPr id="16" name="Text 13"/>
          <p:cNvSpPr/>
          <p:nvPr/>
        </p:nvSpPr>
        <p:spPr>
          <a:xfrm>
            <a:off x="90068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66,7%</a:t>
            </a:r>
            <a:endParaRPr lang="en-US" sz="3400" dirty="0"/>
          </a:p>
        </p:txBody>
      </p:sp>
      <p:sp>
        <p:nvSpPr>
          <p:cNvPr id="17" name="Text 14"/>
          <p:cNvSpPr/>
          <p:nvPr/>
        </p:nvSpPr>
        <p:spPr>
          <a:xfrm>
            <a:off x="90068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Autodetección</a:t>
            </a:r>
            <a:endParaRPr 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777240" y="6172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Corte: 13-09-2026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Data_NCR-13092026.xlsx — hoja «Observaciones» · Corte 13-09-2026 · 509 registros desde 10-02-2023</a:t>
            </a:r>
            <a:endParaRPr lang="en-US" sz="850" dirty="0"/>
          </a:p>
        </p:txBody>
      </p:sp>
      <p:sp>
        <p:nvSpPr>
          <p:cNvPr id="20" name="Text 17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DESALADORA · ESTADO DE LOS HALLAZGOS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Cierre, disciplina y origen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457200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713232" y="1719072"/>
            <a:ext cx="146304" cy="146304"/>
          </a:xfrm>
          <a:prstGeom prst="ellipse">
            <a:avLst/>
          </a:prstGeom>
          <a:solidFill>
            <a:srgbClr val="2E6FB5"/>
          </a:solidFill>
          <a:ln/>
        </p:spPr>
      </p:sp>
      <p:sp>
        <p:nvSpPr>
          <p:cNvPr id="7" name="Text 4"/>
          <p:cNvSpPr/>
          <p:nvPr/>
        </p:nvSpPr>
        <p:spPr>
          <a:xfrm>
            <a:off x="713232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2E6FB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82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731520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81 cerrados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731520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Hallazgos levantados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731520" y="329184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54 internas · 19 del cliente · 8 de subcontrato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3319272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3575304" y="1719072"/>
            <a:ext cx="146304" cy="146304"/>
          </a:xfrm>
          <a:prstGeom prst="ellipse">
            <a:avLst/>
          </a:prstGeom>
          <a:solidFill>
            <a:srgbClr val="1F7A44"/>
          </a:solidFill>
          <a:ln/>
        </p:spPr>
      </p:sp>
      <p:sp>
        <p:nvSpPr>
          <p:cNvPr id="13" name="Text 10"/>
          <p:cNvSpPr/>
          <p:nvPr/>
        </p:nvSpPr>
        <p:spPr>
          <a:xfrm>
            <a:off x="3575304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7A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98,8%</a:t>
            </a:r>
            <a:endParaRPr lang="en-US" sz="4000" dirty="0"/>
          </a:p>
        </p:txBody>
      </p:sp>
      <p:sp>
        <p:nvSpPr>
          <p:cNvPr id="14" name="Text 11"/>
          <p:cNvSpPr/>
          <p:nvPr/>
        </p:nvSpPr>
        <p:spPr>
          <a:xfrm>
            <a:off x="3593592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81/82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3593592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 de hallazgos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3593592" y="329184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del módulo: 91,2%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6181344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6437376" y="1719072"/>
            <a:ext cx="146304" cy="146304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19" name="Text 16"/>
          <p:cNvSpPr/>
          <p:nvPr/>
        </p:nvSpPr>
        <p:spPr>
          <a:xfrm>
            <a:off x="6437376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4000" dirty="0"/>
          </a:p>
        </p:txBody>
      </p:sp>
      <p:sp>
        <p:nvSpPr>
          <p:cNvPr id="20" name="Text 17"/>
          <p:cNvSpPr/>
          <p:nvPr/>
        </p:nvSpPr>
        <p:spPr>
          <a:xfrm>
            <a:off x="6455664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hallazgo abierto</a:t>
            </a:r>
            <a:endParaRPr lang="en-US" sz="1400" dirty="0"/>
          </a:p>
        </p:txBody>
      </p:sp>
      <p:sp>
        <p:nvSpPr>
          <p:cNvPr id="21" name="Text 18"/>
          <p:cNvSpPr/>
          <p:nvPr/>
        </p:nvSpPr>
        <p:spPr>
          <a:xfrm>
            <a:off x="6455664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Siguen abiertos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6455664" y="329184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listo para revisión</a:t>
            </a:r>
            <a:endParaRPr lang="en-US" sz="950" dirty="0"/>
          </a:p>
        </p:txBody>
      </p:sp>
      <p:sp>
        <p:nvSpPr>
          <p:cNvPr id="23" name="Shape 20"/>
          <p:cNvSpPr/>
          <p:nvPr/>
        </p:nvSpPr>
        <p:spPr>
          <a:xfrm>
            <a:off x="9043416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9299448" y="1719072"/>
            <a:ext cx="146304" cy="146304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25" name="Text 22"/>
          <p:cNvSpPr/>
          <p:nvPr/>
        </p:nvSpPr>
        <p:spPr>
          <a:xfrm>
            <a:off x="9299448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C87A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18</a:t>
            </a:r>
            <a:endParaRPr lang="en-US" sz="4000" dirty="0"/>
          </a:p>
        </p:txBody>
      </p:sp>
      <p:sp>
        <p:nvSpPr>
          <p:cNvPr id="26" name="Text 23"/>
          <p:cNvSpPr/>
          <p:nvPr/>
        </p:nvSpPr>
        <p:spPr>
          <a:xfrm>
            <a:off x="9317736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días (mediana)</a:t>
            </a:r>
            <a:endParaRPr lang="en-US" sz="1400" dirty="0"/>
          </a:p>
        </p:txBody>
      </p:sp>
      <p:sp>
        <p:nvSpPr>
          <p:cNvPr id="27" name="Text 24"/>
          <p:cNvSpPr/>
          <p:nvPr/>
        </p:nvSpPr>
        <p:spPr>
          <a:xfrm>
            <a:off x="9317736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Velocidad de cierre</a:t>
            </a:r>
            <a:endParaRPr lang="en-US" sz="1200" dirty="0"/>
          </a:p>
        </p:txBody>
      </p:sp>
      <p:sp>
        <p:nvSpPr>
          <p:cNvPr id="28" name="Text 25"/>
          <p:cNvSpPr/>
          <p:nvPr/>
        </p:nvSpPr>
        <p:spPr>
          <a:xfrm>
            <a:off x="9317736" y="329184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más lento tomó 250 días</a:t>
            </a:r>
            <a:endParaRPr lang="en-US" sz="950" dirty="0"/>
          </a:p>
        </p:txBody>
      </p:sp>
      <p:graphicFrame>
        <p:nvGraphicFramePr>
          <p:cNvPr id="29" name="Chart 0" descr=""/>
          <p:cNvGraphicFramePr/>
          <p:nvPr/>
        </p:nvGraphicFramePr>
        <p:xfrm>
          <a:off x="457200" y="3886200"/>
          <a:ext cx="6949440" cy="2468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30" name="Shape 26"/>
          <p:cNvSpPr/>
          <p:nvPr/>
        </p:nvSpPr>
        <p:spPr>
          <a:xfrm>
            <a:off x="7635240" y="3886200"/>
            <a:ext cx="4096512" cy="2468880"/>
          </a:xfrm>
          <a:prstGeom prst="roundRect">
            <a:avLst>
              <a:gd name="adj" fmla="val 2222"/>
            </a:avLst>
          </a:prstGeom>
          <a:solidFill>
            <a:srgbClr val="12233B"/>
          </a:solidFill>
          <a:ln/>
        </p:spPr>
      </p:sp>
      <p:sp>
        <p:nvSpPr>
          <p:cNvPr id="31" name="Text 27"/>
          <p:cNvSpPr/>
          <p:nvPr/>
        </p:nvSpPr>
        <p:spPr>
          <a:xfrm>
            <a:off x="7882128" y="400507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ORIGEN DEL HALLAZGO</a:t>
            </a:r>
            <a:endParaRPr lang="en-US" sz="1050" dirty="0"/>
          </a:p>
        </p:txBody>
      </p:sp>
      <p:sp>
        <p:nvSpPr>
          <p:cNvPr id="32" name="Text 28"/>
          <p:cNvSpPr/>
          <p:nvPr/>
        </p:nvSpPr>
        <p:spPr>
          <a:xfrm>
            <a:off x="7882128" y="4261104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66,7%</a:t>
            </a:r>
            <a:endParaRPr lang="en-US" sz="2600" dirty="0"/>
          </a:p>
        </p:txBody>
      </p:sp>
      <p:sp>
        <p:nvSpPr>
          <p:cNvPr id="33" name="Text 29"/>
          <p:cNvSpPr/>
          <p:nvPr/>
        </p:nvSpPr>
        <p:spPr>
          <a:xfrm>
            <a:off x="9098280" y="4261104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autodetección</a:t>
            </a:r>
            <a:endParaRPr lang="en-US" sz="1000" dirty="0"/>
          </a:p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del módulo 31,8%</a:t>
            </a:r>
            <a:endParaRPr lang="en-US" sz="1000" dirty="0"/>
          </a:p>
        </p:txBody>
      </p:sp>
      <p:sp>
        <p:nvSpPr>
          <p:cNvPr id="34" name="Shape 30"/>
          <p:cNvSpPr/>
          <p:nvPr/>
        </p:nvSpPr>
        <p:spPr>
          <a:xfrm>
            <a:off x="7882128" y="4791456"/>
            <a:ext cx="3657600" cy="0"/>
          </a:xfrm>
          <a:prstGeom prst="line">
            <a:avLst/>
          </a:prstGeom>
          <a:noFill/>
          <a:ln w="12700">
            <a:solidFill>
              <a:srgbClr val="1B3252"/>
            </a:solidFill>
            <a:prstDash val="solid"/>
          </a:ln>
        </p:spPr>
      </p:sp>
      <p:sp>
        <p:nvSpPr>
          <p:cNvPr id="35" name="Shape 31"/>
          <p:cNvSpPr/>
          <p:nvPr/>
        </p:nvSpPr>
        <p:spPr>
          <a:xfrm>
            <a:off x="7900416" y="4974336"/>
            <a:ext cx="164592" cy="164592"/>
          </a:xfrm>
          <a:prstGeom prst="ellipse">
            <a:avLst/>
          </a:prstGeom>
          <a:solidFill>
            <a:srgbClr val="2E6FB5"/>
          </a:solidFill>
          <a:ln/>
        </p:spPr>
      </p:sp>
      <p:sp>
        <p:nvSpPr>
          <p:cNvPr id="36" name="Text 32"/>
          <p:cNvSpPr/>
          <p:nvPr/>
        </p:nvSpPr>
        <p:spPr>
          <a:xfrm>
            <a:off x="8156448" y="4882896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 (Besalco)</a:t>
            </a:r>
            <a:endParaRPr lang="en-US" sz="1100" dirty="0"/>
          </a:p>
        </p:txBody>
      </p:sp>
      <p:sp>
        <p:nvSpPr>
          <p:cNvPr id="37" name="Text 33"/>
          <p:cNvSpPr/>
          <p:nvPr/>
        </p:nvSpPr>
        <p:spPr>
          <a:xfrm>
            <a:off x="10287000" y="4882896"/>
            <a:ext cx="685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ab.</a:t>
            </a:r>
            <a:endParaRPr lang="en-US" sz="950" dirty="0"/>
          </a:p>
        </p:txBody>
      </p:sp>
      <p:sp>
        <p:nvSpPr>
          <p:cNvPr id="38" name="Text 34"/>
          <p:cNvSpPr/>
          <p:nvPr/>
        </p:nvSpPr>
        <p:spPr>
          <a:xfrm>
            <a:off x="10972800" y="4882896"/>
            <a:ext cx="594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54</a:t>
            </a:r>
            <a:endParaRPr lang="en-US" sz="1600" dirty="0"/>
          </a:p>
        </p:txBody>
      </p:sp>
      <p:sp>
        <p:nvSpPr>
          <p:cNvPr id="39" name="Shape 35"/>
          <p:cNvSpPr/>
          <p:nvPr/>
        </p:nvSpPr>
        <p:spPr>
          <a:xfrm>
            <a:off x="7900416" y="5340096"/>
            <a:ext cx="164592" cy="164592"/>
          </a:xfrm>
          <a:prstGeom prst="ellipse">
            <a:avLst/>
          </a:prstGeom>
          <a:solidFill>
            <a:srgbClr val="9A6B0F"/>
          </a:solidFill>
          <a:ln/>
        </p:spPr>
      </p:sp>
      <p:sp>
        <p:nvSpPr>
          <p:cNvPr id="40" name="Text 36"/>
          <p:cNvSpPr/>
          <p:nvPr/>
        </p:nvSpPr>
        <p:spPr>
          <a:xfrm>
            <a:off x="8156448" y="5248656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100" dirty="0"/>
          </a:p>
        </p:txBody>
      </p:sp>
      <p:sp>
        <p:nvSpPr>
          <p:cNvPr id="41" name="Text 37"/>
          <p:cNvSpPr/>
          <p:nvPr/>
        </p:nvSpPr>
        <p:spPr>
          <a:xfrm>
            <a:off x="10287000" y="5248656"/>
            <a:ext cx="685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ab.</a:t>
            </a:r>
            <a:endParaRPr lang="en-US" sz="950" dirty="0"/>
          </a:p>
        </p:txBody>
      </p:sp>
      <p:sp>
        <p:nvSpPr>
          <p:cNvPr id="42" name="Text 38"/>
          <p:cNvSpPr/>
          <p:nvPr/>
        </p:nvSpPr>
        <p:spPr>
          <a:xfrm>
            <a:off x="10972800" y="5248656"/>
            <a:ext cx="594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19</a:t>
            </a:r>
            <a:endParaRPr lang="en-US" sz="1600" dirty="0"/>
          </a:p>
        </p:txBody>
      </p:sp>
      <p:sp>
        <p:nvSpPr>
          <p:cNvPr id="43" name="Shape 39"/>
          <p:cNvSpPr/>
          <p:nvPr/>
        </p:nvSpPr>
        <p:spPr>
          <a:xfrm>
            <a:off x="7900416" y="5705856"/>
            <a:ext cx="164592" cy="164592"/>
          </a:xfrm>
          <a:prstGeom prst="ellipse">
            <a:avLst/>
          </a:prstGeom>
          <a:solidFill>
            <a:srgbClr val="8A5520"/>
          </a:solidFill>
          <a:ln/>
        </p:spPr>
      </p:sp>
      <p:sp>
        <p:nvSpPr>
          <p:cNvPr id="44" name="Text 40"/>
          <p:cNvSpPr/>
          <p:nvPr/>
        </p:nvSpPr>
        <p:spPr>
          <a:xfrm>
            <a:off x="8156448" y="5614416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Subcontrato</a:t>
            </a:r>
            <a:endParaRPr lang="en-US" sz="1100" dirty="0"/>
          </a:p>
        </p:txBody>
      </p:sp>
      <p:sp>
        <p:nvSpPr>
          <p:cNvPr id="45" name="Text 41"/>
          <p:cNvSpPr/>
          <p:nvPr/>
        </p:nvSpPr>
        <p:spPr>
          <a:xfrm>
            <a:off x="10287000" y="5614416"/>
            <a:ext cx="685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ab.</a:t>
            </a:r>
            <a:endParaRPr lang="en-US" sz="950" dirty="0"/>
          </a:p>
        </p:txBody>
      </p:sp>
      <p:sp>
        <p:nvSpPr>
          <p:cNvPr id="46" name="Text 42"/>
          <p:cNvSpPr/>
          <p:nvPr/>
        </p:nvSpPr>
        <p:spPr>
          <a:xfrm>
            <a:off x="10972800" y="5614416"/>
            <a:ext cx="594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1600" dirty="0"/>
          </a:p>
        </p:txBody>
      </p:sp>
      <p:sp>
        <p:nvSpPr>
          <p:cNvPr id="47" name="Shape 43"/>
          <p:cNvSpPr/>
          <p:nvPr/>
        </p:nvSpPr>
        <p:spPr>
          <a:xfrm>
            <a:off x="7900416" y="6071616"/>
            <a:ext cx="164592" cy="164592"/>
          </a:xfrm>
          <a:prstGeom prst="ellipse">
            <a:avLst/>
          </a:prstGeom>
          <a:solidFill>
            <a:srgbClr val="5B6B7C"/>
          </a:solidFill>
          <a:ln/>
        </p:spPr>
      </p:sp>
      <p:sp>
        <p:nvSpPr>
          <p:cNvPr id="48" name="Text 44"/>
          <p:cNvSpPr/>
          <p:nvPr/>
        </p:nvSpPr>
        <p:spPr>
          <a:xfrm>
            <a:off x="8156448" y="5980176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clasificar</a:t>
            </a:r>
            <a:endParaRPr lang="en-US" sz="1100" dirty="0"/>
          </a:p>
        </p:txBody>
      </p:sp>
      <p:sp>
        <p:nvSpPr>
          <p:cNvPr id="49" name="Text 45"/>
          <p:cNvSpPr/>
          <p:nvPr/>
        </p:nvSpPr>
        <p:spPr>
          <a:xfrm>
            <a:off x="10287000" y="5980176"/>
            <a:ext cx="685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ab.</a:t>
            </a:r>
            <a:endParaRPr lang="en-US" sz="950" dirty="0"/>
          </a:p>
        </p:txBody>
      </p:sp>
      <p:sp>
        <p:nvSpPr>
          <p:cNvPr id="50" name="Text 46"/>
          <p:cNvSpPr/>
          <p:nvPr/>
        </p:nvSpPr>
        <p:spPr>
          <a:xfrm>
            <a:off x="10972800" y="5980176"/>
            <a:ext cx="594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51" name="Text 47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Data_NCR-13092026.xlsx — hoja «Observaciones» · Corte 13-09-2026 · 509 registros desde 10-02-2023</a:t>
            </a:r>
            <a:endParaRPr lang="en-US" sz="850" dirty="0"/>
          </a:p>
        </p:txBody>
      </p:sp>
      <p:sp>
        <p:nvSpPr>
          <p:cNvPr id="52" name="Text 48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DESALADORA</a:t>
            </a:r>
            <a:endParaRPr lang="en-US" sz="850" dirty="0"/>
          </a:p>
        </p:txBody>
      </p:sp>
      <p:sp>
        <p:nvSpPr>
          <p:cNvPr id="53" name="Text 49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DESALADORA · PENDIENTE Y NOVEDADES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Hallazgos abiertos y lo levantado en la semana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457200" y="1234440"/>
            <a:ext cx="11247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hallazgo sigue abierto; 0 con más de 180 días. Se listan del más antiguo al más reciente.</a:t>
            </a:r>
            <a:endParaRPr lang="en-US" sz="1350" dirty="0"/>
          </a:p>
        </p:txBody>
      </p:sp>
      <p:sp>
        <p:nvSpPr>
          <p:cNvPr id="6" name="Text 3"/>
          <p:cNvSpPr/>
          <p:nvPr/>
        </p:nvSpPr>
        <p:spPr>
          <a:xfrm>
            <a:off x="502920" y="187452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N°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1371600" y="1874520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</a:t>
            </a:r>
            <a:endParaRPr lang="en-US" sz="950" dirty="0"/>
          </a:p>
        </p:txBody>
      </p:sp>
      <p:sp>
        <p:nvSpPr>
          <p:cNvPr id="8" name="Text 5"/>
          <p:cNvSpPr/>
          <p:nvPr/>
        </p:nvSpPr>
        <p:spPr>
          <a:xfrm>
            <a:off x="2926080" y="187452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ORIGEN</a:t>
            </a:r>
            <a:endParaRPr lang="en-US" sz="950" dirty="0"/>
          </a:p>
        </p:txBody>
      </p:sp>
      <p:sp>
        <p:nvSpPr>
          <p:cNvPr id="9" name="Text 6"/>
          <p:cNvSpPr/>
          <p:nvPr/>
        </p:nvSpPr>
        <p:spPr>
          <a:xfrm>
            <a:off x="4434840" y="187452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DISCIPLINA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5760720" y="1874520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RESPONSABLE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7315200" y="1874520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ESTATUS</a:t>
            </a:r>
            <a:endParaRPr lang="en-US" sz="950" dirty="0"/>
          </a:p>
        </p:txBody>
      </p:sp>
      <p:sp>
        <p:nvSpPr>
          <p:cNvPr id="12" name="Text 9"/>
          <p:cNvSpPr/>
          <p:nvPr/>
        </p:nvSpPr>
        <p:spPr>
          <a:xfrm>
            <a:off x="8686800" y="187452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DÍAS</a:t>
            </a:r>
            <a:endParaRPr lang="en-US" sz="950" dirty="0"/>
          </a:p>
        </p:txBody>
      </p:sp>
      <p:sp>
        <p:nvSpPr>
          <p:cNvPr id="13" name="Text 10"/>
          <p:cNvSpPr/>
          <p:nvPr/>
        </p:nvSpPr>
        <p:spPr>
          <a:xfrm>
            <a:off x="9464040" y="187452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TÍTULO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502920" y="2185416"/>
            <a:ext cx="11247120" cy="0"/>
          </a:xfrm>
          <a:prstGeom prst="line">
            <a:avLst/>
          </a:prstGeom>
          <a:noFill/>
          <a:ln w="12700">
            <a:solidFill>
              <a:srgbClr val="6E8CA8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02920" y="2313432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89</a:t>
            </a:r>
            <a:endParaRPr lang="en-US" sz="1050" dirty="0"/>
          </a:p>
        </p:txBody>
      </p:sp>
      <p:sp>
        <p:nvSpPr>
          <p:cNvPr id="16" name="Text 13"/>
          <p:cNvSpPr/>
          <p:nvPr/>
        </p:nvSpPr>
        <p:spPr>
          <a:xfrm>
            <a:off x="1371600" y="2313432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Conformidad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2926080" y="2313432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2E6F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 (Besalco)</a:t>
            </a:r>
            <a:endParaRPr lang="en-US" sz="1050" dirty="0"/>
          </a:p>
        </p:txBody>
      </p:sp>
      <p:sp>
        <p:nvSpPr>
          <p:cNvPr id="18" name="Text 15"/>
          <p:cNvSpPr/>
          <p:nvPr/>
        </p:nvSpPr>
        <p:spPr>
          <a:xfrm>
            <a:off x="4434840" y="231343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EXPEDITORÍA</a:t>
            </a:r>
            <a:endParaRPr lang="en-US" sz="1050" dirty="0"/>
          </a:p>
        </p:txBody>
      </p:sp>
      <p:sp>
        <p:nvSpPr>
          <p:cNvPr id="19" name="Text 16"/>
          <p:cNvSpPr/>
          <p:nvPr/>
        </p:nvSpPr>
        <p:spPr>
          <a:xfrm>
            <a:off x="5760720" y="2313432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Ariel Flores U.</a:t>
            </a:r>
            <a:endParaRPr lang="en-US" sz="1050" dirty="0"/>
          </a:p>
        </p:txBody>
      </p:sp>
      <p:sp>
        <p:nvSpPr>
          <p:cNvPr id="20" name="Text 17"/>
          <p:cNvSpPr/>
          <p:nvPr/>
        </p:nvSpPr>
        <p:spPr>
          <a:xfrm>
            <a:off x="7315200" y="2313432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Listo para revisi…</a:t>
            </a:r>
            <a:endParaRPr lang="en-US" sz="1050" dirty="0"/>
          </a:p>
        </p:txBody>
      </p:sp>
      <p:sp>
        <p:nvSpPr>
          <p:cNvPr id="21" name="Text 18"/>
          <p:cNvSpPr/>
          <p:nvPr/>
        </p:nvSpPr>
        <p:spPr>
          <a:xfrm>
            <a:off x="8686800" y="231343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124</a:t>
            </a:r>
            <a:endParaRPr lang="en-US" sz="1050" dirty="0"/>
          </a:p>
        </p:txBody>
      </p:sp>
      <p:sp>
        <p:nvSpPr>
          <p:cNvPr id="22" name="Text 19"/>
          <p:cNvSpPr/>
          <p:nvPr/>
        </p:nvSpPr>
        <p:spPr>
          <a:xfrm>
            <a:off x="9464040" y="2313432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Daño en manilla de válvula 4515-HV-…</a:t>
            </a:r>
            <a:endParaRPr lang="en-US" sz="1000" dirty="0"/>
          </a:p>
        </p:txBody>
      </p:sp>
      <p:sp>
        <p:nvSpPr>
          <p:cNvPr id="23" name="Shape 20"/>
          <p:cNvSpPr/>
          <p:nvPr/>
        </p:nvSpPr>
        <p:spPr>
          <a:xfrm>
            <a:off x="502920" y="2606040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457200" y="5806440"/>
            <a:ext cx="11274552" cy="566928"/>
          </a:xfrm>
          <a:prstGeom prst="roundRect">
            <a:avLst>
              <a:gd name="adj" fmla="val 9677"/>
            </a:avLst>
          </a:prstGeom>
          <a:solidFill>
            <a:srgbClr val="E9EDF2"/>
          </a:solidFill>
          <a:ln/>
        </p:spPr>
      </p:sp>
      <p:sp>
        <p:nvSpPr>
          <p:cNvPr id="25" name="Text 22"/>
          <p:cNvSpPr/>
          <p:nvPr/>
        </p:nvSpPr>
        <p:spPr>
          <a:xfrm>
            <a:off x="713232" y="5806440"/>
            <a:ext cx="2468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SEMANA 07-09-2026 — 13-09-2026</a:t>
            </a:r>
            <a:endParaRPr lang="en-US" sz="1000" dirty="0"/>
          </a:p>
        </p:txBody>
      </p:sp>
      <p:sp>
        <p:nvSpPr>
          <p:cNvPr id="26" name="Text 23"/>
          <p:cNvSpPr/>
          <p:nvPr/>
        </p:nvSpPr>
        <p:spPr>
          <a:xfrm>
            <a:off x="3200400" y="5806440"/>
            <a:ext cx="8321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hallazgos nuevos en el período.</a:t>
            </a:r>
            <a:endParaRPr lang="en-US" sz="1150" dirty="0"/>
          </a:p>
        </p:txBody>
      </p:sp>
      <p:sp>
        <p:nvSpPr>
          <p:cNvPr id="27" name="Text 24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Data_NCR-13092026.xlsx — hoja «Observaciones» · Corte 13-09-2026 · 509 registros desde 10-02-2023</a:t>
            </a:r>
            <a:endParaRPr lang="en-US" sz="850" dirty="0"/>
          </a:p>
        </p:txBody>
      </p:sp>
      <p:sp>
        <p:nvSpPr>
          <p:cNvPr id="28" name="Text 25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DESALADORA</a:t>
            </a:r>
            <a:endParaRPr lang="en-US" sz="850" dirty="0"/>
          </a:p>
        </p:txBody>
      </p:sp>
      <p:sp>
        <p:nvSpPr>
          <p:cNvPr id="29" name="Text 26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22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058400" y="-1463040"/>
            <a:ext cx="3840480" cy="3840480"/>
          </a:xfrm>
          <a:prstGeom prst="ellipse">
            <a:avLst/>
          </a:prstGeom>
          <a:solidFill>
            <a:srgbClr val="1B3252"/>
          </a:solidFill>
          <a:ln/>
        </p:spPr>
      </p:sp>
      <p:sp>
        <p:nvSpPr>
          <p:cNvPr id="3" name="Shape 1"/>
          <p:cNvSpPr/>
          <p:nvPr/>
        </p:nvSpPr>
        <p:spPr>
          <a:xfrm>
            <a:off x="11064240" y="4572000"/>
            <a:ext cx="2743200" cy="2743200"/>
          </a:xfrm>
          <a:prstGeom prst="ellipse">
            <a:avLst/>
          </a:prstGeom>
          <a:solidFill>
            <a:srgbClr val="1B3252"/>
          </a:solidFill>
          <a:ln/>
        </p:spPr>
      </p:sp>
      <p:pic>
        <p:nvPicPr>
          <p:cNvPr id="4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57616" y="420624"/>
            <a:ext cx="3547872" cy="76809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02920" y="1234440"/>
            <a:ext cx="201168" cy="20116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6" name="Text 3"/>
          <p:cNvSpPr/>
          <p:nvPr/>
        </p:nvSpPr>
        <p:spPr>
          <a:xfrm>
            <a:off x="777240" y="10972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02 · P2407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749808" y="1572768"/>
            <a:ext cx="10607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Talabre</a:t>
            </a:r>
            <a:endParaRPr lang="en-US" sz="4600" dirty="0"/>
          </a:p>
        </p:txBody>
      </p:sp>
      <p:sp>
        <p:nvSpPr>
          <p:cNvPr id="8" name="Text 5"/>
          <p:cNvSpPr/>
          <p:nvPr/>
        </p:nvSpPr>
        <p:spPr>
          <a:xfrm>
            <a:off x="777240" y="265176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CODELCO · Hallazgos de calidad y su corrección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777240" y="3154680"/>
            <a:ext cx="8778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249 hallazgos levantados · 52 internas · 197 del cliente · 12 especialidades involucradas.</a:t>
            </a:r>
            <a:endParaRPr lang="en-US" sz="13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de cierre, antigüedad de lo que sigue abierto y novedades de la última semana.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7772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97,2%</a:t>
            </a:r>
            <a:endParaRPr lang="en-US" sz="3400" dirty="0"/>
          </a:p>
        </p:txBody>
      </p:sp>
      <p:sp>
        <p:nvSpPr>
          <p:cNvPr id="11" name="Text 8"/>
          <p:cNvSpPr/>
          <p:nvPr/>
        </p:nvSpPr>
        <p:spPr>
          <a:xfrm>
            <a:off x="7772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Hallazgos cerrados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35204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3400" dirty="0"/>
          </a:p>
        </p:txBody>
      </p:sp>
      <p:sp>
        <p:nvSpPr>
          <p:cNvPr id="13" name="Text 10"/>
          <p:cNvSpPr/>
          <p:nvPr/>
        </p:nvSpPr>
        <p:spPr>
          <a:xfrm>
            <a:off x="35204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Siguen abiertos</a:t>
            </a:r>
            <a:endParaRPr lang="en-US" sz="1150" dirty="0"/>
          </a:p>
        </p:txBody>
      </p:sp>
      <p:sp>
        <p:nvSpPr>
          <p:cNvPr id="14" name="Text 11"/>
          <p:cNvSpPr/>
          <p:nvPr/>
        </p:nvSpPr>
        <p:spPr>
          <a:xfrm>
            <a:off x="62636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23 d</a:t>
            </a:r>
            <a:endParaRPr lang="en-US" sz="3400" dirty="0"/>
          </a:p>
        </p:txBody>
      </p:sp>
      <p:sp>
        <p:nvSpPr>
          <p:cNvPr id="15" name="Text 12"/>
          <p:cNvSpPr/>
          <p:nvPr/>
        </p:nvSpPr>
        <p:spPr>
          <a:xfrm>
            <a:off x="62636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Mediana de cierre</a:t>
            </a:r>
            <a:endParaRPr lang="en-US" sz="1150" dirty="0"/>
          </a:p>
        </p:txBody>
      </p:sp>
      <p:sp>
        <p:nvSpPr>
          <p:cNvPr id="16" name="Text 13"/>
          <p:cNvSpPr/>
          <p:nvPr/>
        </p:nvSpPr>
        <p:spPr>
          <a:xfrm>
            <a:off x="90068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20,9%</a:t>
            </a:r>
            <a:endParaRPr lang="en-US" sz="3400" dirty="0"/>
          </a:p>
        </p:txBody>
      </p:sp>
      <p:sp>
        <p:nvSpPr>
          <p:cNvPr id="17" name="Text 14"/>
          <p:cNvSpPr/>
          <p:nvPr/>
        </p:nvSpPr>
        <p:spPr>
          <a:xfrm>
            <a:off x="90068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Autodetección</a:t>
            </a:r>
            <a:endParaRPr 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777240" y="6172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Corte: 13-09-2026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Data_NCR-13092026.xlsx — hoja «Observaciones» · Corte 13-09-2026 · 509 registros desde 10-02-2023</a:t>
            </a:r>
            <a:endParaRPr lang="en-US" sz="850" dirty="0"/>
          </a:p>
        </p:txBody>
      </p:sp>
      <p:sp>
        <p:nvSpPr>
          <p:cNvPr id="20" name="Text 17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TALABRE · ESTADO DE LOS HALLAZGOS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Cierre, disciplina y origen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457200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713232" y="1719072"/>
            <a:ext cx="146304" cy="146304"/>
          </a:xfrm>
          <a:prstGeom prst="ellipse">
            <a:avLst/>
          </a:prstGeom>
          <a:solidFill>
            <a:srgbClr val="2E6FB5"/>
          </a:solidFill>
          <a:ln/>
        </p:spPr>
      </p:sp>
      <p:sp>
        <p:nvSpPr>
          <p:cNvPr id="7" name="Text 4"/>
          <p:cNvSpPr/>
          <p:nvPr/>
        </p:nvSpPr>
        <p:spPr>
          <a:xfrm>
            <a:off x="713232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2E6FB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249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731520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242 cerrados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731520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Hallazgos levantados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731520" y="329184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52 internas · 197 del cliente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3319272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3575304" y="1719072"/>
            <a:ext cx="146304" cy="146304"/>
          </a:xfrm>
          <a:prstGeom prst="ellipse">
            <a:avLst/>
          </a:prstGeom>
          <a:solidFill>
            <a:srgbClr val="1F7A44"/>
          </a:solidFill>
          <a:ln/>
        </p:spPr>
      </p:sp>
      <p:sp>
        <p:nvSpPr>
          <p:cNvPr id="13" name="Text 10"/>
          <p:cNvSpPr/>
          <p:nvPr/>
        </p:nvSpPr>
        <p:spPr>
          <a:xfrm>
            <a:off x="3575304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7A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97,2%</a:t>
            </a:r>
            <a:endParaRPr lang="en-US" sz="4000" dirty="0"/>
          </a:p>
        </p:txBody>
      </p:sp>
      <p:sp>
        <p:nvSpPr>
          <p:cNvPr id="14" name="Text 11"/>
          <p:cNvSpPr/>
          <p:nvPr/>
        </p:nvSpPr>
        <p:spPr>
          <a:xfrm>
            <a:off x="3593592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242/249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3593592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 de hallazgos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3593592" y="329184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del módulo: 91,2%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6181344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6437376" y="1719072"/>
            <a:ext cx="146304" cy="146304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19" name="Text 16"/>
          <p:cNvSpPr/>
          <p:nvPr/>
        </p:nvSpPr>
        <p:spPr>
          <a:xfrm>
            <a:off x="6437376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4000" dirty="0"/>
          </a:p>
        </p:txBody>
      </p:sp>
      <p:sp>
        <p:nvSpPr>
          <p:cNvPr id="20" name="Text 17"/>
          <p:cNvSpPr/>
          <p:nvPr/>
        </p:nvSpPr>
        <p:spPr>
          <a:xfrm>
            <a:off x="6455664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hallazgos abiertos</a:t>
            </a:r>
            <a:endParaRPr lang="en-US" sz="1400" dirty="0"/>
          </a:p>
        </p:txBody>
      </p:sp>
      <p:sp>
        <p:nvSpPr>
          <p:cNvPr id="21" name="Text 18"/>
          <p:cNvSpPr/>
          <p:nvPr/>
        </p:nvSpPr>
        <p:spPr>
          <a:xfrm>
            <a:off x="6455664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Siguen abiertos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6455664" y="329184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iniciado · 1 listo para revisión</a:t>
            </a:r>
            <a:endParaRPr lang="en-US" sz="950" dirty="0"/>
          </a:p>
        </p:txBody>
      </p:sp>
      <p:sp>
        <p:nvSpPr>
          <p:cNvPr id="23" name="Shape 20"/>
          <p:cNvSpPr/>
          <p:nvPr/>
        </p:nvSpPr>
        <p:spPr>
          <a:xfrm>
            <a:off x="9043416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9299448" y="1719072"/>
            <a:ext cx="146304" cy="146304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25" name="Text 22"/>
          <p:cNvSpPr/>
          <p:nvPr/>
        </p:nvSpPr>
        <p:spPr>
          <a:xfrm>
            <a:off x="9299448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C87A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23</a:t>
            </a:r>
            <a:endParaRPr lang="en-US" sz="4000" dirty="0"/>
          </a:p>
        </p:txBody>
      </p:sp>
      <p:sp>
        <p:nvSpPr>
          <p:cNvPr id="26" name="Text 23"/>
          <p:cNvSpPr/>
          <p:nvPr/>
        </p:nvSpPr>
        <p:spPr>
          <a:xfrm>
            <a:off x="9317736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días (mediana)</a:t>
            </a:r>
            <a:endParaRPr lang="en-US" sz="1400" dirty="0"/>
          </a:p>
        </p:txBody>
      </p:sp>
      <p:sp>
        <p:nvSpPr>
          <p:cNvPr id="27" name="Text 24"/>
          <p:cNvSpPr/>
          <p:nvPr/>
        </p:nvSpPr>
        <p:spPr>
          <a:xfrm>
            <a:off x="9317736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Velocidad de cierre</a:t>
            </a:r>
            <a:endParaRPr lang="en-US" sz="1200" dirty="0"/>
          </a:p>
        </p:txBody>
      </p:sp>
      <p:sp>
        <p:nvSpPr>
          <p:cNvPr id="28" name="Text 25"/>
          <p:cNvSpPr/>
          <p:nvPr/>
        </p:nvSpPr>
        <p:spPr>
          <a:xfrm>
            <a:off x="9317736" y="329184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más lento tomó 407 días</a:t>
            </a:r>
            <a:endParaRPr lang="en-US" sz="950" dirty="0"/>
          </a:p>
        </p:txBody>
      </p:sp>
      <p:graphicFrame>
        <p:nvGraphicFramePr>
          <p:cNvPr id="29" name="Chart 0" descr=""/>
          <p:cNvGraphicFramePr/>
          <p:nvPr/>
        </p:nvGraphicFramePr>
        <p:xfrm>
          <a:off x="457200" y="3886200"/>
          <a:ext cx="6949440" cy="2468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30" name="Shape 26"/>
          <p:cNvSpPr/>
          <p:nvPr/>
        </p:nvSpPr>
        <p:spPr>
          <a:xfrm>
            <a:off x="7635240" y="3886200"/>
            <a:ext cx="4096512" cy="2468880"/>
          </a:xfrm>
          <a:prstGeom prst="roundRect">
            <a:avLst>
              <a:gd name="adj" fmla="val 2222"/>
            </a:avLst>
          </a:prstGeom>
          <a:solidFill>
            <a:srgbClr val="12233B"/>
          </a:solidFill>
          <a:ln/>
        </p:spPr>
      </p:sp>
      <p:sp>
        <p:nvSpPr>
          <p:cNvPr id="31" name="Text 27"/>
          <p:cNvSpPr/>
          <p:nvPr/>
        </p:nvSpPr>
        <p:spPr>
          <a:xfrm>
            <a:off x="7882128" y="400507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ORIGEN DEL HALLAZGO</a:t>
            </a:r>
            <a:endParaRPr lang="en-US" sz="1050" dirty="0"/>
          </a:p>
        </p:txBody>
      </p:sp>
      <p:sp>
        <p:nvSpPr>
          <p:cNvPr id="32" name="Text 28"/>
          <p:cNvSpPr/>
          <p:nvPr/>
        </p:nvSpPr>
        <p:spPr>
          <a:xfrm>
            <a:off x="7882128" y="4261104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20,9%</a:t>
            </a:r>
            <a:endParaRPr lang="en-US" sz="2600" dirty="0"/>
          </a:p>
        </p:txBody>
      </p:sp>
      <p:sp>
        <p:nvSpPr>
          <p:cNvPr id="33" name="Text 29"/>
          <p:cNvSpPr/>
          <p:nvPr/>
        </p:nvSpPr>
        <p:spPr>
          <a:xfrm>
            <a:off x="9098280" y="4261104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autodetección</a:t>
            </a:r>
            <a:endParaRPr lang="en-US" sz="1000" dirty="0"/>
          </a:p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del módulo 31,8%</a:t>
            </a:r>
            <a:endParaRPr lang="en-US" sz="1000" dirty="0"/>
          </a:p>
        </p:txBody>
      </p:sp>
      <p:sp>
        <p:nvSpPr>
          <p:cNvPr id="34" name="Shape 30"/>
          <p:cNvSpPr/>
          <p:nvPr/>
        </p:nvSpPr>
        <p:spPr>
          <a:xfrm>
            <a:off x="7882128" y="4791456"/>
            <a:ext cx="3657600" cy="0"/>
          </a:xfrm>
          <a:prstGeom prst="line">
            <a:avLst/>
          </a:prstGeom>
          <a:noFill/>
          <a:ln w="12700">
            <a:solidFill>
              <a:srgbClr val="1B3252"/>
            </a:solidFill>
            <a:prstDash val="solid"/>
          </a:ln>
        </p:spPr>
      </p:sp>
      <p:sp>
        <p:nvSpPr>
          <p:cNvPr id="35" name="Shape 31"/>
          <p:cNvSpPr/>
          <p:nvPr/>
        </p:nvSpPr>
        <p:spPr>
          <a:xfrm>
            <a:off x="7900416" y="4974336"/>
            <a:ext cx="164592" cy="164592"/>
          </a:xfrm>
          <a:prstGeom prst="ellipse">
            <a:avLst/>
          </a:prstGeom>
          <a:solidFill>
            <a:srgbClr val="2E6FB5"/>
          </a:solidFill>
          <a:ln/>
        </p:spPr>
      </p:sp>
      <p:sp>
        <p:nvSpPr>
          <p:cNvPr id="36" name="Text 32"/>
          <p:cNvSpPr/>
          <p:nvPr/>
        </p:nvSpPr>
        <p:spPr>
          <a:xfrm>
            <a:off x="8156448" y="4882896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 (Besalco)</a:t>
            </a:r>
            <a:endParaRPr lang="en-US" sz="1100" dirty="0"/>
          </a:p>
        </p:txBody>
      </p:sp>
      <p:sp>
        <p:nvSpPr>
          <p:cNvPr id="37" name="Text 33"/>
          <p:cNvSpPr/>
          <p:nvPr/>
        </p:nvSpPr>
        <p:spPr>
          <a:xfrm>
            <a:off x="10287000" y="4882896"/>
            <a:ext cx="685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ab.</a:t>
            </a:r>
            <a:endParaRPr lang="en-US" sz="950" dirty="0"/>
          </a:p>
        </p:txBody>
      </p:sp>
      <p:sp>
        <p:nvSpPr>
          <p:cNvPr id="38" name="Text 34"/>
          <p:cNvSpPr/>
          <p:nvPr/>
        </p:nvSpPr>
        <p:spPr>
          <a:xfrm>
            <a:off x="10972800" y="4882896"/>
            <a:ext cx="594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52</a:t>
            </a:r>
            <a:endParaRPr lang="en-US" sz="1600" dirty="0"/>
          </a:p>
        </p:txBody>
      </p:sp>
      <p:sp>
        <p:nvSpPr>
          <p:cNvPr id="39" name="Shape 35"/>
          <p:cNvSpPr/>
          <p:nvPr/>
        </p:nvSpPr>
        <p:spPr>
          <a:xfrm>
            <a:off x="7900416" y="5340096"/>
            <a:ext cx="164592" cy="164592"/>
          </a:xfrm>
          <a:prstGeom prst="ellipse">
            <a:avLst/>
          </a:prstGeom>
          <a:solidFill>
            <a:srgbClr val="9A6B0F"/>
          </a:solidFill>
          <a:ln/>
        </p:spPr>
      </p:sp>
      <p:sp>
        <p:nvSpPr>
          <p:cNvPr id="40" name="Text 36"/>
          <p:cNvSpPr/>
          <p:nvPr/>
        </p:nvSpPr>
        <p:spPr>
          <a:xfrm>
            <a:off x="8156448" y="5248656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100" dirty="0"/>
          </a:p>
        </p:txBody>
      </p:sp>
      <p:sp>
        <p:nvSpPr>
          <p:cNvPr id="41" name="Text 37"/>
          <p:cNvSpPr/>
          <p:nvPr/>
        </p:nvSpPr>
        <p:spPr>
          <a:xfrm>
            <a:off x="10287000" y="5248656"/>
            <a:ext cx="685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ab.</a:t>
            </a:r>
            <a:endParaRPr lang="en-US" sz="950" dirty="0"/>
          </a:p>
        </p:txBody>
      </p:sp>
      <p:sp>
        <p:nvSpPr>
          <p:cNvPr id="42" name="Text 38"/>
          <p:cNvSpPr/>
          <p:nvPr/>
        </p:nvSpPr>
        <p:spPr>
          <a:xfrm>
            <a:off x="10972800" y="5248656"/>
            <a:ext cx="594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197</a:t>
            </a:r>
            <a:endParaRPr lang="en-US" sz="1600" dirty="0"/>
          </a:p>
        </p:txBody>
      </p:sp>
      <p:sp>
        <p:nvSpPr>
          <p:cNvPr id="43" name="Text 39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Data_NCR-13092026.xlsx — hoja «Observaciones» · Corte 13-09-2026 · 509 registros desde 10-02-2023</a:t>
            </a:r>
            <a:endParaRPr lang="en-US" sz="850" dirty="0"/>
          </a:p>
        </p:txBody>
      </p:sp>
      <p:sp>
        <p:nvSpPr>
          <p:cNvPr id="44" name="Text 40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TALABRE</a:t>
            </a:r>
            <a:endParaRPr lang="en-US" sz="850" dirty="0"/>
          </a:p>
        </p:txBody>
      </p:sp>
      <p:sp>
        <p:nvSpPr>
          <p:cNvPr id="45" name="Text 41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TALABRE · PENDIENTE Y NOVEDADES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Hallazgos abiertos y lo levantado en la semana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457200" y="1234440"/>
            <a:ext cx="11247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hallazgos siguen abiertos; 0 con más de 180 días. Se listan del más antiguo al más reciente.</a:t>
            </a:r>
            <a:endParaRPr lang="en-US" sz="1350" dirty="0"/>
          </a:p>
        </p:txBody>
      </p:sp>
      <p:sp>
        <p:nvSpPr>
          <p:cNvPr id="6" name="Text 3"/>
          <p:cNvSpPr/>
          <p:nvPr/>
        </p:nvSpPr>
        <p:spPr>
          <a:xfrm>
            <a:off x="502920" y="187452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N°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1371600" y="1874520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</a:t>
            </a:r>
            <a:endParaRPr lang="en-US" sz="950" dirty="0"/>
          </a:p>
        </p:txBody>
      </p:sp>
      <p:sp>
        <p:nvSpPr>
          <p:cNvPr id="8" name="Text 5"/>
          <p:cNvSpPr/>
          <p:nvPr/>
        </p:nvSpPr>
        <p:spPr>
          <a:xfrm>
            <a:off x="2926080" y="187452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ORIGEN</a:t>
            </a:r>
            <a:endParaRPr lang="en-US" sz="950" dirty="0"/>
          </a:p>
        </p:txBody>
      </p:sp>
      <p:sp>
        <p:nvSpPr>
          <p:cNvPr id="9" name="Text 6"/>
          <p:cNvSpPr/>
          <p:nvPr/>
        </p:nvSpPr>
        <p:spPr>
          <a:xfrm>
            <a:off x="4434840" y="187452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DISCIPLINA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5760720" y="1874520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RESPONSABLE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7315200" y="1874520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ESTATUS</a:t>
            </a:r>
            <a:endParaRPr lang="en-US" sz="950" dirty="0"/>
          </a:p>
        </p:txBody>
      </p:sp>
      <p:sp>
        <p:nvSpPr>
          <p:cNvPr id="12" name="Text 9"/>
          <p:cNvSpPr/>
          <p:nvPr/>
        </p:nvSpPr>
        <p:spPr>
          <a:xfrm>
            <a:off x="8686800" y="187452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DÍAS</a:t>
            </a:r>
            <a:endParaRPr lang="en-US" sz="950" dirty="0"/>
          </a:p>
        </p:txBody>
      </p:sp>
      <p:sp>
        <p:nvSpPr>
          <p:cNvPr id="13" name="Text 10"/>
          <p:cNvSpPr/>
          <p:nvPr/>
        </p:nvSpPr>
        <p:spPr>
          <a:xfrm>
            <a:off x="9464040" y="187452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TÍTULO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502920" y="2185416"/>
            <a:ext cx="11247120" cy="0"/>
          </a:xfrm>
          <a:prstGeom prst="line">
            <a:avLst/>
          </a:prstGeom>
          <a:noFill/>
          <a:ln w="12700">
            <a:solidFill>
              <a:srgbClr val="6E8CA8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02920" y="2313432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198</a:t>
            </a:r>
            <a:endParaRPr lang="en-US" sz="1050" dirty="0"/>
          </a:p>
        </p:txBody>
      </p:sp>
      <p:sp>
        <p:nvSpPr>
          <p:cNvPr id="16" name="Text 13"/>
          <p:cNvSpPr/>
          <p:nvPr/>
        </p:nvSpPr>
        <p:spPr>
          <a:xfrm>
            <a:off x="1371600" y="2313432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Producto No Conforme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2926080" y="2313432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050" dirty="0"/>
          </a:p>
        </p:txBody>
      </p:sp>
      <p:sp>
        <p:nvSpPr>
          <p:cNvPr id="18" name="Text 15"/>
          <p:cNvSpPr/>
          <p:nvPr/>
        </p:nvSpPr>
        <p:spPr>
          <a:xfrm>
            <a:off x="4434840" y="231343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OO.CC</a:t>
            </a:r>
            <a:endParaRPr lang="en-US" sz="1050" dirty="0"/>
          </a:p>
        </p:txBody>
      </p:sp>
      <p:sp>
        <p:nvSpPr>
          <p:cNvPr id="19" name="Text 16"/>
          <p:cNvSpPr/>
          <p:nvPr/>
        </p:nvSpPr>
        <p:spPr>
          <a:xfrm>
            <a:off x="5760720" y="2313432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Wladimir Carvajal …</a:t>
            </a:r>
            <a:endParaRPr lang="en-US" sz="1050" dirty="0"/>
          </a:p>
        </p:txBody>
      </p:sp>
      <p:sp>
        <p:nvSpPr>
          <p:cNvPr id="20" name="Text 17"/>
          <p:cNvSpPr/>
          <p:nvPr/>
        </p:nvSpPr>
        <p:spPr>
          <a:xfrm>
            <a:off x="7315200" y="2313432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Iniciado</a:t>
            </a:r>
            <a:endParaRPr lang="en-US" sz="1050" dirty="0"/>
          </a:p>
        </p:txBody>
      </p:sp>
      <p:sp>
        <p:nvSpPr>
          <p:cNvPr id="21" name="Text 18"/>
          <p:cNvSpPr/>
          <p:nvPr/>
        </p:nvSpPr>
        <p:spPr>
          <a:xfrm>
            <a:off x="8686800" y="231343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174</a:t>
            </a:r>
            <a:endParaRPr lang="en-US" sz="1050" dirty="0"/>
          </a:p>
        </p:txBody>
      </p:sp>
      <p:sp>
        <p:nvSpPr>
          <p:cNvPr id="22" name="Text 19"/>
          <p:cNvSpPr/>
          <p:nvPr/>
        </p:nvSpPr>
        <p:spPr>
          <a:xfrm>
            <a:off x="9464040" y="2313432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Corte en geomembrana HDPE instalada…</a:t>
            </a:r>
            <a:endParaRPr lang="en-US" sz="1000" dirty="0"/>
          </a:p>
        </p:txBody>
      </p:sp>
      <p:sp>
        <p:nvSpPr>
          <p:cNvPr id="23" name="Shape 20"/>
          <p:cNvSpPr/>
          <p:nvPr/>
        </p:nvSpPr>
        <p:spPr>
          <a:xfrm>
            <a:off x="502920" y="2606040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457200" y="2615184"/>
            <a:ext cx="11292840" cy="3474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5" name="Text 22"/>
          <p:cNvSpPr/>
          <p:nvPr/>
        </p:nvSpPr>
        <p:spPr>
          <a:xfrm>
            <a:off x="502920" y="2660904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235</a:t>
            </a:r>
            <a:endParaRPr lang="en-US" sz="1050" dirty="0"/>
          </a:p>
        </p:txBody>
      </p:sp>
      <p:sp>
        <p:nvSpPr>
          <p:cNvPr id="26" name="Text 23"/>
          <p:cNvSpPr/>
          <p:nvPr/>
        </p:nvSpPr>
        <p:spPr>
          <a:xfrm>
            <a:off x="1371600" y="2660904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Conformidad</a:t>
            </a:r>
            <a:endParaRPr lang="en-US" sz="1050" dirty="0"/>
          </a:p>
        </p:txBody>
      </p:sp>
      <p:sp>
        <p:nvSpPr>
          <p:cNvPr id="27" name="Text 24"/>
          <p:cNvSpPr/>
          <p:nvPr/>
        </p:nvSpPr>
        <p:spPr>
          <a:xfrm>
            <a:off x="2926080" y="2660904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050" dirty="0"/>
          </a:p>
        </p:txBody>
      </p:sp>
      <p:sp>
        <p:nvSpPr>
          <p:cNvPr id="28" name="Text 25"/>
          <p:cNvSpPr/>
          <p:nvPr/>
        </p:nvSpPr>
        <p:spPr>
          <a:xfrm>
            <a:off x="4434840" y="2660904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OO.CC</a:t>
            </a:r>
            <a:endParaRPr lang="en-US" sz="1050" dirty="0"/>
          </a:p>
        </p:txBody>
      </p:sp>
      <p:sp>
        <p:nvSpPr>
          <p:cNvPr id="29" name="Text 26"/>
          <p:cNvSpPr/>
          <p:nvPr/>
        </p:nvSpPr>
        <p:spPr>
          <a:xfrm>
            <a:off x="5760720" y="2660904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Mauricio Rocha A.</a:t>
            </a:r>
            <a:endParaRPr lang="en-US" sz="1050" dirty="0"/>
          </a:p>
        </p:txBody>
      </p:sp>
      <p:sp>
        <p:nvSpPr>
          <p:cNvPr id="30" name="Text 27"/>
          <p:cNvSpPr/>
          <p:nvPr/>
        </p:nvSpPr>
        <p:spPr>
          <a:xfrm>
            <a:off x="7315200" y="2660904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Iniciado</a:t>
            </a:r>
            <a:endParaRPr lang="en-US" sz="1050" dirty="0"/>
          </a:p>
        </p:txBody>
      </p:sp>
      <p:sp>
        <p:nvSpPr>
          <p:cNvPr id="31" name="Text 28"/>
          <p:cNvSpPr/>
          <p:nvPr/>
        </p:nvSpPr>
        <p:spPr>
          <a:xfrm>
            <a:off x="8686800" y="2660904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75</a:t>
            </a:r>
            <a:endParaRPr lang="en-US" sz="1050" dirty="0"/>
          </a:p>
        </p:txBody>
      </p:sp>
      <p:sp>
        <p:nvSpPr>
          <p:cNvPr id="32" name="Text 29"/>
          <p:cNvSpPr/>
          <p:nvPr/>
        </p:nvSpPr>
        <p:spPr>
          <a:xfrm>
            <a:off x="9464040" y="2660904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Geomembrana presenta sectores en lo…</a:t>
            </a:r>
            <a:endParaRPr lang="en-US" sz="1000" dirty="0"/>
          </a:p>
        </p:txBody>
      </p:sp>
      <p:sp>
        <p:nvSpPr>
          <p:cNvPr id="33" name="Shape 30"/>
          <p:cNvSpPr/>
          <p:nvPr/>
        </p:nvSpPr>
        <p:spPr>
          <a:xfrm>
            <a:off x="502920" y="2953512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502920" y="300837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241</a:t>
            </a:r>
            <a:endParaRPr lang="en-US" sz="1050" dirty="0"/>
          </a:p>
        </p:txBody>
      </p:sp>
      <p:sp>
        <p:nvSpPr>
          <p:cNvPr id="35" name="Text 32"/>
          <p:cNvSpPr/>
          <p:nvPr/>
        </p:nvSpPr>
        <p:spPr>
          <a:xfrm>
            <a:off x="1371600" y="3008376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Conformidad</a:t>
            </a:r>
            <a:endParaRPr lang="en-US" sz="1050" dirty="0"/>
          </a:p>
        </p:txBody>
      </p:sp>
      <p:sp>
        <p:nvSpPr>
          <p:cNvPr id="36" name="Text 33"/>
          <p:cNvSpPr/>
          <p:nvPr/>
        </p:nvSpPr>
        <p:spPr>
          <a:xfrm>
            <a:off x="2926080" y="3008376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050" dirty="0"/>
          </a:p>
        </p:txBody>
      </p:sp>
      <p:sp>
        <p:nvSpPr>
          <p:cNvPr id="37" name="Text 34"/>
          <p:cNvSpPr/>
          <p:nvPr/>
        </p:nvSpPr>
        <p:spPr>
          <a:xfrm>
            <a:off x="4434840" y="3008376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CALIDAD</a:t>
            </a:r>
            <a:endParaRPr lang="en-US" sz="1050" dirty="0"/>
          </a:p>
        </p:txBody>
      </p:sp>
      <p:sp>
        <p:nvSpPr>
          <p:cNvPr id="38" name="Text 35"/>
          <p:cNvSpPr/>
          <p:nvPr/>
        </p:nvSpPr>
        <p:spPr>
          <a:xfrm>
            <a:off x="5760720" y="3008376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Daniel Ramirez B.</a:t>
            </a:r>
            <a:endParaRPr lang="en-US" sz="1050" dirty="0"/>
          </a:p>
        </p:txBody>
      </p:sp>
      <p:sp>
        <p:nvSpPr>
          <p:cNvPr id="39" name="Text 36"/>
          <p:cNvSpPr/>
          <p:nvPr/>
        </p:nvSpPr>
        <p:spPr>
          <a:xfrm>
            <a:off x="7315200" y="3008376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Listo para revisi…</a:t>
            </a:r>
            <a:endParaRPr lang="en-US" sz="1050" dirty="0"/>
          </a:p>
        </p:txBody>
      </p:sp>
      <p:sp>
        <p:nvSpPr>
          <p:cNvPr id="40" name="Text 37"/>
          <p:cNvSpPr/>
          <p:nvPr/>
        </p:nvSpPr>
        <p:spPr>
          <a:xfrm>
            <a:off x="8686800" y="3008376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47</a:t>
            </a:r>
            <a:endParaRPr lang="en-US" sz="1050" dirty="0"/>
          </a:p>
        </p:txBody>
      </p:sp>
      <p:sp>
        <p:nvSpPr>
          <p:cNvPr id="41" name="Text 38"/>
          <p:cNvSpPr/>
          <p:nvPr/>
        </p:nvSpPr>
        <p:spPr>
          <a:xfrm>
            <a:off x="9464040" y="3008376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Registros de construcción no contie…</a:t>
            </a:r>
            <a:endParaRPr lang="en-US" sz="1000" dirty="0"/>
          </a:p>
        </p:txBody>
      </p:sp>
      <p:sp>
        <p:nvSpPr>
          <p:cNvPr id="42" name="Shape 39"/>
          <p:cNvSpPr/>
          <p:nvPr/>
        </p:nvSpPr>
        <p:spPr>
          <a:xfrm>
            <a:off x="502920" y="3300984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457200" y="3310128"/>
            <a:ext cx="11292840" cy="3474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4" name="Text 41"/>
          <p:cNvSpPr/>
          <p:nvPr/>
        </p:nvSpPr>
        <p:spPr>
          <a:xfrm>
            <a:off x="502920" y="3355848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247</a:t>
            </a:r>
            <a:endParaRPr lang="en-US" sz="1050" dirty="0"/>
          </a:p>
        </p:txBody>
      </p:sp>
      <p:sp>
        <p:nvSpPr>
          <p:cNvPr id="45" name="Text 42"/>
          <p:cNvSpPr/>
          <p:nvPr/>
        </p:nvSpPr>
        <p:spPr>
          <a:xfrm>
            <a:off x="1371600" y="3355848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Conformidad</a:t>
            </a:r>
            <a:endParaRPr lang="en-US" sz="1050" dirty="0"/>
          </a:p>
        </p:txBody>
      </p:sp>
      <p:sp>
        <p:nvSpPr>
          <p:cNvPr id="46" name="Text 43"/>
          <p:cNvSpPr/>
          <p:nvPr/>
        </p:nvSpPr>
        <p:spPr>
          <a:xfrm>
            <a:off x="2926080" y="3355848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050" dirty="0"/>
          </a:p>
        </p:txBody>
      </p:sp>
      <p:sp>
        <p:nvSpPr>
          <p:cNvPr id="47" name="Text 44"/>
          <p:cNvSpPr/>
          <p:nvPr/>
        </p:nvSpPr>
        <p:spPr>
          <a:xfrm>
            <a:off x="4434840" y="3355848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OO.CC</a:t>
            </a:r>
            <a:endParaRPr lang="en-US" sz="1050" dirty="0"/>
          </a:p>
        </p:txBody>
      </p:sp>
      <p:sp>
        <p:nvSpPr>
          <p:cNvPr id="48" name="Text 45"/>
          <p:cNvSpPr/>
          <p:nvPr/>
        </p:nvSpPr>
        <p:spPr>
          <a:xfrm>
            <a:off x="5760720" y="3355848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Luis Ogalde H.</a:t>
            </a:r>
            <a:endParaRPr lang="en-US" sz="1050" dirty="0"/>
          </a:p>
        </p:txBody>
      </p:sp>
      <p:sp>
        <p:nvSpPr>
          <p:cNvPr id="49" name="Text 46"/>
          <p:cNvSpPr/>
          <p:nvPr/>
        </p:nvSpPr>
        <p:spPr>
          <a:xfrm>
            <a:off x="7315200" y="3355848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Iniciado</a:t>
            </a:r>
            <a:endParaRPr lang="en-US" sz="1050" dirty="0"/>
          </a:p>
        </p:txBody>
      </p:sp>
      <p:sp>
        <p:nvSpPr>
          <p:cNvPr id="50" name="Text 47"/>
          <p:cNvSpPr/>
          <p:nvPr/>
        </p:nvSpPr>
        <p:spPr>
          <a:xfrm>
            <a:off x="8686800" y="3355848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1050" dirty="0"/>
          </a:p>
        </p:txBody>
      </p:sp>
      <p:sp>
        <p:nvSpPr>
          <p:cNvPr id="51" name="Text 48"/>
          <p:cNvSpPr/>
          <p:nvPr/>
        </p:nvSpPr>
        <p:spPr>
          <a:xfrm>
            <a:off x="9464040" y="3355848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Fundaciones FS-01 (10 elementos) no…</a:t>
            </a:r>
            <a:endParaRPr lang="en-US" sz="1000" dirty="0"/>
          </a:p>
        </p:txBody>
      </p:sp>
      <p:sp>
        <p:nvSpPr>
          <p:cNvPr id="52" name="Shape 49"/>
          <p:cNvSpPr/>
          <p:nvPr/>
        </p:nvSpPr>
        <p:spPr>
          <a:xfrm>
            <a:off x="502920" y="3648456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53" name="Text 50"/>
          <p:cNvSpPr/>
          <p:nvPr/>
        </p:nvSpPr>
        <p:spPr>
          <a:xfrm>
            <a:off x="502920" y="3703320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248</a:t>
            </a:r>
            <a:endParaRPr lang="en-US" sz="1050" dirty="0"/>
          </a:p>
        </p:txBody>
      </p:sp>
      <p:sp>
        <p:nvSpPr>
          <p:cNvPr id="54" name="Text 51"/>
          <p:cNvSpPr/>
          <p:nvPr/>
        </p:nvSpPr>
        <p:spPr>
          <a:xfrm>
            <a:off x="1371600" y="3703320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Conformidad</a:t>
            </a:r>
            <a:endParaRPr lang="en-US" sz="1050" dirty="0"/>
          </a:p>
        </p:txBody>
      </p:sp>
      <p:sp>
        <p:nvSpPr>
          <p:cNvPr id="55" name="Text 52"/>
          <p:cNvSpPr/>
          <p:nvPr/>
        </p:nvSpPr>
        <p:spPr>
          <a:xfrm>
            <a:off x="2926080" y="3703320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050" dirty="0"/>
          </a:p>
        </p:txBody>
      </p:sp>
      <p:sp>
        <p:nvSpPr>
          <p:cNvPr id="56" name="Text 53"/>
          <p:cNvSpPr/>
          <p:nvPr/>
        </p:nvSpPr>
        <p:spPr>
          <a:xfrm>
            <a:off x="4434840" y="3703320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PIPING</a:t>
            </a:r>
            <a:endParaRPr lang="en-US" sz="1050" dirty="0"/>
          </a:p>
        </p:txBody>
      </p:sp>
      <p:sp>
        <p:nvSpPr>
          <p:cNvPr id="57" name="Text 54"/>
          <p:cNvSpPr/>
          <p:nvPr/>
        </p:nvSpPr>
        <p:spPr>
          <a:xfrm>
            <a:off x="5760720" y="3703320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Oscar Nahuel P.</a:t>
            </a:r>
            <a:endParaRPr lang="en-US" sz="1050" dirty="0"/>
          </a:p>
        </p:txBody>
      </p:sp>
      <p:sp>
        <p:nvSpPr>
          <p:cNvPr id="58" name="Text 55"/>
          <p:cNvSpPr/>
          <p:nvPr/>
        </p:nvSpPr>
        <p:spPr>
          <a:xfrm>
            <a:off x="7315200" y="3703320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Iniciado</a:t>
            </a:r>
            <a:endParaRPr lang="en-US" sz="1050" dirty="0"/>
          </a:p>
        </p:txBody>
      </p:sp>
      <p:sp>
        <p:nvSpPr>
          <p:cNvPr id="59" name="Text 56"/>
          <p:cNvSpPr/>
          <p:nvPr/>
        </p:nvSpPr>
        <p:spPr>
          <a:xfrm>
            <a:off x="8686800" y="3703320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1050" dirty="0"/>
          </a:p>
        </p:txBody>
      </p:sp>
      <p:sp>
        <p:nvSpPr>
          <p:cNvPr id="60" name="Text 57"/>
          <p:cNvSpPr/>
          <p:nvPr/>
        </p:nvSpPr>
        <p:spPr>
          <a:xfrm>
            <a:off x="9464040" y="3703320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Línea TAG N° 3716D-RW-24-H1-0425-N …</a:t>
            </a:r>
            <a:endParaRPr lang="en-US" sz="1000" dirty="0"/>
          </a:p>
        </p:txBody>
      </p:sp>
      <p:sp>
        <p:nvSpPr>
          <p:cNvPr id="61" name="Shape 58"/>
          <p:cNvSpPr/>
          <p:nvPr/>
        </p:nvSpPr>
        <p:spPr>
          <a:xfrm>
            <a:off x="502920" y="3995928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62" name="Shape 59"/>
          <p:cNvSpPr/>
          <p:nvPr/>
        </p:nvSpPr>
        <p:spPr>
          <a:xfrm>
            <a:off x="457200" y="4005072"/>
            <a:ext cx="11292840" cy="3474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3" name="Text 60"/>
          <p:cNvSpPr/>
          <p:nvPr/>
        </p:nvSpPr>
        <p:spPr>
          <a:xfrm>
            <a:off x="502920" y="4050792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249</a:t>
            </a:r>
            <a:endParaRPr lang="en-US" sz="1050" dirty="0"/>
          </a:p>
        </p:txBody>
      </p:sp>
      <p:sp>
        <p:nvSpPr>
          <p:cNvPr id="64" name="Text 61"/>
          <p:cNvSpPr/>
          <p:nvPr/>
        </p:nvSpPr>
        <p:spPr>
          <a:xfrm>
            <a:off x="1371600" y="4050792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Producto No Conforme</a:t>
            </a:r>
            <a:endParaRPr lang="en-US" sz="1050" dirty="0"/>
          </a:p>
        </p:txBody>
      </p:sp>
      <p:sp>
        <p:nvSpPr>
          <p:cNvPr id="65" name="Text 62"/>
          <p:cNvSpPr/>
          <p:nvPr/>
        </p:nvSpPr>
        <p:spPr>
          <a:xfrm>
            <a:off x="2926080" y="4050792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050" dirty="0"/>
          </a:p>
        </p:txBody>
      </p:sp>
      <p:sp>
        <p:nvSpPr>
          <p:cNvPr id="66" name="Text 63"/>
          <p:cNvSpPr/>
          <p:nvPr/>
        </p:nvSpPr>
        <p:spPr>
          <a:xfrm>
            <a:off x="4434840" y="405079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OO.CC</a:t>
            </a:r>
            <a:endParaRPr lang="en-US" sz="1050" dirty="0"/>
          </a:p>
        </p:txBody>
      </p:sp>
      <p:sp>
        <p:nvSpPr>
          <p:cNvPr id="67" name="Text 64"/>
          <p:cNvSpPr/>
          <p:nvPr/>
        </p:nvSpPr>
        <p:spPr>
          <a:xfrm>
            <a:off x="5760720" y="4050792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Mauricio Rocha A.</a:t>
            </a:r>
            <a:endParaRPr lang="en-US" sz="1050" dirty="0"/>
          </a:p>
        </p:txBody>
      </p:sp>
      <p:sp>
        <p:nvSpPr>
          <p:cNvPr id="68" name="Text 65"/>
          <p:cNvSpPr/>
          <p:nvPr/>
        </p:nvSpPr>
        <p:spPr>
          <a:xfrm>
            <a:off x="7315200" y="4050792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Iniciado</a:t>
            </a:r>
            <a:endParaRPr lang="en-US" sz="1050" dirty="0"/>
          </a:p>
        </p:txBody>
      </p:sp>
      <p:sp>
        <p:nvSpPr>
          <p:cNvPr id="69" name="Text 66"/>
          <p:cNvSpPr/>
          <p:nvPr/>
        </p:nvSpPr>
        <p:spPr>
          <a:xfrm>
            <a:off x="8686800" y="405079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1050" dirty="0"/>
          </a:p>
        </p:txBody>
      </p:sp>
      <p:sp>
        <p:nvSpPr>
          <p:cNvPr id="70" name="Text 67"/>
          <p:cNvSpPr/>
          <p:nvPr/>
        </p:nvSpPr>
        <p:spPr>
          <a:xfrm>
            <a:off x="9464040" y="4050792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evidencia daño físico en la geom…</a:t>
            </a:r>
            <a:endParaRPr lang="en-US" sz="1000" dirty="0"/>
          </a:p>
        </p:txBody>
      </p:sp>
      <p:sp>
        <p:nvSpPr>
          <p:cNvPr id="71" name="Shape 68"/>
          <p:cNvSpPr/>
          <p:nvPr/>
        </p:nvSpPr>
        <p:spPr>
          <a:xfrm>
            <a:off x="502920" y="4343400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72" name="Text 69"/>
          <p:cNvSpPr/>
          <p:nvPr/>
        </p:nvSpPr>
        <p:spPr>
          <a:xfrm>
            <a:off x="502920" y="4398264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250</a:t>
            </a:r>
            <a:endParaRPr lang="en-US" sz="1050" dirty="0"/>
          </a:p>
        </p:txBody>
      </p:sp>
      <p:sp>
        <p:nvSpPr>
          <p:cNvPr id="73" name="Text 70"/>
          <p:cNvSpPr/>
          <p:nvPr/>
        </p:nvSpPr>
        <p:spPr>
          <a:xfrm>
            <a:off x="1371600" y="4398264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Conformidad</a:t>
            </a:r>
            <a:endParaRPr lang="en-US" sz="1050" dirty="0"/>
          </a:p>
        </p:txBody>
      </p:sp>
      <p:sp>
        <p:nvSpPr>
          <p:cNvPr id="74" name="Text 71"/>
          <p:cNvSpPr/>
          <p:nvPr/>
        </p:nvSpPr>
        <p:spPr>
          <a:xfrm>
            <a:off x="2926080" y="4398264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050" dirty="0"/>
          </a:p>
        </p:txBody>
      </p:sp>
      <p:sp>
        <p:nvSpPr>
          <p:cNvPr id="75" name="Text 72"/>
          <p:cNvSpPr/>
          <p:nvPr/>
        </p:nvSpPr>
        <p:spPr>
          <a:xfrm>
            <a:off x="4434840" y="4398264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OO.CC</a:t>
            </a:r>
            <a:endParaRPr lang="en-US" sz="1050" dirty="0"/>
          </a:p>
        </p:txBody>
      </p:sp>
      <p:sp>
        <p:nvSpPr>
          <p:cNvPr id="76" name="Text 73"/>
          <p:cNvSpPr/>
          <p:nvPr/>
        </p:nvSpPr>
        <p:spPr>
          <a:xfrm>
            <a:off x="5760720" y="4398264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Daniel Ramirez B.</a:t>
            </a:r>
            <a:endParaRPr lang="en-US" sz="1050" dirty="0"/>
          </a:p>
        </p:txBody>
      </p:sp>
      <p:sp>
        <p:nvSpPr>
          <p:cNvPr id="77" name="Text 74"/>
          <p:cNvSpPr/>
          <p:nvPr/>
        </p:nvSpPr>
        <p:spPr>
          <a:xfrm>
            <a:off x="7315200" y="4398264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Iniciado</a:t>
            </a:r>
            <a:endParaRPr lang="en-US" sz="1050" dirty="0"/>
          </a:p>
        </p:txBody>
      </p:sp>
      <p:sp>
        <p:nvSpPr>
          <p:cNvPr id="78" name="Text 75"/>
          <p:cNvSpPr/>
          <p:nvPr/>
        </p:nvSpPr>
        <p:spPr>
          <a:xfrm>
            <a:off x="8686800" y="4398264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50" dirty="0"/>
          </a:p>
        </p:txBody>
      </p:sp>
      <p:sp>
        <p:nvSpPr>
          <p:cNvPr id="79" name="Text 76"/>
          <p:cNvSpPr/>
          <p:nvPr/>
        </p:nvSpPr>
        <p:spPr>
          <a:xfrm>
            <a:off x="9464040" y="4398264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Determinadas actas de liberación y …</a:t>
            </a:r>
            <a:endParaRPr lang="en-US" sz="1000" dirty="0"/>
          </a:p>
        </p:txBody>
      </p:sp>
      <p:sp>
        <p:nvSpPr>
          <p:cNvPr id="80" name="Shape 77"/>
          <p:cNvSpPr/>
          <p:nvPr/>
        </p:nvSpPr>
        <p:spPr>
          <a:xfrm>
            <a:off x="502920" y="4690872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81" name="Shape 78"/>
          <p:cNvSpPr/>
          <p:nvPr/>
        </p:nvSpPr>
        <p:spPr>
          <a:xfrm>
            <a:off x="457200" y="5806440"/>
            <a:ext cx="11274552" cy="566928"/>
          </a:xfrm>
          <a:prstGeom prst="roundRect">
            <a:avLst>
              <a:gd name="adj" fmla="val 9677"/>
            </a:avLst>
          </a:prstGeom>
          <a:solidFill>
            <a:srgbClr val="E9EDF2"/>
          </a:solidFill>
          <a:ln/>
        </p:spPr>
      </p:sp>
      <p:sp>
        <p:nvSpPr>
          <p:cNvPr id="82" name="Text 79"/>
          <p:cNvSpPr/>
          <p:nvPr/>
        </p:nvSpPr>
        <p:spPr>
          <a:xfrm>
            <a:off x="713232" y="5806440"/>
            <a:ext cx="2468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SEMANA 07-09-2026 — 13-09-2026</a:t>
            </a:r>
            <a:endParaRPr lang="en-US" sz="1000" dirty="0"/>
          </a:p>
        </p:txBody>
      </p:sp>
      <p:sp>
        <p:nvSpPr>
          <p:cNvPr id="83" name="Text 80"/>
          <p:cNvSpPr/>
          <p:nvPr/>
        </p:nvSpPr>
        <p:spPr>
          <a:xfrm>
            <a:off x="3200400" y="5806440"/>
            <a:ext cx="8321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hallazgos nuevos en el período.</a:t>
            </a:r>
            <a:endParaRPr lang="en-US" sz="1150" dirty="0"/>
          </a:p>
        </p:txBody>
      </p:sp>
      <p:sp>
        <p:nvSpPr>
          <p:cNvPr id="84" name="Text 81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Data_NCR-13092026.xlsx — hoja «Observaciones» · Corte 13-09-2026 · 509 registros desde 10-02-2023</a:t>
            </a:r>
            <a:endParaRPr lang="en-US" sz="850" dirty="0"/>
          </a:p>
        </p:txBody>
      </p:sp>
      <p:sp>
        <p:nvSpPr>
          <p:cNvPr id="85" name="Text 82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TALABRE</a:t>
            </a:r>
            <a:endParaRPr lang="en-US" sz="850" dirty="0"/>
          </a:p>
        </p:txBody>
      </p:sp>
      <p:sp>
        <p:nvSpPr>
          <p:cNvPr id="86" name="Text 83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22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058400" y="-1463040"/>
            <a:ext cx="3840480" cy="3840480"/>
          </a:xfrm>
          <a:prstGeom prst="ellipse">
            <a:avLst/>
          </a:prstGeom>
          <a:solidFill>
            <a:srgbClr val="1B3252"/>
          </a:solidFill>
          <a:ln/>
        </p:spPr>
      </p:sp>
      <p:sp>
        <p:nvSpPr>
          <p:cNvPr id="3" name="Shape 1"/>
          <p:cNvSpPr/>
          <p:nvPr/>
        </p:nvSpPr>
        <p:spPr>
          <a:xfrm>
            <a:off x="11064240" y="4572000"/>
            <a:ext cx="2743200" cy="2743200"/>
          </a:xfrm>
          <a:prstGeom prst="ellipse">
            <a:avLst/>
          </a:prstGeom>
          <a:solidFill>
            <a:srgbClr val="1B3252"/>
          </a:solidFill>
          <a:ln/>
        </p:spPr>
      </p:sp>
      <p:pic>
        <p:nvPicPr>
          <p:cNvPr id="4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57616" y="420624"/>
            <a:ext cx="3547872" cy="76809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02920" y="1234440"/>
            <a:ext cx="201168" cy="20116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6" name="Text 3"/>
          <p:cNvSpPr/>
          <p:nvPr/>
        </p:nvSpPr>
        <p:spPr>
          <a:xfrm>
            <a:off x="777240" y="10972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03 · P2342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749808" y="1572768"/>
            <a:ext cx="10607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Arqueros</a:t>
            </a:r>
            <a:endParaRPr lang="en-US" sz="4600" dirty="0"/>
          </a:p>
        </p:txBody>
      </p:sp>
      <p:sp>
        <p:nvSpPr>
          <p:cNvPr id="8" name="Text 5"/>
          <p:cNvSpPr/>
          <p:nvPr/>
        </p:nvSpPr>
        <p:spPr>
          <a:xfrm>
            <a:off x="777240" y="265176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MASA · Hallazgos de calidad y su corrección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777240" y="3154680"/>
            <a:ext cx="8778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170 hallazgos levantados · 53 internas · 77 del cliente · 40 de subcontrato · 18 especialidades involucradas.</a:t>
            </a:r>
            <a:endParaRPr lang="en-US" sz="13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de cierre, antigüedad de lo que sigue abierto y novedades de la última semana.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7772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78,2%</a:t>
            </a:r>
            <a:endParaRPr lang="en-US" sz="3400" dirty="0"/>
          </a:p>
        </p:txBody>
      </p:sp>
      <p:sp>
        <p:nvSpPr>
          <p:cNvPr id="11" name="Text 8"/>
          <p:cNvSpPr/>
          <p:nvPr/>
        </p:nvSpPr>
        <p:spPr>
          <a:xfrm>
            <a:off x="7772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Hallazgos cerrados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35204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37</a:t>
            </a:r>
            <a:endParaRPr lang="en-US" sz="3400" dirty="0"/>
          </a:p>
        </p:txBody>
      </p:sp>
      <p:sp>
        <p:nvSpPr>
          <p:cNvPr id="13" name="Text 10"/>
          <p:cNvSpPr/>
          <p:nvPr/>
        </p:nvSpPr>
        <p:spPr>
          <a:xfrm>
            <a:off x="35204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Siguen abiertos</a:t>
            </a:r>
            <a:endParaRPr lang="en-US" sz="1150" dirty="0"/>
          </a:p>
        </p:txBody>
      </p:sp>
      <p:sp>
        <p:nvSpPr>
          <p:cNvPr id="14" name="Text 11"/>
          <p:cNvSpPr/>
          <p:nvPr/>
        </p:nvSpPr>
        <p:spPr>
          <a:xfrm>
            <a:off x="62636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139 d</a:t>
            </a:r>
            <a:endParaRPr lang="en-US" sz="3400" dirty="0"/>
          </a:p>
        </p:txBody>
      </p:sp>
      <p:sp>
        <p:nvSpPr>
          <p:cNvPr id="15" name="Text 12"/>
          <p:cNvSpPr/>
          <p:nvPr/>
        </p:nvSpPr>
        <p:spPr>
          <a:xfrm>
            <a:off x="62636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Mediana de cierre</a:t>
            </a:r>
            <a:endParaRPr lang="en-US" sz="1150" dirty="0"/>
          </a:p>
        </p:txBody>
      </p:sp>
      <p:sp>
        <p:nvSpPr>
          <p:cNvPr id="16" name="Text 13"/>
          <p:cNvSpPr/>
          <p:nvPr/>
        </p:nvSpPr>
        <p:spPr>
          <a:xfrm>
            <a:off x="90068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31,2%</a:t>
            </a:r>
            <a:endParaRPr lang="en-US" sz="3400" dirty="0"/>
          </a:p>
        </p:txBody>
      </p:sp>
      <p:sp>
        <p:nvSpPr>
          <p:cNvPr id="17" name="Text 14"/>
          <p:cNvSpPr/>
          <p:nvPr/>
        </p:nvSpPr>
        <p:spPr>
          <a:xfrm>
            <a:off x="90068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Autodetección</a:t>
            </a:r>
            <a:endParaRPr 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777240" y="6172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Corte: 13-09-2026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Data_NCR-13092026.xlsx — hoja «Observaciones» · Corte 13-09-2026 · 509 registros desde 10-02-2023</a:t>
            </a:r>
            <a:endParaRPr lang="en-US" sz="850" dirty="0"/>
          </a:p>
        </p:txBody>
      </p:sp>
      <p:sp>
        <p:nvSpPr>
          <p:cNvPr id="20" name="Text 17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ARQUEROS · ESTADO DE LOS HALLAZGOS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Cierre, disciplina y origen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457200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713232" y="1719072"/>
            <a:ext cx="146304" cy="146304"/>
          </a:xfrm>
          <a:prstGeom prst="ellipse">
            <a:avLst/>
          </a:prstGeom>
          <a:solidFill>
            <a:srgbClr val="2E6FB5"/>
          </a:solidFill>
          <a:ln/>
        </p:spPr>
      </p:sp>
      <p:sp>
        <p:nvSpPr>
          <p:cNvPr id="7" name="Text 4"/>
          <p:cNvSpPr/>
          <p:nvPr/>
        </p:nvSpPr>
        <p:spPr>
          <a:xfrm>
            <a:off x="713232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2E6FB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170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731520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133 cerrados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731520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Hallazgos levantados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731520" y="329184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53 internas · 77 del cliente · 40 de subcontrato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3319272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3575304" y="1719072"/>
            <a:ext cx="146304" cy="146304"/>
          </a:xfrm>
          <a:prstGeom prst="ellipse">
            <a:avLst/>
          </a:prstGeom>
          <a:solidFill>
            <a:srgbClr val="1F7A44"/>
          </a:solidFill>
          <a:ln/>
        </p:spPr>
      </p:sp>
      <p:sp>
        <p:nvSpPr>
          <p:cNvPr id="13" name="Text 10"/>
          <p:cNvSpPr/>
          <p:nvPr/>
        </p:nvSpPr>
        <p:spPr>
          <a:xfrm>
            <a:off x="3575304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7A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78,2%</a:t>
            </a:r>
            <a:endParaRPr lang="en-US" sz="4000" dirty="0"/>
          </a:p>
        </p:txBody>
      </p:sp>
      <p:sp>
        <p:nvSpPr>
          <p:cNvPr id="14" name="Text 11"/>
          <p:cNvSpPr/>
          <p:nvPr/>
        </p:nvSpPr>
        <p:spPr>
          <a:xfrm>
            <a:off x="3593592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133/170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3593592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 de hallazgos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3593592" y="329184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del módulo: 91,2%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6181344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6437376" y="1719072"/>
            <a:ext cx="146304" cy="146304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19" name="Text 16"/>
          <p:cNvSpPr/>
          <p:nvPr/>
        </p:nvSpPr>
        <p:spPr>
          <a:xfrm>
            <a:off x="6437376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37</a:t>
            </a:r>
            <a:endParaRPr lang="en-US" sz="4000" dirty="0"/>
          </a:p>
        </p:txBody>
      </p:sp>
      <p:sp>
        <p:nvSpPr>
          <p:cNvPr id="20" name="Text 17"/>
          <p:cNvSpPr/>
          <p:nvPr/>
        </p:nvSpPr>
        <p:spPr>
          <a:xfrm>
            <a:off x="6455664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hallazgos abiertos</a:t>
            </a:r>
            <a:endParaRPr lang="en-US" sz="1400" dirty="0"/>
          </a:p>
        </p:txBody>
      </p:sp>
      <p:sp>
        <p:nvSpPr>
          <p:cNvPr id="21" name="Text 18"/>
          <p:cNvSpPr/>
          <p:nvPr/>
        </p:nvSpPr>
        <p:spPr>
          <a:xfrm>
            <a:off x="6455664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Siguen abiertos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6455664" y="329184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iniciado · 25 listo para revisión · 9 stand by · 1 observada · 1 pendiente</a:t>
            </a:r>
            <a:endParaRPr lang="en-US" sz="950" dirty="0"/>
          </a:p>
        </p:txBody>
      </p:sp>
      <p:sp>
        <p:nvSpPr>
          <p:cNvPr id="23" name="Shape 20"/>
          <p:cNvSpPr/>
          <p:nvPr/>
        </p:nvSpPr>
        <p:spPr>
          <a:xfrm>
            <a:off x="9043416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9299448" y="1719072"/>
            <a:ext cx="146304" cy="146304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25" name="Text 22"/>
          <p:cNvSpPr/>
          <p:nvPr/>
        </p:nvSpPr>
        <p:spPr>
          <a:xfrm>
            <a:off x="9299448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C87A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139</a:t>
            </a:r>
            <a:endParaRPr lang="en-US" sz="4000" dirty="0"/>
          </a:p>
        </p:txBody>
      </p:sp>
      <p:sp>
        <p:nvSpPr>
          <p:cNvPr id="26" name="Text 23"/>
          <p:cNvSpPr/>
          <p:nvPr/>
        </p:nvSpPr>
        <p:spPr>
          <a:xfrm>
            <a:off x="9317736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días (mediana)</a:t>
            </a:r>
            <a:endParaRPr lang="en-US" sz="1400" dirty="0"/>
          </a:p>
        </p:txBody>
      </p:sp>
      <p:sp>
        <p:nvSpPr>
          <p:cNvPr id="27" name="Text 24"/>
          <p:cNvSpPr/>
          <p:nvPr/>
        </p:nvSpPr>
        <p:spPr>
          <a:xfrm>
            <a:off x="9317736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Velocidad de cierre</a:t>
            </a:r>
            <a:endParaRPr lang="en-US" sz="1200" dirty="0"/>
          </a:p>
        </p:txBody>
      </p:sp>
      <p:sp>
        <p:nvSpPr>
          <p:cNvPr id="28" name="Text 25"/>
          <p:cNvSpPr/>
          <p:nvPr/>
        </p:nvSpPr>
        <p:spPr>
          <a:xfrm>
            <a:off x="9317736" y="329184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más lento tomó 419 días</a:t>
            </a:r>
            <a:endParaRPr lang="en-US" sz="950" dirty="0"/>
          </a:p>
        </p:txBody>
      </p:sp>
      <p:graphicFrame>
        <p:nvGraphicFramePr>
          <p:cNvPr id="29" name="Chart 0" descr=""/>
          <p:cNvGraphicFramePr/>
          <p:nvPr/>
        </p:nvGraphicFramePr>
        <p:xfrm>
          <a:off x="457200" y="3886200"/>
          <a:ext cx="6949440" cy="2468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30" name="Shape 26"/>
          <p:cNvSpPr/>
          <p:nvPr/>
        </p:nvSpPr>
        <p:spPr>
          <a:xfrm>
            <a:off x="7635240" y="3886200"/>
            <a:ext cx="4096512" cy="2468880"/>
          </a:xfrm>
          <a:prstGeom prst="roundRect">
            <a:avLst>
              <a:gd name="adj" fmla="val 2222"/>
            </a:avLst>
          </a:prstGeom>
          <a:solidFill>
            <a:srgbClr val="12233B"/>
          </a:solidFill>
          <a:ln/>
        </p:spPr>
      </p:sp>
      <p:sp>
        <p:nvSpPr>
          <p:cNvPr id="31" name="Text 27"/>
          <p:cNvSpPr/>
          <p:nvPr/>
        </p:nvSpPr>
        <p:spPr>
          <a:xfrm>
            <a:off x="7882128" y="400507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ORIGEN DEL HALLAZGO</a:t>
            </a:r>
            <a:endParaRPr lang="en-US" sz="1050" dirty="0"/>
          </a:p>
        </p:txBody>
      </p:sp>
      <p:sp>
        <p:nvSpPr>
          <p:cNvPr id="32" name="Text 28"/>
          <p:cNvSpPr/>
          <p:nvPr/>
        </p:nvSpPr>
        <p:spPr>
          <a:xfrm>
            <a:off x="7882128" y="4261104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31,2%</a:t>
            </a:r>
            <a:endParaRPr lang="en-US" sz="2600" dirty="0"/>
          </a:p>
        </p:txBody>
      </p:sp>
      <p:sp>
        <p:nvSpPr>
          <p:cNvPr id="33" name="Text 29"/>
          <p:cNvSpPr/>
          <p:nvPr/>
        </p:nvSpPr>
        <p:spPr>
          <a:xfrm>
            <a:off x="9098280" y="4261104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autodetección</a:t>
            </a:r>
            <a:endParaRPr lang="en-US" sz="1000" dirty="0"/>
          </a:p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del módulo 31,8%</a:t>
            </a:r>
            <a:endParaRPr lang="en-US" sz="1000" dirty="0"/>
          </a:p>
        </p:txBody>
      </p:sp>
      <p:sp>
        <p:nvSpPr>
          <p:cNvPr id="34" name="Shape 30"/>
          <p:cNvSpPr/>
          <p:nvPr/>
        </p:nvSpPr>
        <p:spPr>
          <a:xfrm>
            <a:off x="7882128" y="4791456"/>
            <a:ext cx="3657600" cy="0"/>
          </a:xfrm>
          <a:prstGeom prst="line">
            <a:avLst/>
          </a:prstGeom>
          <a:noFill/>
          <a:ln w="12700">
            <a:solidFill>
              <a:srgbClr val="1B3252"/>
            </a:solidFill>
            <a:prstDash val="solid"/>
          </a:ln>
        </p:spPr>
      </p:sp>
      <p:sp>
        <p:nvSpPr>
          <p:cNvPr id="35" name="Shape 31"/>
          <p:cNvSpPr/>
          <p:nvPr/>
        </p:nvSpPr>
        <p:spPr>
          <a:xfrm>
            <a:off x="7900416" y="4974336"/>
            <a:ext cx="164592" cy="164592"/>
          </a:xfrm>
          <a:prstGeom prst="ellipse">
            <a:avLst/>
          </a:prstGeom>
          <a:solidFill>
            <a:srgbClr val="2E6FB5"/>
          </a:solidFill>
          <a:ln/>
        </p:spPr>
      </p:sp>
      <p:sp>
        <p:nvSpPr>
          <p:cNvPr id="36" name="Text 32"/>
          <p:cNvSpPr/>
          <p:nvPr/>
        </p:nvSpPr>
        <p:spPr>
          <a:xfrm>
            <a:off x="8156448" y="4882896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 (Besalco)</a:t>
            </a:r>
            <a:endParaRPr lang="en-US" sz="1100" dirty="0"/>
          </a:p>
        </p:txBody>
      </p:sp>
      <p:sp>
        <p:nvSpPr>
          <p:cNvPr id="37" name="Text 33"/>
          <p:cNvSpPr/>
          <p:nvPr/>
        </p:nvSpPr>
        <p:spPr>
          <a:xfrm>
            <a:off x="10287000" y="4882896"/>
            <a:ext cx="685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ab.</a:t>
            </a:r>
            <a:endParaRPr lang="en-US" sz="950" dirty="0"/>
          </a:p>
        </p:txBody>
      </p:sp>
      <p:sp>
        <p:nvSpPr>
          <p:cNvPr id="38" name="Text 34"/>
          <p:cNvSpPr/>
          <p:nvPr/>
        </p:nvSpPr>
        <p:spPr>
          <a:xfrm>
            <a:off x="10972800" y="4882896"/>
            <a:ext cx="594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53</a:t>
            </a:r>
            <a:endParaRPr lang="en-US" sz="1600" dirty="0"/>
          </a:p>
        </p:txBody>
      </p:sp>
      <p:sp>
        <p:nvSpPr>
          <p:cNvPr id="39" name="Shape 35"/>
          <p:cNvSpPr/>
          <p:nvPr/>
        </p:nvSpPr>
        <p:spPr>
          <a:xfrm>
            <a:off x="7900416" y="5340096"/>
            <a:ext cx="164592" cy="164592"/>
          </a:xfrm>
          <a:prstGeom prst="ellipse">
            <a:avLst/>
          </a:prstGeom>
          <a:solidFill>
            <a:srgbClr val="9A6B0F"/>
          </a:solidFill>
          <a:ln/>
        </p:spPr>
      </p:sp>
      <p:sp>
        <p:nvSpPr>
          <p:cNvPr id="40" name="Text 36"/>
          <p:cNvSpPr/>
          <p:nvPr/>
        </p:nvSpPr>
        <p:spPr>
          <a:xfrm>
            <a:off x="8156448" y="5248656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100" dirty="0"/>
          </a:p>
        </p:txBody>
      </p:sp>
      <p:sp>
        <p:nvSpPr>
          <p:cNvPr id="41" name="Text 37"/>
          <p:cNvSpPr/>
          <p:nvPr/>
        </p:nvSpPr>
        <p:spPr>
          <a:xfrm>
            <a:off x="10287000" y="5248656"/>
            <a:ext cx="685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 ab.</a:t>
            </a:r>
            <a:endParaRPr lang="en-US" sz="950" dirty="0"/>
          </a:p>
        </p:txBody>
      </p:sp>
      <p:sp>
        <p:nvSpPr>
          <p:cNvPr id="42" name="Text 38"/>
          <p:cNvSpPr/>
          <p:nvPr/>
        </p:nvSpPr>
        <p:spPr>
          <a:xfrm>
            <a:off x="10972800" y="5248656"/>
            <a:ext cx="594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77</a:t>
            </a:r>
            <a:endParaRPr lang="en-US" sz="1600" dirty="0"/>
          </a:p>
        </p:txBody>
      </p:sp>
      <p:sp>
        <p:nvSpPr>
          <p:cNvPr id="43" name="Shape 39"/>
          <p:cNvSpPr/>
          <p:nvPr/>
        </p:nvSpPr>
        <p:spPr>
          <a:xfrm>
            <a:off x="7900416" y="5705856"/>
            <a:ext cx="164592" cy="164592"/>
          </a:xfrm>
          <a:prstGeom prst="ellipse">
            <a:avLst/>
          </a:prstGeom>
          <a:solidFill>
            <a:srgbClr val="8A5520"/>
          </a:solidFill>
          <a:ln/>
        </p:spPr>
      </p:sp>
      <p:sp>
        <p:nvSpPr>
          <p:cNvPr id="44" name="Text 40"/>
          <p:cNvSpPr/>
          <p:nvPr/>
        </p:nvSpPr>
        <p:spPr>
          <a:xfrm>
            <a:off x="8156448" y="5614416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Subcontrato</a:t>
            </a:r>
            <a:endParaRPr lang="en-US" sz="1100" dirty="0"/>
          </a:p>
        </p:txBody>
      </p:sp>
      <p:sp>
        <p:nvSpPr>
          <p:cNvPr id="45" name="Text 41"/>
          <p:cNvSpPr/>
          <p:nvPr/>
        </p:nvSpPr>
        <p:spPr>
          <a:xfrm>
            <a:off x="10287000" y="5614416"/>
            <a:ext cx="685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ab.</a:t>
            </a:r>
            <a:endParaRPr lang="en-US" sz="950" dirty="0"/>
          </a:p>
        </p:txBody>
      </p:sp>
      <p:sp>
        <p:nvSpPr>
          <p:cNvPr id="46" name="Text 42"/>
          <p:cNvSpPr/>
          <p:nvPr/>
        </p:nvSpPr>
        <p:spPr>
          <a:xfrm>
            <a:off x="10972800" y="5614416"/>
            <a:ext cx="594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40</a:t>
            </a:r>
            <a:endParaRPr lang="en-US" sz="1600" dirty="0"/>
          </a:p>
        </p:txBody>
      </p:sp>
      <p:sp>
        <p:nvSpPr>
          <p:cNvPr id="47" name="Text 43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Data_NCR-13092026.xlsx — hoja «Observaciones» · Corte 13-09-2026 · 509 registros desde 10-02-2023</a:t>
            </a:r>
            <a:endParaRPr lang="en-US" sz="850" dirty="0"/>
          </a:p>
        </p:txBody>
      </p:sp>
      <p:sp>
        <p:nvSpPr>
          <p:cNvPr id="48" name="Text 44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ARQUEROS</a:t>
            </a:r>
            <a:endParaRPr lang="en-US" sz="850" dirty="0"/>
          </a:p>
        </p:txBody>
      </p:sp>
      <p:sp>
        <p:nvSpPr>
          <p:cNvPr id="49" name="Text 45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ARQUEROS · PENDIENTE Y NOVEDADES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Hallazgos abiertos y lo levantado en la semana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457200" y="1234440"/>
            <a:ext cx="11247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37 hallazgos siguen abiertos; 18 con más de 180 días. Se listan del más antiguo al más reciente.</a:t>
            </a:r>
            <a:endParaRPr lang="en-US" sz="1350" dirty="0"/>
          </a:p>
        </p:txBody>
      </p:sp>
      <p:sp>
        <p:nvSpPr>
          <p:cNvPr id="6" name="Text 3"/>
          <p:cNvSpPr/>
          <p:nvPr/>
        </p:nvSpPr>
        <p:spPr>
          <a:xfrm>
            <a:off x="502920" y="187452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N°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1371600" y="1874520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</a:t>
            </a:r>
            <a:endParaRPr lang="en-US" sz="950" dirty="0"/>
          </a:p>
        </p:txBody>
      </p:sp>
      <p:sp>
        <p:nvSpPr>
          <p:cNvPr id="8" name="Text 5"/>
          <p:cNvSpPr/>
          <p:nvPr/>
        </p:nvSpPr>
        <p:spPr>
          <a:xfrm>
            <a:off x="2926080" y="187452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ORIGEN</a:t>
            </a:r>
            <a:endParaRPr lang="en-US" sz="950" dirty="0"/>
          </a:p>
        </p:txBody>
      </p:sp>
      <p:sp>
        <p:nvSpPr>
          <p:cNvPr id="9" name="Text 6"/>
          <p:cNvSpPr/>
          <p:nvPr/>
        </p:nvSpPr>
        <p:spPr>
          <a:xfrm>
            <a:off x="4434840" y="187452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DISCIPLINA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5760720" y="1874520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RESPONSABLE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7315200" y="1874520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ESTATUS</a:t>
            </a:r>
            <a:endParaRPr lang="en-US" sz="950" dirty="0"/>
          </a:p>
        </p:txBody>
      </p:sp>
      <p:sp>
        <p:nvSpPr>
          <p:cNvPr id="12" name="Text 9"/>
          <p:cNvSpPr/>
          <p:nvPr/>
        </p:nvSpPr>
        <p:spPr>
          <a:xfrm>
            <a:off x="8686800" y="187452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DÍAS</a:t>
            </a:r>
            <a:endParaRPr lang="en-US" sz="950" dirty="0"/>
          </a:p>
        </p:txBody>
      </p:sp>
      <p:sp>
        <p:nvSpPr>
          <p:cNvPr id="13" name="Text 10"/>
          <p:cNvSpPr/>
          <p:nvPr/>
        </p:nvSpPr>
        <p:spPr>
          <a:xfrm>
            <a:off x="9464040" y="187452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TÍTULO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502920" y="2185416"/>
            <a:ext cx="11247120" cy="0"/>
          </a:xfrm>
          <a:prstGeom prst="line">
            <a:avLst/>
          </a:prstGeom>
          <a:noFill/>
          <a:ln w="12700">
            <a:solidFill>
              <a:srgbClr val="6E8CA8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02920" y="2313432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MASA-21</a:t>
            </a:r>
            <a:endParaRPr lang="en-US" sz="1050" dirty="0"/>
          </a:p>
        </p:txBody>
      </p:sp>
      <p:sp>
        <p:nvSpPr>
          <p:cNvPr id="16" name="Text 13"/>
          <p:cNvSpPr/>
          <p:nvPr/>
        </p:nvSpPr>
        <p:spPr>
          <a:xfrm>
            <a:off x="1371600" y="2313432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Conformidad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2926080" y="2313432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050" dirty="0"/>
          </a:p>
        </p:txBody>
      </p:sp>
      <p:sp>
        <p:nvSpPr>
          <p:cNvPr id="18" name="Text 15"/>
          <p:cNvSpPr/>
          <p:nvPr/>
        </p:nvSpPr>
        <p:spPr>
          <a:xfrm>
            <a:off x="4434840" y="231343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especialidad</a:t>
            </a:r>
            <a:endParaRPr lang="en-US" sz="1050" dirty="0"/>
          </a:p>
        </p:txBody>
      </p:sp>
      <p:sp>
        <p:nvSpPr>
          <p:cNvPr id="19" name="Text 16"/>
          <p:cNvSpPr/>
          <p:nvPr/>
        </p:nvSpPr>
        <p:spPr>
          <a:xfrm>
            <a:off x="5760720" y="2313432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asignar</a:t>
            </a:r>
            <a:endParaRPr lang="en-US" sz="1050" dirty="0"/>
          </a:p>
        </p:txBody>
      </p:sp>
      <p:sp>
        <p:nvSpPr>
          <p:cNvPr id="20" name="Text 17"/>
          <p:cNvSpPr/>
          <p:nvPr/>
        </p:nvSpPr>
        <p:spPr>
          <a:xfrm>
            <a:off x="7315200" y="2313432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Listo para revisi…</a:t>
            </a:r>
            <a:endParaRPr lang="en-US" sz="1050" dirty="0"/>
          </a:p>
        </p:txBody>
      </p:sp>
      <p:sp>
        <p:nvSpPr>
          <p:cNvPr id="21" name="Text 18"/>
          <p:cNvSpPr/>
          <p:nvPr/>
        </p:nvSpPr>
        <p:spPr>
          <a:xfrm>
            <a:off x="8686800" y="231343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332</a:t>
            </a:r>
            <a:endParaRPr lang="en-US" sz="1050" dirty="0"/>
          </a:p>
        </p:txBody>
      </p:sp>
      <p:sp>
        <p:nvSpPr>
          <p:cNvPr id="22" name="Text 19"/>
          <p:cNvSpPr/>
          <p:nvPr/>
        </p:nvSpPr>
        <p:spPr>
          <a:xfrm>
            <a:off x="9464040" y="2313432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Informe Técnico de Inspección – Fis…</a:t>
            </a:r>
            <a:endParaRPr lang="en-US" sz="1000" dirty="0"/>
          </a:p>
        </p:txBody>
      </p:sp>
      <p:sp>
        <p:nvSpPr>
          <p:cNvPr id="23" name="Shape 20"/>
          <p:cNvSpPr/>
          <p:nvPr/>
        </p:nvSpPr>
        <p:spPr>
          <a:xfrm>
            <a:off x="502920" y="2606040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457200" y="2615184"/>
            <a:ext cx="11292840" cy="3474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5" name="Text 22"/>
          <p:cNvSpPr/>
          <p:nvPr/>
        </p:nvSpPr>
        <p:spPr>
          <a:xfrm>
            <a:off x="502920" y="2660904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MASA-24</a:t>
            </a:r>
            <a:endParaRPr lang="en-US" sz="1050" dirty="0"/>
          </a:p>
        </p:txBody>
      </p:sp>
      <p:sp>
        <p:nvSpPr>
          <p:cNvPr id="26" name="Text 23"/>
          <p:cNvSpPr/>
          <p:nvPr/>
        </p:nvSpPr>
        <p:spPr>
          <a:xfrm>
            <a:off x="1371600" y="2660904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Conformidad</a:t>
            </a:r>
            <a:endParaRPr lang="en-US" sz="1050" dirty="0"/>
          </a:p>
        </p:txBody>
      </p:sp>
      <p:sp>
        <p:nvSpPr>
          <p:cNvPr id="27" name="Text 24"/>
          <p:cNvSpPr/>
          <p:nvPr/>
        </p:nvSpPr>
        <p:spPr>
          <a:xfrm>
            <a:off x="2926080" y="2660904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050" dirty="0"/>
          </a:p>
        </p:txBody>
      </p:sp>
      <p:sp>
        <p:nvSpPr>
          <p:cNvPr id="28" name="Text 25"/>
          <p:cNvSpPr/>
          <p:nvPr/>
        </p:nvSpPr>
        <p:spPr>
          <a:xfrm>
            <a:off x="4434840" y="2660904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especialidad</a:t>
            </a:r>
            <a:endParaRPr lang="en-US" sz="1050" dirty="0"/>
          </a:p>
        </p:txBody>
      </p:sp>
      <p:sp>
        <p:nvSpPr>
          <p:cNvPr id="29" name="Text 26"/>
          <p:cNvSpPr/>
          <p:nvPr/>
        </p:nvSpPr>
        <p:spPr>
          <a:xfrm>
            <a:off x="5760720" y="2660904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asignar</a:t>
            </a:r>
            <a:endParaRPr lang="en-US" sz="1050" dirty="0"/>
          </a:p>
        </p:txBody>
      </p:sp>
      <p:sp>
        <p:nvSpPr>
          <p:cNvPr id="30" name="Text 27"/>
          <p:cNvSpPr/>
          <p:nvPr/>
        </p:nvSpPr>
        <p:spPr>
          <a:xfrm>
            <a:off x="7315200" y="2660904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 By</a:t>
            </a:r>
            <a:endParaRPr lang="en-US" sz="1050" dirty="0"/>
          </a:p>
        </p:txBody>
      </p:sp>
      <p:sp>
        <p:nvSpPr>
          <p:cNvPr id="31" name="Text 28"/>
          <p:cNvSpPr/>
          <p:nvPr/>
        </p:nvSpPr>
        <p:spPr>
          <a:xfrm>
            <a:off x="8686800" y="2660904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332</a:t>
            </a:r>
            <a:endParaRPr lang="en-US" sz="1050" dirty="0"/>
          </a:p>
        </p:txBody>
      </p:sp>
      <p:sp>
        <p:nvSpPr>
          <p:cNvPr id="32" name="Text 29"/>
          <p:cNvSpPr/>
          <p:nvPr/>
        </p:nvSpPr>
        <p:spPr>
          <a:xfrm>
            <a:off x="9464040" y="2660904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Inspección grout de los recesos de …</a:t>
            </a:r>
            <a:endParaRPr lang="en-US" sz="1000" dirty="0"/>
          </a:p>
        </p:txBody>
      </p:sp>
      <p:sp>
        <p:nvSpPr>
          <p:cNvPr id="33" name="Shape 30"/>
          <p:cNvSpPr/>
          <p:nvPr/>
        </p:nvSpPr>
        <p:spPr>
          <a:xfrm>
            <a:off x="502920" y="2953512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502920" y="300837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MASA-28</a:t>
            </a:r>
            <a:endParaRPr lang="en-US" sz="1050" dirty="0"/>
          </a:p>
        </p:txBody>
      </p:sp>
      <p:sp>
        <p:nvSpPr>
          <p:cNvPr id="35" name="Text 32"/>
          <p:cNvSpPr/>
          <p:nvPr/>
        </p:nvSpPr>
        <p:spPr>
          <a:xfrm>
            <a:off x="1371600" y="3008376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Observación</a:t>
            </a:r>
            <a:endParaRPr lang="en-US" sz="1050" dirty="0"/>
          </a:p>
        </p:txBody>
      </p:sp>
      <p:sp>
        <p:nvSpPr>
          <p:cNvPr id="36" name="Text 33"/>
          <p:cNvSpPr/>
          <p:nvPr/>
        </p:nvSpPr>
        <p:spPr>
          <a:xfrm>
            <a:off x="2926080" y="3008376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050" dirty="0"/>
          </a:p>
        </p:txBody>
      </p:sp>
      <p:sp>
        <p:nvSpPr>
          <p:cNvPr id="37" name="Text 34"/>
          <p:cNvSpPr/>
          <p:nvPr/>
        </p:nvSpPr>
        <p:spPr>
          <a:xfrm>
            <a:off x="4434840" y="3008376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especialidad</a:t>
            </a:r>
            <a:endParaRPr lang="en-US" sz="1050" dirty="0"/>
          </a:p>
        </p:txBody>
      </p:sp>
      <p:sp>
        <p:nvSpPr>
          <p:cNvPr id="38" name="Text 35"/>
          <p:cNvSpPr/>
          <p:nvPr/>
        </p:nvSpPr>
        <p:spPr>
          <a:xfrm>
            <a:off x="5760720" y="3008376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asignar</a:t>
            </a:r>
            <a:endParaRPr lang="en-US" sz="1050" dirty="0"/>
          </a:p>
        </p:txBody>
      </p:sp>
      <p:sp>
        <p:nvSpPr>
          <p:cNvPr id="39" name="Text 36"/>
          <p:cNvSpPr/>
          <p:nvPr/>
        </p:nvSpPr>
        <p:spPr>
          <a:xfrm>
            <a:off x="7315200" y="3008376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Listo para revisi…</a:t>
            </a:r>
            <a:endParaRPr lang="en-US" sz="1050" dirty="0"/>
          </a:p>
        </p:txBody>
      </p:sp>
      <p:sp>
        <p:nvSpPr>
          <p:cNvPr id="40" name="Text 37"/>
          <p:cNvSpPr/>
          <p:nvPr/>
        </p:nvSpPr>
        <p:spPr>
          <a:xfrm>
            <a:off x="8686800" y="3008376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311</a:t>
            </a:r>
            <a:endParaRPr lang="en-US" sz="1050" dirty="0"/>
          </a:p>
        </p:txBody>
      </p:sp>
      <p:sp>
        <p:nvSpPr>
          <p:cNvPr id="41" name="Text 38"/>
          <p:cNvSpPr/>
          <p:nvPr/>
        </p:nvSpPr>
        <p:spPr>
          <a:xfrm>
            <a:off x="9464040" y="3008376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Cámara 3700-MH-002, salida sala elé…</a:t>
            </a:r>
            <a:endParaRPr lang="en-US" sz="1000" dirty="0"/>
          </a:p>
        </p:txBody>
      </p:sp>
      <p:sp>
        <p:nvSpPr>
          <p:cNvPr id="42" name="Shape 39"/>
          <p:cNvSpPr/>
          <p:nvPr/>
        </p:nvSpPr>
        <p:spPr>
          <a:xfrm>
            <a:off x="502920" y="3300984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457200" y="3310128"/>
            <a:ext cx="11292840" cy="3474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4" name="Text 41"/>
          <p:cNvSpPr/>
          <p:nvPr/>
        </p:nvSpPr>
        <p:spPr>
          <a:xfrm>
            <a:off x="502920" y="3355848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MASA-30</a:t>
            </a:r>
            <a:endParaRPr lang="en-US" sz="1050" dirty="0"/>
          </a:p>
        </p:txBody>
      </p:sp>
      <p:sp>
        <p:nvSpPr>
          <p:cNvPr id="45" name="Text 42"/>
          <p:cNvSpPr/>
          <p:nvPr/>
        </p:nvSpPr>
        <p:spPr>
          <a:xfrm>
            <a:off x="1371600" y="3355848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Observación</a:t>
            </a:r>
            <a:endParaRPr lang="en-US" sz="1050" dirty="0"/>
          </a:p>
        </p:txBody>
      </p:sp>
      <p:sp>
        <p:nvSpPr>
          <p:cNvPr id="46" name="Text 43"/>
          <p:cNvSpPr/>
          <p:nvPr/>
        </p:nvSpPr>
        <p:spPr>
          <a:xfrm>
            <a:off x="2926080" y="3355848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050" dirty="0"/>
          </a:p>
        </p:txBody>
      </p:sp>
      <p:sp>
        <p:nvSpPr>
          <p:cNvPr id="47" name="Text 44"/>
          <p:cNvSpPr/>
          <p:nvPr/>
        </p:nvSpPr>
        <p:spPr>
          <a:xfrm>
            <a:off x="4434840" y="3355848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especialidad</a:t>
            </a:r>
            <a:endParaRPr lang="en-US" sz="1050" dirty="0"/>
          </a:p>
        </p:txBody>
      </p:sp>
      <p:sp>
        <p:nvSpPr>
          <p:cNvPr id="48" name="Text 45"/>
          <p:cNvSpPr/>
          <p:nvPr/>
        </p:nvSpPr>
        <p:spPr>
          <a:xfrm>
            <a:off x="5760720" y="3355848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asignar</a:t>
            </a:r>
            <a:endParaRPr lang="en-US" sz="1050" dirty="0"/>
          </a:p>
        </p:txBody>
      </p:sp>
      <p:sp>
        <p:nvSpPr>
          <p:cNvPr id="49" name="Text 46"/>
          <p:cNvSpPr/>
          <p:nvPr/>
        </p:nvSpPr>
        <p:spPr>
          <a:xfrm>
            <a:off x="7315200" y="3355848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Listo para revisi…</a:t>
            </a:r>
            <a:endParaRPr lang="en-US" sz="1050" dirty="0"/>
          </a:p>
        </p:txBody>
      </p:sp>
      <p:sp>
        <p:nvSpPr>
          <p:cNvPr id="50" name="Text 47"/>
          <p:cNvSpPr/>
          <p:nvPr/>
        </p:nvSpPr>
        <p:spPr>
          <a:xfrm>
            <a:off x="8686800" y="3355848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307</a:t>
            </a:r>
            <a:endParaRPr lang="en-US" sz="1050" dirty="0"/>
          </a:p>
        </p:txBody>
      </p:sp>
      <p:sp>
        <p:nvSpPr>
          <p:cNvPr id="51" name="Text 48"/>
          <p:cNvSpPr/>
          <p:nvPr/>
        </p:nvSpPr>
        <p:spPr>
          <a:xfrm>
            <a:off x="9464040" y="3355848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Fundaciones faltantes para apoyo de…</a:t>
            </a:r>
            <a:endParaRPr lang="en-US" sz="1000" dirty="0"/>
          </a:p>
        </p:txBody>
      </p:sp>
      <p:sp>
        <p:nvSpPr>
          <p:cNvPr id="52" name="Shape 49"/>
          <p:cNvSpPr/>
          <p:nvPr/>
        </p:nvSpPr>
        <p:spPr>
          <a:xfrm>
            <a:off x="502920" y="3648456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53" name="Text 50"/>
          <p:cNvSpPr/>
          <p:nvPr/>
        </p:nvSpPr>
        <p:spPr>
          <a:xfrm>
            <a:off x="502920" y="3703320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MASA-37</a:t>
            </a:r>
            <a:endParaRPr lang="en-US" sz="1050" dirty="0"/>
          </a:p>
        </p:txBody>
      </p:sp>
      <p:sp>
        <p:nvSpPr>
          <p:cNvPr id="54" name="Text 51"/>
          <p:cNvSpPr/>
          <p:nvPr/>
        </p:nvSpPr>
        <p:spPr>
          <a:xfrm>
            <a:off x="1371600" y="3703320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Conformidad</a:t>
            </a:r>
            <a:endParaRPr lang="en-US" sz="1050" dirty="0"/>
          </a:p>
        </p:txBody>
      </p:sp>
      <p:sp>
        <p:nvSpPr>
          <p:cNvPr id="55" name="Text 52"/>
          <p:cNvSpPr/>
          <p:nvPr/>
        </p:nvSpPr>
        <p:spPr>
          <a:xfrm>
            <a:off x="2926080" y="3703320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050" dirty="0"/>
          </a:p>
        </p:txBody>
      </p:sp>
      <p:sp>
        <p:nvSpPr>
          <p:cNvPr id="56" name="Text 53"/>
          <p:cNvSpPr/>
          <p:nvPr/>
        </p:nvSpPr>
        <p:spPr>
          <a:xfrm>
            <a:off x="4434840" y="3703320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especialidad</a:t>
            </a:r>
            <a:endParaRPr lang="en-US" sz="1050" dirty="0"/>
          </a:p>
        </p:txBody>
      </p:sp>
      <p:sp>
        <p:nvSpPr>
          <p:cNvPr id="57" name="Text 54"/>
          <p:cNvSpPr/>
          <p:nvPr/>
        </p:nvSpPr>
        <p:spPr>
          <a:xfrm>
            <a:off x="5760720" y="3703320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asignar</a:t>
            </a:r>
            <a:endParaRPr lang="en-US" sz="1050" dirty="0"/>
          </a:p>
        </p:txBody>
      </p:sp>
      <p:sp>
        <p:nvSpPr>
          <p:cNvPr id="58" name="Text 55"/>
          <p:cNvSpPr/>
          <p:nvPr/>
        </p:nvSpPr>
        <p:spPr>
          <a:xfrm>
            <a:off x="7315200" y="3703320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Observada</a:t>
            </a:r>
            <a:endParaRPr lang="en-US" sz="1050" dirty="0"/>
          </a:p>
        </p:txBody>
      </p:sp>
      <p:sp>
        <p:nvSpPr>
          <p:cNvPr id="59" name="Text 56"/>
          <p:cNvSpPr/>
          <p:nvPr/>
        </p:nvSpPr>
        <p:spPr>
          <a:xfrm>
            <a:off x="8686800" y="3703320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270</a:t>
            </a:r>
            <a:endParaRPr lang="en-US" sz="1050" dirty="0"/>
          </a:p>
        </p:txBody>
      </p:sp>
      <p:sp>
        <p:nvSpPr>
          <p:cNvPr id="60" name="Text 57"/>
          <p:cNvSpPr/>
          <p:nvPr/>
        </p:nvSpPr>
        <p:spPr>
          <a:xfrm>
            <a:off x="9464040" y="3703320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Tolerancia transversal en chutes de…</a:t>
            </a:r>
            <a:endParaRPr lang="en-US" sz="1000" dirty="0"/>
          </a:p>
        </p:txBody>
      </p:sp>
      <p:sp>
        <p:nvSpPr>
          <p:cNvPr id="61" name="Shape 58"/>
          <p:cNvSpPr/>
          <p:nvPr/>
        </p:nvSpPr>
        <p:spPr>
          <a:xfrm>
            <a:off x="502920" y="3995928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62" name="Shape 59"/>
          <p:cNvSpPr/>
          <p:nvPr/>
        </p:nvSpPr>
        <p:spPr>
          <a:xfrm>
            <a:off x="457200" y="4005072"/>
            <a:ext cx="11292840" cy="3474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3" name="Text 60"/>
          <p:cNvSpPr/>
          <p:nvPr/>
        </p:nvSpPr>
        <p:spPr>
          <a:xfrm>
            <a:off x="502920" y="4050792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MASA-42</a:t>
            </a:r>
            <a:endParaRPr lang="en-US" sz="1050" dirty="0"/>
          </a:p>
        </p:txBody>
      </p:sp>
      <p:sp>
        <p:nvSpPr>
          <p:cNvPr id="64" name="Text 61"/>
          <p:cNvSpPr/>
          <p:nvPr/>
        </p:nvSpPr>
        <p:spPr>
          <a:xfrm>
            <a:off x="1371600" y="4050792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Observación</a:t>
            </a:r>
            <a:endParaRPr lang="en-US" sz="1050" dirty="0"/>
          </a:p>
        </p:txBody>
      </p:sp>
      <p:sp>
        <p:nvSpPr>
          <p:cNvPr id="65" name="Text 62"/>
          <p:cNvSpPr/>
          <p:nvPr/>
        </p:nvSpPr>
        <p:spPr>
          <a:xfrm>
            <a:off x="2926080" y="4050792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050" dirty="0"/>
          </a:p>
        </p:txBody>
      </p:sp>
      <p:sp>
        <p:nvSpPr>
          <p:cNvPr id="66" name="Text 63"/>
          <p:cNvSpPr/>
          <p:nvPr/>
        </p:nvSpPr>
        <p:spPr>
          <a:xfrm>
            <a:off x="4434840" y="405079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especialidad</a:t>
            </a:r>
            <a:endParaRPr lang="en-US" sz="1050" dirty="0"/>
          </a:p>
        </p:txBody>
      </p:sp>
      <p:sp>
        <p:nvSpPr>
          <p:cNvPr id="67" name="Text 64"/>
          <p:cNvSpPr/>
          <p:nvPr/>
        </p:nvSpPr>
        <p:spPr>
          <a:xfrm>
            <a:off x="5760720" y="4050792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asignar</a:t>
            </a:r>
            <a:endParaRPr lang="en-US" sz="1050" dirty="0"/>
          </a:p>
        </p:txBody>
      </p:sp>
      <p:sp>
        <p:nvSpPr>
          <p:cNvPr id="68" name="Text 65"/>
          <p:cNvSpPr/>
          <p:nvPr/>
        </p:nvSpPr>
        <p:spPr>
          <a:xfrm>
            <a:off x="7315200" y="4050792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 By</a:t>
            </a:r>
            <a:endParaRPr lang="en-US" sz="1050" dirty="0"/>
          </a:p>
        </p:txBody>
      </p:sp>
      <p:sp>
        <p:nvSpPr>
          <p:cNvPr id="69" name="Text 66"/>
          <p:cNvSpPr/>
          <p:nvPr/>
        </p:nvSpPr>
        <p:spPr>
          <a:xfrm>
            <a:off x="8686800" y="405079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241</a:t>
            </a:r>
            <a:endParaRPr lang="en-US" sz="1050" dirty="0"/>
          </a:p>
        </p:txBody>
      </p:sp>
      <p:sp>
        <p:nvSpPr>
          <p:cNvPr id="70" name="Text 67"/>
          <p:cNvSpPr/>
          <p:nvPr/>
        </p:nvSpPr>
        <p:spPr>
          <a:xfrm>
            <a:off x="9464040" y="4050792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Estructura de correa 2100-CV-001 mo…</a:t>
            </a:r>
            <a:endParaRPr lang="en-US" sz="1000" dirty="0"/>
          </a:p>
        </p:txBody>
      </p:sp>
      <p:sp>
        <p:nvSpPr>
          <p:cNvPr id="71" name="Shape 68"/>
          <p:cNvSpPr/>
          <p:nvPr/>
        </p:nvSpPr>
        <p:spPr>
          <a:xfrm>
            <a:off x="502920" y="4343400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72" name="Text 69"/>
          <p:cNvSpPr/>
          <p:nvPr/>
        </p:nvSpPr>
        <p:spPr>
          <a:xfrm>
            <a:off x="502920" y="4398264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MASA-43</a:t>
            </a:r>
            <a:endParaRPr lang="en-US" sz="1050" dirty="0"/>
          </a:p>
        </p:txBody>
      </p:sp>
      <p:sp>
        <p:nvSpPr>
          <p:cNvPr id="73" name="Text 70"/>
          <p:cNvSpPr/>
          <p:nvPr/>
        </p:nvSpPr>
        <p:spPr>
          <a:xfrm>
            <a:off x="1371600" y="4398264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Conformidad</a:t>
            </a:r>
            <a:endParaRPr lang="en-US" sz="1050" dirty="0"/>
          </a:p>
        </p:txBody>
      </p:sp>
      <p:sp>
        <p:nvSpPr>
          <p:cNvPr id="74" name="Text 71"/>
          <p:cNvSpPr/>
          <p:nvPr/>
        </p:nvSpPr>
        <p:spPr>
          <a:xfrm>
            <a:off x="2926080" y="4398264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050" dirty="0"/>
          </a:p>
        </p:txBody>
      </p:sp>
      <p:sp>
        <p:nvSpPr>
          <p:cNvPr id="75" name="Text 72"/>
          <p:cNvSpPr/>
          <p:nvPr/>
        </p:nvSpPr>
        <p:spPr>
          <a:xfrm>
            <a:off x="4434840" y="4398264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especialidad</a:t>
            </a:r>
            <a:endParaRPr lang="en-US" sz="1050" dirty="0"/>
          </a:p>
        </p:txBody>
      </p:sp>
      <p:sp>
        <p:nvSpPr>
          <p:cNvPr id="76" name="Text 73"/>
          <p:cNvSpPr/>
          <p:nvPr/>
        </p:nvSpPr>
        <p:spPr>
          <a:xfrm>
            <a:off x="5760720" y="4398264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asignar</a:t>
            </a:r>
            <a:endParaRPr lang="en-US" sz="1050" dirty="0"/>
          </a:p>
        </p:txBody>
      </p:sp>
      <p:sp>
        <p:nvSpPr>
          <p:cNvPr id="77" name="Text 74"/>
          <p:cNvSpPr/>
          <p:nvPr/>
        </p:nvSpPr>
        <p:spPr>
          <a:xfrm>
            <a:off x="7315200" y="4398264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Listo para revisi…</a:t>
            </a:r>
            <a:endParaRPr lang="en-US" sz="1050" dirty="0"/>
          </a:p>
        </p:txBody>
      </p:sp>
      <p:sp>
        <p:nvSpPr>
          <p:cNvPr id="78" name="Text 75"/>
          <p:cNvSpPr/>
          <p:nvPr/>
        </p:nvSpPr>
        <p:spPr>
          <a:xfrm>
            <a:off x="8686800" y="4398264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241</a:t>
            </a:r>
            <a:endParaRPr lang="en-US" sz="1050" dirty="0"/>
          </a:p>
        </p:txBody>
      </p:sp>
      <p:sp>
        <p:nvSpPr>
          <p:cNvPr id="79" name="Text 76"/>
          <p:cNvSpPr/>
          <p:nvPr/>
        </p:nvSpPr>
        <p:spPr>
          <a:xfrm>
            <a:off x="9464040" y="4398264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Perforaciones faltantes en estructu…</a:t>
            </a:r>
            <a:endParaRPr lang="en-US" sz="1000" dirty="0"/>
          </a:p>
        </p:txBody>
      </p:sp>
      <p:sp>
        <p:nvSpPr>
          <p:cNvPr id="80" name="Shape 77"/>
          <p:cNvSpPr/>
          <p:nvPr/>
        </p:nvSpPr>
        <p:spPr>
          <a:xfrm>
            <a:off x="502920" y="4690872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81" name="Shape 78"/>
          <p:cNvSpPr/>
          <p:nvPr/>
        </p:nvSpPr>
        <p:spPr>
          <a:xfrm>
            <a:off x="457200" y="4700016"/>
            <a:ext cx="11292840" cy="3474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82" name="Text 79"/>
          <p:cNvSpPr/>
          <p:nvPr/>
        </p:nvSpPr>
        <p:spPr>
          <a:xfrm>
            <a:off x="502920" y="474573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MASA-45</a:t>
            </a:r>
            <a:endParaRPr lang="en-US" sz="1050" dirty="0"/>
          </a:p>
        </p:txBody>
      </p:sp>
      <p:sp>
        <p:nvSpPr>
          <p:cNvPr id="83" name="Text 80"/>
          <p:cNvSpPr/>
          <p:nvPr/>
        </p:nvSpPr>
        <p:spPr>
          <a:xfrm>
            <a:off x="1371600" y="4745736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Observación</a:t>
            </a:r>
            <a:endParaRPr lang="en-US" sz="1050" dirty="0"/>
          </a:p>
        </p:txBody>
      </p:sp>
      <p:sp>
        <p:nvSpPr>
          <p:cNvPr id="84" name="Text 81"/>
          <p:cNvSpPr/>
          <p:nvPr/>
        </p:nvSpPr>
        <p:spPr>
          <a:xfrm>
            <a:off x="2926080" y="4745736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050" dirty="0"/>
          </a:p>
        </p:txBody>
      </p:sp>
      <p:sp>
        <p:nvSpPr>
          <p:cNvPr id="85" name="Text 82"/>
          <p:cNvSpPr/>
          <p:nvPr/>
        </p:nvSpPr>
        <p:spPr>
          <a:xfrm>
            <a:off x="4434840" y="4745736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especialidad</a:t>
            </a:r>
            <a:endParaRPr lang="en-US" sz="1050" dirty="0"/>
          </a:p>
        </p:txBody>
      </p:sp>
      <p:sp>
        <p:nvSpPr>
          <p:cNvPr id="86" name="Text 83"/>
          <p:cNvSpPr/>
          <p:nvPr/>
        </p:nvSpPr>
        <p:spPr>
          <a:xfrm>
            <a:off x="5760720" y="4745736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asignar</a:t>
            </a:r>
            <a:endParaRPr lang="en-US" sz="1050" dirty="0"/>
          </a:p>
        </p:txBody>
      </p:sp>
      <p:sp>
        <p:nvSpPr>
          <p:cNvPr id="87" name="Text 84"/>
          <p:cNvSpPr/>
          <p:nvPr/>
        </p:nvSpPr>
        <p:spPr>
          <a:xfrm>
            <a:off x="7315200" y="4745736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Listo para revisi…</a:t>
            </a:r>
            <a:endParaRPr lang="en-US" sz="1050" dirty="0"/>
          </a:p>
        </p:txBody>
      </p:sp>
      <p:sp>
        <p:nvSpPr>
          <p:cNvPr id="88" name="Text 85"/>
          <p:cNvSpPr/>
          <p:nvPr/>
        </p:nvSpPr>
        <p:spPr>
          <a:xfrm>
            <a:off x="8686800" y="4745736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241</a:t>
            </a:r>
            <a:endParaRPr lang="en-US" sz="1050" dirty="0"/>
          </a:p>
        </p:txBody>
      </p:sp>
      <p:sp>
        <p:nvSpPr>
          <p:cNvPr id="89" name="Text 86"/>
          <p:cNvSpPr/>
          <p:nvPr/>
        </p:nvSpPr>
        <p:spPr>
          <a:xfrm>
            <a:off x="9464040" y="4745736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(i) Cable de comunicación dañado - …</a:t>
            </a:r>
            <a:endParaRPr lang="en-US" sz="1000" dirty="0"/>
          </a:p>
        </p:txBody>
      </p:sp>
      <p:sp>
        <p:nvSpPr>
          <p:cNvPr id="90" name="Shape 87"/>
          <p:cNvSpPr/>
          <p:nvPr/>
        </p:nvSpPr>
        <p:spPr>
          <a:xfrm>
            <a:off x="502920" y="5038344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91" name="Text 88"/>
          <p:cNvSpPr/>
          <p:nvPr/>
        </p:nvSpPr>
        <p:spPr>
          <a:xfrm>
            <a:off x="502920" y="5093208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MASA-48</a:t>
            </a:r>
            <a:endParaRPr lang="en-US" sz="1050" dirty="0"/>
          </a:p>
        </p:txBody>
      </p:sp>
      <p:sp>
        <p:nvSpPr>
          <p:cNvPr id="92" name="Text 89"/>
          <p:cNvSpPr/>
          <p:nvPr/>
        </p:nvSpPr>
        <p:spPr>
          <a:xfrm>
            <a:off x="1371600" y="5093208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Conformidad</a:t>
            </a:r>
            <a:endParaRPr lang="en-US" sz="1050" dirty="0"/>
          </a:p>
        </p:txBody>
      </p:sp>
      <p:sp>
        <p:nvSpPr>
          <p:cNvPr id="93" name="Text 90"/>
          <p:cNvSpPr/>
          <p:nvPr/>
        </p:nvSpPr>
        <p:spPr>
          <a:xfrm>
            <a:off x="2926080" y="5093208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050" dirty="0"/>
          </a:p>
        </p:txBody>
      </p:sp>
      <p:sp>
        <p:nvSpPr>
          <p:cNvPr id="94" name="Text 91"/>
          <p:cNvSpPr/>
          <p:nvPr/>
        </p:nvSpPr>
        <p:spPr>
          <a:xfrm>
            <a:off x="4434840" y="5093208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especialidad</a:t>
            </a:r>
            <a:endParaRPr lang="en-US" sz="1050" dirty="0"/>
          </a:p>
        </p:txBody>
      </p:sp>
      <p:sp>
        <p:nvSpPr>
          <p:cNvPr id="95" name="Text 92"/>
          <p:cNvSpPr/>
          <p:nvPr/>
        </p:nvSpPr>
        <p:spPr>
          <a:xfrm>
            <a:off x="5760720" y="5093208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asignar</a:t>
            </a:r>
            <a:endParaRPr lang="en-US" sz="1050" dirty="0"/>
          </a:p>
        </p:txBody>
      </p:sp>
      <p:sp>
        <p:nvSpPr>
          <p:cNvPr id="96" name="Text 93"/>
          <p:cNvSpPr/>
          <p:nvPr/>
        </p:nvSpPr>
        <p:spPr>
          <a:xfrm>
            <a:off x="7315200" y="5093208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 By</a:t>
            </a:r>
            <a:endParaRPr lang="en-US" sz="1050" dirty="0"/>
          </a:p>
        </p:txBody>
      </p:sp>
      <p:sp>
        <p:nvSpPr>
          <p:cNvPr id="97" name="Text 94"/>
          <p:cNvSpPr/>
          <p:nvPr/>
        </p:nvSpPr>
        <p:spPr>
          <a:xfrm>
            <a:off x="8686800" y="5093208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241</a:t>
            </a:r>
            <a:endParaRPr lang="en-US" sz="1050" dirty="0"/>
          </a:p>
        </p:txBody>
      </p:sp>
      <p:sp>
        <p:nvSpPr>
          <p:cNvPr id="98" name="Text 95"/>
          <p:cNvSpPr/>
          <p:nvPr/>
        </p:nvSpPr>
        <p:spPr>
          <a:xfrm>
            <a:off x="9464040" y="5093208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FISURACIÓN DE RADIER CELDAS COLUMNA…</a:t>
            </a:r>
            <a:endParaRPr lang="en-US" sz="1000" dirty="0"/>
          </a:p>
        </p:txBody>
      </p:sp>
      <p:sp>
        <p:nvSpPr>
          <p:cNvPr id="99" name="Shape 96"/>
          <p:cNvSpPr/>
          <p:nvPr/>
        </p:nvSpPr>
        <p:spPr>
          <a:xfrm>
            <a:off x="502920" y="5385816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100" name="Text 97"/>
          <p:cNvSpPr/>
          <p:nvPr/>
        </p:nvSpPr>
        <p:spPr>
          <a:xfrm>
            <a:off x="502920" y="544068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listan los 9 más antiguos de 37 abiertos; el detalle completo está en el panel.</a:t>
            </a:r>
            <a:endParaRPr lang="en-US" sz="950" dirty="0"/>
          </a:p>
        </p:txBody>
      </p:sp>
      <p:sp>
        <p:nvSpPr>
          <p:cNvPr id="101" name="Shape 98"/>
          <p:cNvSpPr/>
          <p:nvPr/>
        </p:nvSpPr>
        <p:spPr>
          <a:xfrm>
            <a:off x="457200" y="5806440"/>
            <a:ext cx="11274552" cy="566928"/>
          </a:xfrm>
          <a:prstGeom prst="roundRect">
            <a:avLst>
              <a:gd name="adj" fmla="val 9677"/>
            </a:avLst>
          </a:prstGeom>
          <a:solidFill>
            <a:srgbClr val="E9EDF2"/>
          </a:solidFill>
          <a:ln/>
        </p:spPr>
      </p:sp>
      <p:sp>
        <p:nvSpPr>
          <p:cNvPr id="102" name="Text 99"/>
          <p:cNvSpPr/>
          <p:nvPr/>
        </p:nvSpPr>
        <p:spPr>
          <a:xfrm>
            <a:off x="713232" y="5806440"/>
            <a:ext cx="2468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SEMANA 07-09-2026 — 13-09-2026</a:t>
            </a:r>
            <a:endParaRPr lang="en-US" sz="1000" dirty="0"/>
          </a:p>
        </p:txBody>
      </p:sp>
      <p:sp>
        <p:nvSpPr>
          <p:cNvPr id="103" name="Text 100"/>
          <p:cNvSpPr/>
          <p:nvPr/>
        </p:nvSpPr>
        <p:spPr>
          <a:xfrm>
            <a:off x="3200400" y="5806440"/>
            <a:ext cx="8321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hallazgos nuevos en el período.</a:t>
            </a:r>
            <a:endParaRPr lang="en-US" sz="1150" dirty="0"/>
          </a:p>
        </p:txBody>
      </p:sp>
      <p:sp>
        <p:nvSpPr>
          <p:cNvPr id="104" name="Text 101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Data_NCR-13092026.xlsx — hoja «Observaciones» · Corte 13-09-2026 · 509 registros desde 10-02-2023</a:t>
            </a:r>
            <a:endParaRPr lang="en-US" sz="850" dirty="0"/>
          </a:p>
        </p:txBody>
      </p:sp>
      <p:sp>
        <p:nvSpPr>
          <p:cNvPr id="105" name="Text 102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ARQUEROS</a:t>
            </a:r>
            <a:endParaRPr lang="en-US" sz="850" dirty="0"/>
          </a:p>
        </p:txBody>
      </p:sp>
      <p:sp>
        <p:nvSpPr>
          <p:cNvPr id="106" name="Text 103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Control de No Conformidades — Gestión de Calidad</dc:title>
  <dc:subject>PptxGenJS Presentation</dc:subject>
  <dc:creator>Gestión de Calidad</dc:creator>
  <cp:lastModifiedBy>Gestión de Calidad</cp:lastModifiedBy>
  <cp:revision>1</cp:revision>
  <dcterms:created xsi:type="dcterms:W3CDTF">2026-09-14T01:33:35Z</dcterms:created>
  <dcterms:modified xsi:type="dcterms:W3CDTF">2026-09-14T01:33:35Z</dcterms:modified>
</cp:coreProperties>
</file>